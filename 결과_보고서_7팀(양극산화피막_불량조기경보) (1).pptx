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8" r:id="rId2"/>
    <p:sldId id="259" r:id="rId3"/>
    <p:sldId id="260" r:id="rId4"/>
    <p:sldId id="256" r:id="rId5"/>
    <p:sldId id="257" r:id="rId6"/>
    <p:sldId id="274" r:id="rId7"/>
    <p:sldId id="280" r:id="rId8"/>
    <p:sldId id="282" r:id="rId9"/>
    <p:sldId id="284" r:id="rId10"/>
    <p:sldId id="275" r:id="rId11"/>
    <p:sldId id="287" r:id="rId12"/>
    <p:sldId id="288" r:id="rId13"/>
    <p:sldId id="292" r:id="rId14"/>
    <p:sldId id="293" r:id="rId15"/>
    <p:sldId id="298" r:id="rId16"/>
    <p:sldId id="297" r:id="rId17"/>
    <p:sldId id="296" r:id="rId18"/>
    <p:sldId id="295" r:id="rId19"/>
    <p:sldId id="294" r:id="rId20"/>
    <p:sldId id="301" r:id="rId21"/>
    <p:sldId id="311" r:id="rId22"/>
    <p:sldId id="310" r:id="rId23"/>
    <p:sldId id="309" r:id="rId24"/>
    <p:sldId id="308" r:id="rId25"/>
    <p:sldId id="307" r:id="rId26"/>
    <p:sldId id="306" r:id="rId27"/>
    <p:sldId id="305" r:id="rId28"/>
    <p:sldId id="302" r:id="rId29"/>
    <p:sldId id="304" r:id="rId30"/>
    <p:sldId id="303" r:id="rId31"/>
    <p:sldId id="323" r:id="rId32"/>
    <p:sldId id="324" r:id="rId33"/>
    <p:sldId id="325" r:id="rId34"/>
    <p:sldId id="277" r:id="rId35"/>
    <p:sldId id="278" r:id="rId36"/>
    <p:sldId id="279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10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5D766-0233-0A81-5BAC-9048FAAE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5C2D5-5A72-0AC8-CAA9-879F53483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9D532D-9E5E-8F79-5DBF-5B7BA8886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791D8-E3BD-E68E-CC80-C0C09FE9C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52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A4DF-42E3-7B89-B4FA-C1E54748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417D9-43EB-348B-892C-A04DC58C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693F9-BE18-1874-5F4D-6390CA4F8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6C16B-98C7-7132-7DDC-46D34CF92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27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3095-BC70-79D7-0935-176C792A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F2D4D-2F3F-CDC9-AB41-79E36C1C9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DA7A7-E868-E022-EF21-91BAC26C1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8909F-4C19-938D-FEAB-CBE8EDD0B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49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796F-14AA-5BB7-EAF3-AF29D71B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D3C7FE-4B91-3647-3FC6-4522B9289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66916-4547-1F55-ECF4-03C54838D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C40E5-D5A3-9D00-AEB9-24B6A5550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95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CAD7F-E503-56EA-D849-1498D4CF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34501-02B6-AC71-F00F-23C0DB4F1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B88E2-EF63-C6BE-D740-BFD1A2814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444FA-061C-7CF2-7BD1-5FEE84009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52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E77D-1848-828D-DBE7-DB4A1827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B0EE2-E332-25D4-EC6B-CD4C2906C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D19B8-AE8C-232A-E0EB-223414557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6D4C0-A8D7-E3DA-3796-7A83B328B6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51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5109-82F2-026B-E143-A1B031A4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64073-5F8B-F71D-D4B7-BC27EEC72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CEF5C-A96F-881E-A5CF-28BDA646D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31995-371A-1C27-2CCF-DE91224DD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97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B2C3-A7BF-FC3A-4229-9E846BC5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BE7DB-74DB-ADAD-3111-E8F37086D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5D041-C4F5-E363-7387-C996AC5E9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44C2F-8716-7AA2-EE8E-0F7246A825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930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49B6E-6E18-2E74-A2A1-AC5904CC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D0827-4F49-B31C-BC46-12C7224C0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44AF1-64EF-79E2-F5C6-F1C7D9DAA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D08C4-B9E3-FE15-827E-0B0797E22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D52BA-45A6-A3DF-751D-A239717D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C0BE1-6A66-D57D-05A1-F5112B883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ABFB8-E243-3527-9ACB-F3D1CD84D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548D9-A5CD-A61E-44A9-CD5618E0B4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9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D692-600F-8C95-B577-C1949AC0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88942-1366-2449-48B5-F5F3B914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BFEB4-FC8F-2C10-D636-98137C316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7CA69-BBBD-49BF-8397-9B70CEF2F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46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44DD3-54F2-2C3E-71A3-4CA5A3B2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EF5F8-C57B-72F5-413D-2BA496507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8F8FC-0E5A-1216-A6C3-3E0B61A46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60466-EADB-3A0E-734F-1AFA103F8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35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276A-E82C-999C-325A-A26BDF72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50D80-CC0B-A791-71AE-76A221D0D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10F5A-916C-53B8-077B-2E144A65A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1A392-DF1B-A803-5CA5-EBE56A79BA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44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708A-90DD-E3A8-AB54-EC3DEC3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83DD0-4134-821F-531B-9CE02AF44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99DCA-028C-A103-0403-898AAE97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E7378-CD42-47CD-4C9C-4CA2C2525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67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FB7B-5F8E-B72B-FC90-FDE077C9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6E473-A60C-6A02-C9D7-AD2A937BA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0BF90-7E28-3DD7-6EEA-14C419CFD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97FB7-2070-18E1-8E4F-2EA011440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80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895F2-03A9-D5B2-4114-43546661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5FBB2-3FB6-754C-60B1-E89FD33A9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05173-4BC9-1654-385E-59E9BF5CF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9A527-C50E-C588-718E-8FD993BB6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56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5454-6992-8843-C442-FBC77647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D4011-537F-CBBA-7B30-B306E9A07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980A7-D506-CC92-6539-3FABDE358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0C013-87A1-B0D5-E8D2-B227D89B4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67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10B0-219E-3FF9-6024-6821DED42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E26C6-3B8F-78F6-B77D-97A7C4F94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45AA3-0043-5C1A-C6D7-DB85FB726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81D47-6001-B1AC-9404-15F6394A0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72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8ACD-F55C-C40B-664D-8ADCD271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263E27-8748-D7BD-CC02-745D015D8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2C5CC-F6E6-036C-B708-A06C9102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53626-1643-4ED2-C2BA-5D7F562DF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141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7FC19-5265-08D9-2D6C-F06CA005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3B8CC-4DD8-08A9-1FA4-C82CEA36C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0E844-3B33-D5C5-2614-467A24549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011DD-B657-30B7-F421-151E242B6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99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C3E3-9916-6034-500A-5CA7D2AB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2C040-674B-61A0-14AF-207C36DA3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20171-3F7F-9A64-46CC-DECB55574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9E29F-ABBB-6ADE-9EC0-6D30C1F4CD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7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EE6E5-5FA0-6C22-C84E-2FF65DD6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4BB5B-EB3D-BCE7-A16E-A7D4E48A7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DB543-D651-874C-7B52-A4ADA5988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A884B-D93B-5783-B150-B689CC09D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740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82C44-FDEC-C1B8-E9DE-BEBE6618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2B8FD-88F2-CE5F-2010-DAEC8A7DA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3451D-C732-58C0-8CC6-24D3DDBC9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E5BF9-6C3A-7610-9876-E9900B608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774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F2AF-E3CD-D444-36B9-BA4856A4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F91CF-0B81-B454-BFD3-BC8CBF41D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1E502-12CE-0B3D-9C24-A294930F3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81CE8-48F0-EA30-F8F6-39FE647B4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60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3834-E9A6-C893-FA08-382FD4A9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7134D-1628-BF62-EBA3-41F0678B2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10448-DE46-3B67-905A-335B5679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B05A5-2E61-E23B-83B9-BFC71C832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406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AFEF-DDE6-AD42-D358-45EACF27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59453-3583-45CD-4BD1-83AE5922B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9325E-93C4-6A92-D16F-959B803B8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26354-A784-7C62-9BA2-1C3CB1AA8D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273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3C0D-41C4-5E27-0F98-C27C75FDA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6F9E37-C930-18C5-9BE2-8E35CC6A1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771BC-C167-F49A-B10F-915310048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32959-F39B-30F6-2854-0EA4B5D0D7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070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60D1-2E04-9B6B-4306-B673A771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CFAE3-E547-2B1D-6504-4F0D5BFF0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68DE6-6056-9793-E90A-FD506F92F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C9ADC-23E8-35A1-186F-2234D27A8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704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7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jpe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1.png"/><Relationship Id="rId3" Type="http://schemas.openxmlformats.org/officeDocument/2006/relationships/image" Target="../media/image26.png"/><Relationship Id="rId21" Type="http://schemas.openxmlformats.org/officeDocument/2006/relationships/image" Target="../media/image67.png"/><Relationship Id="rId7" Type="http://schemas.openxmlformats.org/officeDocument/2006/relationships/image" Target="../media/image30.jpe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57.png"/><Relationship Id="rId24" Type="http://schemas.openxmlformats.org/officeDocument/2006/relationships/image" Target="../media/image69.png"/><Relationship Id="rId5" Type="http://schemas.openxmlformats.org/officeDocument/2006/relationships/image" Target="../media/image28.png"/><Relationship Id="rId15" Type="http://schemas.openxmlformats.org/officeDocument/2006/relationships/image" Target="../media/image61.png"/><Relationship Id="rId23" Type="http://schemas.openxmlformats.org/officeDocument/2006/relationships/image" Target="../media/image44.png"/><Relationship Id="rId28" Type="http://schemas.openxmlformats.org/officeDocument/2006/relationships/image" Target="../media/image73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53.png"/><Relationship Id="rId4" Type="http://schemas.openxmlformats.org/officeDocument/2006/relationships/image" Target="../media/image27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2.png"/><Relationship Id="rId30" Type="http://schemas.openxmlformats.org/officeDocument/2006/relationships/image" Target="../media/image7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78.png"/><Relationship Id="rId5" Type="http://schemas.openxmlformats.org/officeDocument/2006/relationships/image" Target="../media/image4.png"/><Relationship Id="rId10" Type="http://schemas.openxmlformats.org/officeDocument/2006/relationships/image" Target="../media/image77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" Type="http://schemas.openxmlformats.org/officeDocument/2006/relationships/image" Target="../media/image1.png"/><Relationship Id="rId21" Type="http://schemas.openxmlformats.org/officeDocument/2006/relationships/image" Target="../media/image90.png"/><Relationship Id="rId7" Type="http://schemas.openxmlformats.org/officeDocument/2006/relationships/image" Target="../media/image1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32" Type="http://schemas.openxmlformats.org/officeDocument/2006/relationships/image" Target="../media/image101.png"/><Relationship Id="rId5" Type="http://schemas.openxmlformats.org/officeDocument/2006/relationships/image" Target="../media/image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31" Type="http://schemas.openxmlformats.org/officeDocument/2006/relationships/image" Target="../media/image100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9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03.svg"/><Relationship Id="rId5" Type="http://schemas.openxmlformats.org/officeDocument/2006/relationships/image" Target="../media/image4.png"/><Relationship Id="rId10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06.png"/><Relationship Id="rId5" Type="http://schemas.openxmlformats.org/officeDocument/2006/relationships/image" Target="../media/image4.png"/><Relationship Id="rId10" Type="http://schemas.openxmlformats.org/officeDocument/2006/relationships/image" Target="../media/image105.png"/><Relationship Id="rId4" Type="http://schemas.openxmlformats.org/officeDocument/2006/relationships/image" Target="../media/image2.png"/><Relationship Id="rId9" Type="http://schemas.openxmlformats.org/officeDocument/2006/relationships/image" Target="../media/image7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08.png"/><Relationship Id="rId4" Type="http://schemas.openxmlformats.org/officeDocument/2006/relationships/image" Target="../media/image2.png"/><Relationship Id="rId9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10.png"/><Relationship Id="rId5" Type="http://schemas.openxmlformats.org/officeDocument/2006/relationships/image" Target="../media/image4.png"/><Relationship Id="rId10" Type="http://schemas.openxmlformats.org/officeDocument/2006/relationships/image" Target="../media/image109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12.png"/><Relationship Id="rId5" Type="http://schemas.openxmlformats.org/officeDocument/2006/relationships/image" Target="../media/image4.png"/><Relationship Id="rId10" Type="http://schemas.openxmlformats.org/officeDocument/2006/relationships/image" Target="../media/image111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14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15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16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18.png"/><Relationship Id="rId5" Type="http://schemas.openxmlformats.org/officeDocument/2006/relationships/image" Target="../media/image4.png"/><Relationship Id="rId10" Type="http://schemas.openxmlformats.org/officeDocument/2006/relationships/image" Target="../media/image117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20.png"/><Relationship Id="rId5" Type="http://schemas.openxmlformats.org/officeDocument/2006/relationships/image" Target="../media/image4.png"/><Relationship Id="rId10" Type="http://schemas.openxmlformats.org/officeDocument/2006/relationships/image" Target="../media/image119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21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22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24.png"/><Relationship Id="rId5" Type="http://schemas.openxmlformats.org/officeDocument/2006/relationships/image" Target="../media/image4.png"/><Relationship Id="rId10" Type="http://schemas.openxmlformats.org/officeDocument/2006/relationships/image" Target="../media/image123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27.png"/><Relationship Id="rId5" Type="http://schemas.openxmlformats.org/officeDocument/2006/relationships/image" Target="../media/image4.png"/><Relationship Id="rId10" Type="http://schemas.openxmlformats.org/officeDocument/2006/relationships/image" Target="../media/image126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131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29.png"/><Relationship Id="rId5" Type="http://schemas.openxmlformats.org/officeDocument/2006/relationships/image" Target="../media/image4.png"/><Relationship Id="rId10" Type="http://schemas.openxmlformats.org/officeDocument/2006/relationships/image" Target="../media/image128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32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33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34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35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36.png"/><Relationship Id="rId4" Type="http://schemas.openxmlformats.org/officeDocument/2006/relationships/image" Target="../media/image2.png"/><Relationship Id="rId9" Type="http://schemas.openxmlformats.org/officeDocument/2006/relationships/hyperlink" Target="https://anodizingqcdashboard-x9uxcknpw7tcakpuwpkr7v.streamlit.app/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98.png"/><Relationship Id="rId4" Type="http://schemas.openxmlformats.org/officeDocument/2006/relationships/image" Target="../media/image2.png"/><Relationship Id="rId9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139.png"/><Relationship Id="rId5" Type="http://schemas.openxmlformats.org/officeDocument/2006/relationships/image" Target="../media/image4.png"/><Relationship Id="rId10" Type="http://schemas.openxmlformats.org/officeDocument/2006/relationships/image" Target="../media/image138.png"/><Relationship Id="rId4" Type="http://schemas.openxmlformats.org/officeDocument/2006/relationships/image" Target="../media/image2.png"/><Relationship Id="rId9" Type="http://schemas.openxmlformats.org/officeDocument/2006/relationships/image" Target="../media/image137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26" Type="http://schemas.openxmlformats.org/officeDocument/2006/relationships/image" Target="../media/image160.png"/><Relationship Id="rId39" Type="http://schemas.openxmlformats.org/officeDocument/2006/relationships/image" Target="../media/image173.png"/><Relationship Id="rId3" Type="http://schemas.openxmlformats.org/officeDocument/2006/relationships/image" Target="../media/image28.png"/><Relationship Id="rId21" Type="http://schemas.openxmlformats.org/officeDocument/2006/relationships/image" Target="../media/image155.png"/><Relationship Id="rId34" Type="http://schemas.openxmlformats.org/officeDocument/2006/relationships/image" Target="../media/image168.png"/><Relationship Id="rId7" Type="http://schemas.openxmlformats.org/officeDocument/2006/relationships/image" Target="../media/image142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5" Type="http://schemas.openxmlformats.org/officeDocument/2006/relationships/image" Target="../media/image159.png"/><Relationship Id="rId33" Type="http://schemas.openxmlformats.org/officeDocument/2006/relationships/image" Target="../media/image167.png"/><Relationship Id="rId38" Type="http://schemas.openxmlformats.org/officeDocument/2006/relationships/image" Target="../media/image172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29" Type="http://schemas.openxmlformats.org/officeDocument/2006/relationships/image" Target="../media/image1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11" Type="http://schemas.openxmlformats.org/officeDocument/2006/relationships/image" Target="../media/image145.png"/><Relationship Id="rId24" Type="http://schemas.openxmlformats.org/officeDocument/2006/relationships/image" Target="../media/image158.png"/><Relationship Id="rId32" Type="http://schemas.openxmlformats.org/officeDocument/2006/relationships/image" Target="../media/image166.png"/><Relationship Id="rId37" Type="http://schemas.openxmlformats.org/officeDocument/2006/relationships/image" Target="../media/image171.png"/><Relationship Id="rId40" Type="http://schemas.openxmlformats.org/officeDocument/2006/relationships/image" Target="../media/image53.png"/><Relationship Id="rId5" Type="http://schemas.openxmlformats.org/officeDocument/2006/relationships/image" Target="../media/image140.png"/><Relationship Id="rId15" Type="http://schemas.openxmlformats.org/officeDocument/2006/relationships/image" Target="../media/image149.png"/><Relationship Id="rId23" Type="http://schemas.openxmlformats.org/officeDocument/2006/relationships/image" Target="../media/image157.png"/><Relationship Id="rId28" Type="http://schemas.openxmlformats.org/officeDocument/2006/relationships/image" Target="../media/image162.png"/><Relationship Id="rId36" Type="http://schemas.openxmlformats.org/officeDocument/2006/relationships/image" Target="../media/image170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31" Type="http://schemas.openxmlformats.org/officeDocument/2006/relationships/image" Target="../media/image165.png"/><Relationship Id="rId4" Type="http://schemas.openxmlformats.org/officeDocument/2006/relationships/image" Target="../media/image29.png"/><Relationship Id="rId9" Type="http://schemas.openxmlformats.org/officeDocument/2006/relationships/image" Target="../media/image30.jpeg"/><Relationship Id="rId14" Type="http://schemas.openxmlformats.org/officeDocument/2006/relationships/image" Target="../media/image148.png"/><Relationship Id="rId22" Type="http://schemas.openxmlformats.org/officeDocument/2006/relationships/image" Target="../media/image156.png"/><Relationship Id="rId27" Type="http://schemas.openxmlformats.org/officeDocument/2006/relationships/image" Target="../media/image161.png"/><Relationship Id="rId30" Type="http://schemas.openxmlformats.org/officeDocument/2006/relationships/image" Target="../media/image164.png"/><Relationship Id="rId35" Type="http://schemas.openxmlformats.org/officeDocument/2006/relationships/image" Target="../media/image16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26" Type="http://schemas.openxmlformats.org/officeDocument/2006/relationships/image" Target="../media/image191.png"/><Relationship Id="rId3" Type="http://schemas.openxmlformats.org/officeDocument/2006/relationships/image" Target="../media/image26.png"/><Relationship Id="rId21" Type="http://schemas.openxmlformats.org/officeDocument/2006/relationships/image" Target="../media/image186.png"/><Relationship Id="rId7" Type="http://schemas.openxmlformats.org/officeDocument/2006/relationships/image" Target="../media/image30.jpe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5" Type="http://schemas.openxmlformats.org/officeDocument/2006/relationships/image" Target="../media/image190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82.png"/><Relationship Id="rId20" Type="http://schemas.openxmlformats.org/officeDocument/2006/relationships/image" Target="../media/image185.png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177.png"/><Relationship Id="rId24" Type="http://schemas.openxmlformats.org/officeDocument/2006/relationships/image" Target="../media/image189.png"/><Relationship Id="rId32" Type="http://schemas.openxmlformats.org/officeDocument/2006/relationships/image" Target="../media/image53.png"/><Relationship Id="rId5" Type="http://schemas.openxmlformats.org/officeDocument/2006/relationships/image" Target="../media/image28.png"/><Relationship Id="rId15" Type="http://schemas.openxmlformats.org/officeDocument/2006/relationships/image" Target="../media/image181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10" Type="http://schemas.openxmlformats.org/officeDocument/2006/relationships/image" Target="../media/image176.png"/><Relationship Id="rId19" Type="http://schemas.openxmlformats.org/officeDocument/2006/relationships/image" Target="../media/image44.png"/><Relationship Id="rId31" Type="http://schemas.openxmlformats.org/officeDocument/2006/relationships/image" Target="../media/image196.png"/><Relationship Id="rId4" Type="http://schemas.openxmlformats.org/officeDocument/2006/relationships/image" Target="../media/image27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Relationship Id="rId22" Type="http://schemas.openxmlformats.org/officeDocument/2006/relationships/image" Target="../media/image187.png"/><Relationship Id="rId27" Type="http://schemas.openxmlformats.org/officeDocument/2006/relationships/image" Target="../media/image192.png"/><Relationship Id="rId30" Type="http://schemas.openxmlformats.org/officeDocument/2006/relationships/image" Target="../media/image19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201.png"/><Relationship Id="rId18" Type="http://schemas.openxmlformats.org/officeDocument/2006/relationships/image" Target="../media/image205.png"/><Relationship Id="rId3" Type="http://schemas.openxmlformats.org/officeDocument/2006/relationships/image" Target="../media/image26.png"/><Relationship Id="rId21" Type="http://schemas.openxmlformats.org/officeDocument/2006/relationships/image" Target="../media/image208.png"/><Relationship Id="rId7" Type="http://schemas.openxmlformats.org/officeDocument/2006/relationships/image" Target="../media/image30.jpeg"/><Relationship Id="rId12" Type="http://schemas.openxmlformats.org/officeDocument/2006/relationships/image" Target="../media/image200.png"/><Relationship Id="rId17" Type="http://schemas.openxmlformats.org/officeDocument/2006/relationships/image" Target="../media/image204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53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199.png"/><Relationship Id="rId5" Type="http://schemas.openxmlformats.org/officeDocument/2006/relationships/image" Target="../media/image28.png"/><Relationship Id="rId15" Type="http://schemas.openxmlformats.org/officeDocument/2006/relationships/image" Target="../media/image203.png"/><Relationship Id="rId10" Type="http://schemas.openxmlformats.org/officeDocument/2006/relationships/image" Target="../media/image198.png"/><Relationship Id="rId19" Type="http://schemas.openxmlformats.org/officeDocument/2006/relationships/image" Target="../media/image206.png"/><Relationship Id="rId4" Type="http://schemas.openxmlformats.org/officeDocument/2006/relationships/image" Target="../media/image27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Relationship Id="rId22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 r="208" b="19"/>
          <a:stretch/>
        </p:blipFill>
        <p:spPr>
          <a:xfrm>
            <a:off x="19050" y="0"/>
            <a:ext cx="9124950" cy="5143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68380" y="1994098"/>
            <a:ext cx="333851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9"/>
              </a:lnSpc>
              <a:buNone/>
            </a:pPr>
            <a:r>
              <a:rPr lang="ko-KR" altLang="en-US" sz="1097" dirty="0">
                <a:solidFill>
                  <a:schemeClr val="bg2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방산 기업 품질관리 프로젝트</a:t>
            </a:r>
            <a:r>
              <a:rPr lang="en-US" sz="1097" dirty="0">
                <a:solidFill>
                  <a:schemeClr val="bg2">
                    <a:lumMod val="50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97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rcRect b="58"/>
          <a:stretch/>
        </p:blipFill>
        <p:spPr>
          <a:xfrm>
            <a:off x="18215" y="-34"/>
            <a:ext cx="9107616" cy="58102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57428" y="1322261"/>
            <a:ext cx="5665243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826"/>
              </a:lnSpc>
              <a:buNone/>
            </a:pPr>
            <a:r>
              <a:rPr lang="ko-KR" altLang="en-US" sz="3000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</a:t>
            </a:r>
            <a:r>
              <a:rPr lang="en-US" sz="3000" b="1" dirty="0" err="1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r>
              <a:rPr lang="en-US" sz="3000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000" b="1" dirty="0" err="1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</a:t>
            </a:r>
            <a:endParaRPr lang="en-US" sz="30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2243709"/>
            <a:ext cx="6400800" cy="1371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7200" y="2543175"/>
            <a:ext cx="4657725" cy="9144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57200" y="2543175"/>
            <a:ext cx="28575" cy="91440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664541" y="2847975"/>
            <a:ext cx="39519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98"/>
              </a:lnSpc>
              <a:buNone/>
            </a:pPr>
            <a:r>
              <a:rPr lang="ko-KR" altLang="en-US" sz="1925" b="1" dirty="0">
                <a:solidFill>
                  <a:srgbClr val="FA003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양극산화피막 불량조기경보 프로젝트</a:t>
            </a:r>
            <a:endParaRPr lang="en-US" sz="1925" dirty="0"/>
          </a:p>
        </p:txBody>
      </p:sp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286375" y="2543175"/>
            <a:ext cx="2486025" cy="91440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583555" y="2897981"/>
            <a:ext cx="1956289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CH.5 </a:t>
            </a:r>
            <a:r>
              <a:rPr lang="ko-KR" altLang="en-US" sz="128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심화 프로젝트</a:t>
            </a:r>
            <a:r>
              <a:rPr lang="en-US" sz="128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endParaRPr lang="en-US" sz="1283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57477" y="4107942"/>
            <a:ext cx="8172174" cy="634822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664541" y="4261790"/>
            <a:ext cx="200025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84"/>
              </a:lnSpc>
              <a:buNone/>
            </a:pPr>
            <a:r>
              <a:rPr lang="en-US" sz="573" b="1" dirty="0">
                <a:solidFill>
                  <a:srgbClr val="FA003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573" dirty="0"/>
          </a:p>
        </p:txBody>
      </p:sp>
      <p:sp>
        <p:nvSpPr>
          <p:cNvPr id="18" name="Text 7"/>
          <p:cNvSpPr/>
          <p:nvPr/>
        </p:nvSpPr>
        <p:spPr>
          <a:xfrm>
            <a:off x="664541" y="4400550"/>
            <a:ext cx="1857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4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321308" y="4315825"/>
            <a:ext cx="6858" cy="218589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1672210" y="4261790"/>
            <a:ext cx="423863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84"/>
              </a:lnSpc>
              <a:buNone/>
            </a:pPr>
            <a:r>
              <a:rPr lang="en-US" sz="573" b="1" dirty="0">
                <a:solidFill>
                  <a:srgbClr val="6B728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Name</a:t>
            </a:r>
            <a:endParaRPr lang="en-US" sz="573" dirty="0"/>
          </a:p>
        </p:txBody>
      </p:sp>
      <p:sp>
        <p:nvSpPr>
          <p:cNvPr id="21" name="Text 9"/>
          <p:cNvSpPr/>
          <p:nvPr/>
        </p:nvSpPr>
        <p:spPr>
          <a:xfrm>
            <a:off x="1672210" y="4413123"/>
            <a:ext cx="88582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ko-KR" altLang="en-US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 조</a:t>
            </a:r>
            <a:endParaRPr lang="en-US" altLang="ko-KR" sz="923" dirty="0">
              <a:solidFill>
                <a:srgbClr val="1F2937">
                  <a:alpha val="99000"/>
                </a:srgbClr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3162681" y="4315825"/>
            <a:ext cx="6858" cy="218589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3512439" y="4261790"/>
            <a:ext cx="3429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84"/>
              </a:lnSpc>
              <a:buNone/>
            </a:pPr>
            <a:r>
              <a:rPr lang="en-US" sz="573" b="1" dirty="0">
                <a:solidFill>
                  <a:srgbClr val="6B728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Members</a:t>
            </a:r>
            <a:endParaRPr lang="en-US" sz="573" dirty="0"/>
          </a:p>
        </p:txBody>
      </p:sp>
      <p:sp>
        <p:nvSpPr>
          <p:cNvPr id="24" name="Text 11"/>
          <p:cNvSpPr/>
          <p:nvPr/>
        </p:nvSpPr>
        <p:spPr>
          <a:xfrm>
            <a:off x="3512439" y="4413123"/>
            <a:ext cx="1886904" cy="121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ko-KR" altLang="en-US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모상혁</a:t>
            </a:r>
            <a:r>
              <a:rPr lang="en-US" altLang="ko-KR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923" dirty="0" err="1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이채준</a:t>
            </a:r>
            <a:r>
              <a:rPr lang="en-US" altLang="ko-KR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923" dirty="0" err="1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정의조</a:t>
            </a:r>
            <a:r>
              <a:rPr lang="en-US" altLang="ko-KR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최지호</a:t>
            </a:r>
            <a:r>
              <a:rPr lang="en-US" altLang="ko-KR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홍상훈</a:t>
            </a:r>
            <a:endParaRPr lang="en-US" sz="923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576697" y="4315825"/>
            <a:ext cx="6858" cy="218589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5927408" y="4261790"/>
            <a:ext cx="195263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84"/>
              </a:lnSpc>
              <a:buNone/>
            </a:pPr>
            <a:r>
              <a:rPr lang="en-US" sz="573" b="1" dirty="0">
                <a:solidFill>
                  <a:srgbClr val="6B728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Tutor</a:t>
            </a:r>
            <a:endParaRPr lang="en-US" sz="573" dirty="0"/>
          </a:p>
        </p:txBody>
      </p:sp>
      <p:sp>
        <p:nvSpPr>
          <p:cNvPr id="27" name="Text 13"/>
          <p:cNvSpPr/>
          <p:nvPr/>
        </p:nvSpPr>
        <p:spPr>
          <a:xfrm>
            <a:off x="5927408" y="4413123"/>
            <a:ext cx="80962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ko-KR" altLang="en-US" sz="923" dirty="0" err="1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정강민</a:t>
            </a:r>
            <a:r>
              <a:rPr lang="ko-KR" altLang="en-US" sz="923" dirty="0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923" dirty="0" err="1">
                <a:solidFill>
                  <a:srgbClr val="1F2937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튜터님</a:t>
            </a:r>
            <a:endParaRPr lang="en-US" sz="923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71488" y="781050"/>
            <a:ext cx="169545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rcRect r="12880"/>
          <a:stretch/>
        </p:blipFill>
        <p:spPr>
          <a:xfrm>
            <a:off x="6654547" y="-1"/>
            <a:ext cx="2489453" cy="514349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35153" y="816769"/>
            <a:ext cx="59531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61"/>
              </a:lnSpc>
              <a:buNone/>
            </a:pPr>
            <a:r>
              <a:rPr lang="en-US" sz="2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565" dirty="0"/>
          </a:p>
        </p:txBody>
      </p:sp>
      <p:sp>
        <p:nvSpPr>
          <p:cNvPr id="7" name="Text 1"/>
          <p:cNvSpPr/>
          <p:nvPr/>
        </p:nvSpPr>
        <p:spPr>
          <a:xfrm>
            <a:off x="1242917" y="950500"/>
            <a:ext cx="9096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en-US" sz="1565" b="1" dirty="0">
                <a:solidFill>
                  <a:srgbClr val="999999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1565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1600200"/>
            <a:ext cx="400050" cy="4000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785926" y="1687544"/>
            <a:ext cx="195263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83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4450" y="2042541"/>
            <a:ext cx="7143750" cy="14859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1314927" y="1691830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개요</a:t>
            </a:r>
            <a:endParaRPr lang="en-US" sz="1565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2257425"/>
            <a:ext cx="400050" cy="40005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785926" y="2345246"/>
            <a:ext cx="219075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83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14450" y="2700909"/>
            <a:ext cx="7143750" cy="1371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314450" y="2371725"/>
            <a:ext cx="205263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67"/>
              </a:lnSpc>
            </a:pPr>
            <a:r>
              <a:rPr lang="ko-KR" alt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</a:t>
            </a:r>
            <a:r>
              <a:rPr 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 역할</a:t>
            </a:r>
            <a:endParaRPr lang="en-US" sz="1565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2914650"/>
            <a:ext cx="400050" cy="400050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785926" y="3002471"/>
            <a:ext cx="2238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83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14450" y="3358134"/>
            <a:ext cx="7143750" cy="13716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1314927" y="3006757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67"/>
              </a:lnSpc>
            </a:pPr>
            <a:r>
              <a:rPr lang="ko-KR" alt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</a:t>
            </a:r>
            <a:r>
              <a:rPr lang="en-US" sz="1565" b="1" dirty="0" err="1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565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3571875"/>
            <a:ext cx="400050" cy="40005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785926" y="3659410"/>
            <a:ext cx="2286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83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4450" y="4014216"/>
            <a:ext cx="7143750" cy="14859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1314927" y="3663982"/>
            <a:ext cx="1543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67"/>
              </a:lnSpc>
            </a:pPr>
            <a:r>
              <a:rPr lang="ko-KR" alt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</a:t>
            </a:r>
            <a:r>
              <a:rPr lang="en-US" sz="1565" b="1" dirty="0" err="1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경과</a:t>
            </a:r>
            <a:endParaRPr lang="en-US" sz="1565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4229100"/>
            <a:ext cx="400050" cy="400050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>
            <a:off x="785926" y="4317340"/>
            <a:ext cx="223838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83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83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14450" y="4672584"/>
            <a:ext cx="7143750" cy="13716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>
            <a:off x="1314927" y="4321455"/>
            <a:ext cx="11858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9"/>
              </a:lnSpc>
              <a:buNone/>
            </a:pPr>
            <a:r>
              <a:rPr lang="en-US" sz="1566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1566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9"/>
          <a:srcRect b="58"/>
          <a:stretch/>
        </p:blipFill>
        <p:spPr>
          <a:xfrm>
            <a:off x="18215" y="-34"/>
            <a:ext cx="9107614" cy="58102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28625" y="377857"/>
            <a:ext cx="176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40" dirty="0"/>
          </a:p>
        </p:txBody>
      </p:sp>
      <p:sp>
        <p:nvSpPr>
          <p:cNvPr id="8" name="Text 1"/>
          <p:cNvSpPr/>
          <p:nvPr/>
        </p:nvSpPr>
        <p:spPr>
          <a:xfrm>
            <a:off x="797584" y="334423"/>
            <a:ext cx="1133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67"/>
              </a:lnSpc>
            </a:pPr>
            <a:r>
              <a:rPr lang="ko-KR" altLang="en-US" sz="1565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</a:t>
            </a:r>
            <a:r>
              <a:rPr lang="en-US" sz="1565" b="1" dirty="0" err="1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endParaRPr lang="en-US" sz="1565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42900" y="771620"/>
            <a:ext cx="4114800" cy="2429542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14350" y="964692"/>
            <a:ext cx="285750" cy="28575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6935" y="1040511"/>
            <a:ext cx="100585" cy="134112"/>
          </a:xfrm>
          <a:prstGeom prst="rect">
            <a:avLst/>
          </a:prstGeom>
        </p:spPr>
      </p:pic>
      <p:sp>
        <p:nvSpPr>
          <p:cNvPr id="12" name="Text 2"/>
          <p:cNvSpPr/>
          <p:nvPr/>
        </p:nvSpPr>
        <p:spPr>
          <a:xfrm>
            <a:off x="881063" y="1052513"/>
            <a:ext cx="9953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0"/>
              </a:lnSpc>
              <a:buNone/>
            </a:pPr>
            <a:r>
              <a:rPr lang="ko-KR" altLang="en-US" sz="71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71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주제 및 선정 배경</a:t>
            </a:r>
            <a:endParaRPr lang="en-US" sz="713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14350" y="1364742"/>
            <a:ext cx="3771900" cy="1664208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3636420" y="2053018"/>
            <a:ext cx="190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427" dirty="0">
                <a:solidFill>
                  <a:srgbClr val="AAAAA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427" dirty="0"/>
          </a:p>
        </p:txBody>
      </p:sp>
      <p:sp>
        <p:nvSpPr>
          <p:cNvPr id="15" name="Text 4"/>
          <p:cNvSpPr/>
          <p:nvPr/>
        </p:nvSpPr>
        <p:spPr>
          <a:xfrm>
            <a:off x="2132042" y="2190179"/>
            <a:ext cx="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427" dirty="0">
                <a:solidFill>
                  <a:srgbClr val="AAAAA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427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86300" y="771620"/>
            <a:ext cx="4114800" cy="2429542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857750" y="964692"/>
            <a:ext cx="285750" cy="285750"/>
          </a:xfrm>
          <a:prstGeom prst="rect">
            <a:avLst/>
          </a:prstGeom>
        </p:spPr>
      </p:pic>
      <p:pic>
        <p:nvPicPr>
          <p:cNvPr id="1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936620" y="1042816"/>
            <a:ext cx="129160" cy="129521"/>
          </a:xfrm>
          <a:prstGeom prst="rect">
            <a:avLst/>
          </a:prstGeom>
        </p:spPr>
      </p:pic>
      <p:pic>
        <p:nvPicPr>
          <p:cNvPr id="19" name="Image 12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57750" y="1364742"/>
            <a:ext cx="3771900" cy="1664208"/>
          </a:xfrm>
          <a:prstGeom prst="rect">
            <a:avLst/>
          </a:prstGeom>
        </p:spPr>
      </p:pic>
      <p:sp>
        <p:nvSpPr>
          <p:cNvPr id="20" name="Text 5"/>
          <p:cNvSpPr/>
          <p:nvPr/>
        </p:nvSpPr>
        <p:spPr>
          <a:xfrm>
            <a:off x="4936621" y="1409384"/>
            <a:ext cx="3673980" cy="1549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전압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전류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 센서 데이터를 수집하여 공정 패턴을 분석하고 이를 통해 불량을 조기예측하고 이상을 탐지하는 모델을 구축한다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규칙과 데이터 기반의 기준을 적용하여 알람을 울려 경보 시스템을 만들어 비용 절감 및 수익성 개선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가능한 스마트 제조 환경을 구축한다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713" dirty="0"/>
          </a:p>
        </p:txBody>
      </p:sp>
      <p:sp>
        <p:nvSpPr>
          <p:cNvPr id="21" name="Text 6"/>
          <p:cNvSpPr/>
          <p:nvPr/>
        </p:nvSpPr>
        <p:spPr>
          <a:xfrm>
            <a:off x="8202229" y="2053018"/>
            <a:ext cx="190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10"/>
              </a:lnSpc>
              <a:buNone/>
            </a:pPr>
            <a:r>
              <a:rPr lang="en-US" sz="427" dirty="0">
                <a:solidFill>
                  <a:srgbClr val="AAAAA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427" dirty="0"/>
          </a:p>
        </p:txBody>
      </p:sp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2"/>
          <a:srcRect r="4"/>
          <a:stretch/>
        </p:blipFill>
        <p:spPr>
          <a:xfrm>
            <a:off x="342900" y="3200400"/>
            <a:ext cx="28347" cy="171450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>
            <a:off x="428625" y="3200400"/>
            <a:ext cx="2352675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ko-KR" altLang="en-US" sz="92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분석 포인트 및 기대 인사이트</a:t>
            </a:r>
            <a:endParaRPr lang="en-US" sz="923" dirty="0"/>
          </a:p>
        </p:txBody>
      </p:sp>
      <p:pic>
        <p:nvPicPr>
          <p:cNvPr id="24" name="Image 14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43007" y="3476625"/>
            <a:ext cx="8286645" cy="1323975"/>
          </a:xfrm>
          <a:prstGeom prst="rect">
            <a:avLst/>
          </a:prstGeom>
        </p:spPr>
      </p:pic>
      <p:sp>
        <p:nvSpPr>
          <p:cNvPr id="25" name="Text 8"/>
          <p:cNvSpPr/>
          <p:nvPr/>
        </p:nvSpPr>
        <p:spPr>
          <a:xfrm>
            <a:off x="514350" y="3562350"/>
            <a:ext cx="285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47"/>
              </a:lnSpc>
              <a:buNone/>
            </a:pPr>
            <a:r>
              <a:rPr lang="en-US" sz="710" b="1" dirty="0">
                <a:solidFill>
                  <a:srgbClr val="FA0030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POINT </a:t>
            </a:r>
            <a:endParaRPr lang="en-US" sz="710" dirty="0"/>
          </a:p>
        </p:txBody>
      </p:sp>
      <p:pic>
        <p:nvPicPr>
          <p:cNvPr id="26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90538" y="3767138"/>
            <a:ext cx="7915275" cy="885825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1756105" y="4009709"/>
            <a:ext cx="5860390" cy="338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50"/>
              </a:lnSpc>
              <a:buNone/>
            </a:pP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전압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전류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온도간 밸런스를 최적화하여 목표 두께와 균일도를 달성하고 결함을 최소화하고 공정 중단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점검의 의사결정을 지원한다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713" dirty="0"/>
          </a:p>
        </p:txBody>
      </p:sp>
      <p:sp>
        <p:nvSpPr>
          <p:cNvPr id="28" name="Text 10"/>
          <p:cNvSpPr/>
          <p:nvPr/>
        </p:nvSpPr>
        <p:spPr>
          <a:xfrm>
            <a:off x="5229225" y="1052513"/>
            <a:ext cx="9683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0"/>
              </a:lnSpc>
              <a:buNone/>
            </a:pPr>
            <a:r>
              <a:rPr lang="ko-KR" altLang="en-US" sz="713" b="1" dirty="0">
                <a:solidFill>
                  <a:srgbClr val="333333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목표 및 문제 정의</a:t>
            </a:r>
            <a:endParaRPr lang="en-US" sz="713" dirty="0"/>
          </a:p>
        </p:txBody>
      </p:sp>
      <p:sp>
        <p:nvSpPr>
          <p:cNvPr id="29" name="Text 11"/>
          <p:cNvSpPr/>
          <p:nvPr/>
        </p:nvSpPr>
        <p:spPr>
          <a:xfrm>
            <a:off x="696119" y="1752126"/>
            <a:ext cx="3447259" cy="991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0"/>
              </a:lnSpc>
              <a:buNone/>
            </a:pP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프로젝트는 양극산화피막을 생성하는 </a:t>
            </a:r>
            <a:r>
              <a:rPr lang="ko-KR" altLang="en-US" sz="713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아노다이징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공정에서 센서를 설치해 데이터를 수집 중이지만 실제 공정 개선에 적용되지 않은 상태와 사후 검사 중심의 품질관리에서 데이터 기반의 의사결정으로 정확도를 향상시키고 품질 안정성과 고객 신뢰도를 향상하여 불량 조기예측 및 공정 이상탐지를 </a:t>
            </a:r>
            <a:r>
              <a:rPr lang="ko-KR" altLang="en-US" sz="713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기바능로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조기경보 시스템을 구축하여 생산 리스크를 최소화하고자 한다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713" dirty="0"/>
          </a:p>
        </p:txBody>
      </p:sp>
      <p:sp>
        <p:nvSpPr>
          <p:cNvPr id="32" name="Text 14"/>
          <p:cNvSpPr/>
          <p:nvPr/>
        </p:nvSpPr>
        <p:spPr>
          <a:xfrm>
            <a:off x="700088" y="628650"/>
            <a:ext cx="3014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0"/>
              </a:lnSpc>
              <a:buNone/>
            </a:pP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주제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배경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목표와 핵심 인사이트 방향을 작성하세요</a:t>
            </a:r>
            <a:r>
              <a:rPr lang="en-US" altLang="ko-KR" sz="713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713" dirty="0"/>
          </a:p>
        </p:txBody>
      </p:sp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217" y="-34"/>
            <a:ext cx="9107615" cy="58103"/>
            <a:chOff x="0" y="0"/>
            <a:chExt cx="24286972" cy="15494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286972" cy="154940"/>
            </a:xfrm>
            <a:custGeom>
              <a:avLst/>
              <a:gdLst/>
              <a:ahLst/>
              <a:cxnLst/>
              <a:rect l="l" t="t" r="r" b="b"/>
              <a:pathLst>
                <a:path w="24286972" h="154940">
                  <a:moveTo>
                    <a:pt x="0" y="0"/>
                  </a:moveTo>
                  <a:lnTo>
                    <a:pt x="24286972" y="0"/>
                  </a:lnTo>
                  <a:lnTo>
                    <a:pt x="24286972" y="154940"/>
                  </a:lnTo>
                  <a:lnTo>
                    <a:pt x="0" y="154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5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42900" y="342900"/>
            <a:ext cx="342900" cy="257175"/>
            <a:chOff x="0" y="0"/>
            <a:chExt cx="914400" cy="685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0" y="0"/>
                  </a:moveTo>
                  <a:lnTo>
                    <a:pt x="914400" y="0"/>
                  </a:lnTo>
                  <a:lnTo>
                    <a:pt x="914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97586" y="300156"/>
            <a:ext cx="2074774" cy="316183"/>
            <a:chOff x="0" y="0"/>
            <a:chExt cx="5532730" cy="8431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32731" cy="843155"/>
            </a:xfrm>
            <a:custGeom>
              <a:avLst/>
              <a:gdLst/>
              <a:ahLst/>
              <a:cxnLst/>
              <a:rect l="l" t="t" r="r" b="b"/>
              <a:pathLst>
                <a:path w="5532731" h="843155">
                  <a:moveTo>
                    <a:pt x="0" y="0"/>
                  </a:moveTo>
                  <a:lnTo>
                    <a:pt x="5532731" y="0"/>
                  </a:lnTo>
                  <a:lnTo>
                    <a:pt x="5532731" y="843155"/>
                  </a:lnTo>
                  <a:lnTo>
                    <a:pt x="0" y="8431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84398" r="3362" b="-6272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5532730" cy="862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 dirty="0" err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프로젝트</a:t>
              </a:r>
              <a:r>
                <a:rPr lang="en-US" sz="1565" b="1" dirty="0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 팀 </a:t>
              </a:r>
              <a:r>
                <a:rPr lang="en-US" sz="1565" b="1" dirty="0" err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구성</a:t>
              </a:r>
              <a:r>
                <a:rPr lang="en-US" sz="1565" b="1" dirty="0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 및 </a:t>
              </a:r>
              <a:r>
                <a:rPr lang="en-US" sz="1565" b="1" dirty="0" err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역할</a:t>
              </a:r>
              <a:endParaRPr lang="en-US" sz="1565" b="1" dirty="0">
                <a:solidFill>
                  <a:srgbClr val="1A1A1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2029" y="632079"/>
            <a:ext cx="8673084" cy="3100959"/>
            <a:chOff x="0" y="0"/>
            <a:chExt cx="23128224" cy="8269224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23128224" cy="8269224"/>
            </a:xfrm>
            <a:custGeom>
              <a:avLst/>
              <a:gdLst/>
              <a:ahLst/>
              <a:cxnLst/>
              <a:rect l="l" t="t" r="r" b="b"/>
              <a:pathLst>
                <a:path w="23128224" h="8269224">
                  <a:moveTo>
                    <a:pt x="0" y="0"/>
                  </a:moveTo>
                  <a:lnTo>
                    <a:pt x="23128224" y="0"/>
                  </a:lnTo>
                  <a:lnTo>
                    <a:pt x="23128224" y="8269224"/>
                  </a:lnTo>
                  <a:lnTo>
                    <a:pt x="0" y="8269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342900" y="771525"/>
            <a:ext cx="8458200" cy="2886075"/>
            <a:chOff x="0" y="0"/>
            <a:chExt cx="22555200" cy="76962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22555200" cy="7696200"/>
            </a:xfrm>
            <a:custGeom>
              <a:avLst/>
              <a:gdLst/>
              <a:ahLst/>
              <a:cxnLst/>
              <a:rect l="l" t="t" r="r" b="b"/>
              <a:pathLst>
                <a:path w="22555200" h="7696200">
                  <a:moveTo>
                    <a:pt x="0" y="0"/>
                  </a:moveTo>
                  <a:lnTo>
                    <a:pt x="22555200" y="0"/>
                  </a:lnTo>
                  <a:lnTo>
                    <a:pt x="22555200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342900" y="771525"/>
            <a:ext cx="8467725" cy="2895600"/>
            <a:chOff x="0" y="0"/>
            <a:chExt cx="22580600" cy="772160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22580600" cy="7721600"/>
            </a:xfrm>
            <a:custGeom>
              <a:avLst/>
              <a:gdLst/>
              <a:ahLst/>
              <a:cxnLst/>
              <a:rect l="l" t="t" r="r" b="b"/>
              <a:pathLst>
                <a:path w="22580600" h="7721600">
                  <a:moveTo>
                    <a:pt x="0" y="0"/>
                  </a:moveTo>
                  <a:lnTo>
                    <a:pt x="22580600" y="0"/>
                  </a:lnTo>
                  <a:lnTo>
                    <a:pt x="22580600" y="7721600"/>
                  </a:lnTo>
                  <a:lnTo>
                    <a:pt x="0" y="772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349758" y="778402"/>
            <a:ext cx="1688397" cy="438226"/>
            <a:chOff x="0" y="0"/>
            <a:chExt cx="4502391" cy="1168603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4502404" cy="1168654"/>
            </a:xfrm>
            <a:custGeom>
              <a:avLst/>
              <a:gdLst/>
              <a:ahLst/>
              <a:cxnLst/>
              <a:rect l="l" t="t" r="r" b="b"/>
              <a:pathLst>
                <a:path w="4502404" h="1168654">
                  <a:moveTo>
                    <a:pt x="0" y="0"/>
                  </a:moveTo>
                  <a:lnTo>
                    <a:pt x="4502404" y="0"/>
                  </a:lnTo>
                  <a:lnTo>
                    <a:pt x="4502404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124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2038160" y="778402"/>
            <a:ext cx="2110931" cy="438226"/>
            <a:chOff x="0" y="0"/>
            <a:chExt cx="5629148" cy="1168603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5629148" cy="1168654"/>
            </a:xfrm>
            <a:custGeom>
              <a:avLst/>
              <a:gdLst/>
              <a:ahLst/>
              <a:cxnLst/>
              <a:rect l="l" t="t" r="r" b="b"/>
              <a:pathLst>
                <a:path w="5629148" h="1168654">
                  <a:moveTo>
                    <a:pt x="0" y="0"/>
                  </a:moveTo>
                  <a:lnTo>
                    <a:pt x="5629148" y="0"/>
                  </a:lnTo>
                  <a:lnTo>
                    <a:pt x="5629148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3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4149090" y="778402"/>
            <a:ext cx="4644200" cy="438226"/>
            <a:chOff x="0" y="0"/>
            <a:chExt cx="12384532" cy="1168603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12384532" cy="1168654"/>
            </a:xfrm>
            <a:custGeom>
              <a:avLst/>
              <a:gdLst/>
              <a:ahLst/>
              <a:cxnLst/>
              <a:rect l="l" t="t" r="r" b="b"/>
              <a:pathLst>
                <a:path w="12384532" h="1168654">
                  <a:moveTo>
                    <a:pt x="0" y="0"/>
                  </a:moveTo>
                  <a:lnTo>
                    <a:pt x="12384532" y="0"/>
                  </a:lnTo>
                  <a:lnTo>
                    <a:pt x="12384532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4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368613" y="1216648"/>
            <a:ext cx="1688397" cy="438226"/>
            <a:chOff x="0" y="0"/>
            <a:chExt cx="4502391" cy="1168603"/>
          </a:xfrm>
        </p:grpSpPr>
        <p:sp>
          <p:nvSpPr>
            <p:cNvPr id="28" name="Freeform 28" descr="preencoded.png"/>
            <p:cNvSpPr/>
            <p:nvPr/>
          </p:nvSpPr>
          <p:spPr>
            <a:xfrm>
              <a:off x="0" y="0"/>
              <a:ext cx="4502404" cy="1168654"/>
            </a:xfrm>
            <a:custGeom>
              <a:avLst/>
              <a:gdLst/>
              <a:ahLst/>
              <a:cxnLst/>
              <a:rect l="l" t="t" r="r" b="b"/>
              <a:pathLst>
                <a:path w="4502404" h="1168654">
                  <a:moveTo>
                    <a:pt x="0" y="0"/>
                  </a:moveTo>
                  <a:lnTo>
                    <a:pt x="4502404" y="0"/>
                  </a:lnTo>
                  <a:lnTo>
                    <a:pt x="4502404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b="-124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2038160" y="1216648"/>
            <a:ext cx="2110931" cy="438226"/>
            <a:chOff x="0" y="0"/>
            <a:chExt cx="5629148" cy="1168603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5629148" cy="1168654"/>
            </a:xfrm>
            <a:custGeom>
              <a:avLst/>
              <a:gdLst/>
              <a:ahLst/>
              <a:cxnLst/>
              <a:rect l="l" t="t" r="r" b="b"/>
              <a:pathLst>
                <a:path w="5629148" h="1168654">
                  <a:moveTo>
                    <a:pt x="0" y="0"/>
                  </a:moveTo>
                  <a:lnTo>
                    <a:pt x="5629148" y="0"/>
                  </a:lnTo>
                  <a:lnTo>
                    <a:pt x="5629148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32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4149090" y="1216648"/>
            <a:ext cx="4644200" cy="438226"/>
            <a:chOff x="0" y="0"/>
            <a:chExt cx="12384532" cy="1168603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2384532" cy="1168654"/>
            </a:xfrm>
            <a:custGeom>
              <a:avLst/>
              <a:gdLst/>
              <a:ahLst/>
              <a:cxnLst/>
              <a:rect l="l" t="t" r="r" b="b"/>
              <a:pathLst>
                <a:path w="12384532" h="1168654">
                  <a:moveTo>
                    <a:pt x="0" y="0"/>
                  </a:moveTo>
                  <a:lnTo>
                    <a:pt x="12384532" y="0"/>
                  </a:lnTo>
                  <a:lnTo>
                    <a:pt x="12384532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4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349758" y="1654798"/>
            <a:ext cx="1688397" cy="438226"/>
            <a:chOff x="0" y="0"/>
            <a:chExt cx="4502391" cy="1168603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4502404" cy="1168654"/>
            </a:xfrm>
            <a:custGeom>
              <a:avLst/>
              <a:gdLst/>
              <a:ahLst/>
              <a:cxnLst/>
              <a:rect l="l" t="t" r="r" b="b"/>
              <a:pathLst>
                <a:path w="4502404" h="1168654">
                  <a:moveTo>
                    <a:pt x="0" y="0"/>
                  </a:moveTo>
                  <a:lnTo>
                    <a:pt x="4502404" y="0"/>
                  </a:lnTo>
                  <a:lnTo>
                    <a:pt x="4502404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24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2038160" y="1654798"/>
            <a:ext cx="2110931" cy="438226"/>
            <a:chOff x="0" y="0"/>
            <a:chExt cx="5629148" cy="1168603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5629148" cy="1168654"/>
            </a:xfrm>
            <a:custGeom>
              <a:avLst/>
              <a:gdLst/>
              <a:ahLst/>
              <a:cxnLst/>
              <a:rect l="l" t="t" r="r" b="b"/>
              <a:pathLst>
                <a:path w="5629148" h="1168654">
                  <a:moveTo>
                    <a:pt x="0" y="0"/>
                  </a:moveTo>
                  <a:lnTo>
                    <a:pt x="5629148" y="0"/>
                  </a:lnTo>
                  <a:lnTo>
                    <a:pt x="5629148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32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4149090" y="1654798"/>
            <a:ext cx="4644200" cy="438226"/>
            <a:chOff x="0" y="0"/>
            <a:chExt cx="12384532" cy="1168603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12384532" cy="1168654"/>
            </a:xfrm>
            <a:custGeom>
              <a:avLst/>
              <a:gdLst/>
              <a:ahLst/>
              <a:cxnLst/>
              <a:rect l="l" t="t" r="r" b="b"/>
              <a:pathLst>
                <a:path w="12384532" h="1168654">
                  <a:moveTo>
                    <a:pt x="0" y="0"/>
                  </a:moveTo>
                  <a:lnTo>
                    <a:pt x="12384532" y="0"/>
                  </a:lnTo>
                  <a:lnTo>
                    <a:pt x="12384532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4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5038868" y="1788633"/>
            <a:ext cx="2857500" cy="178280"/>
            <a:chOff x="0" y="0"/>
            <a:chExt cx="7620000" cy="47541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620000" cy="475413"/>
            </a:xfrm>
            <a:custGeom>
              <a:avLst/>
              <a:gdLst/>
              <a:ahLst/>
              <a:cxnLst/>
              <a:rect l="l" t="t" r="r" b="b"/>
              <a:pathLst>
                <a:path w="7620000" h="475413">
                  <a:moveTo>
                    <a:pt x="0" y="0"/>
                  </a:moveTo>
                  <a:lnTo>
                    <a:pt x="7620000" y="0"/>
                  </a:lnTo>
                  <a:lnTo>
                    <a:pt x="7620000" y="475413"/>
                  </a:lnTo>
                  <a:lnTo>
                    <a:pt x="0" y="47541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62309" b="-26230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7620000" cy="4944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0"/>
                </a:lnSpc>
              </a:pPr>
              <a:r>
                <a:rPr lang="en-US" sz="855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데이터 탐색, 전처리, EDA, tableau 제작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49758" y="2093043"/>
            <a:ext cx="1688397" cy="438226"/>
            <a:chOff x="0" y="0"/>
            <a:chExt cx="4502391" cy="1168603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502404" cy="1168654"/>
            </a:xfrm>
            <a:custGeom>
              <a:avLst/>
              <a:gdLst/>
              <a:ahLst/>
              <a:cxnLst/>
              <a:rect l="l" t="t" r="r" b="b"/>
              <a:pathLst>
                <a:path w="4502404" h="1168654">
                  <a:moveTo>
                    <a:pt x="0" y="0"/>
                  </a:moveTo>
                  <a:lnTo>
                    <a:pt x="4502404" y="0"/>
                  </a:lnTo>
                  <a:lnTo>
                    <a:pt x="4502404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b="-124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2038160" y="2093043"/>
            <a:ext cx="2110931" cy="438226"/>
            <a:chOff x="0" y="0"/>
            <a:chExt cx="5629148" cy="1168603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5629148" cy="1168654"/>
            </a:xfrm>
            <a:custGeom>
              <a:avLst/>
              <a:gdLst/>
              <a:ahLst/>
              <a:cxnLst/>
              <a:rect l="l" t="t" r="r" b="b"/>
              <a:pathLst>
                <a:path w="5629148" h="1168654">
                  <a:moveTo>
                    <a:pt x="0" y="0"/>
                  </a:moveTo>
                  <a:lnTo>
                    <a:pt x="5629148" y="0"/>
                  </a:lnTo>
                  <a:lnTo>
                    <a:pt x="5629148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32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4149090" y="2093043"/>
            <a:ext cx="4644200" cy="438226"/>
            <a:chOff x="0" y="0"/>
            <a:chExt cx="12384532" cy="1168603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12384532" cy="1168654"/>
            </a:xfrm>
            <a:custGeom>
              <a:avLst/>
              <a:gdLst/>
              <a:ahLst/>
              <a:cxnLst/>
              <a:rect l="l" t="t" r="r" b="b"/>
              <a:pathLst>
                <a:path w="12384532" h="1168654">
                  <a:moveTo>
                    <a:pt x="0" y="0"/>
                  </a:moveTo>
                  <a:lnTo>
                    <a:pt x="12384532" y="0"/>
                  </a:lnTo>
                  <a:lnTo>
                    <a:pt x="12384532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4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349758" y="2531288"/>
            <a:ext cx="1688397" cy="438226"/>
            <a:chOff x="0" y="0"/>
            <a:chExt cx="4502391" cy="1168603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4502404" cy="1168654"/>
            </a:xfrm>
            <a:custGeom>
              <a:avLst/>
              <a:gdLst/>
              <a:ahLst/>
              <a:cxnLst/>
              <a:rect l="l" t="t" r="r" b="b"/>
              <a:pathLst>
                <a:path w="4502404" h="1168654">
                  <a:moveTo>
                    <a:pt x="0" y="0"/>
                  </a:moveTo>
                  <a:lnTo>
                    <a:pt x="4502404" y="0"/>
                  </a:lnTo>
                  <a:lnTo>
                    <a:pt x="4502404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24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2038160" y="2531288"/>
            <a:ext cx="2110931" cy="438226"/>
            <a:chOff x="0" y="0"/>
            <a:chExt cx="5629148" cy="1168603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5629148" cy="1168654"/>
            </a:xfrm>
            <a:custGeom>
              <a:avLst/>
              <a:gdLst/>
              <a:ahLst/>
              <a:cxnLst/>
              <a:rect l="l" t="t" r="r" b="b"/>
              <a:pathLst>
                <a:path w="5629148" h="1168654">
                  <a:moveTo>
                    <a:pt x="0" y="0"/>
                  </a:moveTo>
                  <a:lnTo>
                    <a:pt x="5629148" y="0"/>
                  </a:lnTo>
                  <a:lnTo>
                    <a:pt x="5629148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32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4149090" y="2531288"/>
            <a:ext cx="4644200" cy="438226"/>
            <a:chOff x="0" y="0"/>
            <a:chExt cx="12384532" cy="1168603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12384532" cy="1168654"/>
            </a:xfrm>
            <a:custGeom>
              <a:avLst/>
              <a:gdLst/>
              <a:ahLst/>
              <a:cxnLst/>
              <a:rect l="l" t="t" r="r" b="b"/>
              <a:pathLst>
                <a:path w="12384532" h="1168654">
                  <a:moveTo>
                    <a:pt x="0" y="0"/>
                  </a:moveTo>
                  <a:lnTo>
                    <a:pt x="12384532" y="0"/>
                  </a:lnTo>
                  <a:lnTo>
                    <a:pt x="12384532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4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4437798" y="2632144"/>
            <a:ext cx="4116610" cy="237811"/>
            <a:chOff x="0" y="0"/>
            <a:chExt cx="10977626" cy="63416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77621" cy="634160"/>
            </a:xfrm>
            <a:custGeom>
              <a:avLst/>
              <a:gdLst/>
              <a:ahLst/>
              <a:cxnLst/>
              <a:rect l="l" t="t" r="r" b="b"/>
              <a:pathLst>
                <a:path w="10977621" h="634160">
                  <a:moveTo>
                    <a:pt x="0" y="0"/>
                  </a:moveTo>
                  <a:lnTo>
                    <a:pt x="10977621" y="0"/>
                  </a:lnTo>
                  <a:lnTo>
                    <a:pt x="10977621" y="634160"/>
                  </a:lnTo>
                  <a:lnTo>
                    <a:pt x="0" y="634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87295" b="-287295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0977626" cy="653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0"/>
                </a:lnSpc>
              </a:pPr>
              <a:r>
                <a:rPr lang="en-US" sz="855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데이터 탐색, 전처리, EDA, 불량 분류 및 이상탐지 모델 제작 및 발표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49758" y="2969533"/>
            <a:ext cx="1688397" cy="438226"/>
            <a:chOff x="0" y="0"/>
            <a:chExt cx="4502391" cy="1168603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4502404" cy="1168654"/>
            </a:xfrm>
            <a:custGeom>
              <a:avLst/>
              <a:gdLst/>
              <a:ahLst/>
              <a:cxnLst/>
              <a:rect l="l" t="t" r="r" b="b"/>
              <a:pathLst>
                <a:path w="4502404" h="1168654">
                  <a:moveTo>
                    <a:pt x="0" y="0"/>
                  </a:moveTo>
                  <a:lnTo>
                    <a:pt x="4502404" y="0"/>
                  </a:lnTo>
                  <a:lnTo>
                    <a:pt x="4502404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b="-124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2038160" y="2969533"/>
            <a:ext cx="2110931" cy="438226"/>
            <a:chOff x="0" y="0"/>
            <a:chExt cx="5629148" cy="1168603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5629148" cy="1168654"/>
            </a:xfrm>
            <a:custGeom>
              <a:avLst/>
              <a:gdLst/>
              <a:ahLst/>
              <a:cxnLst/>
              <a:rect l="l" t="t" r="r" b="b"/>
              <a:pathLst>
                <a:path w="5629148" h="1168654">
                  <a:moveTo>
                    <a:pt x="0" y="0"/>
                  </a:moveTo>
                  <a:lnTo>
                    <a:pt x="5629148" y="0"/>
                  </a:lnTo>
                  <a:lnTo>
                    <a:pt x="5629148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32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4149090" y="2945187"/>
            <a:ext cx="4644200" cy="438226"/>
            <a:chOff x="0" y="0"/>
            <a:chExt cx="12384532" cy="1168603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12384532" cy="1168654"/>
            </a:xfrm>
            <a:custGeom>
              <a:avLst/>
              <a:gdLst/>
              <a:ahLst/>
              <a:cxnLst/>
              <a:rect l="l" t="t" r="r" b="b"/>
              <a:pathLst>
                <a:path w="12384532" h="1168654">
                  <a:moveTo>
                    <a:pt x="0" y="0"/>
                  </a:moveTo>
                  <a:lnTo>
                    <a:pt x="12384532" y="0"/>
                  </a:lnTo>
                  <a:lnTo>
                    <a:pt x="12384532" y="1168654"/>
                  </a:lnTo>
                  <a:lnTo>
                    <a:pt x="0" y="1168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4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2038160" y="774859"/>
            <a:ext cx="7144" cy="2636425"/>
            <a:chOff x="0" y="0"/>
            <a:chExt cx="19050" cy="7030466"/>
          </a:xfrm>
        </p:grpSpPr>
        <p:sp>
          <p:nvSpPr>
            <p:cNvPr id="64" name="Freeform 64" descr="preencoded.png"/>
            <p:cNvSpPr/>
            <p:nvPr/>
          </p:nvSpPr>
          <p:spPr>
            <a:xfrm>
              <a:off x="0" y="0"/>
              <a:ext cx="19050" cy="7030466"/>
            </a:xfrm>
            <a:custGeom>
              <a:avLst/>
              <a:gdLst/>
              <a:ahLst/>
              <a:cxnLst/>
              <a:rect l="l" t="t" r="r" b="b"/>
              <a:pathLst>
                <a:path w="19050" h="7030466">
                  <a:moveTo>
                    <a:pt x="0" y="0"/>
                  </a:moveTo>
                  <a:lnTo>
                    <a:pt x="19050" y="0"/>
                  </a:lnTo>
                  <a:lnTo>
                    <a:pt x="19050" y="7030466"/>
                  </a:lnTo>
                  <a:lnTo>
                    <a:pt x="0" y="7030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33200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4149090" y="774859"/>
            <a:ext cx="7144" cy="2636425"/>
            <a:chOff x="0" y="0"/>
            <a:chExt cx="19050" cy="7030466"/>
          </a:xfrm>
        </p:grpSpPr>
        <p:sp>
          <p:nvSpPr>
            <p:cNvPr id="66" name="Freeform 66" descr="preencoded.png"/>
            <p:cNvSpPr/>
            <p:nvPr/>
          </p:nvSpPr>
          <p:spPr>
            <a:xfrm>
              <a:off x="0" y="0"/>
              <a:ext cx="19050" cy="7030466"/>
            </a:xfrm>
            <a:custGeom>
              <a:avLst/>
              <a:gdLst/>
              <a:ahLst/>
              <a:cxnLst/>
              <a:rect l="l" t="t" r="r" b="b"/>
              <a:pathLst>
                <a:path w="19050" h="7030466">
                  <a:moveTo>
                    <a:pt x="0" y="0"/>
                  </a:moveTo>
                  <a:lnTo>
                    <a:pt x="19050" y="0"/>
                  </a:lnTo>
                  <a:lnTo>
                    <a:pt x="19050" y="7030466"/>
                  </a:lnTo>
                  <a:lnTo>
                    <a:pt x="0" y="7030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33200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346186" y="1216628"/>
            <a:ext cx="8450723" cy="7144"/>
            <a:chOff x="0" y="0"/>
            <a:chExt cx="22535261" cy="19050"/>
          </a:xfrm>
        </p:grpSpPr>
        <p:sp>
          <p:nvSpPr>
            <p:cNvPr id="68" name="Freeform 68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346186" y="1654874"/>
            <a:ext cx="8450723" cy="7144"/>
            <a:chOff x="0" y="0"/>
            <a:chExt cx="22535261" cy="19050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346186" y="2093024"/>
            <a:ext cx="8450723" cy="7144"/>
            <a:chOff x="0" y="0"/>
            <a:chExt cx="22535261" cy="19050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346186" y="2531269"/>
            <a:ext cx="8450723" cy="7144"/>
            <a:chOff x="0" y="0"/>
            <a:chExt cx="22535261" cy="1905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346186" y="2969514"/>
            <a:ext cx="8450723" cy="7144"/>
            <a:chOff x="0" y="0"/>
            <a:chExt cx="22535261" cy="19050"/>
          </a:xfrm>
        </p:grpSpPr>
        <p:sp>
          <p:nvSpPr>
            <p:cNvPr id="76" name="Freeform 76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349758" y="774859"/>
            <a:ext cx="7144" cy="2636425"/>
            <a:chOff x="0" y="0"/>
            <a:chExt cx="19050" cy="7030466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19050" cy="7030466"/>
            </a:xfrm>
            <a:custGeom>
              <a:avLst/>
              <a:gdLst/>
              <a:ahLst/>
              <a:cxnLst/>
              <a:rect l="l" t="t" r="r" b="b"/>
              <a:pathLst>
                <a:path w="19050" h="7030466">
                  <a:moveTo>
                    <a:pt x="0" y="0"/>
                  </a:moveTo>
                  <a:lnTo>
                    <a:pt x="19050" y="0"/>
                  </a:lnTo>
                  <a:lnTo>
                    <a:pt x="19050" y="7030466"/>
                  </a:lnTo>
                  <a:lnTo>
                    <a:pt x="0" y="7030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33200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8793290" y="774859"/>
            <a:ext cx="7144" cy="2636425"/>
            <a:chOff x="0" y="0"/>
            <a:chExt cx="19050" cy="7030466"/>
          </a:xfrm>
        </p:grpSpPr>
        <p:sp>
          <p:nvSpPr>
            <p:cNvPr id="80" name="Freeform 80" descr="preencoded.png"/>
            <p:cNvSpPr/>
            <p:nvPr/>
          </p:nvSpPr>
          <p:spPr>
            <a:xfrm>
              <a:off x="0" y="0"/>
              <a:ext cx="19050" cy="7030466"/>
            </a:xfrm>
            <a:custGeom>
              <a:avLst/>
              <a:gdLst/>
              <a:ahLst/>
              <a:cxnLst/>
              <a:rect l="l" t="t" r="r" b="b"/>
              <a:pathLst>
                <a:path w="19050" h="7030466">
                  <a:moveTo>
                    <a:pt x="0" y="0"/>
                  </a:moveTo>
                  <a:lnTo>
                    <a:pt x="19050" y="0"/>
                  </a:lnTo>
                  <a:lnTo>
                    <a:pt x="19050" y="7030466"/>
                  </a:lnTo>
                  <a:lnTo>
                    <a:pt x="0" y="7030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33200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346186" y="778383"/>
            <a:ext cx="8450723" cy="7144"/>
            <a:chOff x="0" y="0"/>
            <a:chExt cx="22535261" cy="19050"/>
          </a:xfrm>
        </p:grpSpPr>
        <p:sp>
          <p:nvSpPr>
            <p:cNvPr id="82" name="Freeform 82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346186" y="3407759"/>
            <a:ext cx="8450723" cy="7144"/>
            <a:chOff x="0" y="0"/>
            <a:chExt cx="22535261" cy="19050"/>
          </a:xfrm>
        </p:grpSpPr>
        <p:sp>
          <p:nvSpPr>
            <p:cNvPr id="84" name="Freeform 84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559374" b="-12704533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1075373" y="914876"/>
            <a:ext cx="223838" cy="152400"/>
            <a:chOff x="0" y="0"/>
            <a:chExt cx="596900" cy="4064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3"/>
                </a:lnSpc>
              </a:pPr>
              <a:r>
                <a:rPr lang="en-US" sz="96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이름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2975229" y="914876"/>
            <a:ext cx="223838" cy="152400"/>
            <a:chOff x="0" y="0"/>
            <a:chExt cx="596900" cy="4064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3"/>
                </a:lnSpc>
              </a:pPr>
              <a:r>
                <a:rPr lang="en-US" sz="96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역할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220206" y="914876"/>
            <a:ext cx="223838" cy="152400"/>
            <a:chOff x="0" y="0"/>
            <a:chExt cx="596900" cy="4064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3"/>
                </a:lnSpc>
              </a:pPr>
              <a:r>
                <a:rPr lang="en-US" sz="96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담당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485573" y="914876"/>
            <a:ext cx="223838" cy="152400"/>
            <a:chOff x="0" y="0"/>
            <a:chExt cx="596900" cy="40640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3"/>
                </a:lnSpc>
              </a:pPr>
              <a:r>
                <a:rPr lang="en-US" sz="96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업무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75310" y="1362932"/>
            <a:ext cx="300038" cy="138113"/>
            <a:chOff x="0" y="0"/>
            <a:chExt cx="800100" cy="36830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00101" cy="368301"/>
            </a:xfrm>
            <a:custGeom>
              <a:avLst/>
              <a:gdLst/>
              <a:ahLst/>
              <a:cxnLst/>
              <a:rect l="l" t="t" r="r" b="b"/>
              <a:pathLst>
                <a:path w="800101" h="368301">
                  <a:moveTo>
                    <a:pt x="0" y="0"/>
                  </a:moveTo>
                  <a:lnTo>
                    <a:pt x="800101" y="0"/>
                  </a:lnTo>
                  <a:lnTo>
                    <a:pt x="8001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060" r="-9060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8001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모상혁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215962" y="1362932"/>
            <a:ext cx="47625" cy="138113"/>
            <a:chOff x="0" y="0"/>
            <a:chExt cx="127000" cy="3683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27000" cy="368301"/>
            </a:xfrm>
            <a:custGeom>
              <a:avLst/>
              <a:gdLst/>
              <a:ahLst/>
              <a:cxnLst/>
              <a:rect l="l" t="t" r="r" b="b"/>
              <a:pathLst>
                <a:path w="127000" h="368301">
                  <a:moveTo>
                    <a:pt x="0" y="0"/>
                  </a:moveTo>
                  <a:lnTo>
                    <a:pt x="127000" y="0"/>
                  </a:lnTo>
                  <a:lnTo>
                    <a:pt x="127000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22080" r="-322080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1270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55555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259401" y="1362932"/>
            <a:ext cx="200025" cy="138113"/>
            <a:chOff x="0" y="0"/>
            <a:chExt cx="533400" cy="3683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33400" cy="368301"/>
            </a:xfrm>
            <a:custGeom>
              <a:avLst/>
              <a:gdLst/>
              <a:ahLst/>
              <a:cxnLst/>
              <a:rect l="l" t="t" r="r" b="b"/>
              <a:pathLst>
                <a:path w="533400" h="368301">
                  <a:moveTo>
                    <a:pt x="0" y="0"/>
                  </a:moveTo>
                  <a:lnTo>
                    <a:pt x="533400" y="0"/>
                  </a:lnTo>
                  <a:lnTo>
                    <a:pt x="533400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8590" r="-38590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5334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팀장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469708" y="1362932"/>
            <a:ext cx="47625" cy="138113"/>
            <a:chOff x="0" y="0"/>
            <a:chExt cx="127000" cy="3683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27000" cy="368301"/>
            </a:xfrm>
            <a:custGeom>
              <a:avLst/>
              <a:gdLst/>
              <a:ahLst/>
              <a:cxnLst/>
              <a:rect l="l" t="t" r="r" b="b"/>
              <a:pathLst>
                <a:path w="127000" h="368301">
                  <a:moveTo>
                    <a:pt x="0" y="0"/>
                  </a:moveTo>
                  <a:lnTo>
                    <a:pt x="127000" y="0"/>
                  </a:lnTo>
                  <a:lnTo>
                    <a:pt x="127000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22080" r="-322080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1270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55555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)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2678183" y="1316478"/>
            <a:ext cx="892917" cy="258759"/>
            <a:chOff x="0" y="0"/>
            <a:chExt cx="2381110" cy="69002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2381103" cy="690019"/>
            </a:xfrm>
            <a:custGeom>
              <a:avLst/>
              <a:gdLst/>
              <a:ahLst/>
              <a:cxnLst/>
              <a:rect l="l" t="t" r="r" b="b"/>
              <a:pathLst>
                <a:path w="2381103" h="690019">
                  <a:moveTo>
                    <a:pt x="0" y="0"/>
                  </a:moveTo>
                  <a:lnTo>
                    <a:pt x="2381103" y="0"/>
                  </a:lnTo>
                  <a:lnTo>
                    <a:pt x="2381103" y="690019"/>
                  </a:lnTo>
                  <a:lnTo>
                    <a:pt x="0" y="6900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7690" r="18874" b="18595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9525"/>
              <a:ext cx="2381110" cy="6995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8"/>
                </a:lnSpc>
              </a:pPr>
              <a:r>
                <a:rPr lang="en-US" sz="752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팀장 / 운영 총괄 / streamlit 제작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036511" y="1801178"/>
            <a:ext cx="300038" cy="138113"/>
            <a:chOff x="0" y="0"/>
            <a:chExt cx="800100" cy="3683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800101" cy="368301"/>
            </a:xfrm>
            <a:custGeom>
              <a:avLst/>
              <a:gdLst/>
              <a:ahLst/>
              <a:cxnLst/>
              <a:rect l="l" t="t" r="r" b="b"/>
              <a:pathLst>
                <a:path w="800101" h="368301">
                  <a:moveTo>
                    <a:pt x="0" y="0"/>
                  </a:moveTo>
                  <a:lnTo>
                    <a:pt x="800101" y="0"/>
                  </a:lnTo>
                  <a:lnTo>
                    <a:pt x="8001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060" r="-9060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19050"/>
              <a:ext cx="8001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이채준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2566130" y="1842840"/>
            <a:ext cx="946076" cy="95345"/>
            <a:chOff x="0" y="0"/>
            <a:chExt cx="2522868" cy="254254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2522864" cy="254253"/>
            </a:xfrm>
            <a:custGeom>
              <a:avLst/>
              <a:gdLst/>
              <a:ahLst/>
              <a:cxnLst/>
              <a:rect l="l" t="t" r="r" b="b"/>
              <a:pathLst>
                <a:path w="2522864" h="254253">
                  <a:moveTo>
                    <a:pt x="0" y="0"/>
                  </a:moveTo>
                  <a:lnTo>
                    <a:pt x="2522864" y="0"/>
                  </a:lnTo>
                  <a:lnTo>
                    <a:pt x="2522864" y="254253"/>
                  </a:lnTo>
                  <a:lnTo>
                    <a:pt x="0" y="25425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43343" b="-143343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9525"/>
              <a:ext cx="2522868" cy="2637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8"/>
                </a:lnSpc>
              </a:pPr>
              <a:r>
                <a:rPr lang="en-US" sz="752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및 tableau 담당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036511" y="2239613"/>
            <a:ext cx="300038" cy="138113"/>
            <a:chOff x="0" y="0"/>
            <a:chExt cx="800100" cy="3683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800101" cy="368301"/>
            </a:xfrm>
            <a:custGeom>
              <a:avLst/>
              <a:gdLst/>
              <a:ahLst/>
              <a:cxnLst/>
              <a:rect l="l" t="t" r="r" b="b"/>
              <a:pathLst>
                <a:path w="800101" h="368301">
                  <a:moveTo>
                    <a:pt x="0" y="0"/>
                  </a:moveTo>
                  <a:lnTo>
                    <a:pt x="800101" y="0"/>
                  </a:lnTo>
                  <a:lnTo>
                    <a:pt x="8001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060" r="-9060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19050"/>
              <a:ext cx="8001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정의조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2543999" y="2233208"/>
            <a:ext cx="1001554" cy="119063"/>
            <a:chOff x="0" y="0"/>
            <a:chExt cx="2670810" cy="3175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2670811" cy="317501"/>
            </a:xfrm>
            <a:custGeom>
              <a:avLst/>
              <a:gdLst/>
              <a:ahLst/>
              <a:cxnLst/>
              <a:rect l="l" t="t" r="r" b="b"/>
              <a:pathLst>
                <a:path w="2670811" h="317501">
                  <a:moveTo>
                    <a:pt x="0" y="0"/>
                  </a:moveTo>
                  <a:lnTo>
                    <a:pt x="2670811" y="0"/>
                  </a:lnTo>
                  <a:lnTo>
                    <a:pt x="2670811" y="317501"/>
                  </a:lnTo>
                  <a:lnTo>
                    <a:pt x="0" y="3175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13907" b="-113907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9525"/>
              <a:ext cx="2670810" cy="327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8"/>
                </a:lnSpc>
              </a:pPr>
              <a:r>
                <a:rPr lang="en-US" sz="752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및 tableau 담당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036511" y="2677859"/>
            <a:ext cx="300038" cy="138113"/>
            <a:chOff x="0" y="0"/>
            <a:chExt cx="800100" cy="3683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00101" cy="368301"/>
            </a:xfrm>
            <a:custGeom>
              <a:avLst/>
              <a:gdLst/>
              <a:ahLst/>
              <a:cxnLst/>
              <a:rect l="l" t="t" r="r" b="b"/>
              <a:pathLst>
                <a:path w="800101" h="368301">
                  <a:moveTo>
                    <a:pt x="0" y="0"/>
                  </a:moveTo>
                  <a:lnTo>
                    <a:pt x="800101" y="0"/>
                  </a:lnTo>
                  <a:lnTo>
                    <a:pt x="8001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060" r="-9060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8001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최지호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2488968" y="2652718"/>
            <a:ext cx="1090613" cy="167893"/>
            <a:chOff x="0" y="0"/>
            <a:chExt cx="2908300" cy="447713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908299" cy="447712"/>
            </a:xfrm>
            <a:custGeom>
              <a:avLst/>
              <a:gdLst/>
              <a:ahLst/>
              <a:cxnLst/>
              <a:rect l="l" t="t" r="r" b="b"/>
              <a:pathLst>
                <a:path w="2908299" h="447712">
                  <a:moveTo>
                    <a:pt x="0" y="0"/>
                  </a:moveTo>
                  <a:lnTo>
                    <a:pt x="2908299" y="0"/>
                  </a:lnTo>
                  <a:lnTo>
                    <a:pt x="2908299" y="447712"/>
                  </a:lnTo>
                  <a:lnTo>
                    <a:pt x="0" y="44771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76573" b="-76573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9525"/>
              <a:ext cx="2908300" cy="4572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8"/>
                </a:lnSpc>
              </a:pPr>
              <a:r>
                <a:rPr lang="en-US" sz="752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및 모델링 담당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036511" y="3116009"/>
            <a:ext cx="358712" cy="88459"/>
            <a:chOff x="0" y="0"/>
            <a:chExt cx="956564" cy="23589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956568" cy="235891"/>
            </a:xfrm>
            <a:custGeom>
              <a:avLst/>
              <a:gdLst/>
              <a:ahLst/>
              <a:cxnLst/>
              <a:rect l="l" t="t" r="r" b="b"/>
              <a:pathLst>
                <a:path w="956568" h="235891">
                  <a:moveTo>
                    <a:pt x="0" y="0"/>
                  </a:moveTo>
                  <a:lnTo>
                    <a:pt x="956568" y="0"/>
                  </a:lnTo>
                  <a:lnTo>
                    <a:pt x="956568" y="235891"/>
                  </a:lnTo>
                  <a:lnTo>
                    <a:pt x="0" y="23589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9014" b="-29013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19050"/>
              <a:ext cx="956564" cy="254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홍상훈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2537346" y="3124772"/>
            <a:ext cx="1033753" cy="115062"/>
            <a:chOff x="0" y="0"/>
            <a:chExt cx="2756675" cy="306832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2756675" cy="306835"/>
            </a:xfrm>
            <a:custGeom>
              <a:avLst/>
              <a:gdLst/>
              <a:ahLst/>
              <a:cxnLst/>
              <a:rect l="l" t="t" r="r" b="b"/>
              <a:pathLst>
                <a:path w="2756675" h="306835">
                  <a:moveTo>
                    <a:pt x="0" y="0"/>
                  </a:moveTo>
                  <a:lnTo>
                    <a:pt x="2756675" y="0"/>
                  </a:lnTo>
                  <a:lnTo>
                    <a:pt x="2756675" y="306835"/>
                  </a:lnTo>
                  <a:lnTo>
                    <a:pt x="0" y="30683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5058" b="-125057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9525"/>
              <a:ext cx="2756675" cy="3163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98"/>
                </a:lnSpc>
              </a:pPr>
              <a:r>
                <a:rPr lang="en-US" sz="752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및 발표자료 담당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349758" y="3407283"/>
            <a:ext cx="8444484" cy="243459"/>
            <a:chOff x="0" y="0"/>
            <a:chExt cx="22518624" cy="649224"/>
          </a:xfrm>
        </p:grpSpPr>
        <p:sp>
          <p:nvSpPr>
            <p:cNvPr id="137" name="Freeform 137" descr="preencoded.png"/>
            <p:cNvSpPr/>
            <p:nvPr/>
          </p:nvSpPr>
          <p:spPr>
            <a:xfrm>
              <a:off x="0" y="0"/>
              <a:ext cx="22518624" cy="649224"/>
            </a:xfrm>
            <a:custGeom>
              <a:avLst/>
              <a:gdLst/>
              <a:ahLst/>
              <a:cxnLst/>
              <a:rect l="l" t="t" r="r" b="b"/>
              <a:pathLst>
                <a:path w="22518624" h="649224">
                  <a:moveTo>
                    <a:pt x="0" y="0"/>
                  </a:moveTo>
                  <a:lnTo>
                    <a:pt x="22518624" y="0"/>
                  </a:lnTo>
                  <a:lnTo>
                    <a:pt x="22518624" y="649224"/>
                  </a:lnTo>
                  <a:lnTo>
                    <a:pt x="0" y="649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2"/>
              </a:stretch>
            </a:blipFill>
          </p:spPr>
        </p:sp>
      </p:grpSp>
      <p:grpSp>
        <p:nvGrpSpPr>
          <p:cNvPr id="138" name="Group 138"/>
          <p:cNvGrpSpPr/>
          <p:nvPr/>
        </p:nvGrpSpPr>
        <p:grpSpPr>
          <a:xfrm>
            <a:off x="342900" y="3928710"/>
            <a:ext cx="142875" cy="115034"/>
            <a:chOff x="0" y="0"/>
            <a:chExt cx="381000" cy="306756"/>
          </a:xfrm>
        </p:grpSpPr>
        <p:sp>
          <p:nvSpPr>
            <p:cNvPr id="139" name="Freeform 139" descr="preencoded.png"/>
            <p:cNvSpPr/>
            <p:nvPr/>
          </p:nvSpPr>
          <p:spPr>
            <a:xfrm>
              <a:off x="0" y="0"/>
              <a:ext cx="381000" cy="306705"/>
            </a:xfrm>
            <a:custGeom>
              <a:avLst/>
              <a:gdLst/>
              <a:ahLst/>
              <a:cxnLst/>
              <a:rect l="l" t="t" r="r" b="b"/>
              <a:pathLst>
                <a:path w="381000" h="306705">
                  <a:moveTo>
                    <a:pt x="0" y="0"/>
                  </a:moveTo>
                  <a:lnTo>
                    <a:pt x="381000" y="0"/>
                  </a:lnTo>
                  <a:lnTo>
                    <a:pt x="381000" y="306705"/>
                  </a:lnTo>
                  <a:lnTo>
                    <a:pt x="0" y="306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643" b="-16"/>
              </a:stretch>
            </a:blipFill>
          </p:spPr>
        </p:sp>
      </p:grpSp>
      <p:grpSp>
        <p:nvGrpSpPr>
          <p:cNvPr id="140" name="Group 140"/>
          <p:cNvGrpSpPr/>
          <p:nvPr/>
        </p:nvGrpSpPr>
        <p:grpSpPr>
          <a:xfrm>
            <a:off x="543154" y="3886200"/>
            <a:ext cx="1614831" cy="167316"/>
            <a:chOff x="0" y="0"/>
            <a:chExt cx="4306214" cy="446176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4306219" cy="446181"/>
            </a:xfrm>
            <a:custGeom>
              <a:avLst/>
              <a:gdLst/>
              <a:ahLst/>
              <a:cxnLst/>
              <a:rect l="l" t="t" r="r" b="b"/>
              <a:pathLst>
                <a:path w="4306219" h="446181">
                  <a:moveTo>
                    <a:pt x="0" y="0"/>
                  </a:moveTo>
                  <a:lnTo>
                    <a:pt x="4306219" y="0"/>
                  </a:lnTo>
                  <a:lnTo>
                    <a:pt x="4306219" y="446181"/>
                  </a:lnTo>
                  <a:lnTo>
                    <a:pt x="0" y="446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38055" b="-138054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28575"/>
              <a:ext cx="4306214" cy="4747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4"/>
                </a:lnSpc>
              </a:pPr>
              <a:r>
                <a:rPr lang="en-US" sz="925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튜터 피드백 및 중간 점검 내역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236601" y="4037043"/>
            <a:ext cx="8663940" cy="1106458"/>
            <a:chOff x="0" y="0"/>
            <a:chExt cx="23103840" cy="2950553"/>
          </a:xfrm>
        </p:grpSpPr>
        <p:sp>
          <p:nvSpPr>
            <p:cNvPr id="144" name="Freeform 144" descr="preencoded.png"/>
            <p:cNvSpPr/>
            <p:nvPr/>
          </p:nvSpPr>
          <p:spPr>
            <a:xfrm>
              <a:off x="0" y="0"/>
              <a:ext cx="23103839" cy="2950591"/>
            </a:xfrm>
            <a:custGeom>
              <a:avLst/>
              <a:gdLst/>
              <a:ahLst/>
              <a:cxnLst/>
              <a:rect l="l" t="t" r="r" b="b"/>
              <a:pathLst>
                <a:path w="23103839" h="2950591">
                  <a:moveTo>
                    <a:pt x="0" y="0"/>
                  </a:moveTo>
                  <a:lnTo>
                    <a:pt x="23103839" y="0"/>
                  </a:lnTo>
                  <a:lnTo>
                    <a:pt x="23103839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6" b="-7743"/>
              </a:stretch>
            </a:blipFill>
          </p:spPr>
        </p:sp>
      </p:grpSp>
      <p:grpSp>
        <p:nvGrpSpPr>
          <p:cNvPr id="145" name="Group 145"/>
          <p:cNvGrpSpPr/>
          <p:nvPr/>
        </p:nvGrpSpPr>
        <p:grpSpPr>
          <a:xfrm>
            <a:off x="342900" y="4171950"/>
            <a:ext cx="8458200" cy="971550"/>
            <a:chOff x="0" y="0"/>
            <a:chExt cx="22555200" cy="2590800"/>
          </a:xfrm>
        </p:grpSpPr>
        <p:sp>
          <p:nvSpPr>
            <p:cNvPr id="146" name="Freeform 146" descr="preencoded.png"/>
            <p:cNvSpPr/>
            <p:nvPr/>
          </p:nvSpPr>
          <p:spPr>
            <a:xfrm>
              <a:off x="0" y="0"/>
              <a:ext cx="22555200" cy="2590800"/>
            </a:xfrm>
            <a:custGeom>
              <a:avLst/>
              <a:gdLst/>
              <a:ahLst/>
              <a:cxnLst/>
              <a:rect l="l" t="t" r="r" b="b"/>
              <a:pathLst>
                <a:path w="22555200" h="2590800">
                  <a:moveTo>
                    <a:pt x="0" y="0"/>
                  </a:moveTo>
                  <a:lnTo>
                    <a:pt x="22555200" y="0"/>
                  </a:lnTo>
                  <a:lnTo>
                    <a:pt x="22555200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-1" b="-1528"/>
              </a:stretch>
            </a:blipFill>
          </p:spPr>
        </p:sp>
      </p:grpSp>
      <p:grpSp>
        <p:nvGrpSpPr>
          <p:cNvPr id="147" name="Group 147"/>
          <p:cNvGrpSpPr/>
          <p:nvPr/>
        </p:nvGrpSpPr>
        <p:grpSpPr>
          <a:xfrm>
            <a:off x="342900" y="4171950"/>
            <a:ext cx="43434" cy="971550"/>
            <a:chOff x="0" y="0"/>
            <a:chExt cx="115824" cy="2590800"/>
          </a:xfrm>
        </p:grpSpPr>
        <p:sp>
          <p:nvSpPr>
            <p:cNvPr id="148" name="Freeform 148" descr="preencoded.png"/>
            <p:cNvSpPr/>
            <p:nvPr/>
          </p:nvSpPr>
          <p:spPr>
            <a:xfrm>
              <a:off x="0" y="0"/>
              <a:ext cx="115824" cy="2590800"/>
            </a:xfrm>
            <a:custGeom>
              <a:avLst/>
              <a:gdLst/>
              <a:ahLst/>
              <a:cxnLst/>
              <a:rect l="l" t="t" r="r" b="b"/>
              <a:pathLst>
                <a:path w="115824" h="2590800">
                  <a:moveTo>
                    <a:pt x="0" y="0"/>
                  </a:moveTo>
                  <a:lnTo>
                    <a:pt x="115824" y="0"/>
                  </a:lnTo>
                  <a:lnTo>
                    <a:pt x="115824" y="2590800"/>
                  </a:lnTo>
                  <a:lnTo>
                    <a:pt x="0" y="259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b="-1830"/>
              </a:stretch>
            </a:blipFill>
          </p:spPr>
        </p:sp>
      </p:grpSp>
      <p:grpSp>
        <p:nvGrpSpPr>
          <p:cNvPr id="149" name="Group 149"/>
          <p:cNvGrpSpPr/>
          <p:nvPr/>
        </p:nvGrpSpPr>
        <p:grpSpPr>
          <a:xfrm>
            <a:off x="1922526" y="4479417"/>
            <a:ext cx="6858" cy="371475"/>
            <a:chOff x="0" y="0"/>
            <a:chExt cx="18288" cy="990600"/>
          </a:xfrm>
        </p:grpSpPr>
        <p:sp>
          <p:nvSpPr>
            <p:cNvPr id="150" name="Freeform 150" descr="preencoded.png"/>
            <p:cNvSpPr/>
            <p:nvPr/>
          </p:nvSpPr>
          <p:spPr>
            <a:xfrm>
              <a:off x="0" y="0"/>
              <a:ext cx="18288" cy="990600"/>
            </a:xfrm>
            <a:custGeom>
              <a:avLst/>
              <a:gdLst/>
              <a:ahLst/>
              <a:cxnLst/>
              <a:rect l="l" t="t" r="r" b="b"/>
              <a:pathLst>
                <a:path w="18288" h="990600">
                  <a:moveTo>
                    <a:pt x="0" y="0"/>
                  </a:moveTo>
                  <a:lnTo>
                    <a:pt x="18288" y="0"/>
                  </a:lnTo>
                  <a:lnTo>
                    <a:pt x="18288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r="-38888"/>
              </a:stretch>
            </a:blipFill>
          </p:spPr>
        </p:sp>
      </p:grpSp>
      <p:grpSp>
        <p:nvGrpSpPr>
          <p:cNvPr id="151" name="Group 151"/>
          <p:cNvGrpSpPr/>
          <p:nvPr/>
        </p:nvGrpSpPr>
        <p:grpSpPr>
          <a:xfrm>
            <a:off x="771525" y="4614863"/>
            <a:ext cx="687901" cy="185738"/>
            <a:chOff x="0" y="0"/>
            <a:chExt cx="1834401" cy="49530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834395" cy="495299"/>
            </a:xfrm>
            <a:custGeom>
              <a:avLst/>
              <a:gdLst/>
              <a:ahLst/>
              <a:cxnLst/>
              <a:rect l="l" t="t" r="r" b="b"/>
              <a:pathLst>
                <a:path w="1834395" h="495299">
                  <a:moveTo>
                    <a:pt x="0" y="0"/>
                  </a:moveTo>
                  <a:lnTo>
                    <a:pt x="1834395" y="0"/>
                  </a:lnTo>
                  <a:lnTo>
                    <a:pt x="1834395" y="495299"/>
                  </a:lnTo>
                  <a:lnTo>
                    <a:pt x="0" y="4952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2165" b="-22165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-19050"/>
              <a:ext cx="1834401" cy="514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>
                  <a:solidFill>
                    <a:srgbClr val="6B72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정강민 튜터님 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2157794" y="4352773"/>
            <a:ext cx="352425" cy="114300"/>
            <a:chOff x="0" y="0"/>
            <a:chExt cx="939800" cy="30480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939800" cy="304800"/>
            </a:xfrm>
            <a:custGeom>
              <a:avLst/>
              <a:gdLst/>
              <a:ahLst/>
              <a:cxnLst/>
              <a:rect l="l" t="t" r="r" b="b"/>
              <a:pathLst>
                <a:path w="939800" h="304800">
                  <a:moveTo>
                    <a:pt x="0" y="0"/>
                  </a:moveTo>
                  <a:lnTo>
                    <a:pt x="939800" y="0"/>
                  </a:lnTo>
                  <a:lnTo>
                    <a:pt x="939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0078" b="-10078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9525"/>
              <a:ext cx="9398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6B72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지원 내용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2553272" y="4352773"/>
            <a:ext cx="638175" cy="114300"/>
            <a:chOff x="0" y="0"/>
            <a:chExt cx="1701800" cy="304800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1701800" cy="304800"/>
            </a:xfrm>
            <a:custGeom>
              <a:avLst/>
              <a:gdLst/>
              <a:ahLst/>
              <a:cxnLst/>
              <a:rect l="l" t="t" r="r" b="b"/>
              <a:pathLst>
                <a:path w="1701800" h="304800">
                  <a:moveTo>
                    <a:pt x="0" y="0"/>
                  </a:moveTo>
                  <a:lnTo>
                    <a:pt x="1701800" y="0"/>
                  </a:lnTo>
                  <a:lnTo>
                    <a:pt x="1701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8791" b="-58791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-9525"/>
              <a:ext cx="17018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6B72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(피드백 / 멘토링)</a:t>
              </a:r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2157984" y="4514850"/>
            <a:ext cx="6471666" cy="472059"/>
            <a:chOff x="0" y="0"/>
            <a:chExt cx="17257776" cy="1258824"/>
          </a:xfrm>
        </p:grpSpPr>
        <p:sp>
          <p:nvSpPr>
            <p:cNvPr id="161" name="Freeform 161" descr="preencoded.png"/>
            <p:cNvSpPr/>
            <p:nvPr/>
          </p:nvSpPr>
          <p:spPr>
            <a:xfrm>
              <a:off x="0" y="0"/>
              <a:ext cx="17257776" cy="1258824"/>
            </a:xfrm>
            <a:custGeom>
              <a:avLst/>
              <a:gdLst/>
              <a:ahLst/>
              <a:cxnLst/>
              <a:rect l="l" t="t" r="r" b="b"/>
              <a:pathLst>
                <a:path w="17257776" h="1258824">
                  <a:moveTo>
                    <a:pt x="0" y="0"/>
                  </a:moveTo>
                  <a:lnTo>
                    <a:pt x="17257776" y="0"/>
                  </a:lnTo>
                  <a:lnTo>
                    <a:pt x="17257776" y="1258824"/>
                  </a:lnTo>
                  <a:lnTo>
                    <a:pt x="0" y="125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r="-56"/>
              </a:stretch>
            </a:blipFill>
          </p:spPr>
        </p:sp>
      </p:grpSp>
      <p:grpSp>
        <p:nvGrpSpPr>
          <p:cNvPr id="162" name="Group 162"/>
          <p:cNvGrpSpPr/>
          <p:nvPr/>
        </p:nvGrpSpPr>
        <p:grpSpPr>
          <a:xfrm>
            <a:off x="2157984" y="4514850"/>
            <a:ext cx="6481191" cy="481584"/>
            <a:chOff x="0" y="0"/>
            <a:chExt cx="17283176" cy="1284224"/>
          </a:xfrm>
        </p:grpSpPr>
        <p:sp>
          <p:nvSpPr>
            <p:cNvPr id="163" name="Freeform 163" descr="preencoded.png"/>
            <p:cNvSpPr/>
            <p:nvPr/>
          </p:nvSpPr>
          <p:spPr>
            <a:xfrm>
              <a:off x="0" y="0"/>
              <a:ext cx="17283176" cy="1284224"/>
            </a:xfrm>
            <a:custGeom>
              <a:avLst/>
              <a:gdLst/>
              <a:ahLst/>
              <a:cxnLst/>
              <a:rect l="l" t="t" r="r" b="b"/>
              <a:pathLst>
                <a:path w="17283176" h="1284224">
                  <a:moveTo>
                    <a:pt x="0" y="0"/>
                  </a:moveTo>
                  <a:lnTo>
                    <a:pt x="17283176" y="0"/>
                  </a:lnTo>
                  <a:lnTo>
                    <a:pt x="17283176" y="1284224"/>
                  </a:lnTo>
                  <a:lnTo>
                    <a:pt x="0" y="1284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r="-54"/>
              </a:stretch>
            </a:blipFill>
          </p:spPr>
        </p:sp>
      </p:grpSp>
      <p:grpSp>
        <p:nvGrpSpPr>
          <p:cNvPr id="164" name="Group 164"/>
          <p:cNvGrpSpPr/>
          <p:nvPr/>
        </p:nvGrpSpPr>
        <p:grpSpPr>
          <a:xfrm>
            <a:off x="700088" y="614827"/>
            <a:ext cx="3927158" cy="141947"/>
            <a:chOff x="0" y="0"/>
            <a:chExt cx="10472420" cy="378525"/>
          </a:xfrm>
        </p:grpSpPr>
        <p:sp>
          <p:nvSpPr>
            <p:cNvPr id="165" name="Freeform 165"/>
            <p:cNvSpPr/>
            <p:nvPr/>
          </p:nvSpPr>
          <p:spPr>
            <a:xfrm>
              <a:off x="0" y="0"/>
              <a:ext cx="10472418" cy="378525"/>
            </a:xfrm>
            <a:custGeom>
              <a:avLst/>
              <a:gdLst/>
              <a:ahLst/>
              <a:cxnLst/>
              <a:rect l="l" t="t" r="r" b="b"/>
              <a:pathLst>
                <a:path w="10472418" h="378525">
                  <a:moveTo>
                    <a:pt x="0" y="0"/>
                  </a:moveTo>
                  <a:lnTo>
                    <a:pt x="10472418" y="0"/>
                  </a:lnTo>
                  <a:lnTo>
                    <a:pt x="10472418" y="378525"/>
                  </a:lnTo>
                  <a:lnTo>
                    <a:pt x="0" y="3785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91235" r="1406" b="-471758"/>
              </a:stretch>
            </a:blipFill>
          </p:spPr>
        </p:sp>
        <p:sp>
          <p:nvSpPr>
            <p:cNvPr id="166" name="TextBox 166"/>
            <p:cNvSpPr txBox="1"/>
            <p:nvPr/>
          </p:nvSpPr>
          <p:spPr>
            <a:xfrm>
              <a:off x="0" y="-19050"/>
              <a:ext cx="10472420" cy="397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55"/>
                </a:lnSpc>
              </a:pP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데이터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전처리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EDA,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시각화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결과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해석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발표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준비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등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프로젝트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수행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과정에서의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역할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분담을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71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작성하세요</a:t>
              </a:r>
              <a:r>
                <a:rPr lang="en-US" sz="71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.</a:t>
              </a:r>
            </a:p>
          </p:txBody>
        </p:sp>
      </p:grpSp>
      <p:grpSp>
        <p:nvGrpSpPr>
          <p:cNvPr id="167" name="Group 167"/>
          <p:cNvGrpSpPr/>
          <p:nvPr/>
        </p:nvGrpSpPr>
        <p:grpSpPr>
          <a:xfrm>
            <a:off x="5049074" y="4631893"/>
            <a:ext cx="19050" cy="66675"/>
            <a:chOff x="0" y="0"/>
            <a:chExt cx="50800" cy="177800"/>
          </a:xfrm>
        </p:grpSpPr>
        <p:sp>
          <p:nvSpPr>
            <p:cNvPr id="168" name="Freeform 168"/>
            <p:cNvSpPr/>
            <p:nvPr/>
          </p:nvSpPr>
          <p:spPr>
            <a:xfrm>
              <a:off x="0" y="0"/>
              <a:ext cx="50800" cy="177800"/>
            </a:xfrm>
            <a:custGeom>
              <a:avLst/>
              <a:gdLst/>
              <a:ahLst/>
              <a:cxnLst/>
              <a:rect l="l" t="t" r="r" b="b"/>
              <a:pathLst>
                <a:path w="50800" h="177800">
                  <a:moveTo>
                    <a:pt x="0" y="0"/>
                  </a:moveTo>
                  <a:lnTo>
                    <a:pt x="50800" y="0"/>
                  </a:lnTo>
                  <a:lnTo>
                    <a:pt x="50800" y="177800"/>
                  </a:lnTo>
                  <a:lnTo>
                    <a:pt x="0" y="177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99062" r="-399062"/>
              </a:stretch>
            </a:blipFill>
          </p:spPr>
        </p:sp>
        <p:sp>
          <p:nvSpPr>
            <p:cNvPr id="169" name="TextBox 169"/>
            <p:cNvSpPr txBox="1"/>
            <p:nvPr/>
          </p:nvSpPr>
          <p:spPr>
            <a:xfrm>
              <a:off x="0" y="-19050"/>
              <a:ext cx="50800" cy="196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0"/>
                </a:lnSpc>
              </a:pPr>
              <a:r>
                <a:rPr lang="en-US" sz="426">
                  <a:solidFill>
                    <a:srgbClr val="AAAAAA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2290763" y="4631893"/>
            <a:ext cx="3929444" cy="168707"/>
            <a:chOff x="0" y="0"/>
            <a:chExt cx="10478516" cy="449885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10478515" cy="449885"/>
            </a:xfrm>
            <a:custGeom>
              <a:avLst/>
              <a:gdLst/>
              <a:ahLst/>
              <a:cxnLst/>
              <a:rect l="l" t="t" r="r" b="b"/>
              <a:pathLst>
                <a:path w="10478515" h="449885">
                  <a:moveTo>
                    <a:pt x="0" y="0"/>
                  </a:moveTo>
                  <a:lnTo>
                    <a:pt x="10478515" y="0"/>
                  </a:lnTo>
                  <a:lnTo>
                    <a:pt x="10478515" y="449885"/>
                  </a:lnTo>
                  <a:lnTo>
                    <a:pt x="0" y="4498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03836" b="-403836"/>
              </a:stretch>
            </a:blipFill>
          </p:spPr>
        </p:sp>
        <p:sp>
          <p:nvSpPr>
            <p:cNvPr id="172" name="TextBox 172"/>
            <p:cNvSpPr txBox="1"/>
            <p:nvPr/>
          </p:nvSpPr>
          <p:spPr>
            <a:xfrm>
              <a:off x="0" y="-9525"/>
              <a:ext cx="10478516" cy="459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9"/>
                </a:lnSpc>
              </a:pPr>
              <a:r>
                <a:rPr lang="en-US" sz="713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모델링 방향성 재고, 문제 정의 및 가설 탐색, 모델링 및 대시보드 작성 시 근거 파악 필요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4627245" y="1318246"/>
            <a:ext cx="3877342" cy="210407"/>
            <a:chOff x="0" y="0"/>
            <a:chExt cx="10339578" cy="561086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10339576" cy="561085"/>
            </a:xfrm>
            <a:custGeom>
              <a:avLst/>
              <a:gdLst/>
              <a:ahLst/>
              <a:cxnLst/>
              <a:rect l="l" t="t" r="r" b="b"/>
              <a:pathLst>
                <a:path w="10339576" h="561085">
                  <a:moveTo>
                    <a:pt x="0" y="0"/>
                  </a:moveTo>
                  <a:lnTo>
                    <a:pt x="10339576" y="0"/>
                  </a:lnTo>
                  <a:lnTo>
                    <a:pt x="10339576" y="561085"/>
                  </a:lnTo>
                  <a:lnTo>
                    <a:pt x="0" y="5610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09066" b="-309066"/>
              </a:stretch>
            </a:blipFill>
          </p:spPr>
        </p:sp>
        <p:sp>
          <p:nvSpPr>
            <p:cNvPr id="175" name="TextBox 175"/>
            <p:cNvSpPr txBox="1"/>
            <p:nvPr/>
          </p:nvSpPr>
          <p:spPr>
            <a:xfrm>
              <a:off x="0" y="-19050"/>
              <a:ext cx="10339578" cy="5801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0"/>
                </a:lnSpc>
              </a:pPr>
              <a:r>
                <a:rPr lang="en-US" sz="855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일정 관리, 역할 조율, 데이터 탐색, 전처리, EDA, streamlit 제작</a:t>
              </a:r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4769453" y="2238661"/>
            <a:ext cx="3412713" cy="152210"/>
            <a:chOff x="0" y="0"/>
            <a:chExt cx="9100566" cy="405892"/>
          </a:xfrm>
        </p:grpSpPr>
        <p:sp>
          <p:nvSpPr>
            <p:cNvPr id="177" name="Freeform 177"/>
            <p:cNvSpPr/>
            <p:nvPr/>
          </p:nvSpPr>
          <p:spPr>
            <a:xfrm>
              <a:off x="0" y="0"/>
              <a:ext cx="9100565" cy="405896"/>
            </a:xfrm>
            <a:custGeom>
              <a:avLst/>
              <a:gdLst/>
              <a:ahLst/>
              <a:cxnLst/>
              <a:rect l="l" t="t" r="r" b="b"/>
              <a:pathLst>
                <a:path w="9100565" h="405896">
                  <a:moveTo>
                    <a:pt x="0" y="0"/>
                  </a:moveTo>
                  <a:lnTo>
                    <a:pt x="9100565" y="0"/>
                  </a:lnTo>
                  <a:lnTo>
                    <a:pt x="9100565" y="405896"/>
                  </a:lnTo>
                  <a:lnTo>
                    <a:pt x="0" y="4058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86873" b="-386872"/>
              </a:stretch>
            </a:blipFill>
          </p:spPr>
        </p:sp>
        <p:sp>
          <p:nvSpPr>
            <p:cNvPr id="178" name="TextBox 178"/>
            <p:cNvSpPr txBox="1"/>
            <p:nvPr/>
          </p:nvSpPr>
          <p:spPr>
            <a:xfrm>
              <a:off x="0" y="-19050"/>
              <a:ext cx="9100566" cy="4249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0"/>
                </a:lnSpc>
              </a:pPr>
              <a:r>
                <a:rPr lang="en-US" sz="855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데이터 탐색, 전처리, EDA, tableau 제작</a:t>
              </a:r>
            </a:p>
          </p:txBody>
        </p:sp>
      </p:grpSp>
      <p:grpSp>
        <p:nvGrpSpPr>
          <p:cNvPr id="179" name="Group 179"/>
          <p:cNvGrpSpPr/>
          <p:nvPr/>
        </p:nvGrpSpPr>
        <p:grpSpPr>
          <a:xfrm>
            <a:off x="4769453" y="2976658"/>
            <a:ext cx="3412713" cy="306591"/>
            <a:chOff x="0" y="0"/>
            <a:chExt cx="9100566" cy="817575"/>
          </a:xfrm>
        </p:grpSpPr>
        <p:sp>
          <p:nvSpPr>
            <p:cNvPr id="180" name="Freeform 180"/>
            <p:cNvSpPr/>
            <p:nvPr/>
          </p:nvSpPr>
          <p:spPr>
            <a:xfrm>
              <a:off x="0" y="0"/>
              <a:ext cx="9100572" cy="817576"/>
            </a:xfrm>
            <a:custGeom>
              <a:avLst/>
              <a:gdLst/>
              <a:ahLst/>
              <a:cxnLst/>
              <a:rect l="l" t="t" r="r" b="b"/>
              <a:pathLst>
                <a:path w="9100572" h="817576">
                  <a:moveTo>
                    <a:pt x="0" y="0"/>
                  </a:moveTo>
                  <a:lnTo>
                    <a:pt x="9100572" y="0"/>
                  </a:lnTo>
                  <a:lnTo>
                    <a:pt x="9100572" y="817576"/>
                  </a:lnTo>
                  <a:lnTo>
                    <a:pt x="0" y="8175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72774" r="4818" b="-140105"/>
              </a:stretch>
            </a:blipFill>
          </p:spPr>
        </p:sp>
        <p:sp>
          <p:nvSpPr>
            <p:cNvPr id="181" name="TextBox 181"/>
            <p:cNvSpPr txBox="1"/>
            <p:nvPr/>
          </p:nvSpPr>
          <p:spPr>
            <a:xfrm>
              <a:off x="0" y="-19050"/>
              <a:ext cx="9100566" cy="836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20"/>
                </a:lnSpc>
              </a:pPr>
              <a:r>
                <a:rPr lang="en-US" sz="855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데이터 탐색, 전처리, EDA, 결과보고서 PPT 작성, 발표 대본 작성 및 발표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428625" y="377857"/>
            <a:ext cx="195263" cy="180975"/>
            <a:chOff x="0" y="0"/>
            <a:chExt cx="520700" cy="482600"/>
          </a:xfrm>
        </p:grpSpPr>
        <p:sp>
          <p:nvSpPr>
            <p:cNvPr id="183" name="Freeform 183"/>
            <p:cNvSpPr/>
            <p:nvPr/>
          </p:nvSpPr>
          <p:spPr>
            <a:xfrm>
              <a:off x="0" y="0"/>
              <a:ext cx="520701" cy="482600"/>
            </a:xfrm>
            <a:custGeom>
              <a:avLst/>
              <a:gdLst/>
              <a:ahLst/>
              <a:cxnLst/>
              <a:rect l="l" t="t" r="r" b="b"/>
              <a:pathLst>
                <a:path w="520701" h="482600">
                  <a:moveTo>
                    <a:pt x="0" y="0"/>
                  </a:moveTo>
                  <a:lnTo>
                    <a:pt x="520701" y="0"/>
                  </a:lnTo>
                  <a:lnTo>
                    <a:pt x="520701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8915" r="-68915"/>
              </a:stretch>
            </a:blipFill>
          </p:spPr>
        </p:sp>
        <p:sp>
          <p:nvSpPr>
            <p:cNvPr id="184" name="TextBox 184"/>
            <p:cNvSpPr txBox="1"/>
            <p:nvPr/>
          </p:nvSpPr>
          <p:spPr>
            <a:xfrm>
              <a:off x="0" y="-19050"/>
              <a:ext cx="5207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8458200" y="309563"/>
            <a:ext cx="300038" cy="300038"/>
            <a:chOff x="0" y="0"/>
            <a:chExt cx="800100" cy="800100"/>
          </a:xfrm>
        </p:grpSpPr>
        <p:sp>
          <p:nvSpPr>
            <p:cNvPr id="186" name="Freeform 186" descr="preencoded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217" y="-34"/>
            <a:ext cx="9107615" cy="58103"/>
            <a:chOff x="0" y="0"/>
            <a:chExt cx="24286972" cy="15494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286972" cy="154940"/>
            </a:xfrm>
            <a:custGeom>
              <a:avLst/>
              <a:gdLst/>
              <a:ahLst/>
              <a:cxnLst/>
              <a:rect l="l" t="t" r="r" b="b"/>
              <a:pathLst>
                <a:path w="24286972" h="154940">
                  <a:moveTo>
                    <a:pt x="0" y="0"/>
                  </a:moveTo>
                  <a:lnTo>
                    <a:pt x="24286972" y="0"/>
                  </a:lnTo>
                  <a:lnTo>
                    <a:pt x="24286972" y="154940"/>
                  </a:lnTo>
                  <a:lnTo>
                    <a:pt x="0" y="154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5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42900" y="342900"/>
            <a:ext cx="342900" cy="257175"/>
            <a:chOff x="0" y="0"/>
            <a:chExt cx="914400" cy="685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0" y="0"/>
                  </a:moveTo>
                  <a:lnTo>
                    <a:pt x="914400" y="0"/>
                  </a:lnTo>
                  <a:lnTo>
                    <a:pt x="914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97586" y="300156"/>
            <a:ext cx="2261845" cy="316183"/>
            <a:chOff x="0" y="0"/>
            <a:chExt cx="6031586" cy="8431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31587" cy="843155"/>
            </a:xfrm>
            <a:custGeom>
              <a:avLst/>
              <a:gdLst/>
              <a:ahLst/>
              <a:cxnLst/>
              <a:rect l="l" t="t" r="r" b="b"/>
              <a:pathLst>
                <a:path w="6031587" h="843155">
                  <a:moveTo>
                    <a:pt x="0" y="0"/>
                  </a:moveTo>
                  <a:lnTo>
                    <a:pt x="6031587" y="0"/>
                  </a:lnTo>
                  <a:lnTo>
                    <a:pt x="6031587" y="843155"/>
                  </a:lnTo>
                  <a:lnTo>
                    <a:pt x="0" y="8431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5550" r="3353" b="-7387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031586" cy="862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프로젝트 수행 절차 및 방법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" y="1228825"/>
            <a:ext cx="7886700" cy="30761"/>
            <a:chOff x="0" y="0"/>
            <a:chExt cx="21031200" cy="82029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21031200" cy="82042"/>
            </a:xfrm>
            <a:custGeom>
              <a:avLst/>
              <a:gdLst/>
              <a:ahLst/>
              <a:cxnLst/>
              <a:rect l="l" t="t" r="r" b="b"/>
              <a:pathLst>
                <a:path w="21031200" h="82042">
                  <a:moveTo>
                    <a:pt x="0" y="0"/>
                  </a:moveTo>
                  <a:lnTo>
                    <a:pt x="21031200" y="0"/>
                  </a:lnTo>
                  <a:lnTo>
                    <a:pt x="21031200" y="82042"/>
                  </a:lnTo>
                  <a:lnTo>
                    <a:pt x="0" y="82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41" b="15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343015" y="2299716"/>
            <a:ext cx="28347" cy="171450"/>
            <a:chOff x="0" y="0"/>
            <a:chExt cx="75590" cy="4572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5565" cy="457200"/>
            </a:xfrm>
            <a:custGeom>
              <a:avLst/>
              <a:gdLst/>
              <a:ahLst/>
              <a:cxnLst/>
              <a:rect l="l" t="t" r="r" b="b"/>
              <a:pathLst>
                <a:path w="75565" h="457200">
                  <a:moveTo>
                    <a:pt x="0" y="0"/>
                  </a:moveTo>
                  <a:lnTo>
                    <a:pt x="75565" y="0"/>
                  </a:lnTo>
                  <a:lnTo>
                    <a:pt x="7556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33" b="-2513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428625" y="2305241"/>
            <a:ext cx="700088" cy="147638"/>
            <a:chOff x="0" y="0"/>
            <a:chExt cx="1866900" cy="3937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66901" cy="393701"/>
            </a:xfrm>
            <a:custGeom>
              <a:avLst/>
              <a:gdLst/>
              <a:ahLst/>
              <a:cxnLst/>
              <a:rect l="l" t="t" r="r" b="b"/>
              <a:pathLst>
                <a:path w="1866901" h="393701">
                  <a:moveTo>
                    <a:pt x="0" y="0"/>
                  </a:moveTo>
                  <a:lnTo>
                    <a:pt x="1866901" y="0"/>
                  </a:lnTo>
                  <a:lnTo>
                    <a:pt x="1866901" y="393701"/>
                  </a:lnTo>
                  <a:lnTo>
                    <a:pt x="0" y="3937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2396" b="-42396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866900" cy="4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상세 수행 활동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2029" y="2432314"/>
            <a:ext cx="8673084" cy="2487168"/>
            <a:chOff x="0" y="0"/>
            <a:chExt cx="23128224" cy="6632448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23128224" cy="6632448"/>
            </a:xfrm>
            <a:custGeom>
              <a:avLst/>
              <a:gdLst/>
              <a:ahLst/>
              <a:cxnLst/>
              <a:rect l="l" t="t" r="r" b="b"/>
              <a:pathLst>
                <a:path w="23128224" h="6632448">
                  <a:moveTo>
                    <a:pt x="0" y="0"/>
                  </a:moveTo>
                  <a:lnTo>
                    <a:pt x="23128224" y="0"/>
                  </a:lnTo>
                  <a:lnTo>
                    <a:pt x="23128224" y="6632448"/>
                  </a:lnTo>
                  <a:lnTo>
                    <a:pt x="0" y="6632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42900" y="2571750"/>
            <a:ext cx="8458200" cy="2272284"/>
            <a:chOff x="0" y="0"/>
            <a:chExt cx="22555200" cy="6059424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22555200" cy="6059424"/>
            </a:xfrm>
            <a:custGeom>
              <a:avLst/>
              <a:gdLst/>
              <a:ahLst/>
              <a:cxnLst/>
              <a:rect l="l" t="t" r="r" b="b"/>
              <a:pathLst>
                <a:path w="22555200" h="6059424">
                  <a:moveTo>
                    <a:pt x="0" y="0"/>
                  </a:moveTo>
                  <a:lnTo>
                    <a:pt x="22555200" y="0"/>
                  </a:lnTo>
                  <a:lnTo>
                    <a:pt x="22555200" y="6059424"/>
                  </a:lnTo>
                  <a:lnTo>
                    <a:pt x="0" y="6059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25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342900" y="2571750"/>
            <a:ext cx="8467725" cy="2281809"/>
            <a:chOff x="0" y="0"/>
            <a:chExt cx="22580600" cy="6084824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22580600" cy="6084824"/>
            </a:xfrm>
            <a:custGeom>
              <a:avLst/>
              <a:gdLst/>
              <a:ahLst/>
              <a:cxnLst/>
              <a:rect l="l" t="t" r="r" b="b"/>
              <a:pathLst>
                <a:path w="22580600" h="6084824">
                  <a:moveTo>
                    <a:pt x="0" y="0"/>
                  </a:moveTo>
                  <a:lnTo>
                    <a:pt x="22580600" y="0"/>
                  </a:lnTo>
                  <a:lnTo>
                    <a:pt x="22580600" y="6084824"/>
                  </a:lnTo>
                  <a:lnTo>
                    <a:pt x="0" y="608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25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349758" y="2578637"/>
            <a:ext cx="1266635" cy="383353"/>
            <a:chOff x="0" y="0"/>
            <a:chExt cx="3377692" cy="1022274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3377692" cy="1022223"/>
            </a:xfrm>
            <a:custGeom>
              <a:avLst/>
              <a:gdLst/>
              <a:ahLst/>
              <a:cxnLst/>
              <a:rect l="l" t="t" r="r" b="b"/>
              <a:pathLst>
                <a:path w="3377692" h="1022223">
                  <a:moveTo>
                    <a:pt x="0" y="0"/>
                  </a:moveTo>
                  <a:lnTo>
                    <a:pt x="3377692" y="0"/>
                  </a:lnTo>
                  <a:lnTo>
                    <a:pt x="3377692" y="1022223"/>
                  </a:lnTo>
                  <a:lnTo>
                    <a:pt x="0" y="102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254" b="-4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616393" y="2578637"/>
            <a:ext cx="1688397" cy="383353"/>
            <a:chOff x="0" y="0"/>
            <a:chExt cx="4502391" cy="1022274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4502404" cy="1022223"/>
            </a:xfrm>
            <a:custGeom>
              <a:avLst/>
              <a:gdLst/>
              <a:ahLst/>
              <a:cxnLst/>
              <a:rect l="l" t="t" r="r" b="b"/>
              <a:pathLst>
                <a:path w="4502404" h="1022223">
                  <a:moveTo>
                    <a:pt x="0" y="0"/>
                  </a:moveTo>
                  <a:lnTo>
                    <a:pt x="4502404" y="0"/>
                  </a:lnTo>
                  <a:lnTo>
                    <a:pt x="4502404" y="1022223"/>
                  </a:lnTo>
                  <a:lnTo>
                    <a:pt x="0" y="102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186" b="-4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3304890" y="2578637"/>
            <a:ext cx="3799994" cy="383353"/>
            <a:chOff x="0" y="0"/>
            <a:chExt cx="10133317" cy="1022274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10133330" cy="1022223"/>
            </a:xfrm>
            <a:custGeom>
              <a:avLst/>
              <a:gdLst/>
              <a:ahLst/>
              <a:cxnLst/>
              <a:rect l="l" t="t" r="r" b="b"/>
              <a:pathLst>
                <a:path w="10133330" h="1022223">
                  <a:moveTo>
                    <a:pt x="0" y="0"/>
                  </a:moveTo>
                  <a:lnTo>
                    <a:pt x="10133330" y="0"/>
                  </a:lnTo>
                  <a:lnTo>
                    <a:pt x="10133330" y="1022223"/>
                  </a:lnTo>
                  <a:lnTo>
                    <a:pt x="0" y="102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-125" b="-4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7104888" y="2578637"/>
            <a:ext cx="1689164" cy="383353"/>
            <a:chOff x="0" y="0"/>
            <a:chExt cx="4504436" cy="1022274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4504436" cy="1022223"/>
            </a:xfrm>
            <a:custGeom>
              <a:avLst/>
              <a:gdLst/>
              <a:ahLst/>
              <a:cxnLst/>
              <a:rect l="l" t="t" r="r" b="b"/>
              <a:pathLst>
                <a:path w="4504436" h="1022223">
                  <a:moveTo>
                    <a:pt x="0" y="0"/>
                  </a:moveTo>
                  <a:lnTo>
                    <a:pt x="4504436" y="0"/>
                  </a:lnTo>
                  <a:lnTo>
                    <a:pt x="4504436" y="1022223"/>
                  </a:lnTo>
                  <a:lnTo>
                    <a:pt x="0" y="1022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140" b="-4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349758" y="2961951"/>
            <a:ext cx="1266635" cy="376276"/>
            <a:chOff x="0" y="0"/>
            <a:chExt cx="3377692" cy="1003402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3377692" cy="1003427"/>
            </a:xfrm>
            <a:custGeom>
              <a:avLst/>
              <a:gdLst/>
              <a:ahLst/>
              <a:cxnLst/>
              <a:rect l="l" t="t" r="r" b="b"/>
              <a:pathLst>
                <a:path w="3377692" h="1003427">
                  <a:moveTo>
                    <a:pt x="0" y="0"/>
                  </a:moveTo>
                  <a:lnTo>
                    <a:pt x="3377692" y="0"/>
                  </a:lnTo>
                  <a:lnTo>
                    <a:pt x="3377692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-349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616393" y="2961951"/>
            <a:ext cx="1688397" cy="376276"/>
            <a:chOff x="0" y="0"/>
            <a:chExt cx="4502391" cy="1003402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4502404" cy="1003427"/>
            </a:xfrm>
            <a:custGeom>
              <a:avLst/>
              <a:gdLst/>
              <a:ahLst/>
              <a:cxnLst/>
              <a:rect l="l" t="t" r="r" b="b"/>
              <a:pathLst>
                <a:path w="4502404" h="1003427">
                  <a:moveTo>
                    <a:pt x="0" y="0"/>
                  </a:moveTo>
                  <a:lnTo>
                    <a:pt x="4502404" y="0"/>
                  </a:lnTo>
                  <a:lnTo>
                    <a:pt x="4502404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34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304890" y="2961951"/>
            <a:ext cx="3799994" cy="376276"/>
            <a:chOff x="0" y="0"/>
            <a:chExt cx="10133317" cy="1003402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10133330" cy="1003427"/>
            </a:xfrm>
            <a:custGeom>
              <a:avLst/>
              <a:gdLst/>
              <a:ahLst/>
              <a:cxnLst/>
              <a:rect l="l" t="t" r="r" b="b"/>
              <a:pathLst>
                <a:path w="10133330" h="1003427">
                  <a:moveTo>
                    <a:pt x="0" y="0"/>
                  </a:moveTo>
                  <a:lnTo>
                    <a:pt x="10133330" y="0"/>
                  </a:lnTo>
                  <a:lnTo>
                    <a:pt x="10133330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99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7104888" y="2961951"/>
            <a:ext cx="1689164" cy="376276"/>
            <a:chOff x="0" y="0"/>
            <a:chExt cx="4504436" cy="1003402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4504436" cy="1003427"/>
            </a:xfrm>
            <a:custGeom>
              <a:avLst/>
              <a:gdLst/>
              <a:ahLst/>
              <a:cxnLst/>
              <a:rect l="l" t="t" r="r" b="b"/>
              <a:pathLst>
                <a:path w="4504436" h="1003427">
                  <a:moveTo>
                    <a:pt x="0" y="0"/>
                  </a:moveTo>
                  <a:lnTo>
                    <a:pt x="4504436" y="0"/>
                  </a:lnTo>
                  <a:lnTo>
                    <a:pt x="4504436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79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349758" y="3338284"/>
            <a:ext cx="1266635" cy="376276"/>
            <a:chOff x="0" y="0"/>
            <a:chExt cx="3377692" cy="1003402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3377692" cy="1003427"/>
            </a:xfrm>
            <a:custGeom>
              <a:avLst/>
              <a:gdLst/>
              <a:ahLst/>
              <a:cxnLst/>
              <a:rect l="l" t="t" r="r" b="b"/>
              <a:pathLst>
                <a:path w="3377692" h="1003427">
                  <a:moveTo>
                    <a:pt x="0" y="0"/>
                  </a:moveTo>
                  <a:lnTo>
                    <a:pt x="3377692" y="0"/>
                  </a:lnTo>
                  <a:lnTo>
                    <a:pt x="3377692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-349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616393" y="3338284"/>
            <a:ext cx="1688397" cy="376276"/>
            <a:chOff x="0" y="0"/>
            <a:chExt cx="4502391" cy="1003402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4502404" cy="1003427"/>
            </a:xfrm>
            <a:custGeom>
              <a:avLst/>
              <a:gdLst/>
              <a:ahLst/>
              <a:cxnLst/>
              <a:rect l="l" t="t" r="r" b="b"/>
              <a:pathLst>
                <a:path w="4502404" h="1003427">
                  <a:moveTo>
                    <a:pt x="0" y="0"/>
                  </a:moveTo>
                  <a:lnTo>
                    <a:pt x="4502404" y="0"/>
                  </a:lnTo>
                  <a:lnTo>
                    <a:pt x="4502404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34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3304890" y="3338284"/>
            <a:ext cx="3799994" cy="376276"/>
            <a:chOff x="0" y="0"/>
            <a:chExt cx="10133317" cy="1003402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10133330" cy="1003427"/>
            </a:xfrm>
            <a:custGeom>
              <a:avLst/>
              <a:gdLst/>
              <a:ahLst/>
              <a:cxnLst/>
              <a:rect l="l" t="t" r="r" b="b"/>
              <a:pathLst>
                <a:path w="10133330" h="1003427">
                  <a:moveTo>
                    <a:pt x="0" y="0"/>
                  </a:moveTo>
                  <a:lnTo>
                    <a:pt x="10133330" y="0"/>
                  </a:lnTo>
                  <a:lnTo>
                    <a:pt x="10133330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b="-99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7104888" y="3338284"/>
            <a:ext cx="1689164" cy="376276"/>
            <a:chOff x="0" y="0"/>
            <a:chExt cx="4504436" cy="1003402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4504436" cy="1003427"/>
            </a:xfrm>
            <a:custGeom>
              <a:avLst/>
              <a:gdLst/>
              <a:ahLst/>
              <a:cxnLst/>
              <a:rect l="l" t="t" r="r" b="b"/>
              <a:pathLst>
                <a:path w="4504436" h="1003427">
                  <a:moveTo>
                    <a:pt x="0" y="0"/>
                  </a:moveTo>
                  <a:lnTo>
                    <a:pt x="4504436" y="0"/>
                  </a:lnTo>
                  <a:lnTo>
                    <a:pt x="4504436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79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49758" y="3714522"/>
            <a:ext cx="1266635" cy="376276"/>
            <a:chOff x="0" y="0"/>
            <a:chExt cx="3377692" cy="1003402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3377692" cy="1003427"/>
            </a:xfrm>
            <a:custGeom>
              <a:avLst/>
              <a:gdLst/>
              <a:ahLst/>
              <a:cxnLst/>
              <a:rect l="l" t="t" r="r" b="b"/>
              <a:pathLst>
                <a:path w="3377692" h="1003427">
                  <a:moveTo>
                    <a:pt x="0" y="0"/>
                  </a:moveTo>
                  <a:lnTo>
                    <a:pt x="3377692" y="0"/>
                  </a:lnTo>
                  <a:lnTo>
                    <a:pt x="3377692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-349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616393" y="3714522"/>
            <a:ext cx="1688397" cy="376276"/>
            <a:chOff x="0" y="0"/>
            <a:chExt cx="4502391" cy="1003402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4502404" cy="1003427"/>
            </a:xfrm>
            <a:custGeom>
              <a:avLst/>
              <a:gdLst/>
              <a:ahLst/>
              <a:cxnLst/>
              <a:rect l="l" t="t" r="r" b="b"/>
              <a:pathLst>
                <a:path w="4502404" h="1003427">
                  <a:moveTo>
                    <a:pt x="0" y="0"/>
                  </a:moveTo>
                  <a:lnTo>
                    <a:pt x="4502404" y="0"/>
                  </a:lnTo>
                  <a:lnTo>
                    <a:pt x="4502404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34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3304890" y="3714522"/>
            <a:ext cx="3799994" cy="376276"/>
            <a:chOff x="0" y="0"/>
            <a:chExt cx="10133317" cy="1003402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10133330" cy="1003427"/>
            </a:xfrm>
            <a:custGeom>
              <a:avLst/>
              <a:gdLst/>
              <a:ahLst/>
              <a:cxnLst/>
              <a:rect l="l" t="t" r="r" b="b"/>
              <a:pathLst>
                <a:path w="10133330" h="1003427">
                  <a:moveTo>
                    <a:pt x="0" y="0"/>
                  </a:moveTo>
                  <a:lnTo>
                    <a:pt x="10133330" y="0"/>
                  </a:lnTo>
                  <a:lnTo>
                    <a:pt x="10133330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99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7104888" y="3714522"/>
            <a:ext cx="1689164" cy="376276"/>
            <a:chOff x="0" y="0"/>
            <a:chExt cx="4504436" cy="1003402"/>
          </a:xfrm>
        </p:grpSpPr>
        <p:sp>
          <p:nvSpPr>
            <p:cNvPr id="59" name="Freeform 59" descr="preencoded.png"/>
            <p:cNvSpPr/>
            <p:nvPr/>
          </p:nvSpPr>
          <p:spPr>
            <a:xfrm>
              <a:off x="0" y="0"/>
              <a:ext cx="4504436" cy="1003427"/>
            </a:xfrm>
            <a:custGeom>
              <a:avLst/>
              <a:gdLst/>
              <a:ahLst/>
              <a:cxnLst/>
              <a:rect l="l" t="t" r="r" b="b"/>
              <a:pathLst>
                <a:path w="4504436" h="1003427">
                  <a:moveTo>
                    <a:pt x="0" y="0"/>
                  </a:moveTo>
                  <a:lnTo>
                    <a:pt x="4504436" y="0"/>
                  </a:lnTo>
                  <a:lnTo>
                    <a:pt x="4504436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79"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349758" y="4090788"/>
            <a:ext cx="1266635" cy="376276"/>
            <a:chOff x="0" y="0"/>
            <a:chExt cx="3377692" cy="1003402"/>
          </a:xfrm>
        </p:grpSpPr>
        <p:sp>
          <p:nvSpPr>
            <p:cNvPr id="61" name="Freeform 61" descr="preencoded.png"/>
            <p:cNvSpPr/>
            <p:nvPr/>
          </p:nvSpPr>
          <p:spPr>
            <a:xfrm>
              <a:off x="0" y="0"/>
              <a:ext cx="3377692" cy="1003427"/>
            </a:xfrm>
            <a:custGeom>
              <a:avLst/>
              <a:gdLst/>
              <a:ahLst/>
              <a:cxnLst/>
              <a:rect l="l" t="t" r="r" b="b"/>
              <a:pathLst>
                <a:path w="3377692" h="1003427">
                  <a:moveTo>
                    <a:pt x="0" y="0"/>
                  </a:moveTo>
                  <a:lnTo>
                    <a:pt x="3377692" y="0"/>
                  </a:lnTo>
                  <a:lnTo>
                    <a:pt x="3377692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-349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616393" y="4090788"/>
            <a:ext cx="1688397" cy="376276"/>
            <a:chOff x="0" y="0"/>
            <a:chExt cx="4502391" cy="1003402"/>
          </a:xfrm>
        </p:grpSpPr>
        <p:sp>
          <p:nvSpPr>
            <p:cNvPr id="63" name="Freeform 63" descr="preencoded.png"/>
            <p:cNvSpPr/>
            <p:nvPr/>
          </p:nvSpPr>
          <p:spPr>
            <a:xfrm>
              <a:off x="0" y="0"/>
              <a:ext cx="4502404" cy="1003427"/>
            </a:xfrm>
            <a:custGeom>
              <a:avLst/>
              <a:gdLst/>
              <a:ahLst/>
              <a:cxnLst/>
              <a:rect l="l" t="t" r="r" b="b"/>
              <a:pathLst>
                <a:path w="4502404" h="1003427">
                  <a:moveTo>
                    <a:pt x="0" y="0"/>
                  </a:moveTo>
                  <a:lnTo>
                    <a:pt x="4502404" y="0"/>
                  </a:lnTo>
                  <a:lnTo>
                    <a:pt x="4502404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34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3304890" y="4090788"/>
            <a:ext cx="3799994" cy="376276"/>
            <a:chOff x="0" y="0"/>
            <a:chExt cx="10133317" cy="1003402"/>
          </a:xfrm>
        </p:grpSpPr>
        <p:sp>
          <p:nvSpPr>
            <p:cNvPr id="65" name="Freeform 65" descr="preencoded.png"/>
            <p:cNvSpPr/>
            <p:nvPr/>
          </p:nvSpPr>
          <p:spPr>
            <a:xfrm>
              <a:off x="0" y="0"/>
              <a:ext cx="10133330" cy="1003427"/>
            </a:xfrm>
            <a:custGeom>
              <a:avLst/>
              <a:gdLst/>
              <a:ahLst/>
              <a:cxnLst/>
              <a:rect l="l" t="t" r="r" b="b"/>
              <a:pathLst>
                <a:path w="10133330" h="1003427">
                  <a:moveTo>
                    <a:pt x="0" y="0"/>
                  </a:moveTo>
                  <a:lnTo>
                    <a:pt x="10133330" y="0"/>
                  </a:lnTo>
                  <a:lnTo>
                    <a:pt x="10133330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b="-99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7104888" y="4090788"/>
            <a:ext cx="1689164" cy="376276"/>
            <a:chOff x="0" y="0"/>
            <a:chExt cx="4504436" cy="1003402"/>
          </a:xfrm>
        </p:grpSpPr>
        <p:sp>
          <p:nvSpPr>
            <p:cNvPr id="67" name="Freeform 67" descr="preencoded.png"/>
            <p:cNvSpPr/>
            <p:nvPr/>
          </p:nvSpPr>
          <p:spPr>
            <a:xfrm>
              <a:off x="0" y="0"/>
              <a:ext cx="4504436" cy="1003427"/>
            </a:xfrm>
            <a:custGeom>
              <a:avLst/>
              <a:gdLst/>
              <a:ahLst/>
              <a:cxnLst/>
              <a:rect l="l" t="t" r="r" b="b"/>
              <a:pathLst>
                <a:path w="4504436" h="1003427">
                  <a:moveTo>
                    <a:pt x="0" y="0"/>
                  </a:moveTo>
                  <a:lnTo>
                    <a:pt x="4504436" y="0"/>
                  </a:lnTo>
                  <a:lnTo>
                    <a:pt x="4504436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79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349758" y="4467063"/>
            <a:ext cx="1266635" cy="376276"/>
            <a:chOff x="0" y="0"/>
            <a:chExt cx="3377692" cy="1003402"/>
          </a:xfrm>
        </p:grpSpPr>
        <p:sp>
          <p:nvSpPr>
            <p:cNvPr id="69" name="Freeform 69" descr="preencoded.png"/>
            <p:cNvSpPr/>
            <p:nvPr/>
          </p:nvSpPr>
          <p:spPr>
            <a:xfrm>
              <a:off x="0" y="0"/>
              <a:ext cx="3377692" cy="1003427"/>
            </a:xfrm>
            <a:custGeom>
              <a:avLst/>
              <a:gdLst/>
              <a:ahLst/>
              <a:cxnLst/>
              <a:rect l="l" t="t" r="r" b="b"/>
              <a:pathLst>
                <a:path w="3377692" h="1003427">
                  <a:moveTo>
                    <a:pt x="0" y="0"/>
                  </a:moveTo>
                  <a:lnTo>
                    <a:pt x="3377692" y="0"/>
                  </a:lnTo>
                  <a:lnTo>
                    <a:pt x="3377692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b="-349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616393" y="4467063"/>
            <a:ext cx="1688397" cy="376276"/>
            <a:chOff x="0" y="0"/>
            <a:chExt cx="4502391" cy="1003402"/>
          </a:xfrm>
        </p:grpSpPr>
        <p:sp>
          <p:nvSpPr>
            <p:cNvPr id="71" name="Freeform 71" descr="preencoded.png"/>
            <p:cNvSpPr/>
            <p:nvPr/>
          </p:nvSpPr>
          <p:spPr>
            <a:xfrm>
              <a:off x="0" y="0"/>
              <a:ext cx="4502404" cy="1003427"/>
            </a:xfrm>
            <a:custGeom>
              <a:avLst/>
              <a:gdLst/>
              <a:ahLst/>
              <a:cxnLst/>
              <a:rect l="l" t="t" r="r" b="b"/>
              <a:pathLst>
                <a:path w="4502404" h="1003427">
                  <a:moveTo>
                    <a:pt x="0" y="0"/>
                  </a:moveTo>
                  <a:lnTo>
                    <a:pt x="4502404" y="0"/>
                  </a:lnTo>
                  <a:lnTo>
                    <a:pt x="4502404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34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3304890" y="4467063"/>
            <a:ext cx="3799994" cy="376276"/>
            <a:chOff x="0" y="0"/>
            <a:chExt cx="10133317" cy="1003402"/>
          </a:xfrm>
        </p:grpSpPr>
        <p:sp>
          <p:nvSpPr>
            <p:cNvPr id="73" name="Freeform 73" descr="preencoded.png"/>
            <p:cNvSpPr/>
            <p:nvPr/>
          </p:nvSpPr>
          <p:spPr>
            <a:xfrm>
              <a:off x="0" y="0"/>
              <a:ext cx="10133330" cy="1003427"/>
            </a:xfrm>
            <a:custGeom>
              <a:avLst/>
              <a:gdLst/>
              <a:ahLst/>
              <a:cxnLst/>
              <a:rect l="l" t="t" r="r" b="b"/>
              <a:pathLst>
                <a:path w="10133330" h="1003427">
                  <a:moveTo>
                    <a:pt x="0" y="0"/>
                  </a:moveTo>
                  <a:lnTo>
                    <a:pt x="10133330" y="0"/>
                  </a:lnTo>
                  <a:lnTo>
                    <a:pt x="10133330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b="-99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7104888" y="4467063"/>
            <a:ext cx="1689164" cy="376276"/>
            <a:chOff x="0" y="0"/>
            <a:chExt cx="4504436" cy="1003402"/>
          </a:xfrm>
        </p:grpSpPr>
        <p:sp>
          <p:nvSpPr>
            <p:cNvPr id="75" name="Freeform 75" descr="preencoded.png"/>
            <p:cNvSpPr/>
            <p:nvPr/>
          </p:nvSpPr>
          <p:spPr>
            <a:xfrm>
              <a:off x="0" y="0"/>
              <a:ext cx="4504436" cy="1003427"/>
            </a:xfrm>
            <a:custGeom>
              <a:avLst/>
              <a:gdLst/>
              <a:ahLst/>
              <a:cxnLst/>
              <a:rect l="l" t="t" r="r" b="b"/>
              <a:pathLst>
                <a:path w="4504436" h="1003427">
                  <a:moveTo>
                    <a:pt x="0" y="0"/>
                  </a:moveTo>
                  <a:lnTo>
                    <a:pt x="4504436" y="0"/>
                  </a:lnTo>
                  <a:lnTo>
                    <a:pt x="4504436" y="1003427"/>
                  </a:lnTo>
                  <a:lnTo>
                    <a:pt x="0" y="1003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-179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616393" y="2574989"/>
            <a:ext cx="7144" cy="2271922"/>
            <a:chOff x="0" y="0"/>
            <a:chExt cx="19050" cy="6058459"/>
          </a:xfrm>
        </p:grpSpPr>
        <p:sp>
          <p:nvSpPr>
            <p:cNvPr id="77" name="Freeform 77" descr="preencoded.png"/>
            <p:cNvSpPr/>
            <p:nvPr/>
          </p:nvSpPr>
          <p:spPr>
            <a:xfrm>
              <a:off x="0" y="0"/>
              <a:ext cx="19050" cy="6058408"/>
            </a:xfrm>
            <a:custGeom>
              <a:avLst/>
              <a:gdLst/>
              <a:ahLst/>
              <a:cxnLst/>
              <a:rect l="l" t="t" r="r" b="b"/>
              <a:pathLst>
                <a:path w="19050" h="6058408">
                  <a:moveTo>
                    <a:pt x="0" y="0"/>
                  </a:moveTo>
                  <a:lnTo>
                    <a:pt x="19050" y="0"/>
                  </a:lnTo>
                  <a:lnTo>
                    <a:pt x="19050" y="6058408"/>
                  </a:lnTo>
                  <a:lnTo>
                    <a:pt x="0" y="605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33066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3304890" y="2574989"/>
            <a:ext cx="7144" cy="2271922"/>
            <a:chOff x="0" y="0"/>
            <a:chExt cx="19050" cy="6058459"/>
          </a:xfrm>
        </p:grpSpPr>
        <p:sp>
          <p:nvSpPr>
            <p:cNvPr id="79" name="Freeform 79" descr="preencoded.png"/>
            <p:cNvSpPr/>
            <p:nvPr/>
          </p:nvSpPr>
          <p:spPr>
            <a:xfrm>
              <a:off x="0" y="0"/>
              <a:ext cx="19050" cy="6058408"/>
            </a:xfrm>
            <a:custGeom>
              <a:avLst/>
              <a:gdLst/>
              <a:ahLst/>
              <a:cxnLst/>
              <a:rect l="l" t="t" r="r" b="b"/>
              <a:pathLst>
                <a:path w="19050" h="6058408">
                  <a:moveTo>
                    <a:pt x="0" y="0"/>
                  </a:moveTo>
                  <a:lnTo>
                    <a:pt x="19050" y="0"/>
                  </a:lnTo>
                  <a:lnTo>
                    <a:pt x="19050" y="6058408"/>
                  </a:lnTo>
                  <a:lnTo>
                    <a:pt x="0" y="605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33066"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7104888" y="2574989"/>
            <a:ext cx="7144" cy="2271922"/>
            <a:chOff x="0" y="0"/>
            <a:chExt cx="19050" cy="6058459"/>
          </a:xfrm>
        </p:grpSpPr>
        <p:sp>
          <p:nvSpPr>
            <p:cNvPr id="81" name="Freeform 81" descr="preencoded.png"/>
            <p:cNvSpPr/>
            <p:nvPr/>
          </p:nvSpPr>
          <p:spPr>
            <a:xfrm>
              <a:off x="0" y="0"/>
              <a:ext cx="19050" cy="6058408"/>
            </a:xfrm>
            <a:custGeom>
              <a:avLst/>
              <a:gdLst/>
              <a:ahLst/>
              <a:cxnLst/>
              <a:rect l="l" t="t" r="r" b="b"/>
              <a:pathLst>
                <a:path w="19050" h="6058408">
                  <a:moveTo>
                    <a:pt x="0" y="0"/>
                  </a:moveTo>
                  <a:lnTo>
                    <a:pt x="19050" y="0"/>
                  </a:lnTo>
                  <a:lnTo>
                    <a:pt x="19050" y="6058408"/>
                  </a:lnTo>
                  <a:lnTo>
                    <a:pt x="0" y="605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33066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346186" y="2961990"/>
            <a:ext cx="8451385" cy="7144"/>
            <a:chOff x="0" y="0"/>
            <a:chExt cx="22537026" cy="19050"/>
          </a:xfrm>
        </p:grpSpPr>
        <p:sp>
          <p:nvSpPr>
            <p:cNvPr id="83" name="Freeform 83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84" name="Group 84"/>
          <p:cNvGrpSpPr/>
          <p:nvPr/>
        </p:nvGrpSpPr>
        <p:grpSpPr>
          <a:xfrm>
            <a:off x="346186" y="3338227"/>
            <a:ext cx="8451385" cy="7144"/>
            <a:chOff x="0" y="0"/>
            <a:chExt cx="22537026" cy="19050"/>
          </a:xfrm>
        </p:grpSpPr>
        <p:sp>
          <p:nvSpPr>
            <p:cNvPr id="85" name="Freeform 85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86" name="Group 86"/>
          <p:cNvGrpSpPr/>
          <p:nvPr/>
        </p:nvGrpSpPr>
        <p:grpSpPr>
          <a:xfrm>
            <a:off x="346186" y="3714560"/>
            <a:ext cx="8451385" cy="7144"/>
            <a:chOff x="0" y="0"/>
            <a:chExt cx="22537026" cy="19050"/>
          </a:xfrm>
        </p:grpSpPr>
        <p:sp>
          <p:nvSpPr>
            <p:cNvPr id="87" name="Freeform 87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346186" y="4090797"/>
            <a:ext cx="8451385" cy="7144"/>
            <a:chOff x="0" y="0"/>
            <a:chExt cx="22537026" cy="19050"/>
          </a:xfrm>
        </p:grpSpPr>
        <p:sp>
          <p:nvSpPr>
            <p:cNvPr id="89" name="Freeform 89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90" name="Group 90"/>
          <p:cNvGrpSpPr/>
          <p:nvPr/>
        </p:nvGrpSpPr>
        <p:grpSpPr>
          <a:xfrm>
            <a:off x="346186" y="4467063"/>
            <a:ext cx="8451385" cy="7144"/>
            <a:chOff x="0" y="0"/>
            <a:chExt cx="22537026" cy="19050"/>
          </a:xfrm>
        </p:grpSpPr>
        <p:sp>
          <p:nvSpPr>
            <p:cNvPr id="91" name="Freeform 91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349758" y="2574989"/>
            <a:ext cx="7144" cy="2271922"/>
            <a:chOff x="0" y="0"/>
            <a:chExt cx="19050" cy="6058459"/>
          </a:xfrm>
        </p:grpSpPr>
        <p:sp>
          <p:nvSpPr>
            <p:cNvPr id="93" name="Freeform 93" descr="preencoded.png"/>
            <p:cNvSpPr/>
            <p:nvPr/>
          </p:nvSpPr>
          <p:spPr>
            <a:xfrm>
              <a:off x="0" y="0"/>
              <a:ext cx="19050" cy="6058408"/>
            </a:xfrm>
            <a:custGeom>
              <a:avLst/>
              <a:gdLst/>
              <a:ahLst/>
              <a:cxnLst/>
              <a:rect l="l" t="t" r="r" b="b"/>
              <a:pathLst>
                <a:path w="19050" h="6058408">
                  <a:moveTo>
                    <a:pt x="0" y="0"/>
                  </a:moveTo>
                  <a:lnTo>
                    <a:pt x="19050" y="0"/>
                  </a:lnTo>
                  <a:lnTo>
                    <a:pt x="19050" y="6058408"/>
                  </a:lnTo>
                  <a:lnTo>
                    <a:pt x="0" y="605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33066"/>
              </a:stretch>
            </a:blipFill>
          </p:spPr>
        </p:sp>
      </p:grpSp>
      <p:grpSp>
        <p:nvGrpSpPr>
          <p:cNvPr id="94" name="Group 94"/>
          <p:cNvGrpSpPr/>
          <p:nvPr/>
        </p:nvGrpSpPr>
        <p:grpSpPr>
          <a:xfrm>
            <a:off x="8794047" y="2574989"/>
            <a:ext cx="7144" cy="2271922"/>
            <a:chOff x="0" y="0"/>
            <a:chExt cx="19050" cy="6058459"/>
          </a:xfrm>
        </p:grpSpPr>
        <p:sp>
          <p:nvSpPr>
            <p:cNvPr id="95" name="Freeform 95" descr="preencoded.png"/>
            <p:cNvSpPr/>
            <p:nvPr/>
          </p:nvSpPr>
          <p:spPr>
            <a:xfrm>
              <a:off x="0" y="0"/>
              <a:ext cx="19050" cy="6058408"/>
            </a:xfrm>
            <a:custGeom>
              <a:avLst/>
              <a:gdLst/>
              <a:ahLst/>
              <a:cxnLst/>
              <a:rect l="l" t="t" r="r" b="b"/>
              <a:pathLst>
                <a:path w="19050" h="6058408">
                  <a:moveTo>
                    <a:pt x="0" y="0"/>
                  </a:moveTo>
                  <a:lnTo>
                    <a:pt x="19050" y="0"/>
                  </a:lnTo>
                  <a:lnTo>
                    <a:pt x="19050" y="6058408"/>
                  </a:lnTo>
                  <a:lnTo>
                    <a:pt x="0" y="605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33066"/>
              </a:stretch>
            </a:blipFill>
          </p:spPr>
        </p:sp>
      </p:grpSp>
      <p:grpSp>
        <p:nvGrpSpPr>
          <p:cNvPr id="96" name="Group 96"/>
          <p:cNvGrpSpPr/>
          <p:nvPr/>
        </p:nvGrpSpPr>
        <p:grpSpPr>
          <a:xfrm>
            <a:off x="346186" y="2578608"/>
            <a:ext cx="8451385" cy="7144"/>
            <a:chOff x="0" y="0"/>
            <a:chExt cx="22537026" cy="19050"/>
          </a:xfrm>
        </p:grpSpPr>
        <p:sp>
          <p:nvSpPr>
            <p:cNvPr id="97" name="Freeform 97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346186" y="4843339"/>
            <a:ext cx="8451385" cy="7144"/>
            <a:chOff x="0" y="0"/>
            <a:chExt cx="22537026" cy="19050"/>
          </a:xfrm>
        </p:grpSpPr>
        <p:sp>
          <p:nvSpPr>
            <p:cNvPr id="99" name="Freeform 99" descr="preencoded.png"/>
            <p:cNvSpPr/>
            <p:nvPr/>
          </p:nvSpPr>
          <p:spPr>
            <a:xfrm>
              <a:off x="0" y="0"/>
              <a:ext cx="22537038" cy="19050"/>
            </a:xfrm>
            <a:custGeom>
              <a:avLst/>
              <a:gdLst/>
              <a:ahLst/>
              <a:cxnLst/>
              <a:rect l="l" t="t" r="r" b="b"/>
              <a:pathLst>
                <a:path w="22537038" h="19050">
                  <a:moveTo>
                    <a:pt x="0" y="0"/>
                  </a:moveTo>
                  <a:lnTo>
                    <a:pt x="22537038" y="0"/>
                  </a:lnTo>
                  <a:lnTo>
                    <a:pt x="22537038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r="-8558691" b="-12704533"/>
              </a:stretch>
            </a:blipFill>
          </p:spPr>
        </p:sp>
      </p:grpSp>
      <p:grpSp>
        <p:nvGrpSpPr>
          <p:cNvPr id="100" name="Group 100"/>
          <p:cNvGrpSpPr/>
          <p:nvPr/>
        </p:nvGrpSpPr>
        <p:grpSpPr>
          <a:xfrm>
            <a:off x="863651" y="2687631"/>
            <a:ext cx="223838" cy="152400"/>
            <a:chOff x="0" y="0"/>
            <a:chExt cx="596900" cy="4064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5"/>
                </a:lnSpc>
              </a:pPr>
              <a:r>
                <a:rPr lang="en-US" sz="96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구분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342007" y="2687631"/>
            <a:ext cx="223838" cy="152400"/>
            <a:chOff x="0" y="0"/>
            <a:chExt cx="596900" cy="4064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5"/>
                </a:lnSpc>
              </a:pPr>
              <a:r>
                <a:rPr lang="en-US" sz="96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기간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4953948" y="2687631"/>
            <a:ext cx="223838" cy="152400"/>
            <a:chOff x="0" y="0"/>
            <a:chExt cx="596900" cy="4064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5"/>
                </a:lnSpc>
              </a:pPr>
              <a:r>
                <a:rPr lang="en-US" sz="96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활동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5219414" y="2687631"/>
            <a:ext cx="223838" cy="152400"/>
            <a:chOff x="0" y="0"/>
            <a:chExt cx="596900" cy="4064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5"/>
                </a:lnSpc>
              </a:pPr>
              <a:r>
                <a:rPr lang="en-US" sz="96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내용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830879" y="2687631"/>
            <a:ext cx="223838" cy="152400"/>
            <a:chOff x="0" y="0"/>
            <a:chExt cx="596900" cy="4064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96901" cy="406400"/>
            </a:xfrm>
            <a:custGeom>
              <a:avLst/>
              <a:gdLst/>
              <a:ahLst/>
              <a:cxnLst/>
              <a:rect l="l" t="t" r="r" b="b"/>
              <a:pathLst>
                <a:path w="596901" h="406400">
                  <a:moveTo>
                    <a:pt x="0" y="0"/>
                  </a:moveTo>
                  <a:lnTo>
                    <a:pt x="596901" y="0"/>
                  </a:lnTo>
                  <a:lnTo>
                    <a:pt x="596901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7355" r="-37355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19050"/>
              <a:ext cx="596900" cy="425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55"/>
                </a:lnSpc>
              </a:pPr>
              <a:r>
                <a:rPr lang="en-US" sz="96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비고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925955" y="3081490"/>
            <a:ext cx="1138238" cy="128588"/>
            <a:chOff x="0" y="0"/>
            <a:chExt cx="3035300" cy="3429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035301" cy="342901"/>
            </a:xfrm>
            <a:custGeom>
              <a:avLst/>
              <a:gdLst/>
              <a:ahLst/>
              <a:cxnLst/>
              <a:rect l="l" t="t" r="r" b="b"/>
              <a:pathLst>
                <a:path w="3035301" h="342901">
                  <a:moveTo>
                    <a:pt x="0" y="0"/>
                  </a:moveTo>
                  <a:lnTo>
                    <a:pt x="3035301" y="0"/>
                  </a:lnTo>
                  <a:lnTo>
                    <a:pt x="3035301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2478" b="-122477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19050"/>
              <a:ext cx="3035300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1"/>
                </a:lnSpc>
              </a:pPr>
              <a:r>
                <a:rPr lang="en-US" sz="805">
                  <a:solidFill>
                    <a:srgbClr val="77777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2026.05.27 ~ 05.28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925955" y="3458242"/>
            <a:ext cx="1133475" cy="128588"/>
            <a:chOff x="0" y="0"/>
            <a:chExt cx="3022600" cy="34290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022600" cy="342901"/>
            </a:xfrm>
            <a:custGeom>
              <a:avLst/>
              <a:gdLst/>
              <a:ahLst/>
              <a:cxnLst/>
              <a:rect l="l" t="t" r="r" b="b"/>
              <a:pathLst>
                <a:path w="3022600" h="342901">
                  <a:moveTo>
                    <a:pt x="0" y="0"/>
                  </a:moveTo>
                  <a:lnTo>
                    <a:pt x="3022600" y="0"/>
                  </a:lnTo>
                  <a:lnTo>
                    <a:pt x="3022600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1756" b="-121756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19050"/>
              <a:ext cx="3022600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59"/>
                </a:lnSpc>
              </a:pPr>
              <a:r>
                <a:rPr lang="en-US" sz="804">
                  <a:solidFill>
                    <a:srgbClr val="77777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2026.05.28 ~ 05.31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925955" y="3834575"/>
            <a:ext cx="1133475" cy="128588"/>
            <a:chOff x="0" y="0"/>
            <a:chExt cx="3022600" cy="3429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022600" cy="342901"/>
            </a:xfrm>
            <a:custGeom>
              <a:avLst/>
              <a:gdLst/>
              <a:ahLst/>
              <a:cxnLst/>
              <a:rect l="l" t="t" r="r" b="b"/>
              <a:pathLst>
                <a:path w="3022600" h="342901">
                  <a:moveTo>
                    <a:pt x="0" y="0"/>
                  </a:moveTo>
                  <a:lnTo>
                    <a:pt x="3022600" y="0"/>
                  </a:lnTo>
                  <a:lnTo>
                    <a:pt x="3022600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1756" b="-121756"/>
              </a:stretch>
            </a:blipFill>
          </p:spPr>
        </p:sp>
        <p:sp>
          <p:nvSpPr>
            <p:cNvPr id="123" name="TextBox 123"/>
            <p:cNvSpPr txBox="1"/>
            <p:nvPr/>
          </p:nvSpPr>
          <p:spPr>
            <a:xfrm>
              <a:off x="0" y="-19050"/>
              <a:ext cx="3022600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59"/>
                </a:lnSpc>
              </a:pPr>
              <a:r>
                <a:rPr lang="en-US" sz="804">
                  <a:solidFill>
                    <a:srgbClr val="77777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2026.06.01 ~ 06.03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1925955" y="4210584"/>
            <a:ext cx="1138238" cy="128588"/>
            <a:chOff x="0" y="0"/>
            <a:chExt cx="3035300" cy="3429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035301" cy="342901"/>
            </a:xfrm>
            <a:custGeom>
              <a:avLst/>
              <a:gdLst/>
              <a:ahLst/>
              <a:cxnLst/>
              <a:rect l="l" t="t" r="r" b="b"/>
              <a:pathLst>
                <a:path w="3035301" h="342901">
                  <a:moveTo>
                    <a:pt x="0" y="0"/>
                  </a:moveTo>
                  <a:lnTo>
                    <a:pt x="3035301" y="0"/>
                  </a:lnTo>
                  <a:lnTo>
                    <a:pt x="3035301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2478" b="-122477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3035300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1"/>
                </a:lnSpc>
              </a:pPr>
              <a:r>
                <a:rPr lang="en-US" sz="805">
                  <a:solidFill>
                    <a:srgbClr val="77777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2026.06.04 ~ 06.09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628650" y="4574791"/>
            <a:ext cx="785241" cy="145876"/>
            <a:chOff x="0" y="0"/>
            <a:chExt cx="2093976" cy="389001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093973" cy="389000"/>
            </a:xfrm>
            <a:custGeom>
              <a:avLst/>
              <a:gdLst/>
              <a:ahLst/>
              <a:cxnLst/>
              <a:rect l="l" t="t" r="r" b="b"/>
              <a:pathLst>
                <a:path w="2093973" h="389000">
                  <a:moveTo>
                    <a:pt x="0" y="0"/>
                  </a:moveTo>
                  <a:lnTo>
                    <a:pt x="2093973" y="0"/>
                  </a:lnTo>
                  <a:lnTo>
                    <a:pt x="2093973" y="389000"/>
                  </a:lnTo>
                  <a:lnTo>
                    <a:pt x="0" y="389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4887" b="-54887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19050"/>
              <a:ext cx="2093976" cy="4080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85"/>
                </a:lnSpc>
              </a:pPr>
              <a:r>
                <a:rPr lang="en-US" sz="825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결과 해석 및 보고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3481507" y="4587316"/>
            <a:ext cx="1419225" cy="133350"/>
            <a:chOff x="0" y="0"/>
            <a:chExt cx="3784600" cy="3556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784600" cy="355600"/>
            </a:xfrm>
            <a:custGeom>
              <a:avLst/>
              <a:gdLst/>
              <a:ahLst/>
              <a:cxnLst/>
              <a:rect l="l" t="t" r="r" b="b"/>
              <a:pathLst>
                <a:path w="3784600" h="355600">
                  <a:moveTo>
                    <a:pt x="0" y="0"/>
                  </a:moveTo>
                  <a:lnTo>
                    <a:pt x="3784600" y="0"/>
                  </a:lnTo>
                  <a:lnTo>
                    <a:pt x="3784600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57376" b="-157376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19050"/>
              <a:ext cx="3784600" cy="37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85"/>
                </a:lnSpc>
              </a:pPr>
              <a:r>
                <a:rPr lang="en-US" sz="825">
                  <a:solidFill>
                    <a:srgbClr val="AAAAA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결과물 해석 및 발표자료 작성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42391" y="942975"/>
            <a:ext cx="571500" cy="571500"/>
            <a:chOff x="0" y="0"/>
            <a:chExt cx="1524000" cy="1524000"/>
          </a:xfrm>
        </p:grpSpPr>
        <p:sp>
          <p:nvSpPr>
            <p:cNvPr id="134" name="Freeform 134" descr="preencoded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135" name="Group 135"/>
          <p:cNvGrpSpPr/>
          <p:nvPr/>
        </p:nvGrpSpPr>
        <p:grpSpPr>
          <a:xfrm>
            <a:off x="1064329" y="1143000"/>
            <a:ext cx="128816" cy="171450"/>
            <a:chOff x="0" y="0"/>
            <a:chExt cx="343510" cy="457200"/>
          </a:xfrm>
        </p:grpSpPr>
        <p:sp>
          <p:nvSpPr>
            <p:cNvPr id="136" name="Freeform 136" descr="preencoded.png"/>
            <p:cNvSpPr/>
            <p:nvPr/>
          </p:nvSpPr>
          <p:spPr>
            <a:xfrm>
              <a:off x="0" y="0"/>
              <a:ext cx="343535" cy="457200"/>
            </a:xfrm>
            <a:custGeom>
              <a:avLst/>
              <a:gdLst/>
              <a:ahLst/>
              <a:cxnLst/>
              <a:rect l="l" t="t" r="r" b="b"/>
              <a:pathLst>
                <a:path w="343535" h="457200">
                  <a:moveTo>
                    <a:pt x="0" y="0"/>
                  </a:moveTo>
                  <a:lnTo>
                    <a:pt x="343535" y="0"/>
                  </a:lnTo>
                  <a:lnTo>
                    <a:pt x="34353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7" b="-177"/>
              </a:stretch>
            </a:blipFill>
          </p:spPr>
        </p:sp>
      </p:grpSp>
      <p:grpSp>
        <p:nvGrpSpPr>
          <p:cNvPr id="137" name="Group 137"/>
          <p:cNvGrpSpPr/>
          <p:nvPr/>
        </p:nvGrpSpPr>
        <p:grpSpPr>
          <a:xfrm>
            <a:off x="893826" y="1659841"/>
            <a:ext cx="469773" cy="125721"/>
            <a:chOff x="0" y="0"/>
            <a:chExt cx="1252728" cy="335255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252723" cy="335253"/>
            </a:xfrm>
            <a:custGeom>
              <a:avLst/>
              <a:gdLst/>
              <a:ahLst/>
              <a:cxnLst/>
              <a:rect l="l" t="t" r="r" b="b"/>
              <a:pathLst>
                <a:path w="1252723" h="335253">
                  <a:moveTo>
                    <a:pt x="0" y="0"/>
                  </a:moveTo>
                  <a:lnTo>
                    <a:pt x="1252723" y="0"/>
                  </a:lnTo>
                  <a:lnTo>
                    <a:pt x="1252723" y="335253"/>
                  </a:lnTo>
                  <a:lnTo>
                    <a:pt x="0" y="33525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2808" b="-22809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28575"/>
              <a:ext cx="1252728" cy="3638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문제 정의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966745" y="1890713"/>
            <a:ext cx="349187" cy="95250"/>
            <a:chOff x="0" y="0"/>
            <a:chExt cx="931164" cy="25400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931160" cy="254000"/>
            </a:xfrm>
            <a:custGeom>
              <a:avLst/>
              <a:gdLst/>
              <a:ahLst/>
              <a:cxnLst/>
              <a:rect l="l" t="t" r="r" b="b"/>
              <a:pathLst>
                <a:path w="931160" h="254000">
                  <a:moveTo>
                    <a:pt x="0" y="0"/>
                  </a:moveTo>
                  <a:lnTo>
                    <a:pt x="931160" y="0"/>
                  </a:lnTo>
                  <a:lnTo>
                    <a:pt x="931160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1432" b="-21432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9525"/>
              <a:ext cx="931164" cy="263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8888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1~2일차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2700523" y="1890713"/>
            <a:ext cx="442913" cy="133350"/>
            <a:chOff x="0" y="0"/>
            <a:chExt cx="1181100" cy="35560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181099" cy="355597"/>
            </a:xfrm>
            <a:custGeom>
              <a:avLst/>
              <a:gdLst/>
              <a:ahLst/>
              <a:cxnLst/>
              <a:rect l="l" t="t" r="r" b="b"/>
              <a:pathLst>
                <a:path w="1181099" h="355597">
                  <a:moveTo>
                    <a:pt x="0" y="0"/>
                  </a:moveTo>
                  <a:lnTo>
                    <a:pt x="1181099" y="0"/>
                  </a:lnTo>
                  <a:lnTo>
                    <a:pt x="1181099" y="355597"/>
                  </a:lnTo>
                  <a:lnTo>
                    <a:pt x="0" y="3555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4718" b="-14719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9525"/>
              <a:ext cx="1181100" cy="365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8888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2~5일차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4448175" y="1855505"/>
            <a:ext cx="438336" cy="168558"/>
            <a:chOff x="0" y="0"/>
            <a:chExt cx="1168895" cy="449487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1168896" cy="449490"/>
            </a:xfrm>
            <a:custGeom>
              <a:avLst/>
              <a:gdLst/>
              <a:ahLst/>
              <a:cxnLst/>
              <a:rect l="l" t="t" r="r" b="b"/>
              <a:pathLst>
                <a:path w="1168896" h="449490">
                  <a:moveTo>
                    <a:pt x="0" y="0"/>
                  </a:moveTo>
                  <a:lnTo>
                    <a:pt x="1168896" y="0"/>
                  </a:lnTo>
                  <a:lnTo>
                    <a:pt x="1168896" y="449490"/>
                  </a:lnTo>
                  <a:lnTo>
                    <a:pt x="0" y="44949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8067" b="26725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9525"/>
              <a:ext cx="1168895" cy="4590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8888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6~8일차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6099429" y="1890713"/>
            <a:ext cx="387853" cy="114300"/>
            <a:chOff x="0" y="0"/>
            <a:chExt cx="1034275" cy="3048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1034280" cy="304797"/>
            </a:xfrm>
            <a:custGeom>
              <a:avLst/>
              <a:gdLst/>
              <a:ahLst/>
              <a:cxnLst/>
              <a:rect l="l" t="t" r="r" b="b"/>
              <a:pathLst>
                <a:path w="1034280" h="304797">
                  <a:moveTo>
                    <a:pt x="0" y="0"/>
                  </a:moveTo>
                  <a:lnTo>
                    <a:pt x="1034280" y="0"/>
                  </a:lnTo>
                  <a:lnTo>
                    <a:pt x="1034280" y="304797"/>
                  </a:lnTo>
                  <a:lnTo>
                    <a:pt x="0" y="304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118" b="-16119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9525"/>
              <a:ext cx="1034275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8888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9~14일차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7830879" y="1871663"/>
            <a:ext cx="438336" cy="95250"/>
            <a:chOff x="0" y="0"/>
            <a:chExt cx="1168895" cy="254000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1168893" cy="254000"/>
            </a:xfrm>
            <a:custGeom>
              <a:avLst/>
              <a:gdLst/>
              <a:ahLst/>
              <a:cxnLst/>
              <a:rect l="l" t="t" r="r" b="b"/>
              <a:pathLst>
                <a:path w="1168893" h="254000">
                  <a:moveTo>
                    <a:pt x="0" y="0"/>
                  </a:moveTo>
                  <a:lnTo>
                    <a:pt x="1168893" y="0"/>
                  </a:lnTo>
                  <a:lnTo>
                    <a:pt x="1168893" y="254000"/>
                  </a:lnTo>
                  <a:lnTo>
                    <a:pt x="0" y="254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9669" b="-39669"/>
              </a:stretch>
            </a:blipFill>
          </p:spPr>
        </p:sp>
        <p:sp>
          <p:nvSpPr>
            <p:cNvPr id="154" name="TextBox 154"/>
            <p:cNvSpPr txBox="1"/>
            <p:nvPr/>
          </p:nvSpPr>
          <p:spPr>
            <a:xfrm>
              <a:off x="0" y="-9525"/>
              <a:ext cx="1168895" cy="2635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8888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15~17일차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2564892" y="942975"/>
            <a:ext cx="571500" cy="571500"/>
            <a:chOff x="0" y="0"/>
            <a:chExt cx="1524000" cy="1524000"/>
          </a:xfrm>
        </p:grpSpPr>
        <p:sp>
          <p:nvSpPr>
            <p:cNvPr id="156" name="Freeform 156" descr="preencoded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157" name="Group 157"/>
          <p:cNvGrpSpPr/>
          <p:nvPr/>
        </p:nvGrpSpPr>
        <p:grpSpPr>
          <a:xfrm>
            <a:off x="2764917" y="1143000"/>
            <a:ext cx="171450" cy="171450"/>
            <a:chOff x="0" y="0"/>
            <a:chExt cx="457200" cy="457200"/>
          </a:xfrm>
        </p:grpSpPr>
        <p:sp>
          <p:nvSpPr>
            <p:cNvPr id="158" name="Freeform 158" descr="preencoded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grpSp>
        <p:nvGrpSpPr>
          <p:cNvPr id="159" name="Group 159"/>
          <p:cNvGrpSpPr/>
          <p:nvPr/>
        </p:nvGrpSpPr>
        <p:grpSpPr>
          <a:xfrm>
            <a:off x="2583656" y="1624111"/>
            <a:ext cx="623254" cy="186846"/>
            <a:chOff x="0" y="0"/>
            <a:chExt cx="1662010" cy="498254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1662010" cy="498253"/>
            </a:xfrm>
            <a:custGeom>
              <a:avLst/>
              <a:gdLst/>
              <a:ahLst/>
              <a:cxnLst/>
              <a:rect l="l" t="t" r="r" b="b"/>
              <a:pathLst>
                <a:path w="1662010" h="498253">
                  <a:moveTo>
                    <a:pt x="0" y="0"/>
                  </a:moveTo>
                  <a:lnTo>
                    <a:pt x="1662010" y="0"/>
                  </a:lnTo>
                  <a:lnTo>
                    <a:pt x="1662010" y="498253"/>
                  </a:lnTo>
                  <a:lnTo>
                    <a:pt x="0" y="49825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5288" r="8303" b="-3908"/>
              </a:stretch>
            </a:blipFill>
          </p:spPr>
        </p:sp>
        <p:sp>
          <p:nvSpPr>
            <p:cNvPr id="161" name="TextBox 161"/>
            <p:cNvSpPr txBox="1"/>
            <p:nvPr/>
          </p:nvSpPr>
          <p:spPr>
            <a:xfrm>
              <a:off x="0" y="-28575"/>
              <a:ext cx="1662010" cy="5268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이해</a:t>
              </a:r>
            </a:p>
          </p:txBody>
        </p:sp>
      </p:grpSp>
      <p:grpSp>
        <p:nvGrpSpPr>
          <p:cNvPr id="162" name="Group 162"/>
          <p:cNvGrpSpPr/>
          <p:nvPr/>
        </p:nvGrpSpPr>
        <p:grpSpPr>
          <a:xfrm>
            <a:off x="4286250" y="942975"/>
            <a:ext cx="571500" cy="571500"/>
            <a:chOff x="0" y="0"/>
            <a:chExt cx="1524000" cy="1524000"/>
          </a:xfrm>
        </p:grpSpPr>
        <p:sp>
          <p:nvSpPr>
            <p:cNvPr id="163" name="Freeform 163" descr="preencoded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164" name="Group 164"/>
          <p:cNvGrpSpPr/>
          <p:nvPr/>
        </p:nvGrpSpPr>
        <p:grpSpPr>
          <a:xfrm>
            <a:off x="4464754" y="1143000"/>
            <a:ext cx="214541" cy="171450"/>
            <a:chOff x="0" y="0"/>
            <a:chExt cx="572110" cy="457200"/>
          </a:xfrm>
        </p:grpSpPr>
        <p:sp>
          <p:nvSpPr>
            <p:cNvPr id="165" name="Freeform 165" descr="preencoded.png"/>
            <p:cNvSpPr/>
            <p:nvPr/>
          </p:nvSpPr>
          <p:spPr>
            <a:xfrm>
              <a:off x="0" y="0"/>
              <a:ext cx="572135" cy="457200"/>
            </a:xfrm>
            <a:custGeom>
              <a:avLst/>
              <a:gdLst/>
              <a:ahLst/>
              <a:cxnLst/>
              <a:rect l="l" t="t" r="r" b="b"/>
              <a:pathLst>
                <a:path w="572135" h="457200">
                  <a:moveTo>
                    <a:pt x="0" y="0"/>
                  </a:moveTo>
                  <a:lnTo>
                    <a:pt x="572135" y="0"/>
                  </a:lnTo>
                  <a:lnTo>
                    <a:pt x="572135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r="4" b="-105"/>
              </a:stretch>
            </a:blipFill>
          </p:spPr>
        </p:sp>
      </p:grpSp>
      <p:grpSp>
        <p:nvGrpSpPr>
          <p:cNvPr id="166" name="Group 166"/>
          <p:cNvGrpSpPr/>
          <p:nvPr/>
        </p:nvGrpSpPr>
        <p:grpSpPr>
          <a:xfrm>
            <a:off x="4091683" y="1592460"/>
            <a:ext cx="1250918" cy="186846"/>
            <a:chOff x="0" y="0"/>
            <a:chExt cx="3335782" cy="498254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3335781" cy="498253"/>
            </a:xfrm>
            <a:custGeom>
              <a:avLst/>
              <a:gdLst/>
              <a:ahLst/>
              <a:cxnLst/>
              <a:rect l="l" t="t" r="r" b="b"/>
              <a:pathLst>
                <a:path w="3335781" h="498253">
                  <a:moveTo>
                    <a:pt x="0" y="0"/>
                  </a:moveTo>
                  <a:lnTo>
                    <a:pt x="3335781" y="0"/>
                  </a:lnTo>
                  <a:lnTo>
                    <a:pt x="3335781" y="498253"/>
                  </a:lnTo>
                  <a:lnTo>
                    <a:pt x="0" y="49825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03434" b="-57468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-28575"/>
              <a:ext cx="3335782" cy="5268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전처리 및 EDA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6007603" y="942975"/>
            <a:ext cx="571500" cy="571500"/>
            <a:chOff x="0" y="0"/>
            <a:chExt cx="1524000" cy="1524000"/>
          </a:xfrm>
        </p:grpSpPr>
        <p:sp>
          <p:nvSpPr>
            <p:cNvPr id="170" name="Freeform 170" descr="preencoded.png"/>
            <p:cNvSpPr/>
            <p:nvPr/>
          </p:nvSpPr>
          <p:spPr>
            <a:xfrm>
              <a:off x="0" y="0"/>
              <a:ext cx="1524000" cy="1524000"/>
            </a:xfrm>
            <a:custGeom>
              <a:avLst/>
              <a:gdLst/>
              <a:ahLst/>
              <a:cxnLst/>
              <a:rect l="l" t="t" r="r" b="b"/>
              <a:pathLst>
                <a:path w="1524000" h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171" name="Group 171"/>
          <p:cNvGrpSpPr/>
          <p:nvPr/>
        </p:nvGrpSpPr>
        <p:grpSpPr>
          <a:xfrm>
            <a:off x="6207628" y="1143000"/>
            <a:ext cx="171450" cy="171450"/>
            <a:chOff x="0" y="0"/>
            <a:chExt cx="457200" cy="457200"/>
          </a:xfrm>
        </p:grpSpPr>
        <p:sp>
          <p:nvSpPr>
            <p:cNvPr id="172" name="Freeform 172" descr="preencoded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grpSp>
        <p:nvGrpSpPr>
          <p:cNvPr id="173" name="Group 173"/>
          <p:cNvGrpSpPr/>
          <p:nvPr/>
        </p:nvGrpSpPr>
        <p:grpSpPr>
          <a:xfrm>
            <a:off x="5872668" y="1608725"/>
            <a:ext cx="1012822" cy="166588"/>
            <a:chOff x="0" y="0"/>
            <a:chExt cx="2700858" cy="444233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2700864" cy="444232"/>
            </a:xfrm>
            <a:custGeom>
              <a:avLst/>
              <a:gdLst/>
              <a:ahLst/>
              <a:cxnLst/>
              <a:rect l="l" t="t" r="r" b="b"/>
              <a:pathLst>
                <a:path w="2700864" h="444232">
                  <a:moveTo>
                    <a:pt x="0" y="0"/>
                  </a:moveTo>
                  <a:lnTo>
                    <a:pt x="2700864" y="0"/>
                  </a:lnTo>
                  <a:lnTo>
                    <a:pt x="2700864" y="444232"/>
                  </a:lnTo>
                  <a:lnTo>
                    <a:pt x="0" y="4442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68465" b="-68466"/>
              </a:stretch>
            </a:blipFill>
          </p:spPr>
        </p:sp>
        <p:sp>
          <p:nvSpPr>
            <p:cNvPr id="175" name="TextBox 175"/>
            <p:cNvSpPr txBox="1"/>
            <p:nvPr/>
          </p:nvSpPr>
          <p:spPr>
            <a:xfrm>
              <a:off x="0" y="-28575"/>
              <a:ext cx="2700858" cy="4728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모델링 및 대시보드</a:t>
              </a:r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7730104" y="942975"/>
            <a:ext cx="570357" cy="571500"/>
            <a:chOff x="0" y="0"/>
            <a:chExt cx="1520952" cy="1524000"/>
          </a:xfrm>
        </p:grpSpPr>
        <p:sp>
          <p:nvSpPr>
            <p:cNvPr id="177" name="Freeform 177" descr="preencoded.png"/>
            <p:cNvSpPr/>
            <p:nvPr/>
          </p:nvSpPr>
          <p:spPr>
            <a:xfrm>
              <a:off x="0" y="0"/>
              <a:ext cx="1520952" cy="1524000"/>
            </a:xfrm>
            <a:custGeom>
              <a:avLst/>
              <a:gdLst/>
              <a:ahLst/>
              <a:cxnLst/>
              <a:rect l="l" t="t" r="r" b="b"/>
              <a:pathLst>
                <a:path w="1520952" h="1524000">
                  <a:moveTo>
                    <a:pt x="0" y="0"/>
                  </a:moveTo>
                  <a:lnTo>
                    <a:pt x="1520952" y="0"/>
                  </a:lnTo>
                  <a:lnTo>
                    <a:pt x="1520952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b="-638"/>
              </a:stretch>
            </a:blipFill>
          </p:spPr>
        </p:sp>
      </p:grpSp>
      <p:grpSp>
        <p:nvGrpSpPr>
          <p:cNvPr id="178" name="Group 178"/>
          <p:cNvGrpSpPr/>
          <p:nvPr/>
        </p:nvGrpSpPr>
        <p:grpSpPr>
          <a:xfrm>
            <a:off x="7940521" y="1143000"/>
            <a:ext cx="149562" cy="171450"/>
            <a:chOff x="0" y="0"/>
            <a:chExt cx="398831" cy="457200"/>
          </a:xfrm>
        </p:grpSpPr>
        <p:sp>
          <p:nvSpPr>
            <p:cNvPr id="179" name="Freeform 179" descr="preencoded.png"/>
            <p:cNvSpPr/>
            <p:nvPr/>
          </p:nvSpPr>
          <p:spPr>
            <a:xfrm>
              <a:off x="0" y="0"/>
              <a:ext cx="398780" cy="457200"/>
            </a:xfrm>
            <a:custGeom>
              <a:avLst/>
              <a:gdLst/>
              <a:ahLst/>
              <a:cxnLst/>
              <a:rect l="l" t="t" r="r" b="b"/>
              <a:pathLst>
                <a:path w="398780" h="457200">
                  <a:moveTo>
                    <a:pt x="0" y="0"/>
                  </a:moveTo>
                  <a:lnTo>
                    <a:pt x="398780" y="0"/>
                  </a:lnTo>
                  <a:lnTo>
                    <a:pt x="39878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12" b="-1305"/>
              </a:stretch>
            </a:blipFill>
          </p:spPr>
        </p:sp>
      </p:grpSp>
      <p:grpSp>
        <p:nvGrpSpPr>
          <p:cNvPr id="180" name="Group 180"/>
          <p:cNvGrpSpPr/>
          <p:nvPr/>
        </p:nvGrpSpPr>
        <p:grpSpPr>
          <a:xfrm>
            <a:off x="7629711" y="1590733"/>
            <a:ext cx="885640" cy="186846"/>
            <a:chOff x="0" y="0"/>
            <a:chExt cx="2361705" cy="498254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2361704" cy="498255"/>
            </a:xfrm>
            <a:custGeom>
              <a:avLst/>
              <a:gdLst/>
              <a:ahLst/>
              <a:cxnLst/>
              <a:rect l="l" t="t" r="r" b="b"/>
              <a:pathLst>
                <a:path w="2361704" h="498255">
                  <a:moveTo>
                    <a:pt x="0" y="0"/>
                  </a:moveTo>
                  <a:lnTo>
                    <a:pt x="2361704" y="0"/>
                  </a:lnTo>
                  <a:lnTo>
                    <a:pt x="2361704" y="498255"/>
                  </a:lnTo>
                  <a:lnTo>
                    <a:pt x="0" y="49825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0921" r="6452" b="-21875"/>
              </a:stretch>
            </a:blipFill>
          </p:spPr>
        </p:sp>
        <p:sp>
          <p:nvSpPr>
            <p:cNvPr id="182" name="TextBox 182"/>
            <p:cNvSpPr txBox="1"/>
            <p:nvPr/>
          </p:nvSpPr>
          <p:spPr>
            <a:xfrm>
              <a:off x="0" y="-28575"/>
              <a:ext cx="2361705" cy="5268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결과 해석 및 보고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3495675" y="3471863"/>
            <a:ext cx="2441572" cy="167416"/>
            <a:chOff x="0" y="0"/>
            <a:chExt cx="6510858" cy="446443"/>
          </a:xfrm>
        </p:grpSpPr>
        <p:sp>
          <p:nvSpPr>
            <p:cNvPr id="184" name="Freeform 184"/>
            <p:cNvSpPr/>
            <p:nvPr/>
          </p:nvSpPr>
          <p:spPr>
            <a:xfrm>
              <a:off x="0" y="0"/>
              <a:ext cx="6510864" cy="446443"/>
            </a:xfrm>
            <a:custGeom>
              <a:avLst/>
              <a:gdLst/>
              <a:ahLst/>
              <a:cxnLst/>
              <a:rect l="l" t="t" r="r" b="b"/>
              <a:pathLst>
                <a:path w="6510864" h="446443">
                  <a:moveTo>
                    <a:pt x="0" y="0"/>
                  </a:moveTo>
                  <a:lnTo>
                    <a:pt x="6510864" y="0"/>
                  </a:lnTo>
                  <a:lnTo>
                    <a:pt x="6510864" y="446443"/>
                  </a:lnTo>
                  <a:lnTo>
                    <a:pt x="0" y="4464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39047" b="-229287"/>
              </a:stretch>
            </a:blipFill>
          </p:spPr>
        </p:sp>
        <p:sp>
          <p:nvSpPr>
            <p:cNvPr id="185" name="TextBox 185"/>
            <p:cNvSpPr txBox="1"/>
            <p:nvPr/>
          </p:nvSpPr>
          <p:spPr>
            <a:xfrm>
              <a:off x="0" y="-19050"/>
              <a:ext cx="6510858" cy="4654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85"/>
                </a:lnSpc>
              </a:pPr>
              <a:r>
                <a:rPr lang="en-US" sz="825">
                  <a:solidFill>
                    <a:srgbClr val="AAAAA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도메인 학습, 데이터 파악 및 기초 통계량 확인</a:t>
              </a:r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3493008" y="3856301"/>
            <a:ext cx="1919288" cy="132312"/>
            <a:chOff x="0" y="0"/>
            <a:chExt cx="5118100" cy="352831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5118101" cy="352835"/>
            </a:xfrm>
            <a:custGeom>
              <a:avLst/>
              <a:gdLst/>
              <a:ahLst/>
              <a:cxnLst/>
              <a:rect l="l" t="t" r="r" b="b"/>
              <a:pathLst>
                <a:path w="5118101" h="352835">
                  <a:moveTo>
                    <a:pt x="0" y="0"/>
                  </a:moveTo>
                  <a:lnTo>
                    <a:pt x="5118101" y="0"/>
                  </a:lnTo>
                  <a:lnTo>
                    <a:pt x="5118101" y="352835"/>
                  </a:lnTo>
                  <a:lnTo>
                    <a:pt x="0" y="35283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32643" b="-232642"/>
              </a:stretch>
            </a:blipFill>
          </p:spPr>
        </p:sp>
        <p:sp>
          <p:nvSpPr>
            <p:cNvPr id="188" name="TextBox 188"/>
            <p:cNvSpPr txBox="1"/>
            <p:nvPr/>
          </p:nvSpPr>
          <p:spPr>
            <a:xfrm>
              <a:off x="0" y="-19050"/>
              <a:ext cx="5118100" cy="3718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85"/>
                </a:lnSpc>
              </a:pPr>
              <a:r>
                <a:rPr lang="en-US" sz="825">
                  <a:solidFill>
                    <a:srgbClr val="AAAAA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파생변수 생성, 구간 분할 및 데이터 전처리 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3495675" y="4233863"/>
            <a:ext cx="2244724" cy="150019"/>
            <a:chOff x="0" y="0"/>
            <a:chExt cx="5985929" cy="400050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5985933" cy="400048"/>
            </a:xfrm>
            <a:custGeom>
              <a:avLst/>
              <a:gdLst/>
              <a:ahLst/>
              <a:cxnLst/>
              <a:rect l="l" t="t" r="r" b="b"/>
              <a:pathLst>
                <a:path w="5985933" h="400048">
                  <a:moveTo>
                    <a:pt x="0" y="0"/>
                  </a:moveTo>
                  <a:lnTo>
                    <a:pt x="5985933" y="0"/>
                  </a:lnTo>
                  <a:lnTo>
                    <a:pt x="5985933" y="400048"/>
                  </a:lnTo>
                  <a:lnTo>
                    <a:pt x="0" y="4000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41554" b="-241555"/>
              </a:stretch>
            </a:blipFill>
          </p:spPr>
        </p:sp>
        <p:sp>
          <p:nvSpPr>
            <p:cNvPr id="191" name="TextBox 191"/>
            <p:cNvSpPr txBox="1"/>
            <p:nvPr/>
          </p:nvSpPr>
          <p:spPr>
            <a:xfrm>
              <a:off x="0" y="-19050"/>
              <a:ext cx="5985929" cy="419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85"/>
                </a:lnSpc>
              </a:pPr>
              <a:r>
                <a:rPr lang="en-US" sz="825">
                  <a:solidFill>
                    <a:srgbClr val="AAAAA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모델링 및 tableau, streamlit 대시보드 생성, 배포</a:t>
              </a:r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800100" y="3081338"/>
            <a:ext cx="400050" cy="128588"/>
            <a:chOff x="0" y="0"/>
            <a:chExt cx="1066800" cy="342900"/>
          </a:xfrm>
        </p:grpSpPr>
        <p:sp>
          <p:nvSpPr>
            <p:cNvPr id="193" name="Freeform 193"/>
            <p:cNvSpPr/>
            <p:nvPr/>
          </p:nvSpPr>
          <p:spPr>
            <a:xfrm>
              <a:off x="0" y="0"/>
              <a:ext cx="1066800" cy="342901"/>
            </a:xfrm>
            <a:custGeom>
              <a:avLst/>
              <a:gdLst/>
              <a:ahLst/>
              <a:cxnLst/>
              <a:rect l="l" t="t" r="r" b="b"/>
              <a:pathLst>
                <a:path w="1066800" h="342901">
                  <a:moveTo>
                    <a:pt x="0" y="0"/>
                  </a:moveTo>
                  <a:lnTo>
                    <a:pt x="1066800" y="0"/>
                  </a:lnTo>
                  <a:lnTo>
                    <a:pt x="1066800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0620" b="-10619"/>
              </a:stretch>
            </a:blipFill>
          </p:spPr>
        </p:sp>
        <p:sp>
          <p:nvSpPr>
            <p:cNvPr id="194" name="TextBox 194"/>
            <p:cNvSpPr txBox="1"/>
            <p:nvPr/>
          </p:nvSpPr>
          <p:spPr>
            <a:xfrm>
              <a:off x="0" y="-19050"/>
              <a:ext cx="1066800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1"/>
                </a:lnSpc>
              </a:pPr>
              <a:r>
                <a:rPr lang="en-US" sz="805" b="1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문제정의</a:t>
              </a:r>
            </a:p>
          </p:txBody>
        </p:sp>
      </p:grpSp>
      <p:grpSp>
        <p:nvGrpSpPr>
          <p:cNvPr id="195" name="Group 195"/>
          <p:cNvGrpSpPr/>
          <p:nvPr/>
        </p:nvGrpSpPr>
        <p:grpSpPr>
          <a:xfrm>
            <a:off x="1952625" y="4562475"/>
            <a:ext cx="1138238" cy="128588"/>
            <a:chOff x="0" y="0"/>
            <a:chExt cx="3035300" cy="342900"/>
          </a:xfrm>
        </p:grpSpPr>
        <p:sp>
          <p:nvSpPr>
            <p:cNvPr id="196" name="Freeform 196"/>
            <p:cNvSpPr/>
            <p:nvPr/>
          </p:nvSpPr>
          <p:spPr>
            <a:xfrm>
              <a:off x="0" y="0"/>
              <a:ext cx="3035301" cy="342901"/>
            </a:xfrm>
            <a:custGeom>
              <a:avLst/>
              <a:gdLst/>
              <a:ahLst/>
              <a:cxnLst/>
              <a:rect l="l" t="t" r="r" b="b"/>
              <a:pathLst>
                <a:path w="3035301" h="342901">
                  <a:moveTo>
                    <a:pt x="0" y="0"/>
                  </a:moveTo>
                  <a:lnTo>
                    <a:pt x="3035301" y="0"/>
                  </a:lnTo>
                  <a:lnTo>
                    <a:pt x="3035301" y="342901"/>
                  </a:lnTo>
                  <a:lnTo>
                    <a:pt x="0" y="3429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2478" b="-122477"/>
              </a:stretch>
            </a:blipFill>
          </p:spPr>
        </p:sp>
        <p:sp>
          <p:nvSpPr>
            <p:cNvPr id="197" name="TextBox 197"/>
            <p:cNvSpPr txBox="1"/>
            <p:nvPr/>
          </p:nvSpPr>
          <p:spPr>
            <a:xfrm>
              <a:off x="0" y="-19050"/>
              <a:ext cx="3035300" cy="36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1"/>
                </a:lnSpc>
              </a:pPr>
              <a:r>
                <a:rPr lang="en-US" sz="805">
                  <a:solidFill>
                    <a:srgbClr val="77777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2026.06.10 ~ 06.12</a:t>
              </a:r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628650" y="4185042"/>
            <a:ext cx="912081" cy="180594"/>
            <a:chOff x="0" y="0"/>
            <a:chExt cx="2432215" cy="481584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2432211" cy="481581"/>
            </a:xfrm>
            <a:custGeom>
              <a:avLst/>
              <a:gdLst/>
              <a:ahLst/>
              <a:cxnLst/>
              <a:rect l="l" t="t" r="r" b="b"/>
              <a:pathLst>
                <a:path w="2432211" h="481581">
                  <a:moveTo>
                    <a:pt x="0" y="0"/>
                  </a:moveTo>
                  <a:lnTo>
                    <a:pt x="2432211" y="0"/>
                  </a:lnTo>
                  <a:lnTo>
                    <a:pt x="2432211" y="481581"/>
                  </a:lnTo>
                  <a:lnTo>
                    <a:pt x="0" y="4815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8408" b="-48409"/>
              </a:stretch>
            </a:blipFill>
          </p:spPr>
        </p:sp>
        <p:sp>
          <p:nvSpPr>
            <p:cNvPr id="200" name="TextBox 200"/>
            <p:cNvSpPr txBox="1"/>
            <p:nvPr/>
          </p:nvSpPr>
          <p:spPr>
            <a:xfrm>
              <a:off x="0" y="-19050"/>
              <a:ext cx="2432215" cy="5006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1"/>
                </a:lnSpc>
              </a:pPr>
              <a:r>
                <a:rPr lang="en-US" sz="805" b="1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모델링 및 대시보드</a:t>
              </a:r>
            </a:p>
          </p:txBody>
        </p:sp>
      </p:grpSp>
      <p:grpSp>
        <p:nvGrpSpPr>
          <p:cNvPr id="201" name="Group 201"/>
          <p:cNvGrpSpPr/>
          <p:nvPr/>
        </p:nvGrpSpPr>
        <p:grpSpPr>
          <a:xfrm>
            <a:off x="559408" y="3820297"/>
            <a:ext cx="962497" cy="184966"/>
            <a:chOff x="0" y="0"/>
            <a:chExt cx="2566657" cy="493243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2566661" cy="493243"/>
            </a:xfrm>
            <a:custGeom>
              <a:avLst/>
              <a:gdLst/>
              <a:ahLst/>
              <a:cxnLst/>
              <a:rect l="l" t="t" r="r" b="b"/>
              <a:pathLst>
                <a:path w="2566661" h="493243">
                  <a:moveTo>
                    <a:pt x="0" y="0"/>
                  </a:moveTo>
                  <a:lnTo>
                    <a:pt x="2566661" y="0"/>
                  </a:lnTo>
                  <a:lnTo>
                    <a:pt x="2566661" y="493243"/>
                  </a:lnTo>
                  <a:lnTo>
                    <a:pt x="0" y="4932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1393" b="-51393"/>
              </a:stretch>
            </a:blipFill>
          </p:spPr>
        </p:sp>
        <p:sp>
          <p:nvSpPr>
            <p:cNvPr id="203" name="TextBox 203"/>
            <p:cNvSpPr txBox="1"/>
            <p:nvPr/>
          </p:nvSpPr>
          <p:spPr>
            <a:xfrm>
              <a:off x="0" y="-19050"/>
              <a:ext cx="2566657" cy="5122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59"/>
                </a:lnSpc>
              </a:pPr>
              <a:r>
                <a:rPr lang="en-US" sz="804" b="1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전처리 및 EDA</a:t>
              </a:r>
            </a:p>
          </p:txBody>
        </p:sp>
      </p:grpSp>
      <p:grpSp>
        <p:nvGrpSpPr>
          <p:cNvPr id="204" name="Group 204"/>
          <p:cNvGrpSpPr/>
          <p:nvPr/>
        </p:nvGrpSpPr>
        <p:grpSpPr>
          <a:xfrm>
            <a:off x="758666" y="3457099"/>
            <a:ext cx="511493" cy="158772"/>
            <a:chOff x="0" y="0"/>
            <a:chExt cx="1363980" cy="423393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1363979" cy="423395"/>
            </a:xfrm>
            <a:custGeom>
              <a:avLst/>
              <a:gdLst/>
              <a:ahLst/>
              <a:cxnLst/>
              <a:rect l="l" t="t" r="r" b="b"/>
              <a:pathLst>
                <a:path w="1363979" h="423395">
                  <a:moveTo>
                    <a:pt x="0" y="0"/>
                  </a:moveTo>
                  <a:lnTo>
                    <a:pt x="1363979" y="0"/>
                  </a:lnTo>
                  <a:lnTo>
                    <a:pt x="1363979" y="423395"/>
                  </a:lnTo>
                  <a:lnTo>
                    <a:pt x="0" y="42339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771" b="-12771"/>
              </a:stretch>
            </a:blipFill>
          </p:spPr>
        </p:sp>
        <p:sp>
          <p:nvSpPr>
            <p:cNvPr id="206" name="TextBox 206"/>
            <p:cNvSpPr txBox="1"/>
            <p:nvPr/>
          </p:nvSpPr>
          <p:spPr>
            <a:xfrm>
              <a:off x="0" y="-19050"/>
              <a:ext cx="1363980" cy="4424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59"/>
                </a:lnSpc>
              </a:pPr>
              <a:r>
                <a:rPr lang="en-US" sz="804" b="1">
                  <a:solidFill>
                    <a:srgbClr val="55555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이해</a:t>
              </a:r>
            </a:p>
          </p:txBody>
        </p:sp>
      </p:grpSp>
      <p:grpSp>
        <p:nvGrpSpPr>
          <p:cNvPr id="207" name="Group 207"/>
          <p:cNvGrpSpPr/>
          <p:nvPr/>
        </p:nvGrpSpPr>
        <p:grpSpPr>
          <a:xfrm>
            <a:off x="428625" y="377857"/>
            <a:ext cx="200025" cy="180975"/>
            <a:chOff x="0" y="0"/>
            <a:chExt cx="533400" cy="482600"/>
          </a:xfrm>
        </p:grpSpPr>
        <p:sp>
          <p:nvSpPr>
            <p:cNvPr id="208" name="Freeform 208"/>
            <p:cNvSpPr/>
            <p:nvPr/>
          </p:nvSpPr>
          <p:spPr>
            <a:xfrm>
              <a:off x="0" y="0"/>
              <a:ext cx="533400" cy="482600"/>
            </a:xfrm>
            <a:custGeom>
              <a:avLst/>
              <a:gdLst/>
              <a:ahLst/>
              <a:cxnLst/>
              <a:rect l="l" t="t" r="r" b="b"/>
              <a:pathLst>
                <a:path w="533400" h="4826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6084" r="-66084"/>
              </a:stretch>
            </a:blipFill>
          </p:spPr>
        </p:sp>
        <p:sp>
          <p:nvSpPr>
            <p:cNvPr id="209" name="TextBox 209"/>
            <p:cNvSpPr txBox="1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id="210" name="Group 210"/>
          <p:cNvGrpSpPr/>
          <p:nvPr/>
        </p:nvGrpSpPr>
        <p:grpSpPr>
          <a:xfrm>
            <a:off x="8458200" y="309563"/>
            <a:ext cx="300038" cy="300038"/>
            <a:chOff x="0" y="0"/>
            <a:chExt cx="800100" cy="800100"/>
          </a:xfrm>
        </p:grpSpPr>
        <p:sp>
          <p:nvSpPr>
            <p:cNvPr id="211" name="Freeform 211" descr="preencoded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</p:sp>
      </p:grpSp>
      <p:grpSp>
        <p:nvGrpSpPr>
          <p:cNvPr id="212" name="Group 212"/>
          <p:cNvGrpSpPr/>
          <p:nvPr/>
        </p:nvGrpSpPr>
        <p:grpSpPr>
          <a:xfrm>
            <a:off x="3495675" y="3101426"/>
            <a:ext cx="1419225" cy="133350"/>
            <a:chOff x="0" y="0"/>
            <a:chExt cx="3784600" cy="355600"/>
          </a:xfrm>
        </p:grpSpPr>
        <p:sp>
          <p:nvSpPr>
            <p:cNvPr id="213" name="Freeform 213"/>
            <p:cNvSpPr/>
            <p:nvPr/>
          </p:nvSpPr>
          <p:spPr>
            <a:xfrm>
              <a:off x="0" y="0"/>
              <a:ext cx="3784600" cy="355600"/>
            </a:xfrm>
            <a:custGeom>
              <a:avLst/>
              <a:gdLst/>
              <a:ahLst/>
              <a:cxnLst/>
              <a:rect l="l" t="t" r="r" b="b"/>
              <a:pathLst>
                <a:path w="3784600" h="355600">
                  <a:moveTo>
                    <a:pt x="0" y="0"/>
                  </a:moveTo>
                  <a:lnTo>
                    <a:pt x="3784600" y="0"/>
                  </a:lnTo>
                  <a:lnTo>
                    <a:pt x="3784600" y="355600"/>
                  </a:lnTo>
                  <a:lnTo>
                    <a:pt x="0" y="355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57376" b="-157376"/>
              </a:stretch>
            </a:blipFill>
          </p:spPr>
        </p:sp>
        <p:sp>
          <p:nvSpPr>
            <p:cNvPr id="214" name="TextBox 214"/>
            <p:cNvSpPr txBox="1"/>
            <p:nvPr/>
          </p:nvSpPr>
          <p:spPr>
            <a:xfrm>
              <a:off x="0" y="-19050"/>
              <a:ext cx="3784600" cy="374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85"/>
                </a:lnSpc>
              </a:pPr>
              <a:r>
                <a:rPr lang="en-US" sz="825">
                  <a:solidFill>
                    <a:srgbClr val="AAAAA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문제 정의 및 가설 설정, 검정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8958-722A-B5BF-12AE-F0CD0533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7ADBA4A-D378-5810-8876-AC7DA0AEA5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E65A5E9-3E2A-AD80-2967-54F9A80AF6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859780CA-085D-EF77-0673-D9D55CAD0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8217" y="-34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878961F-CA86-9981-6569-95B278C903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AF71EEFB-609D-A8FC-BDFB-5BF760DE82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5CEC9EE0-BD3B-1D76-D0AB-9DD791A3257E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32D13AA3-BC74-AFC2-E4BD-856EBC848176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2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양극산화피막공정</a:t>
            </a: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소개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/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E0774027-67F8-BE01-BB2C-47C8951BC2FE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517D5A61-05B4-A246-ED7F-5B04403D86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68" name="Group 22">
            <a:extLst>
              <a:ext uri="{FF2B5EF4-FFF2-40B4-BE49-F238E27FC236}">
                <a16:creationId xmlns:a16="http://schemas.microsoft.com/office/drawing/2014/main" id="{4E72E240-9A2B-FCB6-E4BB-D5EB968EB98C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69" name="Freeform 23">
              <a:extLst>
                <a:ext uri="{FF2B5EF4-FFF2-40B4-BE49-F238E27FC236}">
                  <a16:creationId xmlns:a16="http://schemas.microsoft.com/office/drawing/2014/main" id="{553E6D3F-3DAA-F2EA-C97F-252C94FD3D31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0" name="Group 22">
            <a:extLst>
              <a:ext uri="{FF2B5EF4-FFF2-40B4-BE49-F238E27FC236}">
                <a16:creationId xmlns:a16="http://schemas.microsoft.com/office/drawing/2014/main" id="{ACEF3318-A839-A483-7E3E-633483416FB5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6870CD7-7862-6547-7EC7-585937E3A55C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2" name="Group 24">
            <a:extLst>
              <a:ext uri="{FF2B5EF4-FFF2-40B4-BE49-F238E27FC236}">
                <a16:creationId xmlns:a16="http://schemas.microsoft.com/office/drawing/2014/main" id="{D26728A4-E64C-DD38-56F5-B6FEA1757074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73" name="Freeform 25" descr="logo.png">
              <a:extLst>
                <a:ext uri="{FF2B5EF4-FFF2-40B4-BE49-F238E27FC236}">
                  <a16:creationId xmlns:a16="http://schemas.microsoft.com/office/drawing/2014/main" id="{ED0E7521-00CB-F721-31AD-78EBDB0B16F9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74" name="Group 26">
            <a:extLst>
              <a:ext uri="{FF2B5EF4-FFF2-40B4-BE49-F238E27FC236}">
                <a16:creationId xmlns:a16="http://schemas.microsoft.com/office/drawing/2014/main" id="{F2B8DDC3-F7DF-B548-CF14-CB6C041B1D9D}"/>
              </a:ext>
            </a:extLst>
          </p:cNvPr>
          <p:cNvGrpSpPr/>
          <p:nvPr/>
        </p:nvGrpSpPr>
        <p:grpSpPr>
          <a:xfrm>
            <a:off x="377486" y="4249312"/>
            <a:ext cx="8393892" cy="520728"/>
            <a:chOff x="0" y="0"/>
            <a:chExt cx="22383712" cy="1388606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A7069639-E94B-1486-CD22-E437880B489C}"/>
                </a:ext>
              </a:extLst>
            </p:cNvPr>
            <p:cNvSpPr/>
            <p:nvPr/>
          </p:nvSpPr>
          <p:spPr>
            <a:xfrm>
              <a:off x="0" y="0"/>
              <a:ext cx="22383750" cy="1388645"/>
            </a:xfrm>
            <a:custGeom>
              <a:avLst/>
              <a:gdLst/>
              <a:ahLst/>
              <a:cxnLst/>
              <a:rect l="l" t="t" r="r" b="b"/>
              <a:pathLst>
                <a:path w="22383750" h="1388645">
                  <a:moveTo>
                    <a:pt x="0" y="231456"/>
                  </a:moveTo>
                  <a:cubicBezTo>
                    <a:pt x="0" y="103658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03658"/>
                    <a:pt x="22383750" y="231456"/>
                  </a:cubicBezTo>
                  <a:lnTo>
                    <a:pt x="22383750" y="1157180"/>
                  </a:lnTo>
                  <a:cubicBezTo>
                    <a:pt x="22383750" y="1284978"/>
                    <a:pt x="22253956" y="1388645"/>
                    <a:pt x="22093937" y="1388645"/>
                  </a:cubicBezTo>
                  <a:lnTo>
                    <a:pt x="289814" y="1388645"/>
                  </a:lnTo>
                  <a:cubicBezTo>
                    <a:pt x="129794" y="1388645"/>
                    <a:pt x="0" y="1284979"/>
                    <a:pt x="0" y="1157180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76" name="Group 28">
            <a:extLst>
              <a:ext uri="{FF2B5EF4-FFF2-40B4-BE49-F238E27FC236}">
                <a16:creationId xmlns:a16="http://schemas.microsoft.com/office/drawing/2014/main" id="{16F4D398-3414-0101-B810-0D641256701D}"/>
              </a:ext>
            </a:extLst>
          </p:cNvPr>
          <p:cNvGrpSpPr/>
          <p:nvPr/>
        </p:nvGrpSpPr>
        <p:grpSpPr>
          <a:xfrm>
            <a:off x="727515" y="4358545"/>
            <a:ext cx="5010255" cy="340693"/>
            <a:chOff x="0" y="0"/>
            <a:chExt cx="13360679" cy="908514"/>
          </a:xfrm>
        </p:grpSpPr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F6808434-DB66-AE3B-1E06-75FE9BB7DAFF}"/>
                </a:ext>
              </a:extLst>
            </p:cNvPr>
            <p:cNvSpPr/>
            <p:nvPr/>
          </p:nvSpPr>
          <p:spPr>
            <a:xfrm>
              <a:off x="0" y="0"/>
              <a:ext cx="13360678" cy="908519"/>
            </a:xfrm>
            <a:custGeom>
              <a:avLst/>
              <a:gdLst/>
              <a:ahLst/>
              <a:cxnLst/>
              <a:rect l="l" t="t" r="r" b="b"/>
              <a:pathLst>
                <a:path w="13360678" h="908519">
                  <a:moveTo>
                    <a:pt x="0" y="0"/>
                  </a:moveTo>
                  <a:lnTo>
                    <a:pt x="13360678" y="0"/>
                  </a:lnTo>
                  <a:lnTo>
                    <a:pt x="13360678" y="908519"/>
                  </a:lnTo>
                  <a:lnTo>
                    <a:pt x="0" y="90851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11002" b="-262090"/>
              </a:stretch>
            </a:blipFill>
          </p:spPr>
        </p:sp>
        <p:sp>
          <p:nvSpPr>
            <p:cNvPr id="78" name="TextBox 30">
              <a:extLst>
                <a:ext uri="{FF2B5EF4-FFF2-40B4-BE49-F238E27FC236}">
                  <a16:creationId xmlns:a16="http://schemas.microsoft.com/office/drawing/2014/main" id="{BF5C16DF-AD94-F289-1F9F-4388E1BE98AD}"/>
                </a:ext>
              </a:extLst>
            </p:cNvPr>
            <p:cNvSpPr txBox="1"/>
            <p:nvPr/>
          </p:nvSpPr>
          <p:spPr>
            <a:xfrm>
              <a:off x="0" y="0"/>
              <a:ext cx="13360679" cy="9085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전압(</a:t>
              </a: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V)·전류(I)·온도(T) 밸런스 최적화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→</a:t>
              </a: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목표 두께·균일도 달성, 결함 최소화</a:t>
              </a:r>
            </a:p>
          </p:txBody>
        </p:sp>
      </p:grpSp>
      <p:grpSp>
        <p:nvGrpSpPr>
          <p:cNvPr id="79" name="Group 31">
            <a:extLst>
              <a:ext uri="{FF2B5EF4-FFF2-40B4-BE49-F238E27FC236}">
                <a16:creationId xmlns:a16="http://schemas.microsoft.com/office/drawing/2014/main" id="{A96478DE-FAA7-D6A2-1C25-C4C28046B013}"/>
              </a:ext>
            </a:extLst>
          </p:cNvPr>
          <p:cNvGrpSpPr/>
          <p:nvPr/>
        </p:nvGrpSpPr>
        <p:grpSpPr>
          <a:xfrm>
            <a:off x="4996525" y="4444029"/>
            <a:ext cx="480436" cy="185121"/>
            <a:chOff x="0" y="0"/>
            <a:chExt cx="1281163" cy="493655"/>
          </a:xfrm>
        </p:grpSpPr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8256F109-6A2F-295C-45B2-68C72AE9BDD9}"/>
                </a:ext>
              </a:extLst>
            </p:cNvPr>
            <p:cNvSpPr/>
            <p:nvPr/>
          </p:nvSpPr>
          <p:spPr>
            <a:xfrm>
              <a:off x="0" y="0"/>
              <a:ext cx="1281176" cy="493631"/>
            </a:xfrm>
            <a:custGeom>
              <a:avLst/>
              <a:gdLst/>
              <a:ahLst/>
              <a:cxnLst/>
              <a:rect l="l" t="t" r="r" b="b"/>
              <a:pathLst>
                <a:path w="1281176" h="493631">
                  <a:moveTo>
                    <a:pt x="0" y="123438"/>
                  </a:moveTo>
                  <a:lnTo>
                    <a:pt x="1024890" y="123438"/>
                  </a:lnTo>
                  <a:lnTo>
                    <a:pt x="1024890" y="0"/>
                  </a:lnTo>
                  <a:lnTo>
                    <a:pt x="1281176" y="246877"/>
                  </a:lnTo>
                  <a:lnTo>
                    <a:pt x="1024890" y="493631"/>
                  </a:lnTo>
                  <a:lnTo>
                    <a:pt x="1024890" y="370193"/>
                  </a:lnTo>
                  <a:lnTo>
                    <a:pt x="0" y="370193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81" name="Group 33">
            <a:extLst>
              <a:ext uri="{FF2B5EF4-FFF2-40B4-BE49-F238E27FC236}">
                <a16:creationId xmlns:a16="http://schemas.microsoft.com/office/drawing/2014/main" id="{13A1F299-E137-92C5-0534-AD724D55E268}"/>
              </a:ext>
            </a:extLst>
          </p:cNvPr>
          <p:cNvGrpSpPr/>
          <p:nvPr/>
        </p:nvGrpSpPr>
        <p:grpSpPr>
          <a:xfrm>
            <a:off x="6348608" y="4358545"/>
            <a:ext cx="2230593" cy="356090"/>
            <a:chOff x="0" y="0"/>
            <a:chExt cx="5948248" cy="949572"/>
          </a:xfrm>
        </p:grpSpPr>
        <p:sp>
          <p:nvSpPr>
            <p:cNvPr id="82" name="Freeform 34">
              <a:extLst>
                <a:ext uri="{FF2B5EF4-FFF2-40B4-BE49-F238E27FC236}">
                  <a16:creationId xmlns:a16="http://schemas.microsoft.com/office/drawing/2014/main" id="{1F480268-B43B-4B7C-9109-1E82B5397842}"/>
                </a:ext>
              </a:extLst>
            </p:cNvPr>
            <p:cNvSpPr/>
            <p:nvPr/>
          </p:nvSpPr>
          <p:spPr>
            <a:xfrm>
              <a:off x="0" y="0"/>
              <a:ext cx="5948247" cy="949571"/>
            </a:xfrm>
            <a:custGeom>
              <a:avLst/>
              <a:gdLst/>
              <a:ahLst/>
              <a:cxnLst/>
              <a:rect l="l" t="t" r="r" b="b"/>
              <a:pathLst>
                <a:path w="5948247" h="949571">
                  <a:moveTo>
                    <a:pt x="0" y="0"/>
                  </a:moveTo>
                  <a:lnTo>
                    <a:pt x="5948247" y="0"/>
                  </a:lnTo>
                  <a:lnTo>
                    <a:pt x="5948247" y="949571"/>
                  </a:lnTo>
                  <a:lnTo>
                    <a:pt x="0" y="94957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0504" b="-113609"/>
              </a:stretch>
            </a:blipFill>
          </p:spPr>
        </p:sp>
        <p:sp>
          <p:nvSpPr>
            <p:cNvPr id="83" name="TextBox 35">
              <a:extLst>
                <a:ext uri="{FF2B5EF4-FFF2-40B4-BE49-F238E27FC236}">
                  <a16:creationId xmlns:a16="http://schemas.microsoft.com/office/drawing/2014/main" id="{B0CD0BCA-FB65-8413-7107-DAC914F96807}"/>
                </a:ext>
              </a:extLst>
            </p:cNvPr>
            <p:cNvSpPr txBox="1"/>
            <p:nvPr/>
          </p:nvSpPr>
          <p:spPr>
            <a:xfrm>
              <a:off x="0" y="-9525"/>
              <a:ext cx="5948248" cy="9590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19"/>
                </a:lnSpc>
              </a:pPr>
              <a:r>
                <a:rPr lang="en-US" sz="112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센서 3종이 곧 품질 신호</a:t>
              </a:r>
            </a:p>
          </p:txBody>
        </p:sp>
      </p:grpSp>
      <p:sp>
        <p:nvSpPr>
          <p:cNvPr id="85" name="Freeform 36">
            <a:extLst>
              <a:ext uri="{FF2B5EF4-FFF2-40B4-BE49-F238E27FC236}">
                <a16:creationId xmlns:a16="http://schemas.microsoft.com/office/drawing/2014/main" id="{7C4CD8EC-5E7C-6FFF-71F6-C37819FCD840}"/>
              </a:ext>
            </a:extLst>
          </p:cNvPr>
          <p:cNvSpPr/>
          <p:nvPr/>
        </p:nvSpPr>
        <p:spPr>
          <a:xfrm>
            <a:off x="5973908" y="1149967"/>
            <a:ext cx="2979993" cy="2551657"/>
          </a:xfrm>
          <a:custGeom>
            <a:avLst/>
            <a:gdLst/>
            <a:ahLst/>
            <a:cxnLst/>
            <a:rect l="l" t="t" r="r" b="b"/>
            <a:pathLst>
              <a:path w="5959985" h="5103314">
                <a:moveTo>
                  <a:pt x="0" y="0"/>
                </a:moveTo>
                <a:lnTo>
                  <a:pt x="5959985" y="0"/>
                </a:lnTo>
                <a:lnTo>
                  <a:pt x="5959985" y="5103314"/>
                </a:lnTo>
                <a:lnTo>
                  <a:pt x="0" y="5103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6" name="Freeform 37">
            <a:extLst>
              <a:ext uri="{FF2B5EF4-FFF2-40B4-BE49-F238E27FC236}">
                <a16:creationId xmlns:a16="http://schemas.microsoft.com/office/drawing/2014/main" id="{1692BB0C-3211-D2CD-8661-AC1033100532}"/>
              </a:ext>
            </a:extLst>
          </p:cNvPr>
          <p:cNvSpPr/>
          <p:nvPr/>
        </p:nvSpPr>
        <p:spPr>
          <a:xfrm>
            <a:off x="158713" y="1149967"/>
            <a:ext cx="5650630" cy="2535720"/>
          </a:xfrm>
          <a:custGeom>
            <a:avLst/>
            <a:gdLst/>
            <a:ahLst/>
            <a:cxnLst/>
            <a:rect l="l" t="t" r="r" b="b"/>
            <a:pathLst>
              <a:path w="11301259" h="5071440">
                <a:moveTo>
                  <a:pt x="0" y="0"/>
                </a:moveTo>
                <a:lnTo>
                  <a:pt x="11301259" y="0"/>
                </a:lnTo>
                <a:lnTo>
                  <a:pt x="11301259" y="5071440"/>
                </a:lnTo>
                <a:lnTo>
                  <a:pt x="0" y="50714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7" name="TextBox 38">
            <a:extLst>
              <a:ext uri="{FF2B5EF4-FFF2-40B4-BE49-F238E27FC236}">
                <a16:creationId xmlns:a16="http://schemas.microsoft.com/office/drawing/2014/main" id="{ABE903E3-5EAD-FAA8-948E-F3E1CACDAECC}"/>
              </a:ext>
            </a:extLst>
          </p:cNvPr>
          <p:cNvSpPr txBox="1"/>
          <p:nvPr/>
        </p:nvSpPr>
        <p:spPr>
          <a:xfrm>
            <a:off x="398074" y="4836714"/>
            <a:ext cx="6177025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센서 수집: 전압(V)·전류(I)·온도(T) 5초 간격</a:t>
            </a:r>
          </a:p>
        </p:txBody>
      </p:sp>
    </p:spTree>
    <p:extLst>
      <p:ext uri="{BB962C8B-B14F-4D97-AF65-F5344CB8AC3E}">
        <p14:creationId xmlns:p14="http://schemas.microsoft.com/office/powerpoint/2010/main" val="418897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6949-CDB8-D95B-9253-DC784945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AA6E29-FD10-67DB-AE90-8618A6A6DE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0CB94FE-F1B9-7767-A870-2EAF94987C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640077C-5220-B76C-E7CD-C3A47DC68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63FC42C1-2532-CE7D-4B93-05FC265DEA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2063536-87EA-611C-E989-AB8CC22099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B71E971-66D8-B299-08B9-0AE53A269A4A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1FA05BF3-2D73-2FD0-22DF-6D5C9D17F007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 및 프로젝트 목표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BC0C53B6-5BE2-5B66-E29D-50DB4CBA550E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861058F7-1AE9-B3D4-E196-BA5BF6A3F3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sp>
        <p:nvSpPr>
          <p:cNvPr id="146" name="TextBox 167">
            <a:extLst>
              <a:ext uri="{FF2B5EF4-FFF2-40B4-BE49-F238E27FC236}">
                <a16:creationId xmlns:a16="http://schemas.microsoft.com/office/drawing/2014/main" id="{B7DA9BE9-4AC9-83D4-7E39-39B3BC684D51}"/>
              </a:ext>
            </a:extLst>
          </p:cNvPr>
          <p:cNvSpPr txBox="1"/>
          <p:nvPr/>
        </p:nvSpPr>
        <p:spPr>
          <a:xfrm>
            <a:off x="6840189" y="1751330"/>
            <a:ext cx="255668" cy="13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8"/>
              </a:lnSpc>
              <a:spcBef>
                <a:spcPct val="0"/>
              </a:spcBef>
            </a:pPr>
            <a:r>
              <a:rPr lang="en-US" sz="863" b="1">
                <a:solidFill>
                  <a:srgbClr val="FFFFFF"/>
                </a:solidFill>
                <a:latin typeface="KIMM_Bold Bold"/>
                <a:ea typeface="KIMM_Bold Bold"/>
                <a:cs typeface="KIMM_Bold Bold"/>
                <a:sym typeface="KIMM_Bold Bold"/>
              </a:rPr>
              <a:t>03</a:t>
            </a:r>
          </a:p>
        </p:txBody>
      </p:sp>
      <p:grpSp>
        <p:nvGrpSpPr>
          <p:cNvPr id="222" name="Group 22">
            <a:extLst>
              <a:ext uri="{FF2B5EF4-FFF2-40B4-BE49-F238E27FC236}">
                <a16:creationId xmlns:a16="http://schemas.microsoft.com/office/drawing/2014/main" id="{775ADDD3-1A4D-B0E4-3A74-8F8BA0DD068F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223" name="Freeform 23">
              <a:extLst>
                <a:ext uri="{FF2B5EF4-FFF2-40B4-BE49-F238E27FC236}">
                  <a16:creationId xmlns:a16="http://schemas.microsoft.com/office/drawing/2014/main" id="{752E8FB5-BC91-ECEA-710B-53B02ADECB2F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42" name="Group 22">
            <a:extLst>
              <a:ext uri="{FF2B5EF4-FFF2-40B4-BE49-F238E27FC236}">
                <a16:creationId xmlns:a16="http://schemas.microsoft.com/office/drawing/2014/main" id="{0B1C6CA6-7757-C78F-6C16-98CB114311EB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243" name="Freeform 23">
              <a:extLst>
                <a:ext uri="{FF2B5EF4-FFF2-40B4-BE49-F238E27FC236}">
                  <a16:creationId xmlns:a16="http://schemas.microsoft.com/office/drawing/2014/main" id="{3AA39CC9-110E-7352-4AFA-0D3D287077EA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44" name="Group 24">
            <a:extLst>
              <a:ext uri="{FF2B5EF4-FFF2-40B4-BE49-F238E27FC236}">
                <a16:creationId xmlns:a16="http://schemas.microsoft.com/office/drawing/2014/main" id="{DAB8D120-74CC-EC44-6FC2-8C900D308B9C}"/>
              </a:ext>
            </a:extLst>
          </p:cNvPr>
          <p:cNvGrpSpPr/>
          <p:nvPr/>
        </p:nvGrpSpPr>
        <p:grpSpPr>
          <a:xfrm>
            <a:off x="8771377" y="4788221"/>
            <a:ext cx="274535" cy="274535"/>
            <a:chOff x="0" y="0"/>
            <a:chExt cx="732092" cy="732092"/>
          </a:xfrm>
        </p:grpSpPr>
        <p:sp>
          <p:nvSpPr>
            <p:cNvPr id="245" name="Freeform 25" descr="logo.png">
              <a:extLst>
                <a:ext uri="{FF2B5EF4-FFF2-40B4-BE49-F238E27FC236}">
                  <a16:creationId xmlns:a16="http://schemas.microsoft.com/office/drawing/2014/main" id="{E5A9FC69-12F3-A6AB-6E09-31835F33119D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246" name="Group 26">
            <a:extLst>
              <a:ext uri="{FF2B5EF4-FFF2-40B4-BE49-F238E27FC236}">
                <a16:creationId xmlns:a16="http://schemas.microsoft.com/office/drawing/2014/main" id="{A8990782-253B-C6CB-F69A-F153BB8C8D52}"/>
              </a:ext>
            </a:extLst>
          </p:cNvPr>
          <p:cNvGrpSpPr/>
          <p:nvPr/>
        </p:nvGrpSpPr>
        <p:grpSpPr>
          <a:xfrm>
            <a:off x="352006" y="891650"/>
            <a:ext cx="8419372" cy="559643"/>
            <a:chOff x="0" y="0"/>
            <a:chExt cx="22451657" cy="1492380"/>
          </a:xfrm>
        </p:grpSpPr>
        <p:sp>
          <p:nvSpPr>
            <p:cNvPr id="247" name="Freeform 27">
              <a:extLst>
                <a:ext uri="{FF2B5EF4-FFF2-40B4-BE49-F238E27FC236}">
                  <a16:creationId xmlns:a16="http://schemas.microsoft.com/office/drawing/2014/main" id="{E63495A3-32C7-3585-5B3E-CBC41DFAD0AD}"/>
                </a:ext>
              </a:extLst>
            </p:cNvPr>
            <p:cNvSpPr/>
            <p:nvPr/>
          </p:nvSpPr>
          <p:spPr>
            <a:xfrm>
              <a:off x="0" y="0"/>
              <a:ext cx="22451633" cy="1492317"/>
            </a:xfrm>
            <a:custGeom>
              <a:avLst/>
              <a:gdLst/>
              <a:ahLst/>
              <a:cxnLst/>
              <a:rect l="l" t="t" r="r" b="b"/>
              <a:pathLst>
                <a:path w="22451633" h="1492317">
                  <a:moveTo>
                    <a:pt x="0" y="179072"/>
                  </a:moveTo>
                  <a:cubicBezTo>
                    <a:pt x="0" y="80157"/>
                    <a:pt x="126309" y="0"/>
                    <a:pt x="282178" y="0"/>
                  </a:cubicBezTo>
                  <a:lnTo>
                    <a:pt x="22169455" y="0"/>
                  </a:lnTo>
                  <a:cubicBezTo>
                    <a:pt x="22325324" y="0"/>
                    <a:pt x="22451633" y="80157"/>
                    <a:pt x="22451633" y="179072"/>
                  </a:cubicBezTo>
                  <a:lnTo>
                    <a:pt x="22451633" y="1313245"/>
                  </a:lnTo>
                  <a:cubicBezTo>
                    <a:pt x="22451633" y="1412161"/>
                    <a:pt x="22325324" y="1492317"/>
                    <a:pt x="22169455" y="1492317"/>
                  </a:cubicBezTo>
                  <a:lnTo>
                    <a:pt x="282178" y="1492317"/>
                  </a:lnTo>
                  <a:cubicBezTo>
                    <a:pt x="126309" y="1492406"/>
                    <a:pt x="0" y="1412239"/>
                    <a:pt x="0" y="1313324"/>
                  </a:cubicBezTo>
                  <a:close/>
                </a:path>
              </a:pathLst>
            </a:custGeom>
            <a:solidFill>
              <a:srgbClr val="FBF6E7"/>
            </a:solidFill>
            <a:ln w="19065" cap="sq">
              <a:solidFill>
                <a:srgbClr val="A4B465"/>
              </a:solidFill>
              <a:prstDash val="solid"/>
              <a:miter/>
            </a:ln>
          </p:spPr>
        </p:sp>
      </p:grpSp>
      <p:grpSp>
        <p:nvGrpSpPr>
          <p:cNvPr id="248" name="Group 28">
            <a:extLst>
              <a:ext uri="{FF2B5EF4-FFF2-40B4-BE49-F238E27FC236}">
                <a16:creationId xmlns:a16="http://schemas.microsoft.com/office/drawing/2014/main" id="{DA95049E-D2E9-069B-DCDD-C8ABE77D428B}"/>
              </a:ext>
            </a:extLst>
          </p:cNvPr>
          <p:cNvGrpSpPr/>
          <p:nvPr/>
        </p:nvGrpSpPr>
        <p:grpSpPr>
          <a:xfrm>
            <a:off x="986318" y="1034204"/>
            <a:ext cx="768696" cy="274535"/>
            <a:chOff x="0" y="0"/>
            <a:chExt cx="2049856" cy="732092"/>
          </a:xfrm>
        </p:grpSpPr>
        <p:sp>
          <p:nvSpPr>
            <p:cNvPr id="249" name="Freeform 29">
              <a:extLst>
                <a:ext uri="{FF2B5EF4-FFF2-40B4-BE49-F238E27FC236}">
                  <a16:creationId xmlns:a16="http://schemas.microsoft.com/office/drawing/2014/main" id="{545702F7-D0C1-4799-63BA-E6E8EB46DED6}"/>
                </a:ext>
              </a:extLst>
            </p:cNvPr>
            <p:cNvSpPr/>
            <p:nvPr/>
          </p:nvSpPr>
          <p:spPr>
            <a:xfrm>
              <a:off x="0" y="0"/>
              <a:ext cx="2049780" cy="732028"/>
            </a:xfrm>
            <a:custGeom>
              <a:avLst/>
              <a:gdLst/>
              <a:ahLst/>
              <a:cxnLst/>
              <a:rect l="l" t="t" r="r" b="b"/>
              <a:pathLst>
                <a:path w="2049780" h="732028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1683766" y="0"/>
                  </a:lnTo>
                  <a:cubicBezTo>
                    <a:pt x="1885950" y="0"/>
                    <a:pt x="2049780" y="163830"/>
                    <a:pt x="2049780" y="366014"/>
                  </a:cubicBezTo>
                  <a:cubicBezTo>
                    <a:pt x="2049780" y="568198"/>
                    <a:pt x="1885950" y="732028"/>
                    <a:pt x="1683766" y="732028"/>
                  </a:cubicBezTo>
                  <a:lnTo>
                    <a:pt x="366014" y="732028"/>
                  </a:lnTo>
                  <a:cubicBezTo>
                    <a:pt x="163830" y="732155"/>
                    <a:pt x="0" y="568198"/>
                    <a:pt x="0" y="366014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250" name="TextBox 30">
              <a:extLst>
                <a:ext uri="{FF2B5EF4-FFF2-40B4-BE49-F238E27FC236}">
                  <a16:creationId xmlns:a16="http://schemas.microsoft.com/office/drawing/2014/main" id="{772966A4-BBAD-B5B6-2A31-9A8263D6A90E}"/>
                </a:ext>
              </a:extLst>
            </p:cNvPr>
            <p:cNvSpPr txBox="1"/>
            <p:nvPr/>
          </p:nvSpPr>
          <p:spPr>
            <a:xfrm>
              <a:off x="0" y="-28575"/>
              <a:ext cx="2049856" cy="76066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126"/>
                </a:lnSpc>
              </a:pPr>
              <a:r>
                <a:rPr lang="en-US" sz="938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최종 목표</a:t>
              </a:r>
            </a:p>
          </p:txBody>
        </p:sp>
      </p:grpSp>
      <p:grpSp>
        <p:nvGrpSpPr>
          <p:cNvPr id="251" name="Group 31">
            <a:extLst>
              <a:ext uri="{FF2B5EF4-FFF2-40B4-BE49-F238E27FC236}">
                <a16:creationId xmlns:a16="http://schemas.microsoft.com/office/drawing/2014/main" id="{CF17E0A5-ECFA-4905-220A-F6A8DD2C81E3}"/>
              </a:ext>
            </a:extLst>
          </p:cNvPr>
          <p:cNvGrpSpPr/>
          <p:nvPr/>
        </p:nvGrpSpPr>
        <p:grpSpPr>
          <a:xfrm>
            <a:off x="1908013" y="910143"/>
            <a:ext cx="6657461" cy="377485"/>
            <a:chOff x="0" y="0"/>
            <a:chExt cx="17753228" cy="1006626"/>
          </a:xfrm>
        </p:grpSpPr>
        <p:sp>
          <p:nvSpPr>
            <p:cNvPr id="252" name="Freeform 32">
              <a:extLst>
                <a:ext uri="{FF2B5EF4-FFF2-40B4-BE49-F238E27FC236}">
                  <a16:creationId xmlns:a16="http://schemas.microsoft.com/office/drawing/2014/main" id="{3A18A852-18F3-93A6-DC6F-719F27967267}"/>
                </a:ext>
              </a:extLst>
            </p:cNvPr>
            <p:cNvSpPr/>
            <p:nvPr/>
          </p:nvSpPr>
          <p:spPr>
            <a:xfrm>
              <a:off x="0" y="0"/>
              <a:ext cx="17753230" cy="1006625"/>
            </a:xfrm>
            <a:custGeom>
              <a:avLst/>
              <a:gdLst/>
              <a:ahLst/>
              <a:cxnLst/>
              <a:rect l="l" t="t" r="r" b="b"/>
              <a:pathLst>
                <a:path w="17753230" h="1006625">
                  <a:moveTo>
                    <a:pt x="0" y="0"/>
                  </a:moveTo>
                  <a:lnTo>
                    <a:pt x="17753230" y="0"/>
                  </a:lnTo>
                  <a:lnTo>
                    <a:pt x="17753230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93645" b="-293645"/>
              </a:stretch>
            </a:blipFill>
          </p:spPr>
        </p:sp>
        <p:sp>
          <p:nvSpPr>
            <p:cNvPr id="253" name="TextBox 33">
              <a:extLst>
                <a:ext uri="{FF2B5EF4-FFF2-40B4-BE49-F238E27FC236}">
                  <a16:creationId xmlns:a16="http://schemas.microsoft.com/office/drawing/2014/main" id="{9E585C20-B067-9A7A-EA8A-90F5D8A83C07}"/>
                </a:ext>
              </a:extLst>
            </p:cNvPr>
            <p:cNvSpPr txBox="1"/>
            <p:nvPr/>
          </p:nvSpPr>
          <p:spPr>
            <a:xfrm>
              <a:off x="0" y="-19050"/>
              <a:ext cx="17753228" cy="10256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51"/>
                </a:lnSpc>
              </a:pPr>
              <a:r>
                <a:rPr lang="en-US" sz="1126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불량 조기예측 및 공정 이상탐지를 기반으로 조기경보 시스템을 구축하여 생산 리스크를 최소화</a:t>
              </a:r>
            </a:p>
          </p:txBody>
        </p:sp>
      </p:grpSp>
      <p:grpSp>
        <p:nvGrpSpPr>
          <p:cNvPr id="254" name="Group 34">
            <a:extLst>
              <a:ext uri="{FF2B5EF4-FFF2-40B4-BE49-F238E27FC236}">
                <a16:creationId xmlns:a16="http://schemas.microsoft.com/office/drawing/2014/main" id="{0129069B-DC72-0DEF-06CA-7EE5E94013E1}"/>
              </a:ext>
            </a:extLst>
          </p:cNvPr>
          <p:cNvGrpSpPr/>
          <p:nvPr/>
        </p:nvGrpSpPr>
        <p:grpSpPr>
          <a:xfrm>
            <a:off x="2072504" y="1163031"/>
            <a:ext cx="6657461" cy="288261"/>
            <a:chOff x="0" y="0"/>
            <a:chExt cx="17753228" cy="768697"/>
          </a:xfrm>
        </p:grpSpPr>
        <p:sp>
          <p:nvSpPr>
            <p:cNvPr id="255" name="Freeform 35">
              <a:extLst>
                <a:ext uri="{FF2B5EF4-FFF2-40B4-BE49-F238E27FC236}">
                  <a16:creationId xmlns:a16="http://schemas.microsoft.com/office/drawing/2014/main" id="{E3A564B6-32D2-7ADA-DDED-2DFEE85A0D77}"/>
                </a:ext>
              </a:extLst>
            </p:cNvPr>
            <p:cNvSpPr/>
            <p:nvPr/>
          </p:nvSpPr>
          <p:spPr>
            <a:xfrm>
              <a:off x="0" y="0"/>
              <a:ext cx="17753230" cy="768700"/>
            </a:xfrm>
            <a:custGeom>
              <a:avLst/>
              <a:gdLst/>
              <a:ahLst/>
              <a:cxnLst/>
              <a:rect l="l" t="t" r="r" b="b"/>
              <a:pathLst>
                <a:path w="17753230" h="768700">
                  <a:moveTo>
                    <a:pt x="0" y="0"/>
                  </a:moveTo>
                  <a:lnTo>
                    <a:pt x="17753230" y="0"/>
                  </a:lnTo>
                  <a:lnTo>
                    <a:pt x="17753230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00009" b="-400008"/>
              </a:stretch>
            </a:blipFill>
          </p:spPr>
        </p:sp>
        <p:sp>
          <p:nvSpPr>
            <p:cNvPr id="256" name="TextBox 36">
              <a:extLst>
                <a:ext uri="{FF2B5EF4-FFF2-40B4-BE49-F238E27FC236}">
                  <a16:creationId xmlns:a16="http://schemas.microsoft.com/office/drawing/2014/main" id="{32F0F244-7C91-201C-EEC9-B5F4214761E7}"/>
                </a:ext>
              </a:extLst>
            </p:cNvPr>
            <p:cNvSpPr txBox="1"/>
            <p:nvPr/>
          </p:nvSpPr>
          <p:spPr>
            <a:xfrm>
              <a:off x="0" y="0"/>
              <a:ext cx="17753228" cy="7686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90"/>
                </a:lnSpc>
              </a:pPr>
              <a:r>
                <a:rPr lang="en-US" sz="826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센서 데이터(전압·전류·온도)</a:t>
              </a:r>
              <a:r>
                <a:rPr lang="en-US" sz="826" b="1">
                  <a:solidFill>
                    <a:srgbClr val="4449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  →  불량 조기경보 시스템 구축  →  공정 중단/점검 의사결정 지원</a:t>
              </a:r>
            </a:p>
          </p:txBody>
        </p:sp>
      </p:grpSp>
      <p:grpSp>
        <p:nvGrpSpPr>
          <p:cNvPr id="257" name="Group 37">
            <a:extLst>
              <a:ext uri="{FF2B5EF4-FFF2-40B4-BE49-F238E27FC236}">
                <a16:creationId xmlns:a16="http://schemas.microsoft.com/office/drawing/2014/main" id="{D810CE39-AD17-FFE8-D839-F59689B6129D}"/>
              </a:ext>
            </a:extLst>
          </p:cNvPr>
          <p:cNvGrpSpPr/>
          <p:nvPr/>
        </p:nvGrpSpPr>
        <p:grpSpPr>
          <a:xfrm>
            <a:off x="410887" y="910143"/>
            <a:ext cx="490071" cy="522657"/>
            <a:chOff x="0" y="0"/>
            <a:chExt cx="7064692" cy="7534440"/>
          </a:xfrm>
        </p:grpSpPr>
        <p:sp>
          <p:nvSpPr>
            <p:cNvPr id="258" name="Freeform 38">
              <a:extLst>
                <a:ext uri="{FF2B5EF4-FFF2-40B4-BE49-F238E27FC236}">
                  <a16:creationId xmlns:a16="http://schemas.microsoft.com/office/drawing/2014/main" id="{0E2C2E06-0409-A212-48E8-C7C8CC095C47}"/>
                </a:ext>
              </a:extLst>
            </p:cNvPr>
            <p:cNvSpPr/>
            <p:nvPr/>
          </p:nvSpPr>
          <p:spPr>
            <a:xfrm>
              <a:off x="0" y="0"/>
              <a:ext cx="7064629" cy="7534402"/>
            </a:xfrm>
            <a:custGeom>
              <a:avLst/>
              <a:gdLst/>
              <a:ahLst/>
              <a:cxnLst/>
              <a:rect l="l" t="t" r="r" b="b"/>
              <a:pathLst>
                <a:path w="7064629" h="7534402">
                  <a:moveTo>
                    <a:pt x="0" y="1177417"/>
                  </a:moveTo>
                  <a:cubicBezTo>
                    <a:pt x="0" y="527177"/>
                    <a:pt x="527177" y="0"/>
                    <a:pt x="1177417" y="0"/>
                  </a:cubicBezTo>
                  <a:lnTo>
                    <a:pt x="5887212" y="0"/>
                  </a:lnTo>
                  <a:cubicBezTo>
                    <a:pt x="6537452" y="0"/>
                    <a:pt x="7064629" y="527177"/>
                    <a:pt x="7064629" y="1177417"/>
                  </a:cubicBezTo>
                  <a:lnTo>
                    <a:pt x="7064629" y="6356985"/>
                  </a:lnTo>
                  <a:cubicBezTo>
                    <a:pt x="7064629" y="7007225"/>
                    <a:pt x="6537452" y="7534402"/>
                    <a:pt x="5887212" y="7534402"/>
                  </a:cubicBezTo>
                  <a:lnTo>
                    <a:pt x="1177417" y="7534402"/>
                  </a:lnTo>
                  <a:cubicBezTo>
                    <a:pt x="527177" y="7534402"/>
                    <a:pt x="0" y="7007225"/>
                    <a:pt x="0" y="6356985"/>
                  </a:cubicBezTo>
                  <a:close/>
                </a:path>
              </a:pathLst>
            </a:custGeom>
            <a:blipFill>
              <a:blip r:embed="rId10"/>
              <a:stretch>
                <a:fillRect l="-10237" r="-10237"/>
              </a:stretch>
            </a:blipFill>
            <a:ln w="22878" cap="sq">
              <a:solidFill>
                <a:srgbClr val="D9DBC8"/>
              </a:solidFill>
              <a:prstDash val="solid"/>
              <a:miter/>
            </a:ln>
          </p:spPr>
        </p:sp>
      </p:grpSp>
      <p:pic>
        <p:nvPicPr>
          <p:cNvPr id="259" name="Picture 39">
            <a:extLst>
              <a:ext uri="{FF2B5EF4-FFF2-40B4-BE49-F238E27FC236}">
                <a16:creationId xmlns:a16="http://schemas.microsoft.com/office/drawing/2014/main" id="{AC55E1C3-2454-F515-5E74-59B3172507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548" y="2026521"/>
            <a:ext cx="2774437" cy="2068414"/>
          </a:xfrm>
          <a:prstGeom prst="rect">
            <a:avLst/>
          </a:prstGeom>
        </p:spPr>
      </p:pic>
      <p:grpSp>
        <p:nvGrpSpPr>
          <p:cNvPr id="260" name="Group 40">
            <a:extLst>
              <a:ext uri="{FF2B5EF4-FFF2-40B4-BE49-F238E27FC236}">
                <a16:creationId xmlns:a16="http://schemas.microsoft.com/office/drawing/2014/main" id="{B45707DE-8BC7-AA90-B695-96B3A0CEC57E}"/>
              </a:ext>
            </a:extLst>
          </p:cNvPr>
          <p:cNvGrpSpPr/>
          <p:nvPr/>
        </p:nvGrpSpPr>
        <p:grpSpPr>
          <a:xfrm>
            <a:off x="283631" y="1617980"/>
            <a:ext cx="2623436" cy="2337099"/>
            <a:chOff x="0" y="0"/>
            <a:chExt cx="6995827" cy="6232264"/>
          </a:xfrm>
        </p:grpSpPr>
        <p:sp>
          <p:nvSpPr>
            <p:cNvPr id="261" name="Freeform 41">
              <a:extLst>
                <a:ext uri="{FF2B5EF4-FFF2-40B4-BE49-F238E27FC236}">
                  <a16:creationId xmlns:a16="http://schemas.microsoft.com/office/drawing/2014/main" id="{7B5D9F4F-962F-11BC-5EEA-EFDA2295462B}"/>
                </a:ext>
              </a:extLst>
            </p:cNvPr>
            <p:cNvSpPr/>
            <p:nvPr/>
          </p:nvSpPr>
          <p:spPr>
            <a:xfrm>
              <a:off x="0" y="0"/>
              <a:ext cx="6995827" cy="6232264"/>
            </a:xfrm>
            <a:custGeom>
              <a:avLst/>
              <a:gdLst/>
              <a:ahLst/>
              <a:cxnLst/>
              <a:rect l="l" t="t" r="r" b="b"/>
              <a:pathLst>
                <a:path w="6995827" h="6232264">
                  <a:moveTo>
                    <a:pt x="0" y="0"/>
                  </a:moveTo>
                  <a:lnTo>
                    <a:pt x="6995827" y="0"/>
                  </a:lnTo>
                  <a:lnTo>
                    <a:pt x="6995827" y="6232264"/>
                  </a:lnTo>
                  <a:lnTo>
                    <a:pt x="0" y="6232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19" b="-319"/>
              </a:stretch>
            </a:blipFill>
          </p:spPr>
        </p:sp>
        <p:sp>
          <p:nvSpPr>
            <p:cNvPr id="262" name="TextBox 42">
              <a:extLst>
                <a:ext uri="{FF2B5EF4-FFF2-40B4-BE49-F238E27FC236}">
                  <a16:creationId xmlns:a16="http://schemas.microsoft.com/office/drawing/2014/main" id="{E33ECF08-8D88-97DE-A3A3-9F3117AE895A}"/>
                </a:ext>
              </a:extLst>
            </p:cNvPr>
            <p:cNvSpPr txBox="1"/>
            <p:nvPr/>
          </p:nvSpPr>
          <p:spPr>
            <a:xfrm>
              <a:off x="1646205" y="3267115"/>
              <a:ext cx="4769350" cy="323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5"/>
                </a:lnSpc>
                <a:spcBef>
                  <a:spcPct val="0"/>
                </a:spcBef>
              </a:pPr>
              <a:r>
                <a:rPr lang="en-US" sz="813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초기 불량률과 소요되는 자재 비용 과다</a:t>
              </a:r>
            </a:p>
          </p:txBody>
        </p:sp>
        <p:sp>
          <p:nvSpPr>
            <p:cNvPr id="263" name="Freeform 43">
              <a:extLst>
                <a:ext uri="{FF2B5EF4-FFF2-40B4-BE49-F238E27FC236}">
                  <a16:creationId xmlns:a16="http://schemas.microsoft.com/office/drawing/2014/main" id="{0B6338CD-6E6E-0373-AA67-4FE4449DEA75}"/>
                </a:ext>
              </a:extLst>
            </p:cNvPr>
            <p:cNvSpPr/>
            <p:nvPr/>
          </p:nvSpPr>
          <p:spPr>
            <a:xfrm>
              <a:off x="797750" y="2064456"/>
              <a:ext cx="812954" cy="799626"/>
            </a:xfrm>
            <a:custGeom>
              <a:avLst/>
              <a:gdLst/>
              <a:ahLst/>
              <a:cxnLst/>
              <a:rect l="l" t="t" r="r" b="b"/>
              <a:pathLst>
                <a:path w="812954" h="799626">
                  <a:moveTo>
                    <a:pt x="0" y="0"/>
                  </a:moveTo>
                  <a:lnTo>
                    <a:pt x="812953" y="0"/>
                  </a:lnTo>
                  <a:lnTo>
                    <a:pt x="812953" y="799626"/>
                  </a:lnTo>
                  <a:lnTo>
                    <a:pt x="0" y="799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64" name="Freeform 44">
              <a:extLst>
                <a:ext uri="{FF2B5EF4-FFF2-40B4-BE49-F238E27FC236}">
                  <a16:creationId xmlns:a16="http://schemas.microsoft.com/office/drawing/2014/main" id="{53440DE5-3318-6D5D-A063-699E573A637D}"/>
                </a:ext>
              </a:extLst>
            </p:cNvPr>
            <p:cNvSpPr/>
            <p:nvPr/>
          </p:nvSpPr>
          <p:spPr>
            <a:xfrm>
              <a:off x="832548" y="5000586"/>
              <a:ext cx="813657" cy="786979"/>
            </a:xfrm>
            <a:custGeom>
              <a:avLst/>
              <a:gdLst/>
              <a:ahLst/>
              <a:cxnLst/>
              <a:rect l="l" t="t" r="r" b="b"/>
              <a:pathLst>
                <a:path w="813657" h="786979">
                  <a:moveTo>
                    <a:pt x="0" y="0"/>
                  </a:moveTo>
                  <a:lnTo>
                    <a:pt x="813657" y="0"/>
                  </a:lnTo>
                  <a:lnTo>
                    <a:pt x="813657" y="786980"/>
                  </a:lnTo>
                  <a:lnTo>
                    <a:pt x="0" y="786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265" name="TextBox 45">
              <a:extLst>
                <a:ext uri="{FF2B5EF4-FFF2-40B4-BE49-F238E27FC236}">
                  <a16:creationId xmlns:a16="http://schemas.microsoft.com/office/drawing/2014/main" id="{29A43818-7BFD-226C-E833-9E7B1E9A691E}"/>
                </a:ext>
              </a:extLst>
            </p:cNvPr>
            <p:cNvSpPr txBox="1"/>
            <p:nvPr/>
          </p:nvSpPr>
          <p:spPr>
            <a:xfrm>
              <a:off x="1247034" y="5180616"/>
              <a:ext cx="4769350" cy="35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8"/>
                </a:lnSpc>
                <a:spcBef>
                  <a:spcPct val="0"/>
                </a:spcBef>
              </a:pPr>
              <a:r>
                <a:rPr lang="en-US" sz="863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납기 지연 시 고객 신뢰도 하락</a:t>
              </a:r>
            </a:p>
          </p:txBody>
        </p:sp>
        <p:sp>
          <p:nvSpPr>
            <p:cNvPr id="266" name="TextBox 46">
              <a:extLst>
                <a:ext uri="{FF2B5EF4-FFF2-40B4-BE49-F238E27FC236}">
                  <a16:creationId xmlns:a16="http://schemas.microsoft.com/office/drawing/2014/main" id="{25C42800-B6AE-5905-4DE4-EC2E05752D9E}"/>
                </a:ext>
              </a:extLst>
            </p:cNvPr>
            <p:cNvSpPr txBox="1"/>
            <p:nvPr/>
          </p:nvSpPr>
          <p:spPr>
            <a:xfrm>
              <a:off x="1798458" y="2085776"/>
              <a:ext cx="4464844" cy="729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8"/>
                </a:lnSpc>
              </a:pP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센서를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설치해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데이터를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수집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중이나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,</a:t>
              </a:r>
            </a:p>
            <a:p>
              <a:pPr algn="ctr">
                <a:lnSpc>
                  <a:spcPts val="1088"/>
                </a:lnSpc>
                <a:spcBef>
                  <a:spcPct val="0"/>
                </a:spcBef>
              </a:pP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실제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공정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개선에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미적용</a:t>
              </a:r>
              <a:r>
                <a:rPr lang="en-US" sz="863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863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상태</a:t>
              </a:r>
              <a:endParaRPr lang="en-US" sz="863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endParaRPr>
            </a:p>
          </p:txBody>
        </p:sp>
        <p:sp>
          <p:nvSpPr>
            <p:cNvPr id="267" name="Freeform 47">
              <a:extLst>
                <a:ext uri="{FF2B5EF4-FFF2-40B4-BE49-F238E27FC236}">
                  <a16:creationId xmlns:a16="http://schemas.microsoft.com/office/drawing/2014/main" id="{38A0B328-125B-9224-9405-A9E9F75664B2}"/>
                </a:ext>
              </a:extLst>
            </p:cNvPr>
            <p:cNvSpPr/>
            <p:nvPr/>
          </p:nvSpPr>
          <p:spPr>
            <a:xfrm>
              <a:off x="762248" y="3041882"/>
              <a:ext cx="883957" cy="814897"/>
            </a:xfrm>
            <a:custGeom>
              <a:avLst/>
              <a:gdLst/>
              <a:ahLst/>
              <a:cxnLst/>
              <a:rect l="l" t="t" r="r" b="b"/>
              <a:pathLst>
                <a:path w="883957" h="814897">
                  <a:moveTo>
                    <a:pt x="0" y="0"/>
                  </a:moveTo>
                  <a:lnTo>
                    <a:pt x="883957" y="0"/>
                  </a:lnTo>
                  <a:lnTo>
                    <a:pt x="883957" y="814898"/>
                  </a:lnTo>
                  <a:lnTo>
                    <a:pt x="0" y="81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268" name="Freeform 48">
              <a:extLst>
                <a:ext uri="{FF2B5EF4-FFF2-40B4-BE49-F238E27FC236}">
                  <a16:creationId xmlns:a16="http://schemas.microsoft.com/office/drawing/2014/main" id="{C16B3D98-336E-BD00-6941-A478CD80CEF8}"/>
                </a:ext>
              </a:extLst>
            </p:cNvPr>
            <p:cNvSpPr/>
            <p:nvPr/>
          </p:nvSpPr>
          <p:spPr>
            <a:xfrm>
              <a:off x="847863" y="4034580"/>
              <a:ext cx="798342" cy="784086"/>
            </a:xfrm>
            <a:custGeom>
              <a:avLst/>
              <a:gdLst/>
              <a:ahLst/>
              <a:cxnLst/>
              <a:rect l="l" t="t" r="r" b="b"/>
              <a:pathLst>
                <a:path w="798342" h="784086">
                  <a:moveTo>
                    <a:pt x="0" y="0"/>
                  </a:moveTo>
                  <a:lnTo>
                    <a:pt x="798342" y="0"/>
                  </a:lnTo>
                  <a:lnTo>
                    <a:pt x="798342" y="784085"/>
                  </a:lnTo>
                  <a:lnTo>
                    <a:pt x="0" y="784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  <p:sp>
          <p:nvSpPr>
            <p:cNvPr id="269" name="TextBox 49">
              <a:extLst>
                <a:ext uri="{FF2B5EF4-FFF2-40B4-BE49-F238E27FC236}">
                  <a16:creationId xmlns:a16="http://schemas.microsoft.com/office/drawing/2014/main" id="{F5DD536B-DDF0-9778-8D9C-967FB9BFF783}"/>
                </a:ext>
              </a:extLst>
            </p:cNvPr>
            <p:cNvSpPr txBox="1"/>
            <p:nvPr/>
          </p:nvSpPr>
          <p:spPr>
            <a:xfrm>
              <a:off x="1600114" y="4256832"/>
              <a:ext cx="3760513" cy="35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88"/>
                </a:lnSpc>
                <a:spcBef>
                  <a:spcPct val="0"/>
                </a:spcBef>
              </a:pPr>
              <a:r>
                <a:rPr lang="en-US" sz="863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사후 검사 중심의 품질 관리</a:t>
              </a:r>
            </a:p>
          </p:txBody>
        </p:sp>
        <p:grpSp>
          <p:nvGrpSpPr>
            <p:cNvPr id="270" name="Group 50">
              <a:extLst>
                <a:ext uri="{FF2B5EF4-FFF2-40B4-BE49-F238E27FC236}">
                  <a16:creationId xmlns:a16="http://schemas.microsoft.com/office/drawing/2014/main" id="{0A479B8A-D757-8802-97D2-05C25F411655}"/>
                </a:ext>
              </a:extLst>
            </p:cNvPr>
            <p:cNvGrpSpPr/>
            <p:nvPr/>
          </p:nvGrpSpPr>
          <p:grpSpPr>
            <a:xfrm>
              <a:off x="3266168" y="107774"/>
              <a:ext cx="1224918" cy="657900"/>
              <a:chOff x="0" y="0"/>
              <a:chExt cx="1224918" cy="657900"/>
            </a:xfrm>
          </p:grpSpPr>
          <p:sp>
            <p:nvSpPr>
              <p:cNvPr id="276" name="Freeform 51">
                <a:extLst>
                  <a:ext uri="{FF2B5EF4-FFF2-40B4-BE49-F238E27FC236}">
                    <a16:creationId xmlns:a16="http://schemas.microsoft.com/office/drawing/2014/main" id="{869F9507-1DAA-432C-C825-249A12CAE7AA}"/>
                  </a:ext>
                </a:extLst>
              </p:cNvPr>
              <p:cNvSpPr/>
              <p:nvPr/>
            </p:nvSpPr>
            <p:spPr>
              <a:xfrm>
                <a:off x="0" y="0"/>
                <a:ext cx="1224917" cy="657901"/>
              </a:xfrm>
              <a:custGeom>
                <a:avLst/>
                <a:gdLst/>
                <a:ahLst/>
                <a:cxnLst/>
                <a:rect l="l" t="t" r="r" b="b"/>
                <a:pathLst>
                  <a:path w="1224917" h="657901">
                    <a:moveTo>
                      <a:pt x="0" y="0"/>
                    </a:moveTo>
                    <a:lnTo>
                      <a:pt x="1224917" y="0"/>
                    </a:lnTo>
                    <a:lnTo>
                      <a:pt x="1224917" y="657901"/>
                    </a:lnTo>
                    <a:lnTo>
                      <a:pt x="0" y="657901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90431" r="-333308" b="-123963"/>
                </a:stretch>
              </a:blipFill>
            </p:spPr>
          </p:sp>
          <p:sp>
            <p:nvSpPr>
              <p:cNvPr id="277" name="TextBox 52">
                <a:extLst>
                  <a:ext uri="{FF2B5EF4-FFF2-40B4-BE49-F238E27FC236}">
                    <a16:creationId xmlns:a16="http://schemas.microsoft.com/office/drawing/2014/main" id="{9B5B3AB1-7E12-CD10-B0C8-421A228B739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24918" cy="6579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696"/>
                  </a:lnSpc>
                </a:pPr>
                <a:r>
                  <a:rPr lang="en-US" sz="1413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KIMM_Bold Bold"/>
                  </a:rPr>
                  <a:t>현재</a:t>
                </a:r>
              </a:p>
            </p:txBody>
          </p:sp>
        </p:grpSp>
        <p:grpSp>
          <p:nvGrpSpPr>
            <p:cNvPr id="271" name="Group 53">
              <a:extLst>
                <a:ext uri="{FF2B5EF4-FFF2-40B4-BE49-F238E27FC236}">
                  <a16:creationId xmlns:a16="http://schemas.microsoft.com/office/drawing/2014/main" id="{A6074A79-2924-5221-7338-B20DE0D658BD}"/>
                </a:ext>
              </a:extLst>
            </p:cNvPr>
            <p:cNvGrpSpPr/>
            <p:nvPr/>
          </p:nvGrpSpPr>
          <p:grpSpPr>
            <a:xfrm>
              <a:off x="686680" y="917512"/>
              <a:ext cx="5728874" cy="765944"/>
              <a:chOff x="0" y="0"/>
              <a:chExt cx="4178696" cy="558687"/>
            </a:xfrm>
          </p:grpSpPr>
          <p:sp>
            <p:nvSpPr>
              <p:cNvPr id="275" name="Freeform 54">
                <a:extLst>
                  <a:ext uri="{FF2B5EF4-FFF2-40B4-BE49-F238E27FC236}">
                    <a16:creationId xmlns:a16="http://schemas.microsoft.com/office/drawing/2014/main" id="{C8ED29A7-A39C-1732-422E-95BED976C8E7}"/>
                  </a:ext>
                </a:extLst>
              </p:cNvPr>
              <p:cNvSpPr/>
              <p:nvPr/>
            </p:nvSpPr>
            <p:spPr>
              <a:xfrm>
                <a:off x="0" y="0"/>
                <a:ext cx="4178721" cy="558666"/>
              </a:xfrm>
              <a:custGeom>
                <a:avLst/>
                <a:gdLst/>
                <a:ahLst/>
                <a:cxnLst/>
                <a:rect l="l" t="t" r="r" b="b"/>
                <a:pathLst>
                  <a:path w="4178721" h="558666">
                    <a:moveTo>
                      <a:pt x="0" y="55888"/>
                    </a:moveTo>
                    <a:cubicBezTo>
                      <a:pt x="0" y="25013"/>
                      <a:pt x="72157" y="0"/>
                      <a:pt x="161221" y="0"/>
                    </a:cubicBezTo>
                    <a:lnTo>
                      <a:pt x="4017536" y="0"/>
                    </a:lnTo>
                    <a:cubicBezTo>
                      <a:pt x="4106600" y="0"/>
                      <a:pt x="4178721" y="25013"/>
                      <a:pt x="4178721" y="55888"/>
                    </a:cubicBezTo>
                    <a:lnTo>
                      <a:pt x="4178721" y="502778"/>
                    </a:lnTo>
                    <a:cubicBezTo>
                      <a:pt x="4178721" y="533653"/>
                      <a:pt x="4106600" y="558666"/>
                      <a:pt x="4017536" y="558666"/>
                    </a:cubicBezTo>
                    <a:lnTo>
                      <a:pt x="161221" y="558666"/>
                    </a:lnTo>
                    <a:cubicBezTo>
                      <a:pt x="72157" y="558666"/>
                      <a:pt x="0" y="533653"/>
                      <a:pt x="0" y="502778"/>
                    </a:cubicBezTo>
                    <a:close/>
                  </a:path>
                </a:pathLst>
              </a:custGeom>
              <a:solidFill>
                <a:srgbClr val="F4F6EC"/>
              </a:solidFill>
              <a:ln w="14299" cap="sq">
                <a:solidFill>
                  <a:srgbClr val="DDE0CE"/>
                </a:solidFill>
                <a:prstDash val="solid"/>
                <a:miter/>
              </a:ln>
            </p:spPr>
          </p:sp>
        </p:grpSp>
        <p:grpSp>
          <p:nvGrpSpPr>
            <p:cNvPr id="272" name="Group 55">
              <a:extLst>
                <a:ext uri="{FF2B5EF4-FFF2-40B4-BE49-F238E27FC236}">
                  <a16:creationId xmlns:a16="http://schemas.microsoft.com/office/drawing/2014/main" id="{B70ECD69-FF73-E2C0-E0C1-A3FA1EA75CDC}"/>
                </a:ext>
              </a:extLst>
            </p:cNvPr>
            <p:cNvGrpSpPr/>
            <p:nvPr/>
          </p:nvGrpSpPr>
          <p:grpSpPr>
            <a:xfrm>
              <a:off x="698428" y="913264"/>
              <a:ext cx="848775" cy="848775"/>
              <a:chOff x="0" y="0"/>
              <a:chExt cx="732092" cy="732092"/>
            </a:xfrm>
          </p:grpSpPr>
          <p:sp>
            <p:nvSpPr>
              <p:cNvPr id="274" name="Freeform 56" descr="logo.png">
                <a:extLst>
                  <a:ext uri="{FF2B5EF4-FFF2-40B4-BE49-F238E27FC236}">
                    <a16:creationId xmlns:a16="http://schemas.microsoft.com/office/drawing/2014/main" id="{929498A9-1797-813F-AD19-2089CE3659F0}"/>
                  </a:ext>
                </a:extLst>
              </p:cNvPr>
              <p:cNvSpPr/>
              <p:nvPr/>
            </p:nvSpPr>
            <p:spPr>
              <a:xfrm>
                <a:off x="0" y="0"/>
                <a:ext cx="732155" cy="732155"/>
              </a:xfrm>
              <a:custGeom>
                <a:avLst/>
                <a:gdLst/>
                <a:ahLst/>
                <a:cxnLst/>
                <a:rect l="l" t="t" r="r" b="b"/>
                <a:pathLst>
                  <a:path w="732155" h="732155">
                    <a:moveTo>
                      <a:pt x="0" y="0"/>
                    </a:moveTo>
                    <a:lnTo>
                      <a:pt x="732155" y="0"/>
                    </a:lnTo>
                    <a:lnTo>
                      <a:pt x="732155" y="732155"/>
                    </a:lnTo>
                    <a:lnTo>
                      <a:pt x="0" y="73215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8" b="8"/>
                </a:stretch>
              </a:blipFill>
            </p:spPr>
          </p:sp>
        </p:grpSp>
        <p:sp>
          <p:nvSpPr>
            <p:cNvPr id="273" name="TextBox 57">
              <a:extLst>
                <a:ext uri="{FF2B5EF4-FFF2-40B4-BE49-F238E27FC236}">
                  <a16:creationId xmlns:a16="http://schemas.microsoft.com/office/drawing/2014/main" id="{B55FAD31-6AB0-13E9-7910-5C6393297BCF}"/>
                </a:ext>
              </a:extLst>
            </p:cNvPr>
            <p:cNvSpPr txBox="1"/>
            <p:nvPr/>
          </p:nvSpPr>
          <p:spPr>
            <a:xfrm>
              <a:off x="1505573" y="1135195"/>
              <a:ext cx="3949588" cy="323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25"/>
                </a:lnSpc>
                <a:spcBef>
                  <a:spcPct val="0"/>
                </a:spcBef>
              </a:pPr>
              <a:r>
                <a:rPr lang="en-US" sz="813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방탄이의 내배캠 방산 기업 현주소 </a:t>
              </a:r>
            </a:p>
          </p:txBody>
        </p:sp>
      </p:grpSp>
      <p:grpSp>
        <p:nvGrpSpPr>
          <p:cNvPr id="278" name="Group 58">
            <a:extLst>
              <a:ext uri="{FF2B5EF4-FFF2-40B4-BE49-F238E27FC236}">
                <a16:creationId xmlns:a16="http://schemas.microsoft.com/office/drawing/2014/main" id="{DE88AF6C-1BE6-BC63-2F3C-FAAF458CE731}"/>
              </a:ext>
            </a:extLst>
          </p:cNvPr>
          <p:cNvGrpSpPr/>
          <p:nvPr/>
        </p:nvGrpSpPr>
        <p:grpSpPr>
          <a:xfrm>
            <a:off x="3522521" y="2012767"/>
            <a:ext cx="2017299" cy="281326"/>
            <a:chOff x="0" y="0"/>
            <a:chExt cx="6037058" cy="841908"/>
          </a:xfrm>
        </p:grpSpPr>
        <p:sp>
          <p:nvSpPr>
            <p:cNvPr id="279" name="Freeform 59">
              <a:extLst>
                <a:ext uri="{FF2B5EF4-FFF2-40B4-BE49-F238E27FC236}">
                  <a16:creationId xmlns:a16="http://schemas.microsoft.com/office/drawing/2014/main" id="{ABE32832-71C6-C515-9D66-AC6BB630FCC5}"/>
                </a:ext>
              </a:extLst>
            </p:cNvPr>
            <p:cNvSpPr/>
            <p:nvPr/>
          </p:nvSpPr>
          <p:spPr>
            <a:xfrm>
              <a:off x="0" y="0"/>
              <a:ext cx="6037071" cy="841883"/>
            </a:xfrm>
            <a:custGeom>
              <a:avLst/>
              <a:gdLst/>
              <a:ahLst/>
              <a:cxnLst/>
              <a:rect l="l" t="t" r="r" b="b"/>
              <a:pathLst>
                <a:path w="6037071" h="841883">
                  <a:moveTo>
                    <a:pt x="0" y="117856"/>
                  </a:moveTo>
                  <a:cubicBezTo>
                    <a:pt x="0" y="52832"/>
                    <a:pt x="53130" y="0"/>
                    <a:pt x="118522" y="0"/>
                  </a:cubicBezTo>
                  <a:lnTo>
                    <a:pt x="5918550" y="0"/>
                  </a:lnTo>
                  <a:cubicBezTo>
                    <a:pt x="5984068" y="0"/>
                    <a:pt x="6037071" y="52832"/>
                    <a:pt x="6037071" y="117856"/>
                  </a:cubicBezTo>
                  <a:lnTo>
                    <a:pt x="6037071" y="724027"/>
                  </a:lnTo>
                  <a:cubicBezTo>
                    <a:pt x="6037071" y="789178"/>
                    <a:pt x="5983941" y="841883"/>
                    <a:pt x="5918550" y="841883"/>
                  </a:cubicBezTo>
                  <a:lnTo>
                    <a:pt x="118522" y="841883"/>
                  </a:lnTo>
                  <a:cubicBezTo>
                    <a:pt x="53130" y="841883"/>
                    <a:pt x="0" y="789178"/>
                    <a:pt x="0" y="724027"/>
                  </a:cubicBezTo>
                  <a:close/>
                </a:path>
              </a:pathLst>
            </a:custGeom>
            <a:solidFill>
              <a:srgbClr val="F4F6E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80" name="Group 60">
            <a:extLst>
              <a:ext uri="{FF2B5EF4-FFF2-40B4-BE49-F238E27FC236}">
                <a16:creationId xmlns:a16="http://schemas.microsoft.com/office/drawing/2014/main" id="{EA1251B2-0F51-16C5-9546-D3C4CB24A463}"/>
              </a:ext>
            </a:extLst>
          </p:cNvPr>
          <p:cNvGrpSpPr/>
          <p:nvPr/>
        </p:nvGrpSpPr>
        <p:grpSpPr>
          <a:xfrm>
            <a:off x="3522521" y="2388885"/>
            <a:ext cx="2017299" cy="281326"/>
            <a:chOff x="0" y="0"/>
            <a:chExt cx="6037058" cy="841908"/>
          </a:xfrm>
        </p:grpSpPr>
        <p:sp>
          <p:nvSpPr>
            <p:cNvPr id="281" name="Freeform 61">
              <a:extLst>
                <a:ext uri="{FF2B5EF4-FFF2-40B4-BE49-F238E27FC236}">
                  <a16:creationId xmlns:a16="http://schemas.microsoft.com/office/drawing/2014/main" id="{118A4F19-F11B-C77E-487D-CEEA0A608DA7}"/>
                </a:ext>
              </a:extLst>
            </p:cNvPr>
            <p:cNvSpPr/>
            <p:nvPr/>
          </p:nvSpPr>
          <p:spPr>
            <a:xfrm>
              <a:off x="0" y="0"/>
              <a:ext cx="6037071" cy="841883"/>
            </a:xfrm>
            <a:custGeom>
              <a:avLst/>
              <a:gdLst/>
              <a:ahLst/>
              <a:cxnLst/>
              <a:rect l="l" t="t" r="r" b="b"/>
              <a:pathLst>
                <a:path w="6037071" h="841883">
                  <a:moveTo>
                    <a:pt x="0" y="117856"/>
                  </a:moveTo>
                  <a:cubicBezTo>
                    <a:pt x="0" y="52832"/>
                    <a:pt x="53130" y="0"/>
                    <a:pt x="118522" y="0"/>
                  </a:cubicBezTo>
                  <a:lnTo>
                    <a:pt x="5918550" y="0"/>
                  </a:lnTo>
                  <a:cubicBezTo>
                    <a:pt x="5984068" y="0"/>
                    <a:pt x="6037071" y="52832"/>
                    <a:pt x="6037071" y="117856"/>
                  </a:cubicBezTo>
                  <a:lnTo>
                    <a:pt x="6037071" y="724027"/>
                  </a:lnTo>
                  <a:cubicBezTo>
                    <a:pt x="6037071" y="789178"/>
                    <a:pt x="5983941" y="841883"/>
                    <a:pt x="5918550" y="841883"/>
                  </a:cubicBezTo>
                  <a:lnTo>
                    <a:pt x="118522" y="841883"/>
                  </a:lnTo>
                  <a:cubicBezTo>
                    <a:pt x="53130" y="841883"/>
                    <a:pt x="0" y="789178"/>
                    <a:pt x="0" y="724027"/>
                  </a:cubicBezTo>
                  <a:close/>
                </a:path>
              </a:pathLst>
            </a:custGeom>
            <a:solidFill>
              <a:srgbClr val="F4F6E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82" name="Group 62">
            <a:extLst>
              <a:ext uri="{FF2B5EF4-FFF2-40B4-BE49-F238E27FC236}">
                <a16:creationId xmlns:a16="http://schemas.microsoft.com/office/drawing/2014/main" id="{A7220F01-1D93-33C0-9FF7-3BCEBEBBD96A}"/>
              </a:ext>
            </a:extLst>
          </p:cNvPr>
          <p:cNvGrpSpPr/>
          <p:nvPr/>
        </p:nvGrpSpPr>
        <p:grpSpPr>
          <a:xfrm>
            <a:off x="3522521" y="2765007"/>
            <a:ext cx="2017299" cy="281326"/>
            <a:chOff x="0" y="0"/>
            <a:chExt cx="6037058" cy="841908"/>
          </a:xfrm>
        </p:grpSpPr>
        <p:sp>
          <p:nvSpPr>
            <p:cNvPr id="283" name="Freeform 63">
              <a:extLst>
                <a:ext uri="{FF2B5EF4-FFF2-40B4-BE49-F238E27FC236}">
                  <a16:creationId xmlns:a16="http://schemas.microsoft.com/office/drawing/2014/main" id="{32072949-4A65-C337-6D8D-A91841B32927}"/>
                </a:ext>
              </a:extLst>
            </p:cNvPr>
            <p:cNvSpPr/>
            <p:nvPr/>
          </p:nvSpPr>
          <p:spPr>
            <a:xfrm>
              <a:off x="0" y="0"/>
              <a:ext cx="6037071" cy="841883"/>
            </a:xfrm>
            <a:custGeom>
              <a:avLst/>
              <a:gdLst/>
              <a:ahLst/>
              <a:cxnLst/>
              <a:rect l="l" t="t" r="r" b="b"/>
              <a:pathLst>
                <a:path w="6037071" h="841883">
                  <a:moveTo>
                    <a:pt x="0" y="117856"/>
                  </a:moveTo>
                  <a:cubicBezTo>
                    <a:pt x="0" y="52832"/>
                    <a:pt x="53130" y="0"/>
                    <a:pt x="118522" y="0"/>
                  </a:cubicBezTo>
                  <a:lnTo>
                    <a:pt x="5918550" y="0"/>
                  </a:lnTo>
                  <a:cubicBezTo>
                    <a:pt x="5984068" y="0"/>
                    <a:pt x="6037071" y="52832"/>
                    <a:pt x="6037071" y="117856"/>
                  </a:cubicBezTo>
                  <a:lnTo>
                    <a:pt x="6037071" y="724027"/>
                  </a:lnTo>
                  <a:cubicBezTo>
                    <a:pt x="6037071" y="789178"/>
                    <a:pt x="5983941" y="841883"/>
                    <a:pt x="5918550" y="841883"/>
                  </a:cubicBezTo>
                  <a:lnTo>
                    <a:pt x="118522" y="841883"/>
                  </a:lnTo>
                  <a:cubicBezTo>
                    <a:pt x="53130" y="841883"/>
                    <a:pt x="0" y="789178"/>
                    <a:pt x="0" y="724027"/>
                  </a:cubicBezTo>
                  <a:close/>
                </a:path>
              </a:pathLst>
            </a:custGeom>
            <a:solidFill>
              <a:srgbClr val="F4F6E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84" name="Group 64">
            <a:extLst>
              <a:ext uri="{FF2B5EF4-FFF2-40B4-BE49-F238E27FC236}">
                <a16:creationId xmlns:a16="http://schemas.microsoft.com/office/drawing/2014/main" id="{170F4472-8A0A-6511-5A23-BCB9E99C1D39}"/>
              </a:ext>
            </a:extLst>
          </p:cNvPr>
          <p:cNvGrpSpPr/>
          <p:nvPr/>
        </p:nvGrpSpPr>
        <p:grpSpPr>
          <a:xfrm>
            <a:off x="3522521" y="3141126"/>
            <a:ext cx="2017299" cy="281326"/>
            <a:chOff x="0" y="0"/>
            <a:chExt cx="6037058" cy="841908"/>
          </a:xfrm>
        </p:grpSpPr>
        <p:sp>
          <p:nvSpPr>
            <p:cNvPr id="285" name="Freeform 65">
              <a:extLst>
                <a:ext uri="{FF2B5EF4-FFF2-40B4-BE49-F238E27FC236}">
                  <a16:creationId xmlns:a16="http://schemas.microsoft.com/office/drawing/2014/main" id="{42BF65EE-375A-0731-0082-5040733DD584}"/>
                </a:ext>
              </a:extLst>
            </p:cNvPr>
            <p:cNvSpPr/>
            <p:nvPr/>
          </p:nvSpPr>
          <p:spPr>
            <a:xfrm>
              <a:off x="0" y="0"/>
              <a:ext cx="6037071" cy="841883"/>
            </a:xfrm>
            <a:custGeom>
              <a:avLst/>
              <a:gdLst/>
              <a:ahLst/>
              <a:cxnLst/>
              <a:rect l="l" t="t" r="r" b="b"/>
              <a:pathLst>
                <a:path w="6037071" h="841883">
                  <a:moveTo>
                    <a:pt x="0" y="117856"/>
                  </a:moveTo>
                  <a:cubicBezTo>
                    <a:pt x="0" y="52832"/>
                    <a:pt x="53130" y="0"/>
                    <a:pt x="118522" y="0"/>
                  </a:cubicBezTo>
                  <a:lnTo>
                    <a:pt x="5918550" y="0"/>
                  </a:lnTo>
                  <a:cubicBezTo>
                    <a:pt x="5984068" y="0"/>
                    <a:pt x="6037071" y="52832"/>
                    <a:pt x="6037071" y="117856"/>
                  </a:cubicBezTo>
                  <a:lnTo>
                    <a:pt x="6037071" y="724027"/>
                  </a:lnTo>
                  <a:cubicBezTo>
                    <a:pt x="6037071" y="789178"/>
                    <a:pt x="5983941" y="841883"/>
                    <a:pt x="5918550" y="841883"/>
                  </a:cubicBezTo>
                  <a:lnTo>
                    <a:pt x="118522" y="841883"/>
                  </a:lnTo>
                  <a:cubicBezTo>
                    <a:pt x="53130" y="841883"/>
                    <a:pt x="0" y="789178"/>
                    <a:pt x="0" y="724027"/>
                  </a:cubicBezTo>
                  <a:close/>
                </a:path>
              </a:pathLst>
            </a:custGeom>
            <a:solidFill>
              <a:srgbClr val="F4F6E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86" name="Group 66">
            <a:extLst>
              <a:ext uri="{FF2B5EF4-FFF2-40B4-BE49-F238E27FC236}">
                <a16:creationId xmlns:a16="http://schemas.microsoft.com/office/drawing/2014/main" id="{8BBB2687-B886-4C9E-0F78-E3F758A181A1}"/>
              </a:ext>
            </a:extLst>
          </p:cNvPr>
          <p:cNvGrpSpPr/>
          <p:nvPr/>
        </p:nvGrpSpPr>
        <p:grpSpPr>
          <a:xfrm>
            <a:off x="3522521" y="3517244"/>
            <a:ext cx="2017299" cy="281326"/>
            <a:chOff x="0" y="0"/>
            <a:chExt cx="6037058" cy="841908"/>
          </a:xfrm>
        </p:grpSpPr>
        <p:sp>
          <p:nvSpPr>
            <p:cNvPr id="287" name="Freeform 67">
              <a:extLst>
                <a:ext uri="{FF2B5EF4-FFF2-40B4-BE49-F238E27FC236}">
                  <a16:creationId xmlns:a16="http://schemas.microsoft.com/office/drawing/2014/main" id="{59F1E365-CCF5-F92E-E257-B313962591FC}"/>
                </a:ext>
              </a:extLst>
            </p:cNvPr>
            <p:cNvSpPr/>
            <p:nvPr/>
          </p:nvSpPr>
          <p:spPr>
            <a:xfrm>
              <a:off x="0" y="0"/>
              <a:ext cx="6037071" cy="841883"/>
            </a:xfrm>
            <a:custGeom>
              <a:avLst/>
              <a:gdLst/>
              <a:ahLst/>
              <a:cxnLst/>
              <a:rect l="l" t="t" r="r" b="b"/>
              <a:pathLst>
                <a:path w="6037071" h="841883">
                  <a:moveTo>
                    <a:pt x="0" y="117856"/>
                  </a:moveTo>
                  <a:cubicBezTo>
                    <a:pt x="0" y="52832"/>
                    <a:pt x="53130" y="0"/>
                    <a:pt x="118522" y="0"/>
                  </a:cubicBezTo>
                  <a:lnTo>
                    <a:pt x="5918550" y="0"/>
                  </a:lnTo>
                  <a:cubicBezTo>
                    <a:pt x="5984068" y="0"/>
                    <a:pt x="6037071" y="52832"/>
                    <a:pt x="6037071" y="117856"/>
                  </a:cubicBezTo>
                  <a:lnTo>
                    <a:pt x="6037071" y="724027"/>
                  </a:lnTo>
                  <a:cubicBezTo>
                    <a:pt x="6037071" y="789178"/>
                    <a:pt x="5983941" y="841883"/>
                    <a:pt x="5918550" y="841883"/>
                  </a:cubicBezTo>
                  <a:lnTo>
                    <a:pt x="118522" y="841883"/>
                  </a:lnTo>
                  <a:cubicBezTo>
                    <a:pt x="53130" y="841883"/>
                    <a:pt x="0" y="789178"/>
                    <a:pt x="0" y="724027"/>
                  </a:cubicBezTo>
                  <a:close/>
                </a:path>
              </a:pathLst>
            </a:custGeom>
            <a:solidFill>
              <a:srgbClr val="F4F6E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pic>
        <p:nvPicPr>
          <p:cNvPr id="288" name="Picture 68">
            <a:extLst>
              <a:ext uri="{FF2B5EF4-FFF2-40B4-BE49-F238E27FC236}">
                <a16:creationId xmlns:a16="http://schemas.microsoft.com/office/drawing/2014/main" id="{F89F01CA-A5D4-AEEB-FBC6-FF66FD0462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32736" y="1345152"/>
            <a:ext cx="3148123" cy="2870914"/>
          </a:xfrm>
          <a:prstGeom prst="rect">
            <a:avLst/>
          </a:prstGeom>
        </p:spPr>
      </p:pic>
      <p:grpSp>
        <p:nvGrpSpPr>
          <p:cNvPr id="289" name="Group 69">
            <a:extLst>
              <a:ext uri="{FF2B5EF4-FFF2-40B4-BE49-F238E27FC236}">
                <a16:creationId xmlns:a16="http://schemas.microsoft.com/office/drawing/2014/main" id="{D7133062-15AC-7458-3F5C-C794C333F50B}"/>
              </a:ext>
            </a:extLst>
          </p:cNvPr>
          <p:cNvGrpSpPr/>
          <p:nvPr/>
        </p:nvGrpSpPr>
        <p:grpSpPr>
          <a:xfrm>
            <a:off x="2898845" y="2780609"/>
            <a:ext cx="322687" cy="310272"/>
            <a:chOff x="0" y="0"/>
            <a:chExt cx="951725" cy="915111"/>
          </a:xfrm>
        </p:grpSpPr>
        <p:sp>
          <p:nvSpPr>
            <p:cNvPr id="290" name="Freeform 70">
              <a:extLst>
                <a:ext uri="{FF2B5EF4-FFF2-40B4-BE49-F238E27FC236}">
                  <a16:creationId xmlns:a16="http://schemas.microsoft.com/office/drawing/2014/main" id="{EE039DF1-94CD-9566-DA44-10C6E8360F96}"/>
                </a:ext>
              </a:extLst>
            </p:cNvPr>
            <p:cNvSpPr/>
            <p:nvPr/>
          </p:nvSpPr>
          <p:spPr>
            <a:xfrm>
              <a:off x="0" y="0"/>
              <a:ext cx="951738" cy="915162"/>
            </a:xfrm>
            <a:custGeom>
              <a:avLst/>
              <a:gdLst/>
              <a:ahLst/>
              <a:cxnLst/>
              <a:rect l="l" t="t" r="r" b="b"/>
              <a:pathLst>
                <a:path w="951738" h="915162">
                  <a:moveTo>
                    <a:pt x="0" y="228727"/>
                  </a:moveTo>
                  <a:lnTo>
                    <a:pt x="494157" y="228727"/>
                  </a:lnTo>
                  <a:lnTo>
                    <a:pt x="494157" y="0"/>
                  </a:lnTo>
                  <a:lnTo>
                    <a:pt x="951738" y="457581"/>
                  </a:lnTo>
                  <a:lnTo>
                    <a:pt x="494157" y="915162"/>
                  </a:lnTo>
                  <a:lnTo>
                    <a:pt x="494157" y="686308"/>
                  </a:lnTo>
                  <a:lnTo>
                    <a:pt x="0" y="686308"/>
                  </a:lnTo>
                  <a:close/>
                </a:path>
              </a:pathLst>
            </a:custGeom>
            <a:solidFill>
              <a:srgbClr val="626F47"/>
            </a:solidFill>
          </p:spPr>
        </p:sp>
      </p:grpSp>
      <p:pic>
        <p:nvPicPr>
          <p:cNvPr id="291" name="Picture 71">
            <a:extLst>
              <a:ext uri="{FF2B5EF4-FFF2-40B4-BE49-F238E27FC236}">
                <a16:creationId xmlns:a16="http://schemas.microsoft.com/office/drawing/2014/main" id="{74551299-0A59-819F-278E-C3B77B8EE80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44186" y="1378267"/>
            <a:ext cx="3148123" cy="2870914"/>
          </a:xfrm>
          <a:prstGeom prst="rect">
            <a:avLst/>
          </a:prstGeom>
        </p:spPr>
      </p:pic>
      <p:grpSp>
        <p:nvGrpSpPr>
          <p:cNvPr id="292" name="Group 72">
            <a:extLst>
              <a:ext uri="{FF2B5EF4-FFF2-40B4-BE49-F238E27FC236}">
                <a16:creationId xmlns:a16="http://schemas.microsoft.com/office/drawing/2014/main" id="{3A4BD75E-4EB1-A5C0-99AD-B898619CA466}"/>
              </a:ext>
            </a:extLst>
          </p:cNvPr>
          <p:cNvGrpSpPr/>
          <p:nvPr/>
        </p:nvGrpSpPr>
        <p:grpSpPr>
          <a:xfrm>
            <a:off x="5863472" y="2780609"/>
            <a:ext cx="322687" cy="310272"/>
            <a:chOff x="0" y="0"/>
            <a:chExt cx="951725" cy="915111"/>
          </a:xfrm>
        </p:grpSpPr>
        <p:sp>
          <p:nvSpPr>
            <p:cNvPr id="293" name="Freeform 73">
              <a:extLst>
                <a:ext uri="{FF2B5EF4-FFF2-40B4-BE49-F238E27FC236}">
                  <a16:creationId xmlns:a16="http://schemas.microsoft.com/office/drawing/2014/main" id="{6B13DC5F-6C99-4249-B087-A5CCC15977C1}"/>
                </a:ext>
              </a:extLst>
            </p:cNvPr>
            <p:cNvSpPr/>
            <p:nvPr/>
          </p:nvSpPr>
          <p:spPr>
            <a:xfrm>
              <a:off x="0" y="0"/>
              <a:ext cx="951738" cy="915162"/>
            </a:xfrm>
            <a:custGeom>
              <a:avLst/>
              <a:gdLst/>
              <a:ahLst/>
              <a:cxnLst/>
              <a:rect l="l" t="t" r="r" b="b"/>
              <a:pathLst>
                <a:path w="951738" h="915162">
                  <a:moveTo>
                    <a:pt x="0" y="228727"/>
                  </a:moveTo>
                  <a:lnTo>
                    <a:pt x="494157" y="228727"/>
                  </a:lnTo>
                  <a:lnTo>
                    <a:pt x="494157" y="0"/>
                  </a:lnTo>
                  <a:lnTo>
                    <a:pt x="951738" y="457581"/>
                  </a:lnTo>
                  <a:lnTo>
                    <a:pt x="494157" y="915162"/>
                  </a:lnTo>
                  <a:lnTo>
                    <a:pt x="494157" y="686308"/>
                  </a:lnTo>
                  <a:lnTo>
                    <a:pt x="0" y="686308"/>
                  </a:ln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294" name="Group 74">
            <a:extLst>
              <a:ext uri="{FF2B5EF4-FFF2-40B4-BE49-F238E27FC236}">
                <a16:creationId xmlns:a16="http://schemas.microsoft.com/office/drawing/2014/main" id="{7F15A0E5-219E-48A5-0B19-21A4F6D1E3B3}"/>
              </a:ext>
            </a:extLst>
          </p:cNvPr>
          <p:cNvGrpSpPr/>
          <p:nvPr/>
        </p:nvGrpSpPr>
        <p:grpSpPr>
          <a:xfrm>
            <a:off x="4406280" y="1699379"/>
            <a:ext cx="459344" cy="246713"/>
            <a:chOff x="0" y="0"/>
            <a:chExt cx="1224918" cy="657900"/>
          </a:xfrm>
        </p:grpSpPr>
        <p:sp>
          <p:nvSpPr>
            <p:cNvPr id="295" name="Freeform 75">
              <a:extLst>
                <a:ext uri="{FF2B5EF4-FFF2-40B4-BE49-F238E27FC236}">
                  <a16:creationId xmlns:a16="http://schemas.microsoft.com/office/drawing/2014/main" id="{0B9D061F-BB72-0EBC-CCA4-7590724E9710}"/>
                </a:ext>
              </a:extLst>
            </p:cNvPr>
            <p:cNvSpPr/>
            <p:nvPr/>
          </p:nvSpPr>
          <p:spPr>
            <a:xfrm>
              <a:off x="0" y="0"/>
              <a:ext cx="1224917" cy="657901"/>
            </a:xfrm>
            <a:custGeom>
              <a:avLst/>
              <a:gdLst/>
              <a:ahLst/>
              <a:cxnLst/>
              <a:rect l="l" t="t" r="r" b="b"/>
              <a:pathLst>
                <a:path w="1224917" h="657901">
                  <a:moveTo>
                    <a:pt x="0" y="0"/>
                  </a:moveTo>
                  <a:lnTo>
                    <a:pt x="1224917" y="0"/>
                  </a:lnTo>
                  <a:lnTo>
                    <a:pt x="1224917" y="657901"/>
                  </a:lnTo>
                  <a:lnTo>
                    <a:pt x="0" y="6579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90431" r="-333308" b="-123963"/>
              </a:stretch>
            </a:blipFill>
          </p:spPr>
        </p:sp>
        <p:sp>
          <p:nvSpPr>
            <p:cNvPr id="296" name="TextBox 76">
              <a:extLst>
                <a:ext uri="{FF2B5EF4-FFF2-40B4-BE49-F238E27FC236}">
                  <a16:creationId xmlns:a16="http://schemas.microsoft.com/office/drawing/2014/main" id="{85C0D515-4DEE-BDC8-46EF-58965101C5C7}"/>
                </a:ext>
              </a:extLst>
            </p:cNvPr>
            <p:cNvSpPr txBox="1"/>
            <p:nvPr/>
          </p:nvSpPr>
          <p:spPr>
            <a:xfrm>
              <a:off x="0" y="0"/>
              <a:ext cx="1224918" cy="657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96"/>
                </a:lnSpc>
              </a:pPr>
              <a:r>
                <a:rPr lang="en-US" sz="141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KIMM_Bold Bold"/>
                </a:rPr>
                <a:t>접근</a:t>
              </a:r>
            </a:p>
          </p:txBody>
        </p:sp>
      </p:grpSp>
      <p:grpSp>
        <p:nvGrpSpPr>
          <p:cNvPr id="297" name="Group 77">
            <a:extLst>
              <a:ext uri="{FF2B5EF4-FFF2-40B4-BE49-F238E27FC236}">
                <a16:creationId xmlns:a16="http://schemas.microsoft.com/office/drawing/2014/main" id="{0D37F2B5-0A4E-86B1-4EE2-0D0CFD4633B2}"/>
              </a:ext>
            </a:extLst>
          </p:cNvPr>
          <p:cNvGrpSpPr/>
          <p:nvPr/>
        </p:nvGrpSpPr>
        <p:grpSpPr>
          <a:xfrm>
            <a:off x="7344757" y="1699379"/>
            <a:ext cx="459344" cy="246713"/>
            <a:chOff x="0" y="0"/>
            <a:chExt cx="1224918" cy="657900"/>
          </a:xfrm>
        </p:grpSpPr>
        <p:sp>
          <p:nvSpPr>
            <p:cNvPr id="298" name="Freeform 78">
              <a:extLst>
                <a:ext uri="{FF2B5EF4-FFF2-40B4-BE49-F238E27FC236}">
                  <a16:creationId xmlns:a16="http://schemas.microsoft.com/office/drawing/2014/main" id="{EE06CBC8-898F-3E8B-2722-9B6857E15BA8}"/>
                </a:ext>
              </a:extLst>
            </p:cNvPr>
            <p:cNvSpPr/>
            <p:nvPr/>
          </p:nvSpPr>
          <p:spPr>
            <a:xfrm>
              <a:off x="0" y="0"/>
              <a:ext cx="1224917" cy="657901"/>
            </a:xfrm>
            <a:custGeom>
              <a:avLst/>
              <a:gdLst/>
              <a:ahLst/>
              <a:cxnLst/>
              <a:rect l="l" t="t" r="r" b="b"/>
              <a:pathLst>
                <a:path w="1224917" h="657901">
                  <a:moveTo>
                    <a:pt x="0" y="0"/>
                  </a:moveTo>
                  <a:lnTo>
                    <a:pt x="1224917" y="0"/>
                  </a:lnTo>
                  <a:lnTo>
                    <a:pt x="1224917" y="657901"/>
                  </a:lnTo>
                  <a:lnTo>
                    <a:pt x="0" y="6579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90431" r="-333308" b="-123963"/>
              </a:stretch>
            </a:blipFill>
          </p:spPr>
        </p:sp>
        <p:sp>
          <p:nvSpPr>
            <p:cNvPr id="299" name="TextBox 79">
              <a:extLst>
                <a:ext uri="{FF2B5EF4-FFF2-40B4-BE49-F238E27FC236}">
                  <a16:creationId xmlns:a16="http://schemas.microsoft.com/office/drawing/2014/main" id="{8D407D96-63EB-8BBB-901A-C1907240B4BC}"/>
                </a:ext>
              </a:extLst>
            </p:cNvPr>
            <p:cNvSpPr txBox="1"/>
            <p:nvPr/>
          </p:nvSpPr>
          <p:spPr>
            <a:xfrm>
              <a:off x="0" y="0"/>
              <a:ext cx="1224918" cy="657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96"/>
                </a:lnSpc>
              </a:pPr>
              <a:r>
                <a:rPr lang="en-US" sz="141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KIMM_Bold Bold"/>
                </a:rPr>
                <a:t>목표</a:t>
              </a:r>
            </a:p>
          </p:txBody>
        </p:sp>
      </p:grpSp>
      <p:grpSp>
        <p:nvGrpSpPr>
          <p:cNvPr id="300" name="Group 80">
            <a:extLst>
              <a:ext uri="{FF2B5EF4-FFF2-40B4-BE49-F238E27FC236}">
                <a16:creationId xmlns:a16="http://schemas.microsoft.com/office/drawing/2014/main" id="{4E241705-BBAF-433C-425A-1819D193B3F8}"/>
              </a:ext>
            </a:extLst>
          </p:cNvPr>
          <p:cNvGrpSpPr/>
          <p:nvPr/>
        </p:nvGrpSpPr>
        <p:grpSpPr>
          <a:xfrm>
            <a:off x="352006" y="4404421"/>
            <a:ext cx="8419372" cy="585154"/>
            <a:chOff x="0" y="0"/>
            <a:chExt cx="22451657" cy="1560411"/>
          </a:xfrm>
        </p:grpSpPr>
        <p:sp>
          <p:nvSpPr>
            <p:cNvPr id="301" name="Freeform 81">
              <a:extLst>
                <a:ext uri="{FF2B5EF4-FFF2-40B4-BE49-F238E27FC236}">
                  <a16:creationId xmlns:a16="http://schemas.microsoft.com/office/drawing/2014/main" id="{00C4235D-38CC-2DD1-48FD-1673E50466CA}"/>
                </a:ext>
              </a:extLst>
            </p:cNvPr>
            <p:cNvSpPr/>
            <p:nvPr/>
          </p:nvSpPr>
          <p:spPr>
            <a:xfrm>
              <a:off x="0" y="0"/>
              <a:ext cx="22451633" cy="1560436"/>
            </a:xfrm>
            <a:custGeom>
              <a:avLst/>
              <a:gdLst/>
              <a:ahLst/>
              <a:cxnLst/>
              <a:rect l="l" t="t" r="r" b="b"/>
              <a:pathLst>
                <a:path w="22451633" h="1560436">
                  <a:moveTo>
                    <a:pt x="0" y="93617"/>
                  </a:moveTo>
                  <a:cubicBezTo>
                    <a:pt x="0" y="41947"/>
                    <a:pt x="63217" y="0"/>
                    <a:pt x="141089" y="0"/>
                  </a:cubicBezTo>
                  <a:lnTo>
                    <a:pt x="22310544" y="0"/>
                  </a:lnTo>
                  <a:cubicBezTo>
                    <a:pt x="22388416" y="0"/>
                    <a:pt x="22451633" y="41947"/>
                    <a:pt x="22451633" y="93617"/>
                  </a:cubicBezTo>
                  <a:lnTo>
                    <a:pt x="22451633" y="1466810"/>
                  </a:lnTo>
                  <a:cubicBezTo>
                    <a:pt x="22451633" y="1518481"/>
                    <a:pt x="22388416" y="1560436"/>
                    <a:pt x="22310544" y="1560436"/>
                  </a:cubicBezTo>
                  <a:lnTo>
                    <a:pt x="141089" y="1560436"/>
                  </a:lnTo>
                  <a:cubicBezTo>
                    <a:pt x="63217" y="1560436"/>
                    <a:pt x="0" y="1518481"/>
                    <a:pt x="0" y="1466810"/>
                  </a:cubicBezTo>
                  <a:close/>
                </a:path>
              </a:pathLst>
            </a:custGeom>
            <a:solidFill>
              <a:srgbClr val="F7F8F1"/>
            </a:solidFill>
            <a:ln w="1906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302" name="Group 82">
            <a:extLst>
              <a:ext uri="{FF2B5EF4-FFF2-40B4-BE49-F238E27FC236}">
                <a16:creationId xmlns:a16="http://schemas.microsoft.com/office/drawing/2014/main" id="{8BF5E1D6-E402-5AB3-E719-8FE7C6E80988}"/>
              </a:ext>
            </a:extLst>
          </p:cNvPr>
          <p:cNvGrpSpPr/>
          <p:nvPr/>
        </p:nvGrpSpPr>
        <p:grpSpPr>
          <a:xfrm>
            <a:off x="927561" y="4415917"/>
            <a:ext cx="1189077" cy="494162"/>
            <a:chOff x="0" y="0"/>
            <a:chExt cx="3170872" cy="1317766"/>
          </a:xfrm>
        </p:grpSpPr>
        <p:sp>
          <p:nvSpPr>
            <p:cNvPr id="303" name="Freeform 83">
              <a:extLst>
                <a:ext uri="{FF2B5EF4-FFF2-40B4-BE49-F238E27FC236}">
                  <a16:creationId xmlns:a16="http://schemas.microsoft.com/office/drawing/2014/main" id="{A22D04BF-9AC0-1182-71EE-544C6BE8125B}"/>
                </a:ext>
              </a:extLst>
            </p:cNvPr>
            <p:cNvSpPr/>
            <p:nvPr/>
          </p:nvSpPr>
          <p:spPr>
            <a:xfrm>
              <a:off x="0" y="0"/>
              <a:ext cx="3170873" cy="1317766"/>
            </a:xfrm>
            <a:custGeom>
              <a:avLst/>
              <a:gdLst/>
              <a:ahLst/>
              <a:cxnLst/>
              <a:rect l="l" t="t" r="r" b="b"/>
              <a:pathLst>
                <a:path w="3170873" h="1317766">
                  <a:moveTo>
                    <a:pt x="0" y="0"/>
                  </a:moveTo>
                  <a:lnTo>
                    <a:pt x="3170873" y="0"/>
                  </a:lnTo>
                  <a:lnTo>
                    <a:pt x="3170873" y="1317766"/>
                  </a:lnTo>
                  <a:lnTo>
                    <a:pt x="0" y="131776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20" r="-3320"/>
              </a:stretch>
            </a:blipFill>
          </p:spPr>
        </p:sp>
        <p:sp>
          <p:nvSpPr>
            <p:cNvPr id="304" name="TextBox 84">
              <a:extLst>
                <a:ext uri="{FF2B5EF4-FFF2-40B4-BE49-F238E27FC236}">
                  <a16:creationId xmlns:a16="http://schemas.microsoft.com/office/drawing/2014/main" id="{E2F474AA-20EF-79FE-C491-7E24BD549A8E}"/>
                </a:ext>
              </a:extLst>
            </p:cNvPr>
            <p:cNvSpPr txBox="1"/>
            <p:nvPr/>
          </p:nvSpPr>
          <p:spPr>
            <a:xfrm>
              <a:off x="0" y="-19050"/>
              <a:ext cx="3170872" cy="13368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데이터 기반 의사결정</a:t>
              </a:r>
            </a:p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정확도 향상</a:t>
              </a:r>
            </a:p>
          </p:txBody>
        </p:sp>
      </p:grpSp>
      <p:grpSp>
        <p:nvGrpSpPr>
          <p:cNvPr id="305" name="Group 85">
            <a:extLst>
              <a:ext uri="{FF2B5EF4-FFF2-40B4-BE49-F238E27FC236}">
                <a16:creationId xmlns:a16="http://schemas.microsoft.com/office/drawing/2014/main" id="{186DC6CD-F13D-A807-5934-26A53273B675}"/>
              </a:ext>
            </a:extLst>
          </p:cNvPr>
          <p:cNvGrpSpPr/>
          <p:nvPr/>
        </p:nvGrpSpPr>
        <p:grpSpPr>
          <a:xfrm>
            <a:off x="3093023" y="4430930"/>
            <a:ext cx="1189077" cy="494162"/>
            <a:chOff x="0" y="0"/>
            <a:chExt cx="3170872" cy="1317766"/>
          </a:xfrm>
        </p:grpSpPr>
        <p:sp>
          <p:nvSpPr>
            <p:cNvPr id="306" name="Freeform 86">
              <a:extLst>
                <a:ext uri="{FF2B5EF4-FFF2-40B4-BE49-F238E27FC236}">
                  <a16:creationId xmlns:a16="http://schemas.microsoft.com/office/drawing/2014/main" id="{7BCB9897-5242-8BC0-08F8-18BCF71B7271}"/>
                </a:ext>
              </a:extLst>
            </p:cNvPr>
            <p:cNvSpPr/>
            <p:nvPr/>
          </p:nvSpPr>
          <p:spPr>
            <a:xfrm>
              <a:off x="0" y="0"/>
              <a:ext cx="3170873" cy="1317766"/>
            </a:xfrm>
            <a:custGeom>
              <a:avLst/>
              <a:gdLst/>
              <a:ahLst/>
              <a:cxnLst/>
              <a:rect l="l" t="t" r="r" b="b"/>
              <a:pathLst>
                <a:path w="3170873" h="1317766">
                  <a:moveTo>
                    <a:pt x="0" y="0"/>
                  </a:moveTo>
                  <a:lnTo>
                    <a:pt x="3170873" y="0"/>
                  </a:lnTo>
                  <a:lnTo>
                    <a:pt x="3170873" y="1317766"/>
                  </a:lnTo>
                  <a:lnTo>
                    <a:pt x="0" y="131776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20" r="-3320"/>
              </a:stretch>
            </a:blipFill>
          </p:spPr>
        </p:sp>
        <p:sp>
          <p:nvSpPr>
            <p:cNvPr id="307" name="TextBox 87">
              <a:extLst>
                <a:ext uri="{FF2B5EF4-FFF2-40B4-BE49-F238E27FC236}">
                  <a16:creationId xmlns:a16="http://schemas.microsoft.com/office/drawing/2014/main" id="{3FDF21E7-C732-2F4C-C3F5-334388BFF2B1}"/>
                </a:ext>
              </a:extLst>
            </p:cNvPr>
            <p:cNvSpPr txBox="1"/>
            <p:nvPr/>
          </p:nvSpPr>
          <p:spPr>
            <a:xfrm>
              <a:off x="0" y="-19050"/>
              <a:ext cx="3170872" cy="13368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품질 안정성 확보</a:t>
              </a:r>
            </a:p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고객 신뢰도 향상</a:t>
              </a:r>
            </a:p>
          </p:txBody>
        </p:sp>
      </p:grpSp>
      <p:grpSp>
        <p:nvGrpSpPr>
          <p:cNvPr id="308" name="Group 88">
            <a:extLst>
              <a:ext uri="{FF2B5EF4-FFF2-40B4-BE49-F238E27FC236}">
                <a16:creationId xmlns:a16="http://schemas.microsoft.com/office/drawing/2014/main" id="{5B95F67A-4341-A31A-1A20-008D9E0B4826}"/>
              </a:ext>
            </a:extLst>
          </p:cNvPr>
          <p:cNvGrpSpPr/>
          <p:nvPr/>
        </p:nvGrpSpPr>
        <p:grpSpPr>
          <a:xfrm>
            <a:off x="4544037" y="4404421"/>
            <a:ext cx="8235" cy="590250"/>
            <a:chOff x="0" y="0"/>
            <a:chExt cx="21958" cy="1574000"/>
          </a:xfrm>
        </p:grpSpPr>
        <p:sp>
          <p:nvSpPr>
            <p:cNvPr id="309" name="Freeform 89">
              <a:extLst>
                <a:ext uri="{FF2B5EF4-FFF2-40B4-BE49-F238E27FC236}">
                  <a16:creationId xmlns:a16="http://schemas.microsoft.com/office/drawing/2014/main" id="{64A08714-306D-9AB1-CE3E-353D81CF9838}"/>
                </a:ext>
              </a:extLst>
            </p:cNvPr>
            <p:cNvSpPr/>
            <p:nvPr/>
          </p:nvSpPr>
          <p:spPr>
            <a:xfrm>
              <a:off x="0" y="0"/>
              <a:ext cx="21971" cy="1574038"/>
            </a:xfrm>
            <a:custGeom>
              <a:avLst/>
              <a:gdLst/>
              <a:ahLst/>
              <a:cxnLst/>
              <a:rect l="l" t="t" r="r" b="b"/>
              <a:pathLst>
                <a:path w="21971" h="1574038">
                  <a:moveTo>
                    <a:pt x="0" y="0"/>
                  </a:moveTo>
                  <a:lnTo>
                    <a:pt x="21971" y="0"/>
                  </a:lnTo>
                  <a:lnTo>
                    <a:pt x="21971" y="1574038"/>
                  </a:lnTo>
                  <a:lnTo>
                    <a:pt x="0" y="1574038"/>
                  </a:lnTo>
                  <a:close/>
                </a:path>
              </a:pathLst>
            </a:custGeom>
            <a:solidFill>
              <a:srgbClr val="DDE0CE"/>
            </a:solidFill>
          </p:spPr>
        </p:sp>
      </p:grpSp>
      <p:grpSp>
        <p:nvGrpSpPr>
          <p:cNvPr id="310" name="Group 90">
            <a:extLst>
              <a:ext uri="{FF2B5EF4-FFF2-40B4-BE49-F238E27FC236}">
                <a16:creationId xmlns:a16="http://schemas.microsoft.com/office/drawing/2014/main" id="{CF6424D6-9BE4-CF0D-7D1B-CB861F744DE9}"/>
              </a:ext>
            </a:extLst>
          </p:cNvPr>
          <p:cNvGrpSpPr/>
          <p:nvPr/>
        </p:nvGrpSpPr>
        <p:grpSpPr>
          <a:xfrm>
            <a:off x="5456639" y="4430930"/>
            <a:ext cx="1189077" cy="494162"/>
            <a:chOff x="0" y="0"/>
            <a:chExt cx="3170872" cy="1317766"/>
          </a:xfrm>
        </p:grpSpPr>
        <p:sp>
          <p:nvSpPr>
            <p:cNvPr id="311" name="Freeform 91">
              <a:extLst>
                <a:ext uri="{FF2B5EF4-FFF2-40B4-BE49-F238E27FC236}">
                  <a16:creationId xmlns:a16="http://schemas.microsoft.com/office/drawing/2014/main" id="{40646BAB-4CF3-8173-1532-2CA48A672AB4}"/>
                </a:ext>
              </a:extLst>
            </p:cNvPr>
            <p:cNvSpPr/>
            <p:nvPr/>
          </p:nvSpPr>
          <p:spPr>
            <a:xfrm>
              <a:off x="0" y="0"/>
              <a:ext cx="3170873" cy="1317766"/>
            </a:xfrm>
            <a:custGeom>
              <a:avLst/>
              <a:gdLst/>
              <a:ahLst/>
              <a:cxnLst/>
              <a:rect l="l" t="t" r="r" b="b"/>
              <a:pathLst>
                <a:path w="3170873" h="1317766">
                  <a:moveTo>
                    <a:pt x="0" y="0"/>
                  </a:moveTo>
                  <a:lnTo>
                    <a:pt x="3170873" y="0"/>
                  </a:lnTo>
                  <a:lnTo>
                    <a:pt x="3170873" y="1317766"/>
                  </a:lnTo>
                  <a:lnTo>
                    <a:pt x="0" y="131776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20" r="-3320"/>
              </a:stretch>
            </a:blipFill>
          </p:spPr>
        </p:sp>
        <p:sp>
          <p:nvSpPr>
            <p:cNvPr id="312" name="TextBox 92">
              <a:extLst>
                <a:ext uri="{FF2B5EF4-FFF2-40B4-BE49-F238E27FC236}">
                  <a16:creationId xmlns:a16="http://schemas.microsoft.com/office/drawing/2014/main" id="{082F33EB-59E9-BD75-FEA4-910C3E6D1391}"/>
                </a:ext>
              </a:extLst>
            </p:cNvPr>
            <p:cNvSpPr txBox="1"/>
            <p:nvPr/>
          </p:nvSpPr>
          <p:spPr>
            <a:xfrm>
              <a:off x="0" y="-19050"/>
              <a:ext cx="3170872" cy="13368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비용 절감 및</a:t>
              </a:r>
            </a:p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수익성 개선</a:t>
              </a:r>
            </a:p>
          </p:txBody>
        </p:sp>
      </p:grpSp>
      <p:grpSp>
        <p:nvGrpSpPr>
          <p:cNvPr id="313" name="Group 93">
            <a:extLst>
              <a:ext uri="{FF2B5EF4-FFF2-40B4-BE49-F238E27FC236}">
                <a16:creationId xmlns:a16="http://schemas.microsoft.com/office/drawing/2014/main" id="{135D600F-A33E-711C-FEBC-05EF8E95DDE5}"/>
              </a:ext>
            </a:extLst>
          </p:cNvPr>
          <p:cNvGrpSpPr/>
          <p:nvPr/>
        </p:nvGrpSpPr>
        <p:grpSpPr>
          <a:xfrm>
            <a:off x="6694282" y="4404421"/>
            <a:ext cx="8235" cy="590250"/>
            <a:chOff x="0" y="0"/>
            <a:chExt cx="21958" cy="1574000"/>
          </a:xfrm>
        </p:grpSpPr>
        <p:sp>
          <p:nvSpPr>
            <p:cNvPr id="314" name="Freeform 94">
              <a:extLst>
                <a:ext uri="{FF2B5EF4-FFF2-40B4-BE49-F238E27FC236}">
                  <a16:creationId xmlns:a16="http://schemas.microsoft.com/office/drawing/2014/main" id="{D8C5FA05-A6B6-C472-9410-D188D807C987}"/>
                </a:ext>
              </a:extLst>
            </p:cNvPr>
            <p:cNvSpPr/>
            <p:nvPr/>
          </p:nvSpPr>
          <p:spPr>
            <a:xfrm>
              <a:off x="0" y="0"/>
              <a:ext cx="21971" cy="1574038"/>
            </a:xfrm>
            <a:custGeom>
              <a:avLst/>
              <a:gdLst/>
              <a:ahLst/>
              <a:cxnLst/>
              <a:rect l="l" t="t" r="r" b="b"/>
              <a:pathLst>
                <a:path w="21971" h="1574038">
                  <a:moveTo>
                    <a:pt x="0" y="0"/>
                  </a:moveTo>
                  <a:lnTo>
                    <a:pt x="21971" y="0"/>
                  </a:lnTo>
                  <a:lnTo>
                    <a:pt x="21971" y="1574038"/>
                  </a:lnTo>
                  <a:lnTo>
                    <a:pt x="0" y="1574038"/>
                  </a:lnTo>
                  <a:close/>
                </a:path>
              </a:pathLst>
            </a:custGeom>
            <a:solidFill>
              <a:srgbClr val="DDE0CE"/>
            </a:solidFill>
          </p:spPr>
        </p:sp>
      </p:grpSp>
      <p:grpSp>
        <p:nvGrpSpPr>
          <p:cNvPr id="315" name="Group 95">
            <a:extLst>
              <a:ext uri="{FF2B5EF4-FFF2-40B4-BE49-F238E27FC236}">
                <a16:creationId xmlns:a16="http://schemas.microsoft.com/office/drawing/2014/main" id="{7D3E11D6-E2C6-B130-2B7E-AA7E5C02267A}"/>
              </a:ext>
            </a:extLst>
          </p:cNvPr>
          <p:cNvGrpSpPr/>
          <p:nvPr/>
        </p:nvGrpSpPr>
        <p:grpSpPr>
          <a:xfrm>
            <a:off x="7416495" y="4449917"/>
            <a:ext cx="1189077" cy="494162"/>
            <a:chOff x="0" y="0"/>
            <a:chExt cx="3170872" cy="1317766"/>
          </a:xfrm>
        </p:grpSpPr>
        <p:sp>
          <p:nvSpPr>
            <p:cNvPr id="316" name="Freeform 96">
              <a:extLst>
                <a:ext uri="{FF2B5EF4-FFF2-40B4-BE49-F238E27FC236}">
                  <a16:creationId xmlns:a16="http://schemas.microsoft.com/office/drawing/2014/main" id="{075A31B9-462C-54A0-E4BF-F42E39A09FB6}"/>
                </a:ext>
              </a:extLst>
            </p:cNvPr>
            <p:cNvSpPr/>
            <p:nvPr/>
          </p:nvSpPr>
          <p:spPr>
            <a:xfrm>
              <a:off x="0" y="0"/>
              <a:ext cx="3170873" cy="1317766"/>
            </a:xfrm>
            <a:custGeom>
              <a:avLst/>
              <a:gdLst/>
              <a:ahLst/>
              <a:cxnLst/>
              <a:rect l="l" t="t" r="r" b="b"/>
              <a:pathLst>
                <a:path w="3170873" h="1317766">
                  <a:moveTo>
                    <a:pt x="0" y="0"/>
                  </a:moveTo>
                  <a:lnTo>
                    <a:pt x="3170873" y="0"/>
                  </a:lnTo>
                  <a:lnTo>
                    <a:pt x="3170873" y="1317766"/>
                  </a:lnTo>
                  <a:lnTo>
                    <a:pt x="0" y="131776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20" r="-3320"/>
              </a:stretch>
            </a:blipFill>
          </p:spPr>
        </p:sp>
        <p:sp>
          <p:nvSpPr>
            <p:cNvPr id="317" name="TextBox 97">
              <a:extLst>
                <a:ext uri="{FF2B5EF4-FFF2-40B4-BE49-F238E27FC236}">
                  <a16:creationId xmlns:a16="http://schemas.microsoft.com/office/drawing/2014/main" id="{86018F38-2383-6A7D-FDA8-FA3703F9FD74}"/>
                </a:ext>
              </a:extLst>
            </p:cNvPr>
            <p:cNvSpPr txBox="1"/>
            <p:nvPr/>
          </p:nvSpPr>
          <p:spPr>
            <a:xfrm>
              <a:off x="0" y="-19050"/>
              <a:ext cx="3170872" cy="13368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지속 가능한 스마트</a:t>
              </a:r>
            </a:p>
            <a:p>
              <a:pPr>
                <a:lnSpc>
                  <a:spcPts val="1088"/>
                </a:lnSpc>
              </a:pPr>
              <a:r>
                <a:rPr lang="en-US" sz="863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제조 환경 구축</a:t>
              </a:r>
            </a:p>
          </p:txBody>
        </p:sp>
      </p:grpSp>
      <p:grpSp>
        <p:nvGrpSpPr>
          <p:cNvPr id="318" name="Group 98">
            <a:extLst>
              <a:ext uri="{FF2B5EF4-FFF2-40B4-BE49-F238E27FC236}">
                <a16:creationId xmlns:a16="http://schemas.microsoft.com/office/drawing/2014/main" id="{6DF0649A-7088-0B4A-9733-F0EA26E11A76}"/>
              </a:ext>
            </a:extLst>
          </p:cNvPr>
          <p:cNvGrpSpPr/>
          <p:nvPr/>
        </p:nvGrpSpPr>
        <p:grpSpPr>
          <a:xfrm>
            <a:off x="2432735" y="4449980"/>
            <a:ext cx="541225" cy="522123"/>
            <a:chOff x="0" y="0"/>
            <a:chExt cx="1443267" cy="1392328"/>
          </a:xfrm>
        </p:grpSpPr>
        <p:sp>
          <p:nvSpPr>
            <p:cNvPr id="319" name="Freeform 99">
              <a:extLst>
                <a:ext uri="{FF2B5EF4-FFF2-40B4-BE49-F238E27FC236}">
                  <a16:creationId xmlns:a16="http://schemas.microsoft.com/office/drawing/2014/main" id="{5989EB69-4F9C-0B4B-D033-75E83E5AADF8}"/>
                </a:ext>
              </a:extLst>
            </p:cNvPr>
            <p:cNvSpPr/>
            <p:nvPr/>
          </p:nvSpPr>
          <p:spPr>
            <a:xfrm>
              <a:off x="0" y="0"/>
              <a:ext cx="1443267" cy="1392328"/>
            </a:xfrm>
            <a:custGeom>
              <a:avLst/>
              <a:gdLst/>
              <a:ahLst/>
              <a:cxnLst/>
              <a:rect l="l" t="t" r="r" b="b"/>
              <a:pathLst>
                <a:path w="1443267" h="1392328">
                  <a:moveTo>
                    <a:pt x="0" y="0"/>
                  </a:moveTo>
                  <a:lnTo>
                    <a:pt x="1443267" y="0"/>
                  </a:lnTo>
                  <a:lnTo>
                    <a:pt x="1443267" y="1392328"/>
                  </a:lnTo>
                  <a:lnTo>
                    <a:pt x="0" y="1392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320" name="Group 100">
            <a:extLst>
              <a:ext uri="{FF2B5EF4-FFF2-40B4-BE49-F238E27FC236}">
                <a16:creationId xmlns:a16="http://schemas.microsoft.com/office/drawing/2014/main" id="{2234E7BA-9C9A-6B2B-C1AB-DEA11674FEAD}"/>
              </a:ext>
            </a:extLst>
          </p:cNvPr>
          <p:cNvGrpSpPr/>
          <p:nvPr/>
        </p:nvGrpSpPr>
        <p:grpSpPr>
          <a:xfrm>
            <a:off x="352006" y="4430930"/>
            <a:ext cx="544580" cy="522123"/>
            <a:chOff x="0" y="0"/>
            <a:chExt cx="1452213" cy="1392328"/>
          </a:xfrm>
        </p:grpSpPr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F607FAAF-137A-C8E4-BD68-73E420626AB1}"/>
                </a:ext>
              </a:extLst>
            </p:cNvPr>
            <p:cNvSpPr/>
            <p:nvPr/>
          </p:nvSpPr>
          <p:spPr>
            <a:xfrm>
              <a:off x="0" y="0"/>
              <a:ext cx="1452213" cy="1392328"/>
            </a:xfrm>
            <a:custGeom>
              <a:avLst/>
              <a:gdLst/>
              <a:ahLst/>
              <a:cxnLst/>
              <a:rect l="l" t="t" r="r" b="b"/>
              <a:pathLst>
                <a:path w="1452213" h="1392328">
                  <a:moveTo>
                    <a:pt x="0" y="0"/>
                  </a:moveTo>
                  <a:lnTo>
                    <a:pt x="1452213" y="0"/>
                  </a:lnTo>
                  <a:lnTo>
                    <a:pt x="1452213" y="1392328"/>
                  </a:lnTo>
                  <a:lnTo>
                    <a:pt x="0" y="1392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322" name="Group 102">
            <a:extLst>
              <a:ext uri="{FF2B5EF4-FFF2-40B4-BE49-F238E27FC236}">
                <a16:creationId xmlns:a16="http://schemas.microsoft.com/office/drawing/2014/main" id="{CAC6DA20-A79B-6D27-3219-30EF2438E7EC}"/>
              </a:ext>
            </a:extLst>
          </p:cNvPr>
          <p:cNvGrpSpPr/>
          <p:nvPr/>
        </p:nvGrpSpPr>
        <p:grpSpPr>
          <a:xfrm>
            <a:off x="2219728" y="4415917"/>
            <a:ext cx="8235" cy="590250"/>
            <a:chOff x="0" y="0"/>
            <a:chExt cx="21958" cy="1574000"/>
          </a:xfrm>
        </p:grpSpPr>
        <p:sp>
          <p:nvSpPr>
            <p:cNvPr id="323" name="Freeform 103">
              <a:extLst>
                <a:ext uri="{FF2B5EF4-FFF2-40B4-BE49-F238E27FC236}">
                  <a16:creationId xmlns:a16="http://schemas.microsoft.com/office/drawing/2014/main" id="{2AE7BB81-BC11-DB71-46CE-7FB7299C9903}"/>
                </a:ext>
              </a:extLst>
            </p:cNvPr>
            <p:cNvSpPr/>
            <p:nvPr/>
          </p:nvSpPr>
          <p:spPr>
            <a:xfrm>
              <a:off x="0" y="0"/>
              <a:ext cx="21971" cy="1574038"/>
            </a:xfrm>
            <a:custGeom>
              <a:avLst/>
              <a:gdLst/>
              <a:ahLst/>
              <a:cxnLst/>
              <a:rect l="l" t="t" r="r" b="b"/>
              <a:pathLst>
                <a:path w="21971" h="1574038">
                  <a:moveTo>
                    <a:pt x="0" y="0"/>
                  </a:moveTo>
                  <a:lnTo>
                    <a:pt x="21971" y="0"/>
                  </a:lnTo>
                  <a:lnTo>
                    <a:pt x="21971" y="1574038"/>
                  </a:lnTo>
                  <a:lnTo>
                    <a:pt x="0" y="1574038"/>
                  </a:lnTo>
                  <a:close/>
                </a:path>
              </a:pathLst>
            </a:custGeom>
            <a:solidFill>
              <a:srgbClr val="DDE0CE"/>
            </a:solidFill>
          </p:spPr>
        </p:sp>
      </p:grpSp>
      <p:pic>
        <p:nvPicPr>
          <p:cNvPr id="324" name="Picture 104">
            <a:extLst>
              <a:ext uri="{FF2B5EF4-FFF2-40B4-BE49-F238E27FC236}">
                <a16:creationId xmlns:a16="http://schemas.microsoft.com/office/drawing/2014/main" id="{59AE9776-0871-C1C2-4BA5-A649FFD54E3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3749" y="4397864"/>
            <a:ext cx="634465" cy="603364"/>
          </a:xfrm>
          <a:prstGeom prst="rect">
            <a:avLst/>
          </a:prstGeom>
        </p:spPr>
      </p:pic>
      <p:pic>
        <p:nvPicPr>
          <p:cNvPr id="325" name="Picture 105">
            <a:extLst>
              <a:ext uri="{FF2B5EF4-FFF2-40B4-BE49-F238E27FC236}">
                <a16:creationId xmlns:a16="http://schemas.microsoft.com/office/drawing/2014/main" id="{1CA7EFB8-BB79-407B-EEC1-91A85AD9769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22559" y="4382188"/>
            <a:ext cx="673895" cy="634715"/>
          </a:xfrm>
          <a:prstGeom prst="rect">
            <a:avLst/>
          </a:prstGeom>
        </p:spPr>
      </p:pic>
      <p:grpSp>
        <p:nvGrpSpPr>
          <p:cNvPr id="326" name="Group 106">
            <a:extLst>
              <a:ext uri="{FF2B5EF4-FFF2-40B4-BE49-F238E27FC236}">
                <a16:creationId xmlns:a16="http://schemas.microsoft.com/office/drawing/2014/main" id="{14B9EA53-80A9-DAE1-38CD-1D60F2F95572}"/>
              </a:ext>
            </a:extLst>
          </p:cNvPr>
          <p:cNvGrpSpPr/>
          <p:nvPr/>
        </p:nvGrpSpPr>
        <p:grpSpPr>
          <a:xfrm>
            <a:off x="3886477" y="2012767"/>
            <a:ext cx="1739865" cy="281325"/>
            <a:chOff x="0" y="0"/>
            <a:chExt cx="5206797" cy="841906"/>
          </a:xfrm>
        </p:grpSpPr>
        <p:sp>
          <p:nvSpPr>
            <p:cNvPr id="327" name="Freeform 107">
              <a:extLst>
                <a:ext uri="{FF2B5EF4-FFF2-40B4-BE49-F238E27FC236}">
                  <a16:creationId xmlns:a16="http://schemas.microsoft.com/office/drawing/2014/main" id="{4685C1E0-E7F7-86C9-AFFF-EF9BB5A3BED8}"/>
                </a:ext>
              </a:extLst>
            </p:cNvPr>
            <p:cNvSpPr/>
            <p:nvPr/>
          </p:nvSpPr>
          <p:spPr>
            <a:xfrm>
              <a:off x="0" y="0"/>
              <a:ext cx="5206800" cy="841903"/>
            </a:xfrm>
            <a:custGeom>
              <a:avLst/>
              <a:gdLst/>
              <a:ahLst/>
              <a:cxnLst/>
              <a:rect l="l" t="t" r="r" b="b"/>
              <a:pathLst>
                <a:path w="5206800" h="841903">
                  <a:moveTo>
                    <a:pt x="0" y="0"/>
                  </a:moveTo>
                  <a:lnTo>
                    <a:pt x="5206800" y="0"/>
                  </a:lnTo>
                  <a:lnTo>
                    <a:pt x="5206800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5381" r="-4046" b="-75382"/>
              </a:stretch>
            </a:blipFill>
          </p:spPr>
        </p:sp>
        <p:sp>
          <p:nvSpPr>
            <p:cNvPr id="328" name="TextBox 108">
              <a:extLst>
                <a:ext uri="{FF2B5EF4-FFF2-40B4-BE49-F238E27FC236}">
                  <a16:creationId xmlns:a16="http://schemas.microsoft.com/office/drawing/2014/main" id="{5F02185F-5952-3EB3-1C8C-EF6AF1769264}"/>
                </a:ext>
              </a:extLst>
            </p:cNvPr>
            <p:cNvSpPr txBox="1"/>
            <p:nvPr/>
          </p:nvSpPr>
          <p:spPr>
            <a:xfrm>
              <a:off x="0" y="0"/>
              <a:ext cx="5206797" cy="841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센서 데이터 수집 (V·I·T)</a:t>
              </a:r>
            </a:p>
          </p:txBody>
        </p:sp>
      </p:grpSp>
      <p:grpSp>
        <p:nvGrpSpPr>
          <p:cNvPr id="329" name="Group 109">
            <a:extLst>
              <a:ext uri="{FF2B5EF4-FFF2-40B4-BE49-F238E27FC236}">
                <a16:creationId xmlns:a16="http://schemas.microsoft.com/office/drawing/2014/main" id="{44F70021-DF56-2321-FA06-83B07486FED7}"/>
              </a:ext>
            </a:extLst>
          </p:cNvPr>
          <p:cNvGrpSpPr/>
          <p:nvPr/>
        </p:nvGrpSpPr>
        <p:grpSpPr>
          <a:xfrm>
            <a:off x="4470462" y="2297148"/>
            <a:ext cx="110083" cy="82562"/>
            <a:chOff x="0" y="0"/>
            <a:chExt cx="329438" cy="247078"/>
          </a:xfrm>
        </p:grpSpPr>
        <p:sp>
          <p:nvSpPr>
            <p:cNvPr id="330" name="Freeform 110">
              <a:extLst>
                <a:ext uri="{FF2B5EF4-FFF2-40B4-BE49-F238E27FC236}">
                  <a16:creationId xmlns:a16="http://schemas.microsoft.com/office/drawing/2014/main" id="{5AA00014-BCAA-8C96-385C-B4C5F9AD4826}"/>
                </a:ext>
              </a:extLst>
            </p:cNvPr>
            <p:cNvSpPr/>
            <p:nvPr/>
          </p:nvSpPr>
          <p:spPr>
            <a:xfrm>
              <a:off x="0" y="0"/>
              <a:ext cx="329565" cy="247142"/>
            </a:xfrm>
            <a:custGeom>
              <a:avLst/>
              <a:gdLst/>
              <a:ahLst/>
              <a:cxnLst/>
              <a:rect l="l" t="t" r="r" b="b"/>
              <a:pathLst>
                <a:path w="329565" h="247142">
                  <a:moveTo>
                    <a:pt x="0" y="123571"/>
                  </a:moveTo>
                  <a:lnTo>
                    <a:pt x="82423" y="123571"/>
                  </a:lnTo>
                  <a:lnTo>
                    <a:pt x="82423" y="0"/>
                  </a:lnTo>
                  <a:lnTo>
                    <a:pt x="247142" y="0"/>
                  </a:lnTo>
                  <a:lnTo>
                    <a:pt x="247142" y="123571"/>
                  </a:lnTo>
                  <a:lnTo>
                    <a:pt x="329565" y="123571"/>
                  </a:lnTo>
                  <a:lnTo>
                    <a:pt x="164719" y="247142"/>
                  </a:ln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331" name="Group 111">
            <a:extLst>
              <a:ext uri="{FF2B5EF4-FFF2-40B4-BE49-F238E27FC236}">
                <a16:creationId xmlns:a16="http://schemas.microsoft.com/office/drawing/2014/main" id="{E762E5BE-0D33-C9E2-5CFE-0B3C751D473E}"/>
              </a:ext>
            </a:extLst>
          </p:cNvPr>
          <p:cNvGrpSpPr/>
          <p:nvPr/>
        </p:nvGrpSpPr>
        <p:grpSpPr>
          <a:xfrm>
            <a:off x="3886477" y="2388885"/>
            <a:ext cx="1739865" cy="281325"/>
            <a:chOff x="0" y="0"/>
            <a:chExt cx="5206797" cy="841906"/>
          </a:xfrm>
        </p:grpSpPr>
        <p:sp>
          <p:nvSpPr>
            <p:cNvPr id="332" name="Freeform 112">
              <a:extLst>
                <a:ext uri="{FF2B5EF4-FFF2-40B4-BE49-F238E27FC236}">
                  <a16:creationId xmlns:a16="http://schemas.microsoft.com/office/drawing/2014/main" id="{C9FE8F62-02F1-ECBC-A96C-41611107FA46}"/>
                </a:ext>
              </a:extLst>
            </p:cNvPr>
            <p:cNvSpPr/>
            <p:nvPr/>
          </p:nvSpPr>
          <p:spPr>
            <a:xfrm>
              <a:off x="0" y="0"/>
              <a:ext cx="5206800" cy="841903"/>
            </a:xfrm>
            <a:custGeom>
              <a:avLst/>
              <a:gdLst/>
              <a:ahLst/>
              <a:cxnLst/>
              <a:rect l="l" t="t" r="r" b="b"/>
              <a:pathLst>
                <a:path w="5206800" h="841903">
                  <a:moveTo>
                    <a:pt x="0" y="0"/>
                  </a:moveTo>
                  <a:lnTo>
                    <a:pt x="5206800" y="0"/>
                  </a:lnTo>
                  <a:lnTo>
                    <a:pt x="5206800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5381" r="-4046" b="-75382"/>
              </a:stretch>
            </a:blipFill>
          </p:spPr>
        </p:sp>
        <p:sp>
          <p:nvSpPr>
            <p:cNvPr id="333" name="TextBox 113">
              <a:extLst>
                <a:ext uri="{FF2B5EF4-FFF2-40B4-BE49-F238E27FC236}">
                  <a16:creationId xmlns:a16="http://schemas.microsoft.com/office/drawing/2014/main" id="{EB86974A-1B2F-B9C8-A3B2-9A25FCC981BB}"/>
                </a:ext>
              </a:extLst>
            </p:cNvPr>
            <p:cNvSpPr txBox="1"/>
            <p:nvPr/>
          </p:nvSpPr>
          <p:spPr>
            <a:xfrm>
              <a:off x="0" y="0"/>
              <a:ext cx="5206797" cy="841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공정 패턴 분석</a:t>
              </a:r>
            </a:p>
          </p:txBody>
        </p:sp>
      </p:grpSp>
      <p:grpSp>
        <p:nvGrpSpPr>
          <p:cNvPr id="334" name="Group 114">
            <a:extLst>
              <a:ext uri="{FF2B5EF4-FFF2-40B4-BE49-F238E27FC236}">
                <a16:creationId xmlns:a16="http://schemas.microsoft.com/office/drawing/2014/main" id="{15F3FD9C-EE5B-304F-022C-37E6D53266DD}"/>
              </a:ext>
            </a:extLst>
          </p:cNvPr>
          <p:cNvGrpSpPr/>
          <p:nvPr/>
        </p:nvGrpSpPr>
        <p:grpSpPr>
          <a:xfrm>
            <a:off x="4470462" y="2673271"/>
            <a:ext cx="110083" cy="82562"/>
            <a:chOff x="0" y="0"/>
            <a:chExt cx="329438" cy="247078"/>
          </a:xfrm>
        </p:grpSpPr>
        <p:sp>
          <p:nvSpPr>
            <p:cNvPr id="335" name="Freeform 115">
              <a:extLst>
                <a:ext uri="{FF2B5EF4-FFF2-40B4-BE49-F238E27FC236}">
                  <a16:creationId xmlns:a16="http://schemas.microsoft.com/office/drawing/2014/main" id="{F0EAD4DD-121D-7B61-27A5-C85D2F1A1D3D}"/>
                </a:ext>
              </a:extLst>
            </p:cNvPr>
            <p:cNvSpPr/>
            <p:nvPr/>
          </p:nvSpPr>
          <p:spPr>
            <a:xfrm>
              <a:off x="0" y="0"/>
              <a:ext cx="329565" cy="247142"/>
            </a:xfrm>
            <a:custGeom>
              <a:avLst/>
              <a:gdLst/>
              <a:ahLst/>
              <a:cxnLst/>
              <a:rect l="l" t="t" r="r" b="b"/>
              <a:pathLst>
                <a:path w="329565" h="247142">
                  <a:moveTo>
                    <a:pt x="0" y="123571"/>
                  </a:moveTo>
                  <a:lnTo>
                    <a:pt x="82423" y="123571"/>
                  </a:lnTo>
                  <a:lnTo>
                    <a:pt x="82423" y="0"/>
                  </a:lnTo>
                  <a:lnTo>
                    <a:pt x="247142" y="0"/>
                  </a:lnTo>
                  <a:lnTo>
                    <a:pt x="247142" y="123571"/>
                  </a:lnTo>
                  <a:lnTo>
                    <a:pt x="329565" y="123571"/>
                  </a:lnTo>
                  <a:lnTo>
                    <a:pt x="164719" y="247142"/>
                  </a:ln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336" name="Group 116">
            <a:extLst>
              <a:ext uri="{FF2B5EF4-FFF2-40B4-BE49-F238E27FC236}">
                <a16:creationId xmlns:a16="http://schemas.microsoft.com/office/drawing/2014/main" id="{D739949F-24DD-26EF-6BC8-ECF4E3681EDF}"/>
              </a:ext>
            </a:extLst>
          </p:cNvPr>
          <p:cNvGrpSpPr/>
          <p:nvPr/>
        </p:nvGrpSpPr>
        <p:grpSpPr>
          <a:xfrm>
            <a:off x="3886477" y="2765007"/>
            <a:ext cx="1657502" cy="281325"/>
            <a:chOff x="0" y="0"/>
            <a:chExt cx="4960315" cy="841906"/>
          </a:xfrm>
        </p:grpSpPr>
        <p:sp>
          <p:nvSpPr>
            <p:cNvPr id="337" name="Freeform 117">
              <a:extLst>
                <a:ext uri="{FF2B5EF4-FFF2-40B4-BE49-F238E27FC236}">
                  <a16:creationId xmlns:a16="http://schemas.microsoft.com/office/drawing/2014/main" id="{E5B5CCDA-FC45-EA0E-90C2-A8E730252BD8}"/>
                </a:ext>
              </a:extLst>
            </p:cNvPr>
            <p:cNvSpPr/>
            <p:nvPr/>
          </p:nvSpPr>
          <p:spPr>
            <a:xfrm>
              <a:off x="0" y="0"/>
              <a:ext cx="4960318" cy="841903"/>
            </a:xfrm>
            <a:custGeom>
              <a:avLst/>
              <a:gdLst/>
              <a:ahLst/>
              <a:cxnLst/>
              <a:rect l="l" t="t" r="r" b="b"/>
              <a:pathLst>
                <a:path w="4960318" h="841903">
                  <a:moveTo>
                    <a:pt x="0" y="0"/>
                  </a:moveTo>
                  <a:lnTo>
                    <a:pt x="4960318" y="0"/>
                  </a:lnTo>
                  <a:lnTo>
                    <a:pt x="4960318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5381" r="-9216" b="-75382"/>
              </a:stretch>
            </a:blipFill>
          </p:spPr>
        </p:sp>
        <p:sp>
          <p:nvSpPr>
            <p:cNvPr id="338" name="TextBox 118">
              <a:extLst>
                <a:ext uri="{FF2B5EF4-FFF2-40B4-BE49-F238E27FC236}">
                  <a16:creationId xmlns:a16="http://schemas.microsoft.com/office/drawing/2014/main" id="{A8F7247F-8E28-0CC6-6903-15D94C7AE505}"/>
                </a:ext>
              </a:extLst>
            </p:cNvPr>
            <p:cNvSpPr txBox="1"/>
            <p:nvPr/>
          </p:nvSpPr>
          <p:spPr>
            <a:xfrm>
              <a:off x="0" y="0"/>
              <a:ext cx="4960315" cy="841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 조기예측 + 이상탐지 모델 구축</a:t>
              </a:r>
            </a:p>
          </p:txBody>
        </p:sp>
      </p:grpSp>
      <p:grpSp>
        <p:nvGrpSpPr>
          <p:cNvPr id="339" name="Group 119">
            <a:extLst>
              <a:ext uri="{FF2B5EF4-FFF2-40B4-BE49-F238E27FC236}">
                <a16:creationId xmlns:a16="http://schemas.microsoft.com/office/drawing/2014/main" id="{946C90B2-6618-A5D4-6FAD-14D0DBA5540B}"/>
              </a:ext>
            </a:extLst>
          </p:cNvPr>
          <p:cNvGrpSpPr/>
          <p:nvPr/>
        </p:nvGrpSpPr>
        <p:grpSpPr>
          <a:xfrm>
            <a:off x="4470462" y="3049389"/>
            <a:ext cx="110083" cy="82562"/>
            <a:chOff x="0" y="0"/>
            <a:chExt cx="329438" cy="247078"/>
          </a:xfrm>
        </p:grpSpPr>
        <p:sp>
          <p:nvSpPr>
            <p:cNvPr id="340" name="Freeform 120">
              <a:extLst>
                <a:ext uri="{FF2B5EF4-FFF2-40B4-BE49-F238E27FC236}">
                  <a16:creationId xmlns:a16="http://schemas.microsoft.com/office/drawing/2014/main" id="{F10B6484-D3E8-07B0-5D47-FC1988D07137}"/>
                </a:ext>
              </a:extLst>
            </p:cNvPr>
            <p:cNvSpPr/>
            <p:nvPr/>
          </p:nvSpPr>
          <p:spPr>
            <a:xfrm>
              <a:off x="0" y="0"/>
              <a:ext cx="329565" cy="247142"/>
            </a:xfrm>
            <a:custGeom>
              <a:avLst/>
              <a:gdLst/>
              <a:ahLst/>
              <a:cxnLst/>
              <a:rect l="l" t="t" r="r" b="b"/>
              <a:pathLst>
                <a:path w="329565" h="247142">
                  <a:moveTo>
                    <a:pt x="0" y="123571"/>
                  </a:moveTo>
                  <a:lnTo>
                    <a:pt x="82423" y="123571"/>
                  </a:lnTo>
                  <a:lnTo>
                    <a:pt x="82423" y="0"/>
                  </a:lnTo>
                  <a:lnTo>
                    <a:pt x="247142" y="0"/>
                  </a:lnTo>
                  <a:lnTo>
                    <a:pt x="247142" y="123571"/>
                  </a:lnTo>
                  <a:lnTo>
                    <a:pt x="329565" y="123571"/>
                  </a:lnTo>
                  <a:lnTo>
                    <a:pt x="164719" y="247142"/>
                  </a:ln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341" name="Group 121">
            <a:extLst>
              <a:ext uri="{FF2B5EF4-FFF2-40B4-BE49-F238E27FC236}">
                <a16:creationId xmlns:a16="http://schemas.microsoft.com/office/drawing/2014/main" id="{C8197EF3-883D-4906-622E-38ACCD128AB1}"/>
              </a:ext>
            </a:extLst>
          </p:cNvPr>
          <p:cNvGrpSpPr/>
          <p:nvPr/>
        </p:nvGrpSpPr>
        <p:grpSpPr>
          <a:xfrm>
            <a:off x="3886477" y="3141126"/>
            <a:ext cx="1739865" cy="281325"/>
            <a:chOff x="0" y="0"/>
            <a:chExt cx="5206797" cy="841906"/>
          </a:xfrm>
        </p:grpSpPr>
        <p:sp>
          <p:nvSpPr>
            <p:cNvPr id="342" name="Freeform 122">
              <a:extLst>
                <a:ext uri="{FF2B5EF4-FFF2-40B4-BE49-F238E27FC236}">
                  <a16:creationId xmlns:a16="http://schemas.microsoft.com/office/drawing/2014/main" id="{53A39CDE-43E0-3CC6-F7A1-0025DD604A45}"/>
                </a:ext>
              </a:extLst>
            </p:cNvPr>
            <p:cNvSpPr/>
            <p:nvPr/>
          </p:nvSpPr>
          <p:spPr>
            <a:xfrm>
              <a:off x="0" y="0"/>
              <a:ext cx="5206800" cy="841903"/>
            </a:xfrm>
            <a:custGeom>
              <a:avLst/>
              <a:gdLst/>
              <a:ahLst/>
              <a:cxnLst/>
              <a:rect l="l" t="t" r="r" b="b"/>
              <a:pathLst>
                <a:path w="5206800" h="841903">
                  <a:moveTo>
                    <a:pt x="0" y="0"/>
                  </a:moveTo>
                  <a:lnTo>
                    <a:pt x="5206800" y="0"/>
                  </a:lnTo>
                  <a:lnTo>
                    <a:pt x="5206800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5381" r="-4046" b="-75382"/>
              </a:stretch>
            </a:blipFill>
          </p:spPr>
        </p:sp>
        <p:sp>
          <p:nvSpPr>
            <p:cNvPr id="343" name="TextBox 123">
              <a:extLst>
                <a:ext uri="{FF2B5EF4-FFF2-40B4-BE49-F238E27FC236}">
                  <a16:creationId xmlns:a16="http://schemas.microsoft.com/office/drawing/2014/main" id="{459789F6-F2F5-3D98-2F61-72BAD696C688}"/>
                </a:ext>
              </a:extLst>
            </p:cNvPr>
            <p:cNvSpPr txBox="1"/>
            <p:nvPr/>
          </p:nvSpPr>
          <p:spPr>
            <a:xfrm>
              <a:off x="0" y="0"/>
              <a:ext cx="5206797" cy="841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SPC Rule &amp; Data Based 기준 적용</a:t>
              </a:r>
            </a:p>
          </p:txBody>
        </p:sp>
      </p:grpSp>
      <p:grpSp>
        <p:nvGrpSpPr>
          <p:cNvPr id="344" name="Group 124">
            <a:extLst>
              <a:ext uri="{FF2B5EF4-FFF2-40B4-BE49-F238E27FC236}">
                <a16:creationId xmlns:a16="http://schemas.microsoft.com/office/drawing/2014/main" id="{C8B6CA48-8A5B-0DC2-E67B-E5399B003289}"/>
              </a:ext>
            </a:extLst>
          </p:cNvPr>
          <p:cNvGrpSpPr/>
          <p:nvPr/>
        </p:nvGrpSpPr>
        <p:grpSpPr>
          <a:xfrm>
            <a:off x="4470462" y="3425507"/>
            <a:ext cx="110083" cy="82562"/>
            <a:chOff x="0" y="0"/>
            <a:chExt cx="329438" cy="247078"/>
          </a:xfrm>
        </p:grpSpPr>
        <p:sp>
          <p:nvSpPr>
            <p:cNvPr id="345" name="Freeform 125">
              <a:extLst>
                <a:ext uri="{FF2B5EF4-FFF2-40B4-BE49-F238E27FC236}">
                  <a16:creationId xmlns:a16="http://schemas.microsoft.com/office/drawing/2014/main" id="{86839746-4F89-E212-73C8-A23D6B34E7C8}"/>
                </a:ext>
              </a:extLst>
            </p:cNvPr>
            <p:cNvSpPr/>
            <p:nvPr/>
          </p:nvSpPr>
          <p:spPr>
            <a:xfrm>
              <a:off x="0" y="0"/>
              <a:ext cx="329565" cy="247142"/>
            </a:xfrm>
            <a:custGeom>
              <a:avLst/>
              <a:gdLst/>
              <a:ahLst/>
              <a:cxnLst/>
              <a:rect l="l" t="t" r="r" b="b"/>
              <a:pathLst>
                <a:path w="329565" h="247142">
                  <a:moveTo>
                    <a:pt x="0" y="123571"/>
                  </a:moveTo>
                  <a:lnTo>
                    <a:pt x="82423" y="123571"/>
                  </a:lnTo>
                  <a:lnTo>
                    <a:pt x="82423" y="0"/>
                  </a:lnTo>
                  <a:lnTo>
                    <a:pt x="247142" y="0"/>
                  </a:lnTo>
                  <a:lnTo>
                    <a:pt x="247142" y="123571"/>
                  </a:lnTo>
                  <a:lnTo>
                    <a:pt x="329565" y="123571"/>
                  </a:lnTo>
                  <a:lnTo>
                    <a:pt x="164719" y="247142"/>
                  </a:ln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346" name="Group 126">
            <a:extLst>
              <a:ext uri="{FF2B5EF4-FFF2-40B4-BE49-F238E27FC236}">
                <a16:creationId xmlns:a16="http://schemas.microsoft.com/office/drawing/2014/main" id="{274C62A7-160B-3736-7448-AFE83A297C9D}"/>
              </a:ext>
            </a:extLst>
          </p:cNvPr>
          <p:cNvGrpSpPr/>
          <p:nvPr/>
        </p:nvGrpSpPr>
        <p:grpSpPr>
          <a:xfrm>
            <a:off x="3886477" y="3517244"/>
            <a:ext cx="1739865" cy="281325"/>
            <a:chOff x="0" y="0"/>
            <a:chExt cx="5206797" cy="841906"/>
          </a:xfrm>
        </p:grpSpPr>
        <p:sp>
          <p:nvSpPr>
            <p:cNvPr id="347" name="Freeform 127">
              <a:extLst>
                <a:ext uri="{FF2B5EF4-FFF2-40B4-BE49-F238E27FC236}">
                  <a16:creationId xmlns:a16="http://schemas.microsoft.com/office/drawing/2014/main" id="{C3F3B6B6-CEAE-BF8D-A688-1C0C48F5F9FF}"/>
                </a:ext>
              </a:extLst>
            </p:cNvPr>
            <p:cNvSpPr/>
            <p:nvPr/>
          </p:nvSpPr>
          <p:spPr>
            <a:xfrm>
              <a:off x="0" y="0"/>
              <a:ext cx="5206800" cy="841903"/>
            </a:xfrm>
            <a:custGeom>
              <a:avLst/>
              <a:gdLst/>
              <a:ahLst/>
              <a:cxnLst/>
              <a:rect l="l" t="t" r="r" b="b"/>
              <a:pathLst>
                <a:path w="5206800" h="841903">
                  <a:moveTo>
                    <a:pt x="0" y="0"/>
                  </a:moveTo>
                  <a:lnTo>
                    <a:pt x="5206800" y="0"/>
                  </a:lnTo>
                  <a:lnTo>
                    <a:pt x="5206800" y="841903"/>
                  </a:lnTo>
                  <a:lnTo>
                    <a:pt x="0" y="8419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5381" r="-4046" b="-75382"/>
              </a:stretch>
            </a:blipFill>
          </p:spPr>
        </p:sp>
        <p:sp>
          <p:nvSpPr>
            <p:cNvPr id="348" name="TextBox 128">
              <a:extLst>
                <a:ext uri="{FF2B5EF4-FFF2-40B4-BE49-F238E27FC236}">
                  <a16:creationId xmlns:a16="http://schemas.microsoft.com/office/drawing/2014/main" id="{FB7DF7F3-22C1-98F6-4B25-16111F3D8BEC}"/>
                </a:ext>
              </a:extLst>
            </p:cNvPr>
            <p:cNvSpPr txBox="1"/>
            <p:nvPr/>
          </p:nvSpPr>
          <p:spPr>
            <a:xfrm>
              <a:off x="0" y="0"/>
              <a:ext cx="5206797" cy="8419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46"/>
                </a:lnSpc>
              </a:pPr>
              <a:r>
                <a:rPr lang="en-US" sz="788" b="1" dirty="0" err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알람</a:t>
              </a:r>
              <a:r>
                <a:rPr lang="en-US" sz="788" b="1" dirty="0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( </a:t>
              </a:r>
              <a:r>
                <a:rPr lang="en-US" sz="788" b="1" dirty="0" err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정상</a:t>
              </a:r>
              <a:r>
                <a:rPr lang="en-US" sz="788" b="1" dirty="0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      / </a:t>
              </a:r>
              <a:r>
                <a:rPr lang="en-US" sz="788" b="1" dirty="0" err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점검</a:t>
              </a:r>
              <a:r>
                <a:rPr lang="en-US" sz="788" b="1" dirty="0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      / </a:t>
              </a:r>
              <a:r>
                <a:rPr lang="en-US" sz="788" b="1" dirty="0" err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중단</a:t>
              </a:r>
              <a:r>
                <a:rPr lang="en-US" sz="788" b="1" dirty="0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      )</a:t>
              </a:r>
            </a:p>
          </p:txBody>
        </p:sp>
      </p:grpSp>
      <p:grpSp>
        <p:nvGrpSpPr>
          <p:cNvPr id="349" name="Group 129">
            <a:extLst>
              <a:ext uri="{FF2B5EF4-FFF2-40B4-BE49-F238E27FC236}">
                <a16:creationId xmlns:a16="http://schemas.microsoft.com/office/drawing/2014/main" id="{AB6C7A75-3BAC-99E0-F423-D6F46A60CB64}"/>
              </a:ext>
            </a:extLst>
          </p:cNvPr>
          <p:cNvGrpSpPr/>
          <p:nvPr/>
        </p:nvGrpSpPr>
        <p:grpSpPr>
          <a:xfrm>
            <a:off x="3571448" y="2061693"/>
            <a:ext cx="183474" cy="183474"/>
            <a:chOff x="0" y="0"/>
            <a:chExt cx="489263" cy="489263"/>
          </a:xfrm>
        </p:grpSpPr>
        <p:grpSp>
          <p:nvGrpSpPr>
            <p:cNvPr id="350" name="Group 130">
              <a:extLst>
                <a:ext uri="{FF2B5EF4-FFF2-40B4-BE49-F238E27FC236}">
                  <a16:creationId xmlns:a16="http://schemas.microsoft.com/office/drawing/2014/main" id="{4215C29F-9E99-CC09-CDBA-D7CF088C6C01}"/>
                </a:ext>
              </a:extLst>
            </p:cNvPr>
            <p:cNvGrpSpPr/>
            <p:nvPr/>
          </p:nvGrpSpPr>
          <p:grpSpPr>
            <a:xfrm>
              <a:off x="0" y="0"/>
              <a:ext cx="489263" cy="489263"/>
              <a:chOff x="0" y="0"/>
              <a:chExt cx="549072" cy="549072"/>
            </a:xfrm>
          </p:grpSpPr>
          <p:sp>
            <p:nvSpPr>
              <p:cNvPr id="351" name="Freeform 131" descr="cpu.png">
                <a:extLst>
                  <a:ext uri="{FF2B5EF4-FFF2-40B4-BE49-F238E27FC236}">
                    <a16:creationId xmlns:a16="http://schemas.microsoft.com/office/drawing/2014/main" id="{FF070147-ED8E-F0D4-296D-E57B76025C16}"/>
                  </a:ext>
                </a:extLst>
              </p:cNvPr>
              <p:cNvSpPr/>
              <p:nvPr/>
            </p:nvSpPr>
            <p:spPr>
              <a:xfrm>
                <a:off x="0" y="0"/>
                <a:ext cx="549021" cy="549021"/>
              </a:xfrm>
              <a:custGeom>
                <a:avLst/>
                <a:gdLst/>
                <a:ahLst/>
                <a:cxnLst/>
                <a:rect l="l" t="t" r="r" b="b"/>
                <a:pathLst>
                  <a:path w="549021" h="549021">
                    <a:moveTo>
                      <a:pt x="0" y="0"/>
                    </a:moveTo>
                    <a:lnTo>
                      <a:pt x="549021" y="0"/>
                    </a:lnTo>
                    <a:lnTo>
                      <a:pt x="549021" y="549021"/>
                    </a:lnTo>
                    <a:lnTo>
                      <a:pt x="0" y="5490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3"/>
                <a:stretch>
                  <a:fillRect r="-9" b="-9"/>
                </a:stretch>
              </a:blipFill>
            </p:spPr>
          </p:sp>
        </p:grpSp>
      </p:grpSp>
      <p:grpSp>
        <p:nvGrpSpPr>
          <p:cNvPr id="352" name="Group 132">
            <a:extLst>
              <a:ext uri="{FF2B5EF4-FFF2-40B4-BE49-F238E27FC236}">
                <a16:creationId xmlns:a16="http://schemas.microsoft.com/office/drawing/2014/main" id="{15D6DE58-F166-F219-D6FF-5EAD7F2BCE3B}"/>
              </a:ext>
            </a:extLst>
          </p:cNvPr>
          <p:cNvGrpSpPr/>
          <p:nvPr/>
        </p:nvGrpSpPr>
        <p:grpSpPr>
          <a:xfrm>
            <a:off x="3571448" y="3566170"/>
            <a:ext cx="183474" cy="183474"/>
            <a:chOff x="0" y="0"/>
            <a:chExt cx="489263" cy="489263"/>
          </a:xfrm>
        </p:grpSpPr>
        <p:grpSp>
          <p:nvGrpSpPr>
            <p:cNvPr id="353" name="Group 133">
              <a:extLst>
                <a:ext uri="{FF2B5EF4-FFF2-40B4-BE49-F238E27FC236}">
                  <a16:creationId xmlns:a16="http://schemas.microsoft.com/office/drawing/2014/main" id="{1A735987-CF67-4EC7-5AD7-A584740804E6}"/>
                </a:ext>
              </a:extLst>
            </p:cNvPr>
            <p:cNvGrpSpPr/>
            <p:nvPr/>
          </p:nvGrpSpPr>
          <p:grpSpPr>
            <a:xfrm>
              <a:off x="0" y="0"/>
              <a:ext cx="489263" cy="489263"/>
              <a:chOff x="0" y="0"/>
              <a:chExt cx="549072" cy="549072"/>
            </a:xfrm>
          </p:grpSpPr>
          <p:sp>
            <p:nvSpPr>
              <p:cNvPr id="354" name="Freeform 134" descr="bell.png">
                <a:extLst>
                  <a:ext uri="{FF2B5EF4-FFF2-40B4-BE49-F238E27FC236}">
                    <a16:creationId xmlns:a16="http://schemas.microsoft.com/office/drawing/2014/main" id="{FCF76D6C-2398-FF11-BC63-E331D696D0AB}"/>
                  </a:ext>
                </a:extLst>
              </p:cNvPr>
              <p:cNvSpPr/>
              <p:nvPr/>
            </p:nvSpPr>
            <p:spPr>
              <a:xfrm>
                <a:off x="0" y="0"/>
                <a:ext cx="549021" cy="549021"/>
              </a:xfrm>
              <a:custGeom>
                <a:avLst/>
                <a:gdLst/>
                <a:ahLst/>
                <a:cxnLst/>
                <a:rect l="l" t="t" r="r" b="b"/>
                <a:pathLst>
                  <a:path w="549021" h="549021">
                    <a:moveTo>
                      <a:pt x="0" y="0"/>
                    </a:moveTo>
                    <a:lnTo>
                      <a:pt x="549021" y="0"/>
                    </a:lnTo>
                    <a:lnTo>
                      <a:pt x="549021" y="549021"/>
                    </a:lnTo>
                    <a:lnTo>
                      <a:pt x="0" y="5490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4"/>
                <a:stretch>
                  <a:fillRect r="-9" b="-9"/>
                </a:stretch>
              </a:blipFill>
            </p:spPr>
          </p:sp>
        </p:grpSp>
      </p:grpSp>
      <p:pic>
        <p:nvPicPr>
          <p:cNvPr id="355" name="Picture 135">
            <a:extLst>
              <a:ext uri="{FF2B5EF4-FFF2-40B4-BE49-F238E27FC236}">
                <a16:creationId xmlns:a16="http://schemas.microsoft.com/office/drawing/2014/main" id="{A3D6BEB2-226F-2C97-439C-B1C175FBAC41}"/>
              </a:ext>
            </a:extLst>
          </p:cNvPr>
          <p:cNvPicPr>
            <a:picLocks noChangeAspect="1"/>
          </p:cNvPicPr>
          <p:nvPr/>
        </p:nvPicPr>
        <p:blipFill>
          <a:blip r:embed="rId25">
            <a:alphaModFix amt="68000"/>
          </a:blip>
          <a:stretch>
            <a:fillRect/>
          </a:stretch>
        </p:blipFill>
        <p:spPr>
          <a:xfrm>
            <a:off x="3548860" y="3158893"/>
            <a:ext cx="229301" cy="278880"/>
          </a:xfrm>
          <a:prstGeom prst="rect">
            <a:avLst/>
          </a:prstGeom>
        </p:spPr>
      </p:pic>
      <p:pic>
        <p:nvPicPr>
          <p:cNvPr id="356" name="Picture 136">
            <a:extLst>
              <a:ext uri="{FF2B5EF4-FFF2-40B4-BE49-F238E27FC236}">
                <a16:creationId xmlns:a16="http://schemas.microsoft.com/office/drawing/2014/main" id="{AD278425-73FB-BCB6-B2F4-6A0929DC630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54546" y="2800581"/>
            <a:ext cx="217930" cy="210467"/>
          </a:xfrm>
          <a:prstGeom prst="rect">
            <a:avLst/>
          </a:prstGeom>
        </p:spPr>
      </p:pic>
      <p:pic>
        <p:nvPicPr>
          <p:cNvPr id="357" name="Picture 137">
            <a:extLst>
              <a:ext uri="{FF2B5EF4-FFF2-40B4-BE49-F238E27FC236}">
                <a16:creationId xmlns:a16="http://schemas.microsoft.com/office/drawing/2014/main" id="{08DF387B-A896-EE1D-F416-748D1606EBA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37631" y="2421698"/>
            <a:ext cx="251108" cy="229081"/>
          </a:xfrm>
          <a:prstGeom prst="rect">
            <a:avLst/>
          </a:prstGeom>
        </p:spPr>
      </p:pic>
      <p:grpSp>
        <p:nvGrpSpPr>
          <p:cNvPr id="358" name="Group 138">
            <a:extLst>
              <a:ext uri="{FF2B5EF4-FFF2-40B4-BE49-F238E27FC236}">
                <a16:creationId xmlns:a16="http://schemas.microsoft.com/office/drawing/2014/main" id="{FC9B6175-E77E-046B-E615-91A59E6BF670}"/>
              </a:ext>
            </a:extLst>
          </p:cNvPr>
          <p:cNvGrpSpPr/>
          <p:nvPr/>
        </p:nvGrpSpPr>
        <p:grpSpPr>
          <a:xfrm>
            <a:off x="6305221" y="2044861"/>
            <a:ext cx="2287190" cy="1765992"/>
            <a:chOff x="0" y="0"/>
            <a:chExt cx="4854764" cy="3748475"/>
          </a:xfrm>
        </p:grpSpPr>
        <p:sp>
          <p:nvSpPr>
            <p:cNvPr id="359" name="Freeform 139">
              <a:extLst>
                <a:ext uri="{FF2B5EF4-FFF2-40B4-BE49-F238E27FC236}">
                  <a16:creationId xmlns:a16="http://schemas.microsoft.com/office/drawing/2014/main" id="{EE7B6229-25CC-F2AE-93A8-044BCACD1FE7}"/>
                </a:ext>
              </a:extLst>
            </p:cNvPr>
            <p:cNvSpPr/>
            <p:nvPr/>
          </p:nvSpPr>
          <p:spPr>
            <a:xfrm>
              <a:off x="0" y="0"/>
              <a:ext cx="4854789" cy="3748334"/>
            </a:xfrm>
            <a:custGeom>
              <a:avLst/>
              <a:gdLst/>
              <a:ahLst/>
              <a:cxnLst/>
              <a:rect l="l" t="t" r="r" b="b"/>
              <a:pathLst>
                <a:path w="4854789" h="3748334">
                  <a:moveTo>
                    <a:pt x="0" y="374974"/>
                  </a:moveTo>
                  <a:cubicBezTo>
                    <a:pt x="0" y="167825"/>
                    <a:pt x="83831" y="0"/>
                    <a:pt x="187304" y="0"/>
                  </a:cubicBezTo>
                  <a:lnTo>
                    <a:pt x="4667530" y="0"/>
                  </a:lnTo>
                  <a:cubicBezTo>
                    <a:pt x="4771003" y="0"/>
                    <a:pt x="4854789" y="167825"/>
                    <a:pt x="4854789" y="374974"/>
                  </a:cubicBezTo>
                  <a:lnTo>
                    <a:pt x="4854789" y="3373360"/>
                  </a:lnTo>
                  <a:cubicBezTo>
                    <a:pt x="4854789" y="3580509"/>
                    <a:pt x="4771003" y="3748334"/>
                    <a:pt x="4667530" y="3748334"/>
                  </a:cubicBezTo>
                  <a:lnTo>
                    <a:pt x="187304" y="3748334"/>
                  </a:lnTo>
                  <a:cubicBezTo>
                    <a:pt x="83831" y="3748334"/>
                    <a:pt x="0" y="3580509"/>
                    <a:pt x="0" y="3373360"/>
                  </a:cubicBezTo>
                  <a:close/>
                </a:path>
              </a:pathLst>
            </a:custGeom>
            <a:solidFill>
              <a:srgbClr val="F4F6EC"/>
            </a:solidFill>
            <a:ln w="14299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360" name="Group 140">
            <a:extLst>
              <a:ext uri="{FF2B5EF4-FFF2-40B4-BE49-F238E27FC236}">
                <a16:creationId xmlns:a16="http://schemas.microsoft.com/office/drawing/2014/main" id="{EE9AEF45-BCE2-62F3-05A0-D5ED8C191D75}"/>
              </a:ext>
            </a:extLst>
          </p:cNvPr>
          <p:cNvGrpSpPr/>
          <p:nvPr/>
        </p:nvGrpSpPr>
        <p:grpSpPr>
          <a:xfrm>
            <a:off x="6370146" y="2102854"/>
            <a:ext cx="2124385" cy="234767"/>
            <a:chOff x="0" y="0"/>
            <a:chExt cx="5630934" cy="622278"/>
          </a:xfrm>
        </p:grpSpPr>
        <p:sp>
          <p:nvSpPr>
            <p:cNvPr id="361" name="Freeform 141">
              <a:extLst>
                <a:ext uri="{FF2B5EF4-FFF2-40B4-BE49-F238E27FC236}">
                  <a16:creationId xmlns:a16="http://schemas.microsoft.com/office/drawing/2014/main" id="{F7069F35-F48F-914A-4751-61DC75A0A376}"/>
                </a:ext>
              </a:extLst>
            </p:cNvPr>
            <p:cNvSpPr/>
            <p:nvPr/>
          </p:nvSpPr>
          <p:spPr>
            <a:xfrm>
              <a:off x="0" y="0"/>
              <a:ext cx="5630931" cy="622282"/>
            </a:xfrm>
            <a:custGeom>
              <a:avLst/>
              <a:gdLst/>
              <a:ahLst/>
              <a:cxnLst/>
              <a:rect l="l" t="t" r="r" b="b"/>
              <a:pathLst>
                <a:path w="5630931" h="622282">
                  <a:moveTo>
                    <a:pt x="0" y="0"/>
                  </a:moveTo>
                  <a:lnTo>
                    <a:pt x="5630931" y="0"/>
                  </a:lnTo>
                  <a:lnTo>
                    <a:pt x="5630931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5680" r="-5310" b="-135679"/>
              </a:stretch>
            </a:blipFill>
          </p:spPr>
        </p:sp>
        <p:sp>
          <p:nvSpPr>
            <p:cNvPr id="362" name="TextBox 142">
              <a:extLst>
                <a:ext uri="{FF2B5EF4-FFF2-40B4-BE49-F238E27FC236}">
                  <a16:creationId xmlns:a16="http://schemas.microsoft.com/office/drawing/2014/main" id="{2019702A-C2CC-9F62-8FA9-888CB7D55E56}"/>
                </a:ext>
              </a:extLst>
            </p:cNvPr>
            <p:cNvSpPr txBox="1"/>
            <p:nvPr/>
          </p:nvSpPr>
          <p:spPr>
            <a:xfrm>
              <a:off x="0" y="-9525"/>
              <a:ext cx="5630934" cy="6318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"/>
                </a:lnSpc>
              </a:pPr>
              <a:r>
                <a:rPr lang="en-US" sz="863" b="1">
                  <a:solidFill>
                    <a:srgbClr val="4449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공정 진행 중 단계별 알람 제공</a:t>
              </a:r>
            </a:p>
          </p:txBody>
        </p:sp>
      </p:grpSp>
      <p:grpSp>
        <p:nvGrpSpPr>
          <p:cNvPr id="363" name="Group 143">
            <a:extLst>
              <a:ext uri="{FF2B5EF4-FFF2-40B4-BE49-F238E27FC236}">
                <a16:creationId xmlns:a16="http://schemas.microsoft.com/office/drawing/2014/main" id="{5CDC6CA5-1F25-7194-4680-1235080EB54A}"/>
              </a:ext>
            </a:extLst>
          </p:cNvPr>
          <p:cNvGrpSpPr/>
          <p:nvPr/>
        </p:nvGrpSpPr>
        <p:grpSpPr>
          <a:xfrm>
            <a:off x="6370146" y="2412817"/>
            <a:ext cx="2137667" cy="301990"/>
            <a:chOff x="0" y="0"/>
            <a:chExt cx="5700446" cy="805307"/>
          </a:xfrm>
        </p:grpSpPr>
        <p:sp>
          <p:nvSpPr>
            <p:cNvPr id="364" name="Freeform 144">
              <a:extLst>
                <a:ext uri="{FF2B5EF4-FFF2-40B4-BE49-F238E27FC236}">
                  <a16:creationId xmlns:a16="http://schemas.microsoft.com/office/drawing/2014/main" id="{0AA5B7F6-BDBF-2EC2-258E-448DB00D108A}"/>
                </a:ext>
              </a:extLst>
            </p:cNvPr>
            <p:cNvSpPr/>
            <p:nvPr/>
          </p:nvSpPr>
          <p:spPr>
            <a:xfrm>
              <a:off x="0" y="0"/>
              <a:ext cx="5700585" cy="805307"/>
            </a:xfrm>
            <a:custGeom>
              <a:avLst/>
              <a:gdLst/>
              <a:ahLst/>
              <a:cxnLst/>
              <a:rect l="l" t="t" r="r" b="b"/>
              <a:pathLst>
                <a:path w="5700585" h="805307">
                  <a:moveTo>
                    <a:pt x="0" y="128905"/>
                  </a:moveTo>
                  <a:cubicBezTo>
                    <a:pt x="0" y="57658"/>
                    <a:pt x="54751" y="0"/>
                    <a:pt x="122405" y="0"/>
                  </a:cubicBezTo>
                  <a:lnTo>
                    <a:pt x="5578173" y="0"/>
                  </a:lnTo>
                  <a:cubicBezTo>
                    <a:pt x="5645707" y="0"/>
                    <a:pt x="5700585" y="57658"/>
                    <a:pt x="5700585" y="128905"/>
                  </a:cubicBezTo>
                  <a:lnTo>
                    <a:pt x="5700585" y="676402"/>
                  </a:lnTo>
                  <a:cubicBezTo>
                    <a:pt x="5700585" y="747522"/>
                    <a:pt x="5645828" y="805307"/>
                    <a:pt x="5578173" y="805307"/>
                  </a:cubicBezTo>
                  <a:lnTo>
                    <a:pt x="122405" y="805307"/>
                  </a:lnTo>
                  <a:cubicBezTo>
                    <a:pt x="54751" y="805307"/>
                    <a:pt x="0" y="747649"/>
                    <a:pt x="0" y="676402"/>
                  </a:cubicBezTo>
                  <a:close/>
                </a:path>
              </a:pathLst>
            </a:custGeom>
            <a:solidFill>
              <a:srgbClr val="E8F0D8"/>
            </a:solidFill>
            <a:ln w="19050" cap="sq">
              <a:solidFill>
                <a:srgbClr val="4B5733"/>
              </a:solidFill>
              <a:prstDash val="solid"/>
              <a:miter/>
            </a:ln>
          </p:spPr>
        </p:sp>
      </p:grpSp>
      <p:grpSp>
        <p:nvGrpSpPr>
          <p:cNvPr id="365" name="Group 145">
            <a:extLst>
              <a:ext uri="{FF2B5EF4-FFF2-40B4-BE49-F238E27FC236}">
                <a16:creationId xmlns:a16="http://schemas.microsoft.com/office/drawing/2014/main" id="{A1FDF6F6-8A9D-36F8-5CD8-342328B05EAD}"/>
              </a:ext>
            </a:extLst>
          </p:cNvPr>
          <p:cNvGrpSpPr/>
          <p:nvPr/>
        </p:nvGrpSpPr>
        <p:grpSpPr>
          <a:xfrm>
            <a:off x="6435322" y="2471157"/>
            <a:ext cx="175965" cy="185309"/>
            <a:chOff x="0" y="0"/>
            <a:chExt cx="469240" cy="494157"/>
          </a:xfrm>
        </p:grpSpPr>
        <p:sp>
          <p:nvSpPr>
            <p:cNvPr id="366" name="Freeform 146" descr="ok.png">
              <a:extLst>
                <a:ext uri="{FF2B5EF4-FFF2-40B4-BE49-F238E27FC236}">
                  <a16:creationId xmlns:a16="http://schemas.microsoft.com/office/drawing/2014/main" id="{6C79CA27-07E0-D320-4DCD-7D8F809BE66D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2655" r="-2655"/>
              </a:stretch>
            </a:blipFill>
          </p:spPr>
        </p:sp>
      </p:grpSp>
      <p:grpSp>
        <p:nvGrpSpPr>
          <p:cNvPr id="367" name="Group 147">
            <a:extLst>
              <a:ext uri="{FF2B5EF4-FFF2-40B4-BE49-F238E27FC236}">
                <a16:creationId xmlns:a16="http://schemas.microsoft.com/office/drawing/2014/main" id="{74821EBB-23B6-C667-7677-44AF3850D699}"/>
              </a:ext>
            </a:extLst>
          </p:cNvPr>
          <p:cNvGrpSpPr/>
          <p:nvPr/>
        </p:nvGrpSpPr>
        <p:grpSpPr>
          <a:xfrm>
            <a:off x="6709046" y="2412818"/>
            <a:ext cx="1896527" cy="301988"/>
            <a:chOff x="0" y="0"/>
            <a:chExt cx="5057403" cy="805301"/>
          </a:xfrm>
        </p:grpSpPr>
        <p:sp>
          <p:nvSpPr>
            <p:cNvPr id="368" name="Freeform 148">
              <a:extLst>
                <a:ext uri="{FF2B5EF4-FFF2-40B4-BE49-F238E27FC236}">
                  <a16:creationId xmlns:a16="http://schemas.microsoft.com/office/drawing/2014/main" id="{705925FC-37FF-7294-A0F1-08D84FF1BC33}"/>
                </a:ext>
              </a:extLst>
            </p:cNvPr>
            <p:cNvSpPr/>
            <p:nvPr/>
          </p:nvSpPr>
          <p:spPr>
            <a:xfrm>
              <a:off x="0" y="0"/>
              <a:ext cx="5057409" cy="805295"/>
            </a:xfrm>
            <a:custGeom>
              <a:avLst/>
              <a:gdLst/>
              <a:ahLst/>
              <a:cxnLst/>
              <a:rect l="l" t="t" r="r" b="b"/>
              <a:pathLst>
                <a:path w="5057409" h="805295">
                  <a:moveTo>
                    <a:pt x="0" y="0"/>
                  </a:moveTo>
                  <a:lnTo>
                    <a:pt x="5057409" y="0"/>
                  </a:lnTo>
                  <a:lnTo>
                    <a:pt x="5057409" y="805295"/>
                  </a:lnTo>
                  <a:lnTo>
                    <a:pt x="0" y="8052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8866" r="-5310" b="-78868"/>
              </a:stretch>
            </a:blipFill>
          </p:spPr>
        </p:sp>
        <p:sp>
          <p:nvSpPr>
            <p:cNvPr id="369" name="TextBox 149">
              <a:extLst>
                <a:ext uri="{FF2B5EF4-FFF2-40B4-BE49-F238E27FC236}">
                  <a16:creationId xmlns:a16="http://schemas.microsoft.com/office/drawing/2014/main" id="{7FBA1D0F-014A-B064-F7C5-A42F437DB53B}"/>
                </a:ext>
              </a:extLst>
            </p:cNvPr>
            <p:cNvSpPr txBox="1"/>
            <p:nvPr/>
          </p:nvSpPr>
          <p:spPr>
            <a:xfrm>
              <a:off x="0" y="-19050"/>
              <a:ext cx="5057403" cy="824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36"/>
                </a:lnSpc>
              </a:pPr>
              <a:r>
                <a:rPr lang="en-US" sz="863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정상 공정</a:t>
              </a:r>
            </a:p>
          </p:txBody>
        </p:sp>
      </p:grpSp>
      <p:grpSp>
        <p:nvGrpSpPr>
          <p:cNvPr id="370" name="Group 150">
            <a:extLst>
              <a:ext uri="{FF2B5EF4-FFF2-40B4-BE49-F238E27FC236}">
                <a16:creationId xmlns:a16="http://schemas.microsoft.com/office/drawing/2014/main" id="{0CC64444-D409-B7A2-3FE3-1DF4C3EA6BE5}"/>
              </a:ext>
            </a:extLst>
          </p:cNvPr>
          <p:cNvGrpSpPr/>
          <p:nvPr/>
        </p:nvGrpSpPr>
        <p:grpSpPr>
          <a:xfrm>
            <a:off x="6394223" y="2880021"/>
            <a:ext cx="2137667" cy="301990"/>
            <a:chOff x="0" y="0"/>
            <a:chExt cx="5700446" cy="805307"/>
          </a:xfrm>
        </p:grpSpPr>
        <p:sp>
          <p:nvSpPr>
            <p:cNvPr id="371" name="Freeform 151">
              <a:extLst>
                <a:ext uri="{FF2B5EF4-FFF2-40B4-BE49-F238E27FC236}">
                  <a16:creationId xmlns:a16="http://schemas.microsoft.com/office/drawing/2014/main" id="{3F89903F-BA35-3A0B-7162-9B171F6906EB}"/>
                </a:ext>
              </a:extLst>
            </p:cNvPr>
            <p:cNvSpPr/>
            <p:nvPr/>
          </p:nvSpPr>
          <p:spPr>
            <a:xfrm>
              <a:off x="0" y="0"/>
              <a:ext cx="5700585" cy="805307"/>
            </a:xfrm>
            <a:custGeom>
              <a:avLst/>
              <a:gdLst/>
              <a:ahLst/>
              <a:cxnLst/>
              <a:rect l="l" t="t" r="r" b="b"/>
              <a:pathLst>
                <a:path w="5700585" h="805307">
                  <a:moveTo>
                    <a:pt x="0" y="128905"/>
                  </a:moveTo>
                  <a:cubicBezTo>
                    <a:pt x="0" y="57658"/>
                    <a:pt x="54751" y="0"/>
                    <a:pt x="122405" y="0"/>
                  </a:cubicBezTo>
                  <a:lnTo>
                    <a:pt x="5578173" y="0"/>
                  </a:lnTo>
                  <a:cubicBezTo>
                    <a:pt x="5645707" y="0"/>
                    <a:pt x="5700585" y="57658"/>
                    <a:pt x="5700585" y="128905"/>
                  </a:cubicBezTo>
                  <a:lnTo>
                    <a:pt x="5700585" y="676402"/>
                  </a:lnTo>
                  <a:cubicBezTo>
                    <a:pt x="5700585" y="747522"/>
                    <a:pt x="5645828" y="805307"/>
                    <a:pt x="5578173" y="805307"/>
                  </a:cubicBezTo>
                  <a:lnTo>
                    <a:pt x="122405" y="805307"/>
                  </a:lnTo>
                  <a:cubicBezTo>
                    <a:pt x="54751" y="805307"/>
                    <a:pt x="0" y="747649"/>
                    <a:pt x="0" y="676402"/>
                  </a:cubicBezTo>
                  <a:close/>
                </a:path>
              </a:pathLst>
            </a:custGeom>
            <a:solidFill>
              <a:srgbClr val="FBF1D6"/>
            </a:solidFill>
            <a:ln w="19050" cap="sq">
              <a:solidFill>
                <a:srgbClr val="4B5733"/>
              </a:solidFill>
              <a:prstDash val="solid"/>
              <a:miter/>
            </a:ln>
          </p:spPr>
        </p:sp>
      </p:grpSp>
      <p:grpSp>
        <p:nvGrpSpPr>
          <p:cNvPr id="372" name="Group 152">
            <a:extLst>
              <a:ext uri="{FF2B5EF4-FFF2-40B4-BE49-F238E27FC236}">
                <a16:creationId xmlns:a16="http://schemas.microsoft.com/office/drawing/2014/main" id="{96A20FEC-9C97-6CDC-018D-8697B839C00E}"/>
              </a:ext>
            </a:extLst>
          </p:cNvPr>
          <p:cNvGrpSpPr/>
          <p:nvPr/>
        </p:nvGrpSpPr>
        <p:grpSpPr>
          <a:xfrm>
            <a:off x="6459399" y="2938361"/>
            <a:ext cx="175965" cy="185309"/>
            <a:chOff x="0" y="0"/>
            <a:chExt cx="469240" cy="494157"/>
          </a:xfrm>
        </p:grpSpPr>
        <p:sp>
          <p:nvSpPr>
            <p:cNvPr id="373" name="Freeform 153" descr="warn.png">
              <a:extLst>
                <a:ext uri="{FF2B5EF4-FFF2-40B4-BE49-F238E27FC236}">
                  <a16:creationId xmlns:a16="http://schemas.microsoft.com/office/drawing/2014/main" id="{4F992F5D-8B38-1097-DC63-A098D6664420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-2655" r="-2655"/>
              </a:stretch>
            </a:blipFill>
          </p:spPr>
        </p:sp>
      </p:grpSp>
      <p:grpSp>
        <p:nvGrpSpPr>
          <p:cNvPr id="374" name="Group 154">
            <a:extLst>
              <a:ext uri="{FF2B5EF4-FFF2-40B4-BE49-F238E27FC236}">
                <a16:creationId xmlns:a16="http://schemas.microsoft.com/office/drawing/2014/main" id="{A4237EC4-3C55-F1E5-DD04-9F9A5842C7B3}"/>
              </a:ext>
            </a:extLst>
          </p:cNvPr>
          <p:cNvGrpSpPr/>
          <p:nvPr/>
        </p:nvGrpSpPr>
        <p:grpSpPr>
          <a:xfrm>
            <a:off x="6733124" y="2880022"/>
            <a:ext cx="1896527" cy="301988"/>
            <a:chOff x="0" y="0"/>
            <a:chExt cx="5057403" cy="805301"/>
          </a:xfrm>
        </p:grpSpPr>
        <p:sp>
          <p:nvSpPr>
            <p:cNvPr id="375" name="Freeform 155">
              <a:extLst>
                <a:ext uri="{FF2B5EF4-FFF2-40B4-BE49-F238E27FC236}">
                  <a16:creationId xmlns:a16="http://schemas.microsoft.com/office/drawing/2014/main" id="{1343A545-7D69-55D4-8FF5-58EC2F6A0072}"/>
                </a:ext>
              </a:extLst>
            </p:cNvPr>
            <p:cNvSpPr/>
            <p:nvPr/>
          </p:nvSpPr>
          <p:spPr>
            <a:xfrm>
              <a:off x="0" y="0"/>
              <a:ext cx="5057409" cy="805295"/>
            </a:xfrm>
            <a:custGeom>
              <a:avLst/>
              <a:gdLst/>
              <a:ahLst/>
              <a:cxnLst/>
              <a:rect l="l" t="t" r="r" b="b"/>
              <a:pathLst>
                <a:path w="5057409" h="805295">
                  <a:moveTo>
                    <a:pt x="0" y="0"/>
                  </a:moveTo>
                  <a:lnTo>
                    <a:pt x="5057409" y="0"/>
                  </a:lnTo>
                  <a:lnTo>
                    <a:pt x="5057409" y="805295"/>
                  </a:lnTo>
                  <a:lnTo>
                    <a:pt x="0" y="8052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8866" r="-5310" b="-78868"/>
              </a:stretch>
            </a:blipFill>
          </p:spPr>
        </p:sp>
        <p:sp>
          <p:nvSpPr>
            <p:cNvPr id="376" name="TextBox 156">
              <a:extLst>
                <a:ext uri="{FF2B5EF4-FFF2-40B4-BE49-F238E27FC236}">
                  <a16:creationId xmlns:a16="http://schemas.microsoft.com/office/drawing/2014/main" id="{9233B673-B1EF-0456-6371-5684005EA648}"/>
                </a:ext>
              </a:extLst>
            </p:cNvPr>
            <p:cNvSpPr txBox="1"/>
            <p:nvPr/>
          </p:nvSpPr>
          <p:spPr>
            <a:xfrm>
              <a:off x="0" y="-19050"/>
              <a:ext cx="5057403" cy="824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36"/>
                </a:lnSpc>
              </a:pPr>
              <a:r>
                <a:rPr lang="en-US" sz="863">
                  <a:solidFill>
                    <a:srgbClr val="A97A1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점검 / 모니터링 필요</a:t>
              </a:r>
            </a:p>
          </p:txBody>
        </p:sp>
      </p:grpSp>
      <p:grpSp>
        <p:nvGrpSpPr>
          <p:cNvPr id="377" name="Group 157">
            <a:extLst>
              <a:ext uri="{FF2B5EF4-FFF2-40B4-BE49-F238E27FC236}">
                <a16:creationId xmlns:a16="http://schemas.microsoft.com/office/drawing/2014/main" id="{4357E8AD-7B0B-EE71-64E5-710C821CED1B}"/>
              </a:ext>
            </a:extLst>
          </p:cNvPr>
          <p:cNvGrpSpPr/>
          <p:nvPr/>
        </p:nvGrpSpPr>
        <p:grpSpPr>
          <a:xfrm>
            <a:off x="6394223" y="3359323"/>
            <a:ext cx="2137667" cy="301990"/>
            <a:chOff x="0" y="0"/>
            <a:chExt cx="5700446" cy="805307"/>
          </a:xfrm>
        </p:grpSpPr>
        <p:sp>
          <p:nvSpPr>
            <p:cNvPr id="378" name="Freeform 158">
              <a:extLst>
                <a:ext uri="{FF2B5EF4-FFF2-40B4-BE49-F238E27FC236}">
                  <a16:creationId xmlns:a16="http://schemas.microsoft.com/office/drawing/2014/main" id="{98C228BF-ADC7-F035-5BF3-4069305D85E0}"/>
                </a:ext>
              </a:extLst>
            </p:cNvPr>
            <p:cNvSpPr/>
            <p:nvPr/>
          </p:nvSpPr>
          <p:spPr>
            <a:xfrm>
              <a:off x="0" y="0"/>
              <a:ext cx="5700585" cy="805307"/>
            </a:xfrm>
            <a:custGeom>
              <a:avLst/>
              <a:gdLst/>
              <a:ahLst/>
              <a:cxnLst/>
              <a:rect l="l" t="t" r="r" b="b"/>
              <a:pathLst>
                <a:path w="5700585" h="805307">
                  <a:moveTo>
                    <a:pt x="0" y="128905"/>
                  </a:moveTo>
                  <a:cubicBezTo>
                    <a:pt x="0" y="57658"/>
                    <a:pt x="54751" y="0"/>
                    <a:pt x="122405" y="0"/>
                  </a:cubicBezTo>
                  <a:lnTo>
                    <a:pt x="5578173" y="0"/>
                  </a:lnTo>
                  <a:cubicBezTo>
                    <a:pt x="5645707" y="0"/>
                    <a:pt x="5700585" y="57658"/>
                    <a:pt x="5700585" y="128905"/>
                  </a:cubicBezTo>
                  <a:lnTo>
                    <a:pt x="5700585" y="676402"/>
                  </a:lnTo>
                  <a:cubicBezTo>
                    <a:pt x="5700585" y="747522"/>
                    <a:pt x="5645828" y="805307"/>
                    <a:pt x="5578173" y="805307"/>
                  </a:cubicBezTo>
                  <a:lnTo>
                    <a:pt x="122405" y="805307"/>
                  </a:lnTo>
                  <a:cubicBezTo>
                    <a:pt x="54751" y="805307"/>
                    <a:pt x="0" y="747649"/>
                    <a:pt x="0" y="676402"/>
                  </a:cubicBezTo>
                  <a:close/>
                </a:path>
              </a:pathLst>
            </a:custGeom>
            <a:solidFill>
              <a:srgbClr val="F7E2DA"/>
            </a:solidFill>
            <a:ln w="19050" cap="sq">
              <a:solidFill>
                <a:srgbClr val="4B5733"/>
              </a:solidFill>
              <a:prstDash val="solid"/>
              <a:miter/>
            </a:ln>
          </p:spPr>
        </p:sp>
      </p:grpSp>
      <p:grpSp>
        <p:nvGrpSpPr>
          <p:cNvPr id="379" name="Group 159">
            <a:extLst>
              <a:ext uri="{FF2B5EF4-FFF2-40B4-BE49-F238E27FC236}">
                <a16:creationId xmlns:a16="http://schemas.microsoft.com/office/drawing/2014/main" id="{4B2B5D93-EBC8-AC41-A74E-CF8A6E821D86}"/>
              </a:ext>
            </a:extLst>
          </p:cNvPr>
          <p:cNvGrpSpPr/>
          <p:nvPr/>
        </p:nvGrpSpPr>
        <p:grpSpPr>
          <a:xfrm>
            <a:off x="6459399" y="3417664"/>
            <a:ext cx="175965" cy="185309"/>
            <a:chOff x="0" y="0"/>
            <a:chExt cx="469240" cy="494157"/>
          </a:xfrm>
        </p:grpSpPr>
        <p:sp>
          <p:nvSpPr>
            <p:cNvPr id="380" name="Freeform 160" descr="stop.png">
              <a:extLst>
                <a:ext uri="{FF2B5EF4-FFF2-40B4-BE49-F238E27FC236}">
                  <a16:creationId xmlns:a16="http://schemas.microsoft.com/office/drawing/2014/main" id="{4B31D1D2-DB31-58C0-DF6E-BC59B6679A04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2655" r="-2655"/>
              </a:stretch>
            </a:blipFill>
          </p:spPr>
        </p:sp>
      </p:grpSp>
      <p:grpSp>
        <p:nvGrpSpPr>
          <p:cNvPr id="381" name="Group 161">
            <a:extLst>
              <a:ext uri="{FF2B5EF4-FFF2-40B4-BE49-F238E27FC236}">
                <a16:creationId xmlns:a16="http://schemas.microsoft.com/office/drawing/2014/main" id="{86B1CF4B-32DD-2A1E-9E1F-F3CD141E86D2}"/>
              </a:ext>
            </a:extLst>
          </p:cNvPr>
          <p:cNvGrpSpPr/>
          <p:nvPr/>
        </p:nvGrpSpPr>
        <p:grpSpPr>
          <a:xfrm>
            <a:off x="6733124" y="3359325"/>
            <a:ext cx="1896527" cy="301988"/>
            <a:chOff x="0" y="0"/>
            <a:chExt cx="5057403" cy="805301"/>
          </a:xfrm>
        </p:grpSpPr>
        <p:sp>
          <p:nvSpPr>
            <p:cNvPr id="382" name="Freeform 162">
              <a:extLst>
                <a:ext uri="{FF2B5EF4-FFF2-40B4-BE49-F238E27FC236}">
                  <a16:creationId xmlns:a16="http://schemas.microsoft.com/office/drawing/2014/main" id="{F7974AC9-CA94-E705-6E44-3A20740E9F67}"/>
                </a:ext>
              </a:extLst>
            </p:cNvPr>
            <p:cNvSpPr/>
            <p:nvPr/>
          </p:nvSpPr>
          <p:spPr>
            <a:xfrm>
              <a:off x="0" y="0"/>
              <a:ext cx="5057409" cy="805295"/>
            </a:xfrm>
            <a:custGeom>
              <a:avLst/>
              <a:gdLst/>
              <a:ahLst/>
              <a:cxnLst/>
              <a:rect l="l" t="t" r="r" b="b"/>
              <a:pathLst>
                <a:path w="5057409" h="805295">
                  <a:moveTo>
                    <a:pt x="0" y="0"/>
                  </a:moveTo>
                  <a:lnTo>
                    <a:pt x="5057409" y="0"/>
                  </a:lnTo>
                  <a:lnTo>
                    <a:pt x="5057409" y="805295"/>
                  </a:lnTo>
                  <a:lnTo>
                    <a:pt x="0" y="8052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8866" r="-5310" b="-78868"/>
              </a:stretch>
            </a:blipFill>
          </p:spPr>
        </p:sp>
        <p:sp>
          <p:nvSpPr>
            <p:cNvPr id="383" name="TextBox 163">
              <a:extLst>
                <a:ext uri="{FF2B5EF4-FFF2-40B4-BE49-F238E27FC236}">
                  <a16:creationId xmlns:a16="http://schemas.microsoft.com/office/drawing/2014/main" id="{A31DE809-2915-913D-A4D3-ED79F78697B1}"/>
                </a:ext>
              </a:extLst>
            </p:cNvPr>
            <p:cNvSpPr txBox="1"/>
            <p:nvPr/>
          </p:nvSpPr>
          <p:spPr>
            <a:xfrm>
              <a:off x="0" y="-19050"/>
              <a:ext cx="5057403" cy="824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36"/>
                </a:lnSpc>
              </a:pPr>
              <a:r>
                <a:rPr lang="en-US" sz="863">
                  <a:solidFill>
                    <a:srgbClr val="B0402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공정 중단 / 즉시 대응</a:t>
              </a:r>
            </a:p>
          </p:txBody>
        </p:sp>
      </p:grpSp>
      <p:sp>
        <p:nvSpPr>
          <p:cNvPr id="384" name="Freeform 164">
            <a:extLst>
              <a:ext uri="{FF2B5EF4-FFF2-40B4-BE49-F238E27FC236}">
                <a16:creationId xmlns:a16="http://schemas.microsoft.com/office/drawing/2014/main" id="{C94987EB-D016-F52C-D6EF-5F114185282F}"/>
              </a:ext>
            </a:extLst>
          </p:cNvPr>
          <p:cNvSpPr/>
          <p:nvPr/>
        </p:nvSpPr>
        <p:spPr>
          <a:xfrm>
            <a:off x="459244" y="4030881"/>
            <a:ext cx="1556900" cy="334661"/>
          </a:xfrm>
          <a:custGeom>
            <a:avLst/>
            <a:gdLst/>
            <a:ahLst/>
            <a:cxnLst/>
            <a:rect l="l" t="t" r="r" b="b"/>
            <a:pathLst>
              <a:path w="3113800" h="669322">
                <a:moveTo>
                  <a:pt x="0" y="0"/>
                </a:moveTo>
                <a:lnTo>
                  <a:pt x="3113801" y="0"/>
                </a:lnTo>
                <a:lnTo>
                  <a:pt x="3113801" y="669321"/>
                </a:lnTo>
                <a:lnTo>
                  <a:pt x="0" y="66932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385" name="TextBox 165">
            <a:extLst>
              <a:ext uri="{FF2B5EF4-FFF2-40B4-BE49-F238E27FC236}">
                <a16:creationId xmlns:a16="http://schemas.microsoft.com/office/drawing/2014/main" id="{D629F3F2-4EF7-9C5D-4329-4416F50873B1}"/>
              </a:ext>
            </a:extLst>
          </p:cNvPr>
          <p:cNvSpPr txBox="1"/>
          <p:nvPr/>
        </p:nvSpPr>
        <p:spPr>
          <a:xfrm>
            <a:off x="998541" y="1728006"/>
            <a:ext cx="255668" cy="13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8"/>
              </a:lnSpc>
              <a:spcBef>
                <a:spcPct val="0"/>
              </a:spcBef>
            </a:pPr>
            <a:r>
              <a:rPr lang="en-US" sz="863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KIMM_Bold Bold"/>
              </a:rPr>
              <a:t>01</a:t>
            </a:r>
          </a:p>
        </p:txBody>
      </p:sp>
      <p:sp>
        <p:nvSpPr>
          <p:cNvPr id="386" name="TextBox 166">
            <a:extLst>
              <a:ext uri="{FF2B5EF4-FFF2-40B4-BE49-F238E27FC236}">
                <a16:creationId xmlns:a16="http://schemas.microsoft.com/office/drawing/2014/main" id="{BD72C6E8-2C5C-6D7E-35DC-4A8C0D37A9C0}"/>
              </a:ext>
            </a:extLst>
          </p:cNvPr>
          <p:cNvSpPr txBox="1"/>
          <p:nvPr/>
        </p:nvSpPr>
        <p:spPr>
          <a:xfrm>
            <a:off x="3931867" y="1728006"/>
            <a:ext cx="255668" cy="13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8"/>
              </a:lnSpc>
              <a:spcBef>
                <a:spcPct val="0"/>
              </a:spcBef>
            </a:pPr>
            <a:r>
              <a:rPr lang="en-US" sz="863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KIMM_Bold Bold"/>
              </a:rPr>
              <a:t>02</a:t>
            </a:r>
          </a:p>
        </p:txBody>
      </p:sp>
      <p:sp>
        <p:nvSpPr>
          <p:cNvPr id="387" name="TextBox 167">
            <a:extLst>
              <a:ext uri="{FF2B5EF4-FFF2-40B4-BE49-F238E27FC236}">
                <a16:creationId xmlns:a16="http://schemas.microsoft.com/office/drawing/2014/main" id="{A62C509A-14A5-EBA1-B8C7-2ADB14D347ED}"/>
              </a:ext>
            </a:extLst>
          </p:cNvPr>
          <p:cNvSpPr txBox="1"/>
          <p:nvPr/>
        </p:nvSpPr>
        <p:spPr>
          <a:xfrm>
            <a:off x="6840189" y="1751330"/>
            <a:ext cx="255668" cy="13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8"/>
              </a:lnSpc>
              <a:spcBef>
                <a:spcPct val="0"/>
              </a:spcBef>
            </a:pPr>
            <a:r>
              <a:rPr lang="en-US" sz="863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KIMM_Bold Bold"/>
              </a:rPr>
              <a:t>03</a:t>
            </a:r>
          </a:p>
        </p:txBody>
      </p:sp>
      <p:sp>
        <p:nvSpPr>
          <p:cNvPr id="388" name="TextBox 168">
            <a:extLst>
              <a:ext uri="{FF2B5EF4-FFF2-40B4-BE49-F238E27FC236}">
                <a16:creationId xmlns:a16="http://schemas.microsoft.com/office/drawing/2014/main" id="{083D3C42-619F-489A-9976-67F237D75EA5}"/>
              </a:ext>
            </a:extLst>
          </p:cNvPr>
          <p:cNvSpPr txBox="1"/>
          <p:nvPr/>
        </p:nvSpPr>
        <p:spPr>
          <a:xfrm>
            <a:off x="751881" y="4100266"/>
            <a:ext cx="955142" cy="18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6"/>
              </a:lnSpc>
              <a:spcBef>
                <a:spcPct val="0"/>
              </a:spcBef>
            </a:pPr>
            <a:r>
              <a:rPr lang="en-US" sz="1163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KIMM_Bold Bold"/>
              </a:rPr>
              <a:t>기대 효과</a:t>
            </a:r>
          </a:p>
        </p:txBody>
      </p:sp>
      <p:grpSp>
        <p:nvGrpSpPr>
          <p:cNvPr id="389" name="Group 169">
            <a:extLst>
              <a:ext uri="{FF2B5EF4-FFF2-40B4-BE49-F238E27FC236}">
                <a16:creationId xmlns:a16="http://schemas.microsoft.com/office/drawing/2014/main" id="{EF267FDC-DD2F-5793-5A62-1B296A611A0B}"/>
              </a:ext>
            </a:extLst>
          </p:cNvPr>
          <p:cNvGrpSpPr/>
          <p:nvPr/>
        </p:nvGrpSpPr>
        <p:grpSpPr>
          <a:xfrm>
            <a:off x="4296199" y="3556811"/>
            <a:ext cx="175965" cy="185309"/>
            <a:chOff x="0" y="0"/>
            <a:chExt cx="469240" cy="494157"/>
          </a:xfrm>
        </p:grpSpPr>
        <p:sp>
          <p:nvSpPr>
            <p:cNvPr id="390" name="Freeform 170" descr="ok.png">
              <a:extLst>
                <a:ext uri="{FF2B5EF4-FFF2-40B4-BE49-F238E27FC236}">
                  <a16:creationId xmlns:a16="http://schemas.microsoft.com/office/drawing/2014/main" id="{1D440CA8-C802-F297-602C-625168367A45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2655" r="-2655"/>
              </a:stretch>
            </a:blipFill>
          </p:spPr>
        </p:sp>
      </p:grpSp>
      <p:grpSp>
        <p:nvGrpSpPr>
          <p:cNvPr id="391" name="Group 171">
            <a:extLst>
              <a:ext uri="{FF2B5EF4-FFF2-40B4-BE49-F238E27FC236}">
                <a16:creationId xmlns:a16="http://schemas.microsoft.com/office/drawing/2014/main" id="{C51E668F-8542-8DDB-21F8-887C7AA69908}"/>
              </a:ext>
            </a:extLst>
          </p:cNvPr>
          <p:cNvGrpSpPr/>
          <p:nvPr/>
        </p:nvGrpSpPr>
        <p:grpSpPr>
          <a:xfrm>
            <a:off x="4687108" y="3556811"/>
            <a:ext cx="175965" cy="185309"/>
            <a:chOff x="0" y="0"/>
            <a:chExt cx="469240" cy="494157"/>
          </a:xfrm>
        </p:grpSpPr>
        <p:sp>
          <p:nvSpPr>
            <p:cNvPr id="392" name="Freeform 172" descr="warn.png">
              <a:extLst>
                <a:ext uri="{FF2B5EF4-FFF2-40B4-BE49-F238E27FC236}">
                  <a16:creationId xmlns:a16="http://schemas.microsoft.com/office/drawing/2014/main" id="{E4E82B7D-1387-7490-8CDC-A28BB857FEF9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-2655" r="-2655"/>
              </a:stretch>
            </a:blipFill>
          </p:spPr>
        </p:sp>
      </p:grpSp>
      <p:grpSp>
        <p:nvGrpSpPr>
          <p:cNvPr id="393" name="Group 173">
            <a:extLst>
              <a:ext uri="{FF2B5EF4-FFF2-40B4-BE49-F238E27FC236}">
                <a16:creationId xmlns:a16="http://schemas.microsoft.com/office/drawing/2014/main" id="{FD672F8A-E77A-2D87-580A-C8493A6408C1}"/>
              </a:ext>
            </a:extLst>
          </p:cNvPr>
          <p:cNvGrpSpPr/>
          <p:nvPr/>
        </p:nvGrpSpPr>
        <p:grpSpPr>
          <a:xfrm>
            <a:off x="5101042" y="3556811"/>
            <a:ext cx="175965" cy="185309"/>
            <a:chOff x="0" y="0"/>
            <a:chExt cx="469240" cy="494157"/>
          </a:xfrm>
        </p:grpSpPr>
        <p:sp>
          <p:nvSpPr>
            <p:cNvPr id="394" name="Freeform 174" descr="stop.png">
              <a:extLst>
                <a:ext uri="{FF2B5EF4-FFF2-40B4-BE49-F238E27FC236}">
                  <a16:creationId xmlns:a16="http://schemas.microsoft.com/office/drawing/2014/main" id="{C74CEC2A-5651-A4DB-4293-050554F60C38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-2655" r="-2655"/>
              </a:stretch>
            </a:blipFill>
          </p:spPr>
        </p:sp>
      </p:grpSp>
      <p:grpSp>
        <p:nvGrpSpPr>
          <p:cNvPr id="395" name="Group 175">
            <a:extLst>
              <a:ext uri="{FF2B5EF4-FFF2-40B4-BE49-F238E27FC236}">
                <a16:creationId xmlns:a16="http://schemas.microsoft.com/office/drawing/2014/main" id="{1E719896-6717-AA8C-74E9-2D2D8E8990F8}"/>
              </a:ext>
            </a:extLst>
          </p:cNvPr>
          <p:cNvGrpSpPr/>
          <p:nvPr/>
        </p:nvGrpSpPr>
        <p:grpSpPr>
          <a:xfrm>
            <a:off x="2373342" y="1995193"/>
            <a:ext cx="231188" cy="215322"/>
            <a:chOff x="0" y="0"/>
            <a:chExt cx="616500" cy="574192"/>
          </a:xfrm>
        </p:grpSpPr>
        <p:sp>
          <p:nvSpPr>
            <p:cNvPr id="396" name="Freeform 176">
              <a:extLst>
                <a:ext uri="{FF2B5EF4-FFF2-40B4-BE49-F238E27FC236}">
                  <a16:creationId xmlns:a16="http://schemas.microsoft.com/office/drawing/2014/main" id="{222F6138-E379-049E-C3AD-51F9B3FD1F47}"/>
                </a:ext>
              </a:extLst>
            </p:cNvPr>
            <p:cNvSpPr/>
            <p:nvPr/>
          </p:nvSpPr>
          <p:spPr>
            <a:xfrm>
              <a:off x="0" y="0"/>
              <a:ext cx="616500" cy="574192"/>
            </a:xfrm>
            <a:custGeom>
              <a:avLst/>
              <a:gdLst/>
              <a:ahLst/>
              <a:cxnLst/>
              <a:rect l="l" t="t" r="r" b="b"/>
              <a:pathLst>
                <a:path w="616500" h="574192">
                  <a:moveTo>
                    <a:pt x="0" y="0"/>
                  </a:moveTo>
                  <a:lnTo>
                    <a:pt x="616500" y="0"/>
                  </a:lnTo>
                  <a:lnTo>
                    <a:pt x="616500" y="574192"/>
                  </a:lnTo>
                  <a:lnTo>
                    <a:pt x="0" y="574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1597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54633-6B47-DDC8-F025-33A0A4973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AA8F874-C226-D35F-5C39-9186AB48AF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B9C0F14-E24A-7EDE-9838-528C559846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FB431F99-D51B-B566-31CC-345287BEB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13153002-4B80-BF28-1901-2B8B01B546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0A3785E-72CF-3BAE-440B-41B90E9A8B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0C6C25A4-FCF3-17E2-A986-6FF0AD176FDE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025DFA9F-5906-37F3-E1EF-92BC5D813765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데이터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구성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기초</a:t>
            </a:r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통계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61AF2956-6737-A972-1A69-BA24D1E47E74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E71E3F92-AC67-5FCA-0F42-42EA0CB65F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187" name="Group 22">
            <a:extLst>
              <a:ext uri="{FF2B5EF4-FFF2-40B4-BE49-F238E27FC236}">
                <a16:creationId xmlns:a16="http://schemas.microsoft.com/office/drawing/2014/main" id="{99F182CF-ECA2-AE4E-26AC-0043100542F8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188" name="Freeform 23">
              <a:extLst>
                <a:ext uri="{FF2B5EF4-FFF2-40B4-BE49-F238E27FC236}">
                  <a16:creationId xmlns:a16="http://schemas.microsoft.com/office/drawing/2014/main" id="{96323FC8-196E-C24C-0FD5-31305D9BA04E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89" name="Group 22">
            <a:extLst>
              <a:ext uri="{FF2B5EF4-FFF2-40B4-BE49-F238E27FC236}">
                <a16:creationId xmlns:a16="http://schemas.microsoft.com/office/drawing/2014/main" id="{A2ED7795-B4B8-27C8-29AE-B309BDEF6157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190" name="Freeform 23">
              <a:extLst>
                <a:ext uri="{FF2B5EF4-FFF2-40B4-BE49-F238E27FC236}">
                  <a16:creationId xmlns:a16="http://schemas.microsoft.com/office/drawing/2014/main" id="{8B928C51-DAD7-4C8B-2385-48CC665EFC42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1" name="Group 24">
            <a:extLst>
              <a:ext uri="{FF2B5EF4-FFF2-40B4-BE49-F238E27FC236}">
                <a16:creationId xmlns:a16="http://schemas.microsoft.com/office/drawing/2014/main" id="{BACE71A6-D319-D0EF-D5A4-BA166098B094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92" name="Freeform 25" descr="logo.png">
              <a:extLst>
                <a:ext uri="{FF2B5EF4-FFF2-40B4-BE49-F238E27FC236}">
                  <a16:creationId xmlns:a16="http://schemas.microsoft.com/office/drawing/2014/main" id="{64BCAFFC-0569-0D81-CE6D-EF6D6D6AA944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93" name="Group 26">
            <a:extLst>
              <a:ext uri="{FF2B5EF4-FFF2-40B4-BE49-F238E27FC236}">
                <a16:creationId xmlns:a16="http://schemas.microsoft.com/office/drawing/2014/main" id="{05A95A86-A31C-AD67-024D-C3AD38651C36}"/>
              </a:ext>
            </a:extLst>
          </p:cNvPr>
          <p:cNvGrpSpPr/>
          <p:nvPr/>
        </p:nvGrpSpPr>
        <p:grpSpPr>
          <a:xfrm>
            <a:off x="375054" y="4205217"/>
            <a:ext cx="8393892" cy="599136"/>
            <a:chOff x="0" y="0"/>
            <a:chExt cx="22383712" cy="1597696"/>
          </a:xfrm>
        </p:grpSpPr>
        <p:sp>
          <p:nvSpPr>
            <p:cNvPr id="194" name="Freeform 27">
              <a:extLst>
                <a:ext uri="{FF2B5EF4-FFF2-40B4-BE49-F238E27FC236}">
                  <a16:creationId xmlns:a16="http://schemas.microsoft.com/office/drawing/2014/main" id="{6FA2CD64-A8B4-8447-CA6B-CE836A1258A1}"/>
                </a:ext>
              </a:extLst>
            </p:cNvPr>
            <p:cNvSpPr/>
            <p:nvPr/>
          </p:nvSpPr>
          <p:spPr>
            <a:xfrm>
              <a:off x="0" y="0"/>
              <a:ext cx="22383750" cy="1597734"/>
            </a:xfrm>
            <a:custGeom>
              <a:avLst/>
              <a:gdLst/>
              <a:ahLst/>
              <a:cxnLst/>
              <a:rect l="l" t="t" r="r" b="b"/>
              <a:pathLst>
                <a:path w="22383750" h="1597734">
                  <a:moveTo>
                    <a:pt x="0" y="266308"/>
                  </a:moveTo>
                  <a:cubicBezTo>
                    <a:pt x="0" y="119267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19267"/>
                    <a:pt x="22383750" y="266308"/>
                  </a:cubicBezTo>
                  <a:lnTo>
                    <a:pt x="22383750" y="1331423"/>
                  </a:lnTo>
                  <a:cubicBezTo>
                    <a:pt x="22383750" y="1478464"/>
                    <a:pt x="22253956" y="1597734"/>
                    <a:pt x="22093937" y="1597734"/>
                  </a:cubicBezTo>
                  <a:lnTo>
                    <a:pt x="289814" y="1597734"/>
                  </a:lnTo>
                  <a:cubicBezTo>
                    <a:pt x="129794" y="1597734"/>
                    <a:pt x="0" y="1478465"/>
                    <a:pt x="0" y="133142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95" name="Group 28">
            <a:extLst>
              <a:ext uri="{FF2B5EF4-FFF2-40B4-BE49-F238E27FC236}">
                <a16:creationId xmlns:a16="http://schemas.microsoft.com/office/drawing/2014/main" id="{55C8338D-2072-BBBC-FD47-2576A891EA21}"/>
              </a:ext>
            </a:extLst>
          </p:cNvPr>
          <p:cNvGrpSpPr/>
          <p:nvPr/>
        </p:nvGrpSpPr>
        <p:grpSpPr>
          <a:xfrm>
            <a:off x="649589" y="4506322"/>
            <a:ext cx="3815739" cy="269304"/>
            <a:chOff x="0" y="0"/>
            <a:chExt cx="10175303" cy="718144"/>
          </a:xfrm>
        </p:grpSpPr>
        <p:sp>
          <p:nvSpPr>
            <p:cNvPr id="196" name="Freeform 29">
              <a:extLst>
                <a:ext uri="{FF2B5EF4-FFF2-40B4-BE49-F238E27FC236}">
                  <a16:creationId xmlns:a16="http://schemas.microsoft.com/office/drawing/2014/main" id="{CB75A3CB-8083-F4FF-ED9C-FD8A9F0B3B7B}"/>
                </a:ext>
              </a:extLst>
            </p:cNvPr>
            <p:cNvSpPr/>
            <p:nvPr/>
          </p:nvSpPr>
          <p:spPr>
            <a:xfrm>
              <a:off x="0" y="0"/>
              <a:ext cx="10175301" cy="718149"/>
            </a:xfrm>
            <a:custGeom>
              <a:avLst/>
              <a:gdLst/>
              <a:ahLst/>
              <a:cxnLst/>
              <a:rect l="l" t="t" r="r" b="b"/>
              <a:pathLst>
                <a:path w="10175301" h="718149">
                  <a:moveTo>
                    <a:pt x="0" y="0"/>
                  </a:moveTo>
                  <a:lnTo>
                    <a:pt x="10175301" y="0"/>
                  </a:lnTo>
                  <a:lnTo>
                    <a:pt x="10175301" y="718149"/>
                  </a:lnTo>
                  <a:lnTo>
                    <a:pt x="0" y="718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66936" r="-31304" b="-358075"/>
              </a:stretch>
            </a:blipFill>
          </p:spPr>
        </p:sp>
        <p:sp>
          <p:nvSpPr>
            <p:cNvPr id="197" name="TextBox 30">
              <a:extLst>
                <a:ext uri="{FF2B5EF4-FFF2-40B4-BE49-F238E27FC236}">
                  <a16:creationId xmlns:a16="http://schemas.microsoft.com/office/drawing/2014/main" id="{A2F599EF-363D-9CB9-0CB4-7C7E39ED9D4D}"/>
                </a:ext>
              </a:extLst>
            </p:cNvPr>
            <p:cNvSpPr txBox="1"/>
            <p:nvPr/>
          </p:nvSpPr>
          <p:spPr>
            <a:xfrm>
              <a:off x="0" y="0"/>
              <a:ext cx="10175303" cy="718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시퀀스 불량률 11% — 불균형 데이터를 고려한 학습 전략과 평가 지표</a:t>
              </a:r>
            </a:p>
          </p:txBody>
        </p:sp>
      </p:grpSp>
      <p:grpSp>
        <p:nvGrpSpPr>
          <p:cNvPr id="198" name="Group 31">
            <a:extLst>
              <a:ext uri="{FF2B5EF4-FFF2-40B4-BE49-F238E27FC236}">
                <a16:creationId xmlns:a16="http://schemas.microsoft.com/office/drawing/2014/main" id="{4FB4E2B3-2E09-BFCA-0BC0-E2E217FAC1BC}"/>
              </a:ext>
            </a:extLst>
          </p:cNvPr>
          <p:cNvGrpSpPr/>
          <p:nvPr/>
        </p:nvGrpSpPr>
        <p:grpSpPr>
          <a:xfrm>
            <a:off x="270353" y="910433"/>
            <a:ext cx="2053909" cy="922339"/>
            <a:chOff x="0" y="0"/>
            <a:chExt cx="5477091" cy="2459571"/>
          </a:xfrm>
        </p:grpSpPr>
        <p:sp>
          <p:nvSpPr>
            <p:cNvPr id="199" name="Freeform 32">
              <a:extLst>
                <a:ext uri="{FF2B5EF4-FFF2-40B4-BE49-F238E27FC236}">
                  <a16:creationId xmlns:a16="http://schemas.microsoft.com/office/drawing/2014/main" id="{EC9554D1-2EF6-9933-CCDF-D0632C8C11B2}"/>
                </a:ext>
              </a:extLst>
            </p:cNvPr>
            <p:cNvSpPr/>
            <p:nvPr/>
          </p:nvSpPr>
          <p:spPr>
            <a:xfrm>
              <a:off x="0" y="0"/>
              <a:ext cx="5477129" cy="2459609"/>
            </a:xfrm>
            <a:custGeom>
              <a:avLst/>
              <a:gdLst/>
              <a:ahLst/>
              <a:cxnLst/>
              <a:rect l="l" t="t" r="r" b="b"/>
              <a:pathLst>
                <a:path w="5477129" h="2459609">
                  <a:moveTo>
                    <a:pt x="0" y="86106"/>
                  </a:moveTo>
                  <a:cubicBezTo>
                    <a:pt x="0" y="38481"/>
                    <a:pt x="38481" y="0"/>
                    <a:pt x="86106" y="0"/>
                  </a:cubicBezTo>
                  <a:lnTo>
                    <a:pt x="5391023" y="0"/>
                  </a:lnTo>
                  <a:cubicBezTo>
                    <a:pt x="5438521" y="0"/>
                    <a:pt x="5477129" y="38481"/>
                    <a:pt x="5477129" y="86106"/>
                  </a:cubicBezTo>
                  <a:lnTo>
                    <a:pt x="5477129" y="2373503"/>
                  </a:lnTo>
                  <a:cubicBezTo>
                    <a:pt x="5477129" y="2421001"/>
                    <a:pt x="5438648" y="2459609"/>
                    <a:pt x="5391023" y="2459609"/>
                  </a:cubicBezTo>
                  <a:lnTo>
                    <a:pt x="86106" y="2459609"/>
                  </a:lnTo>
                  <a:cubicBezTo>
                    <a:pt x="38608" y="2459609"/>
                    <a:pt x="0" y="2421128"/>
                    <a:pt x="0" y="237350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00" name="Group 33">
            <a:extLst>
              <a:ext uri="{FF2B5EF4-FFF2-40B4-BE49-F238E27FC236}">
                <a16:creationId xmlns:a16="http://schemas.microsoft.com/office/drawing/2014/main" id="{D96E710D-FB70-8E64-AF98-02CBEB9B6246}"/>
              </a:ext>
            </a:extLst>
          </p:cNvPr>
          <p:cNvGrpSpPr/>
          <p:nvPr/>
        </p:nvGrpSpPr>
        <p:grpSpPr>
          <a:xfrm>
            <a:off x="274320" y="1014984"/>
            <a:ext cx="2045970" cy="434340"/>
            <a:chOff x="0" y="0"/>
            <a:chExt cx="5455920" cy="1158240"/>
          </a:xfrm>
        </p:grpSpPr>
        <p:sp>
          <p:nvSpPr>
            <p:cNvPr id="201" name="Freeform 34">
              <a:extLst>
                <a:ext uri="{FF2B5EF4-FFF2-40B4-BE49-F238E27FC236}">
                  <a16:creationId xmlns:a16="http://schemas.microsoft.com/office/drawing/2014/main" id="{7EDEE066-069C-DAEA-9B88-D858725F094A}"/>
                </a:ext>
              </a:extLst>
            </p:cNvPr>
            <p:cNvSpPr/>
            <p:nvPr/>
          </p:nvSpPr>
          <p:spPr>
            <a:xfrm>
              <a:off x="0" y="0"/>
              <a:ext cx="5455920" cy="1158240"/>
            </a:xfrm>
            <a:custGeom>
              <a:avLst/>
              <a:gdLst/>
              <a:ahLst/>
              <a:cxnLst/>
              <a:rect l="l" t="t" r="r" b="b"/>
              <a:pathLst>
                <a:path w="5455920" h="1158240">
                  <a:moveTo>
                    <a:pt x="0" y="0"/>
                  </a:moveTo>
                  <a:lnTo>
                    <a:pt x="5455920" y="0"/>
                  </a:lnTo>
                  <a:lnTo>
                    <a:pt x="54559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1784" b="-41784"/>
              </a:stretch>
            </a:blipFill>
          </p:spPr>
        </p:sp>
        <p:sp>
          <p:nvSpPr>
            <p:cNvPr id="202" name="TextBox 35">
              <a:extLst>
                <a:ext uri="{FF2B5EF4-FFF2-40B4-BE49-F238E27FC236}">
                  <a16:creationId xmlns:a16="http://schemas.microsoft.com/office/drawing/2014/main" id="{8572E99B-0063-0C29-9F34-594FB8A156B4}"/>
                </a:ext>
              </a:extLst>
            </p:cNvPr>
            <p:cNvSpPr txBox="1"/>
            <p:nvPr/>
          </p:nvSpPr>
          <p:spPr>
            <a:xfrm>
              <a:off x="0" y="0"/>
              <a:ext cx="5455920" cy="1158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96,901</a:t>
              </a:r>
            </a:p>
          </p:txBody>
        </p:sp>
      </p:grpSp>
      <p:grpSp>
        <p:nvGrpSpPr>
          <p:cNvPr id="203" name="Group 36">
            <a:extLst>
              <a:ext uri="{FF2B5EF4-FFF2-40B4-BE49-F238E27FC236}">
                <a16:creationId xmlns:a16="http://schemas.microsoft.com/office/drawing/2014/main" id="{A301C5EE-B3AE-E536-00E1-ED2996023A12}"/>
              </a:ext>
            </a:extLst>
          </p:cNvPr>
          <p:cNvGrpSpPr/>
          <p:nvPr/>
        </p:nvGrpSpPr>
        <p:grpSpPr>
          <a:xfrm>
            <a:off x="274320" y="1453896"/>
            <a:ext cx="2045970" cy="192024"/>
            <a:chOff x="0" y="0"/>
            <a:chExt cx="5455920" cy="512064"/>
          </a:xfrm>
        </p:grpSpPr>
        <p:sp>
          <p:nvSpPr>
            <p:cNvPr id="204" name="Freeform 37">
              <a:extLst>
                <a:ext uri="{FF2B5EF4-FFF2-40B4-BE49-F238E27FC236}">
                  <a16:creationId xmlns:a16="http://schemas.microsoft.com/office/drawing/2014/main" id="{8D43DFC5-C402-9C77-7B0C-6E57CAE441E8}"/>
                </a:ext>
              </a:extLst>
            </p:cNvPr>
            <p:cNvSpPr/>
            <p:nvPr/>
          </p:nvSpPr>
          <p:spPr>
            <a:xfrm>
              <a:off x="0" y="0"/>
              <a:ext cx="5455920" cy="512064"/>
            </a:xfrm>
            <a:custGeom>
              <a:avLst/>
              <a:gdLst/>
              <a:ahLst/>
              <a:cxnLst/>
              <a:rect l="l" t="t" r="r" b="b"/>
              <a:pathLst>
                <a:path w="5455920" h="512064">
                  <a:moveTo>
                    <a:pt x="0" y="0"/>
                  </a:moveTo>
                  <a:lnTo>
                    <a:pt x="5455920" y="0"/>
                  </a:lnTo>
                  <a:lnTo>
                    <a:pt x="545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57608" b="-157608"/>
              </a:stretch>
            </a:blipFill>
          </p:spPr>
        </p:sp>
        <p:sp>
          <p:nvSpPr>
            <p:cNvPr id="205" name="TextBox 38">
              <a:extLst>
                <a:ext uri="{FF2B5EF4-FFF2-40B4-BE49-F238E27FC236}">
                  <a16:creationId xmlns:a16="http://schemas.microsoft.com/office/drawing/2014/main" id="{ADBEE9A6-B7CB-2C5C-809E-E51F7DABF200}"/>
                </a:ext>
              </a:extLst>
            </p:cNvPr>
            <p:cNvSpPr txBox="1"/>
            <p:nvPr/>
          </p:nvSpPr>
          <p:spPr>
            <a:xfrm>
              <a:off x="0" y="-9525"/>
              <a:ext cx="545592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"/>
                </a:lnSpc>
              </a:pPr>
              <a:r>
                <a:rPr lang="en-US" sz="8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총 레코드</a:t>
              </a:r>
            </a:p>
          </p:txBody>
        </p:sp>
      </p:grpSp>
      <p:grpSp>
        <p:nvGrpSpPr>
          <p:cNvPr id="206" name="Group 39">
            <a:extLst>
              <a:ext uri="{FF2B5EF4-FFF2-40B4-BE49-F238E27FC236}">
                <a16:creationId xmlns:a16="http://schemas.microsoft.com/office/drawing/2014/main" id="{17585F2B-8586-B4C3-EEB1-5A0AE953DF3C}"/>
              </a:ext>
            </a:extLst>
          </p:cNvPr>
          <p:cNvGrpSpPr/>
          <p:nvPr/>
        </p:nvGrpSpPr>
        <p:grpSpPr>
          <a:xfrm>
            <a:off x="320040" y="1627632"/>
            <a:ext cx="1954530" cy="164592"/>
            <a:chOff x="0" y="0"/>
            <a:chExt cx="5212080" cy="438912"/>
          </a:xfrm>
        </p:grpSpPr>
        <p:sp>
          <p:nvSpPr>
            <p:cNvPr id="207" name="Freeform 40">
              <a:extLst>
                <a:ext uri="{FF2B5EF4-FFF2-40B4-BE49-F238E27FC236}">
                  <a16:creationId xmlns:a16="http://schemas.microsoft.com/office/drawing/2014/main" id="{0C767FBD-D06B-1413-B64B-EF3CEDDB690A}"/>
                </a:ext>
              </a:extLst>
            </p:cNvPr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208" name="TextBox 41">
              <a:extLst>
                <a:ext uri="{FF2B5EF4-FFF2-40B4-BE49-F238E27FC236}">
                  <a16:creationId xmlns:a16="http://schemas.microsoft.com/office/drawing/2014/main" id="{15955ABD-9710-E1E7-17F9-07CDFCE6BF3E}"/>
                </a:ext>
              </a:extLst>
            </p:cNvPr>
            <p:cNvSpPr txBox="1"/>
            <p:nvPr/>
          </p:nvSpPr>
          <p:spPr>
            <a:xfrm>
              <a:off x="0" y="-9525"/>
              <a:ext cx="521208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"/>
                </a:lnSpc>
              </a:pPr>
              <a:r>
                <a:rPr lang="en-US" sz="60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중복 제거 후 96,820</a:t>
              </a:r>
            </a:p>
          </p:txBody>
        </p:sp>
      </p:grpSp>
      <p:grpSp>
        <p:nvGrpSpPr>
          <p:cNvPr id="209" name="Group 42">
            <a:extLst>
              <a:ext uri="{FF2B5EF4-FFF2-40B4-BE49-F238E27FC236}">
                <a16:creationId xmlns:a16="http://schemas.microsoft.com/office/drawing/2014/main" id="{304E2277-FA12-1866-F7AA-18516E20DF62}"/>
              </a:ext>
            </a:extLst>
          </p:cNvPr>
          <p:cNvGrpSpPr/>
          <p:nvPr/>
        </p:nvGrpSpPr>
        <p:grpSpPr>
          <a:xfrm>
            <a:off x="2453483" y="910433"/>
            <a:ext cx="2053909" cy="922339"/>
            <a:chOff x="0" y="0"/>
            <a:chExt cx="5477091" cy="2459571"/>
          </a:xfrm>
        </p:grpSpPr>
        <p:sp>
          <p:nvSpPr>
            <p:cNvPr id="210" name="Freeform 43">
              <a:extLst>
                <a:ext uri="{FF2B5EF4-FFF2-40B4-BE49-F238E27FC236}">
                  <a16:creationId xmlns:a16="http://schemas.microsoft.com/office/drawing/2014/main" id="{F95138E8-6DD2-D3D6-2991-E36CCFD58A50}"/>
                </a:ext>
              </a:extLst>
            </p:cNvPr>
            <p:cNvSpPr/>
            <p:nvPr/>
          </p:nvSpPr>
          <p:spPr>
            <a:xfrm>
              <a:off x="0" y="0"/>
              <a:ext cx="5477129" cy="2459609"/>
            </a:xfrm>
            <a:custGeom>
              <a:avLst/>
              <a:gdLst/>
              <a:ahLst/>
              <a:cxnLst/>
              <a:rect l="l" t="t" r="r" b="b"/>
              <a:pathLst>
                <a:path w="5477129" h="2459609">
                  <a:moveTo>
                    <a:pt x="0" y="86106"/>
                  </a:moveTo>
                  <a:cubicBezTo>
                    <a:pt x="0" y="38481"/>
                    <a:pt x="38481" y="0"/>
                    <a:pt x="86106" y="0"/>
                  </a:cubicBezTo>
                  <a:lnTo>
                    <a:pt x="5391023" y="0"/>
                  </a:lnTo>
                  <a:cubicBezTo>
                    <a:pt x="5438521" y="0"/>
                    <a:pt x="5477129" y="38481"/>
                    <a:pt x="5477129" y="86106"/>
                  </a:cubicBezTo>
                  <a:lnTo>
                    <a:pt x="5477129" y="2373503"/>
                  </a:lnTo>
                  <a:cubicBezTo>
                    <a:pt x="5477129" y="2421001"/>
                    <a:pt x="5438648" y="2459609"/>
                    <a:pt x="5391023" y="2459609"/>
                  </a:cubicBezTo>
                  <a:lnTo>
                    <a:pt x="86106" y="2459609"/>
                  </a:lnTo>
                  <a:cubicBezTo>
                    <a:pt x="38608" y="2459609"/>
                    <a:pt x="0" y="2421128"/>
                    <a:pt x="0" y="237350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11" name="Group 44">
            <a:extLst>
              <a:ext uri="{FF2B5EF4-FFF2-40B4-BE49-F238E27FC236}">
                <a16:creationId xmlns:a16="http://schemas.microsoft.com/office/drawing/2014/main" id="{F8C96BCC-C406-25AC-EE6F-61FD6854EE59}"/>
              </a:ext>
            </a:extLst>
          </p:cNvPr>
          <p:cNvGrpSpPr/>
          <p:nvPr/>
        </p:nvGrpSpPr>
        <p:grpSpPr>
          <a:xfrm>
            <a:off x="2457450" y="1014984"/>
            <a:ext cx="2045970" cy="434340"/>
            <a:chOff x="0" y="0"/>
            <a:chExt cx="5455920" cy="1158240"/>
          </a:xfrm>
        </p:grpSpPr>
        <p:sp>
          <p:nvSpPr>
            <p:cNvPr id="212" name="Freeform 45">
              <a:extLst>
                <a:ext uri="{FF2B5EF4-FFF2-40B4-BE49-F238E27FC236}">
                  <a16:creationId xmlns:a16="http://schemas.microsoft.com/office/drawing/2014/main" id="{6BFD1344-5F9C-E410-DC3E-B141D8B09419}"/>
                </a:ext>
              </a:extLst>
            </p:cNvPr>
            <p:cNvSpPr/>
            <p:nvPr/>
          </p:nvSpPr>
          <p:spPr>
            <a:xfrm>
              <a:off x="0" y="0"/>
              <a:ext cx="5455920" cy="1158240"/>
            </a:xfrm>
            <a:custGeom>
              <a:avLst/>
              <a:gdLst/>
              <a:ahLst/>
              <a:cxnLst/>
              <a:rect l="l" t="t" r="r" b="b"/>
              <a:pathLst>
                <a:path w="5455920" h="1158240">
                  <a:moveTo>
                    <a:pt x="0" y="0"/>
                  </a:moveTo>
                  <a:lnTo>
                    <a:pt x="5455920" y="0"/>
                  </a:lnTo>
                  <a:lnTo>
                    <a:pt x="54559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1784" b="-41784"/>
              </a:stretch>
            </a:blipFill>
          </p:spPr>
        </p:sp>
        <p:sp>
          <p:nvSpPr>
            <p:cNvPr id="213" name="TextBox 46">
              <a:extLst>
                <a:ext uri="{FF2B5EF4-FFF2-40B4-BE49-F238E27FC236}">
                  <a16:creationId xmlns:a16="http://schemas.microsoft.com/office/drawing/2014/main" id="{4D902DA7-AEDC-9A21-9BDD-BF34D64F3025}"/>
                </a:ext>
              </a:extLst>
            </p:cNvPr>
            <p:cNvSpPr txBox="1"/>
            <p:nvPr/>
          </p:nvSpPr>
          <p:spPr>
            <a:xfrm>
              <a:off x="0" y="0"/>
              <a:ext cx="5455920" cy="1158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100</a:t>
              </a:r>
            </a:p>
          </p:txBody>
        </p:sp>
      </p:grpSp>
      <p:grpSp>
        <p:nvGrpSpPr>
          <p:cNvPr id="214" name="Group 47">
            <a:extLst>
              <a:ext uri="{FF2B5EF4-FFF2-40B4-BE49-F238E27FC236}">
                <a16:creationId xmlns:a16="http://schemas.microsoft.com/office/drawing/2014/main" id="{4E2D13CB-D0D5-FB41-6939-7D96C31DD3F8}"/>
              </a:ext>
            </a:extLst>
          </p:cNvPr>
          <p:cNvGrpSpPr/>
          <p:nvPr/>
        </p:nvGrpSpPr>
        <p:grpSpPr>
          <a:xfrm>
            <a:off x="2457450" y="1453896"/>
            <a:ext cx="2045970" cy="192024"/>
            <a:chOff x="0" y="0"/>
            <a:chExt cx="5455920" cy="512064"/>
          </a:xfrm>
        </p:grpSpPr>
        <p:sp>
          <p:nvSpPr>
            <p:cNvPr id="215" name="Freeform 48">
              <a:extLst>
                <a:ext uri="{FF2B5EF4-FFF2-40B4-BE49-F238E27FC236}">
                  <a16:creationId xmlns:a16="http://schemas.microsoft.com/office/drawing/2014/main" id="{486A3273-628B-CA52-160B-33291370B960}"/>
                </a:ext>
              </a:extLst>
            </p:cNvPr>
            <p:cNvSpPr/>
            <p:nvPr/>
          </p:nvSpPr>
          <p:spPr>
            <a:xfrm>
              <a:off x="0" y="0"/>
              <a:ext cx="5455920" cy="512064"/>
            </a:xfrm>
            <a:custGeom>
              <a:avLst/>
              <a:gdLst/>
              <a:ahLst/>
              <a:cxnLst/>
              <a:rect l="l" t="t" r="r" b="b"/>
              <a:pathLst>
                <a:path w="5455920" h="512064">
                  <a:moveTo>
                    <a:pt x="0" y="0"/>
                  </a:moveTo>
                  <a:lnTo>
                    <a:pt x="5455920" y="0"/>
                  </a:lnTo>
                  <a:lnTo>
                    <a:pt x="545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57608" b="-157608"/>
              </a:stretch>
            </a:blipFill>
          </p:spPr>
        </p:sp>
        <p:sp>
          <p:nvSpPr>
            <p:cNvPr id="216" name="TextBox 49">
              <a:extLst>
                <a:ext uri="{FF2B5EF4-FFF2-40B4-BE49-F238E27FC236}">
                  <a16:creationId xmlns:a16="http://schemas.microsoft.com/office/drawing/2014/main" id="{E7CA2189-978D-5519-B17A-12EAA2128944}"/>
                </a:ext>
              </a:extLst>
            </p:cNvPr>
            <p:cNvSpPr txBox="1"/>
            <p:nvPr/>
          </p:nvSpPr>
          <p:spPr>
            <a:xfrm>
              <a:off x="0" y="-9525"/>
              <a:ext cx="545592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"/>
                </a:lnSpc>
              </a:pPr>
              <a:r>
                <a:rPr lang="en-US" sz="8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시퀀스 단위</a:t>
              </a:r>
            </a:p>
          </p:txBody>
        </p:sp>
      </p:grpSp>
      <p:grpSp>
        <p:nvGrpSpPr>
          <p:cNvPr id="217" name="Group 50">
            <a:extLst>
              <a:ext uri="{FF2B5EF4-FFF2-40B4-BE49-F238E27FC236}">
                <a16:creationId xmlns:a16="http://schemas.microsoft.com/office/drawing/2014/main" id="{CDF7F733-6556-9A32-4149-C21F27A06CF2}"/>
              </a:ext>
            </a:extLst>
          </p:cNvPr>
          <p:cNvGrpSpPr/>
          <p:nvPr/>
        </p:nvGrpSpPr>
        <p:grpSpPr>
          <a:xfrm>
            <a:off x="2503170" y="1627632"/>
            <a:ext cx="1954530" cy="164592"/>
            <a:chOff x="0" y="0"/>
            <a:chExt cx="5212080" cy="438912"/>
          </a:xfrm>
        </p:grpSpPr>
        <p:sp>
          <p:nvSpPr>
            <p:cNvPr id="218" name="Freeform 51">
              <a:extLst>
                <a:ext uri="{FF2B5EF4-FFF2-40B4-BE49-F238E27FC236}">
                  <a16:creationId xmlns:a16="http://schemas.microsoft.com/office/drawing/2014/main" id="{C22D8020-AB8D-F38B-E509-D9D4FA36391F}"/>
                </a:ext>
              </a:extLst>
            </p:cNvPr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219" name="TextBox 52">
              <a:extLst>
                <a:ext uri="{FF2B5EF4-FFF2-40B4-BE49-F238E27FC236}">
                  <a16:creationId xmlns:a16="http://schemas.microsoft.com/office/drawing/2014/main" id="{B370B242-8F89-3EC9-230C-95D850F2B05B}"/>
                </a:ext>
              </a:extLst>
            </p:cNvPr>
            <p:cNvSpPr txBox="1"/>
            <p:nvPr/>
          </p:nvSpPr>
          <p:spPr>
            <a:xfrm>
              <a:off x="0" y="-9525"/>
              <a:ext cx="521208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"/>
                </a:lnSpc>
              </a:pPr>
              <a:r>
                <a:rPr lang="en-US" sz="60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정상 89 : 불량 11</a:t>
              </a:r>
            </a:p>
          </p:txBody>
        </p:sp>
      </p:grpSp>
      <p:grpSp>
        <p:nvGrpSpPr>
          <p:cNvPr id="220" name="Group 53">
            <a:extLst>
              <a:ext uri="{FF2B5EF4-FFF2-40B4-BE49-F238E27FC236}">
                <a16:creationId xmlns:a16="http://schemas.microsoft.com/office/drawing/2014/main" id="{9E86DD42-F817-15ED-8266-33694202DF98}"/>
              </a:ext>
            </a:extLst>
          </p:cNvPr>
          <p:cNvGrpSpPr/>
          <p:nvPr/>
        </p:nvGrpSpPr>
        <p:grpSpPr>
          <a:xfrm>
            <a:off x="4636613" y="910433"/>
            <a:ext cx="2053909" cy="922339"/>
            <a:chOff x="0" y="0"/>
            <a:chExt cx="5477091" cy="2459571"/>
          </a:xfrm>
        </p:grpSpPr>
        <p:sp>
          <p:nvSpPr>
            <p:cNvPr id="221" name="Freeform 54">
              <a:extLst>
                <a:ext uri="{FF2B5EF4-FFF2-40B4-BE49-F238E27FC236}">
                  <a16:creationId xmlns:a16="http://schemas.microsoft.com/office/drawing/2014/main" id="{8CCC6515-7BD5-0BBA-35FE-022A78D3A728}"/>
                </a:ext>
              </a:extLst>
            </p:cNvPr>
            <p:cNvSpPr/>
            <p:nvPr/>
          </p:nvSpPr>
          <p:spPr>
            <a:xfrm>
              <a:off x="0" y="0"/>
              <a:ext cx="5477129" cy="2459609"/>
            </a:xfrm>
            <a:custGeom>
              <a:avLst/>
              <a:gdLst/>
              <a:ahLst/>
              <a:cxnLst/>
              <a:rect l="l" t="t" r="r" b="b"/>
              <a:pathLst>
                <a:path w="5477129" h="2459609">
                  <a:moveTo>
                    <a:pt x="0" y="86106"/>
                  </a:moveTo>
                  <a:cubicBezTo>
                    <a:pt x="0" y="38481"/>
                    <a:pt x="38481" y="0"/>
                    <a:pt x="86106" y="0"/>
                  </a:cubicBezTo>
                  <a:lnTo>
                    <a:pt x="5391023" y="0"/>
                  </a:lnTo>
                  <a:cubicBezTo>
                    <a:pt x="5438521" y="0"/>
                    <a:pt x="5477129" y="38481"/>
                    <a:pt x="5477129" y="86106"/>
                  </a:cubicBezTo>
                  <a:lnTo>
                    <a:pt x="5477129" y="2373503"/>
                  </a:lnTo>
                  <a:cubicBezTo>
                    <a:pt x="5477129" y="2421001"/>
                    <a:pt x="5438648" y="2459609"/>
                    <a:pt x="5391023" y="2459609"/>
                  </a:cubicBezTo>
                  <a:lnTo>
                    <a:pt x="86106" y="2459609"/>
                  </a:lnTo>
                  <a:cubicBezTo>
                    <a:pt x="38608" y="2459609"/>
                    <a:pt x="0" y="2421128"/>
                    <a:pt x="0" y="237350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22" name="Group 55">
            <a:extLst>
              <a:ext uri="{FF2B5EF4-FFF2-40B4-BE49-F238E27FC236}">
                <a16:creationId xmlns:a16="http://schemas.microsoft.com/office/drawing/2014/main" id="{0CE321D6-B5C9-17CD-E7D6-51629CCDCFBD}"/>
              </a:ext>
            </a:extLst>
          </p:cNvPr>
          <p:cNvGrpSpPr/>
          <p:nvPr/>
        </p:nvGrpSpPr>
        <p:grpSpPr>
          <a:xfrm>
            <a:off x="4640580" y="1014984"/>
            <a:ext cx="2045970" cy="434340"/>
            <a:chOff x="0" y="0"/>
            <a:chExt cx="5455920" cy="1158240"/>
          </a:xfrm>
        </p:grpSpPr>
        <p:sp>
          <p:nvSpPr>
            <p:cNvPr id="223" name="Freeform 56">
              <a:extLst>
                <a:ext uri="{FF2B5EF4-FFF2-40B4-BE49-F238E27FC236}">
                  <a16:creationId xmlns:a16="http://schemas.microsoft.com/office/drawing/2014/main" id="{8666EA11-3D0C-A6A9-FE29-9D76C71E2A91}"/>
                </a:ext>
              </a:extLst>
            </p:cNvPr>
            <p:cNvSpPr/>
            <p:nvPr/>
          </p:nvSpPr>
          <p:spPr>
            <a:xfrm>
              <a:off x="0" y="0"/>
              <a:ext cx="5455920" cy="1158240"/>
            </a:xfrm>
            <a:custGeom>
              <a:avLst/>
              <a:gdLst/>
              <a:ahLst/>
              <a:cxnLst/>
              <a:rect l="l" t="t" r="r" b="b"/>
              <a:pathLst>
                <a:path w="5455920" h="1158240">
                  <a:moveTo>
                    <a:pt x="0" y="0"/>
                  </a:moveTo>
                  <a:lnTo>
                    <a:pt x="5455920" y="0"/>
                  </a:lnTo>
                  <a:lnTo>
                    <a:pt x="54559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1784" b="-41784"/>
              </a:stretch>
            </a:blipFill>
          </p:spPr>
        </p:sp>
        <p:sp>
          <p:nvSpPr>
            <p:cNvPr id="224" name="TextBox 57">
              <a:extLst>
                <a:ext uri="{FF2B5EF4-FFF2-40B4-BE49-F238E27FC236}">
                  <a16:creationId xmlns:a16="http://schemas.microsoft.com/office/drawing/2014/main" id="{A02B991A-E2CA-0F9C-CB62-E2673426E41A}"/>
                </a:ext>
              </a:extLst>
            </p:cNvPr>
            <p:cNvSpPr txBox="1"/>
            <p:nvPr/>
          </p:nvSpPr>
          <p:spPr>
            <a:xfrm>
              <a:off x="0" y="0"/>
              <a:ext cx="5455920" cy="1158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0BB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11%</a:t>
              </a:r>
            </a:p>
          </p:txBody>
        </p:sp>
      </p:grpSp>
      <p:grpSp>
        <p:nvGrpSpPr>
          <p:cNvPr id="225" name="Group 58">
            <a:extLst>
              <a:ext uri="{FF2B5EF4-FFF2-40B4-BE49-F238E27FC236}">
                <a16:creationId xmlns:a16="http://schemas.microsoft.com/office/drawing/2014/main" id="{92DF77BA-1EDD-E0BD-1032-3DCC3D97A0BB}"/>
              </a:ext>
            </a:extLst>
          </p:cNvPr>
          <p:cNvGrpSpPr/>
          <p:nvPr/>
        </p:nvGrpSpPr>
        <p:grpSpPr>
          <a:xfrm>
            <a:off x="4640580" y="1453896"/>
            <a:ext cx="2045970" cy="192024"/>
            <a:chOff x="0" y="0"/>
            <a:chExt cx="5455920" cy="512064"/>
          </a:xfrm>
        </p:grpSpPr>
        <p:sp>
          <p:nvSpPr>
            <p:cNvPr id="226" name="Freeform 59">
              <a:extLst>
                <a:ext uri="{FF2B5EF4-FFF2-40B4-BE49-F238E27FC236}">
                  <a16:creationId xmlns:a16="http://schemas.microsoft.com/office/drawing/2014/main" id="{CF3A31E4-6959-F563-2C66-BD7D320019E7}"/>
                </a:ext>
              </a:extLst>
            </p:cNvPr>
            <p:cNvSpPr/>
            <p:nvPr/>
          </p:nvSpPr>
          <p:spPr>
            <a:xfrm>
              <a:off x="0" y="0"/>
              <a:ext cx="5455920" cy="512064"/>
            </a:xfrm>
            <a:custGeom>
              <a:avLst/>
              <a:gdLst/>
              <a:ahLst/>
              <a:cxnLst/>
              <a:rect l="l" t="t" r="r" b="b"/>
              <a:pathLst>
                <a:path w="5455920" h="512064">
                  <a:moveTo>
                    <a:pt x="0" y="0"/>
                  </a:moveTo>
                  <a:lnTo>
                    <a:pt x="5455920" y="0"/>
                  </a:lnTo>
                  <a:lnTo>
                    <a:pt x="545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57608" b="-157608"/>
              </a:stretch>
            </a:blipFill>
          </p:spPr>
        </p:sp>
        <p:sp>
          <p:nvSpPr>
            <p:cNvPr id="227" name="TextBox 60">
              <a:extLst>
                <a:ext uri="{FF2B5EF4-FFF2-40B4-BE49-F238E27FC236}">
                  <a16:creationId xmlns:a16="http://schemas.microsoft.com/office/drawing/2014/main" id="{5691231E-EA7B-53A5-C43D-42EB3C944EE3}"/>
                </a:ext>
              </a:extLst>
            </p:cNvPr>
            <p:cNvSpPr txBox="1"/>
            <p:nvPr/>
          </p:nvSpPr>
          <p:spPr>
            <a:xfrm>
              <a:off x="0" y="-9525"/>
              <a:ext cx="545592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"/>
                </a:lnSpc>
              </a:pPr>
              <a:r>
                <a:rPr lang="en-US" sz="8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불량률</a:t>
              </a:r>
            </a:p>
          </p:txBody>
        </p:sp>
      </p:grpSp>
      <p:grpSp>
        <p:nvGrpSpPr>
          <p:cNvPr id="228" name="Group 61">
            <a:extLst>
              <a:ext uri="{FF2B5EF4-FFF2-40B4-BE49-F238E27FC236}">
                <a16:creationId xmlns:a16="http://schemas.microsoft.com/office/drawing/2014/main" id="{DDCF0422-DB3B-A5C7-ADBC-B06A5D875DA6}"/>
              </a:ext>
            </a:extLst>
          </p:cNvPr>
          <p:cNvGrpSpPr/>
          <p:nvPr/>
        </p:nvGrpSpPr>
        <p:grpSpPr>
          <a:xfrm>
            <a:off x="4686300" y="1627632"/>
            <a:ext cx="1954530" cy="164592"/>
            <a:chOff x="0" y="0"/>
            <a:chExt cx="5212080" cy="438912"/>
          </a:xfrm>
        </p:grpSpPr>
        <p:sp>
          <p:nvSpPr>
            <p:cNvPr id="229" name="Freeform 62">
              <a:extLst>
                <a:ext uri="{FF2B5EF4-FFF2-40B4-BE49-F238E27FC236}">
                  <a16:creationId xmlns:a16="http://schemas.microsoft.com/office/drawing/2014/main" id="{4BE2CE6C-00BA-C1FF-4F56-5C54D71D7D2A}"/>
                </a:ext>
              </a:extLst>
            </p:cNvPr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230" name="TextBox 63">
              <a:extLst>
                <a:ext uri="{FF2B5EF4-FFF2-40B4-BE49-F238E27FC236}">
                  <a16:creationId xmlns:a16="http://schemas.microsoft.com/office/drawing/2014/main" id="{810532CC-636B-4196-1DCF-9A5B272A4CEE}"/>
                </a:ext>
              </a:extLst>
            </p:cNvPr>
            <p:cNvSpPr txBox="1"/>
            <p:nvPr/>
          </p:nvSpPr>
          <p:spPr>
            <a:xfrm>
              <a:off x="0" y="-9525"/>
              <a:ext cx="521208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"/>
                </a:lnSpc>
              </a:pPr>
              <a:r>
                <a:rPr lang="en-US" sz="60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소수 클래스</a:t>
              </a:r>
            </a:p>
          </p:txBody>
        </p:sp>
      </p:grpSp>
      <p:grpSp>
        <p:nvGrpSpPr>
          <p:cNvPr id="231" name="Group 64">
            <a:extLst>
              <a:ext uri="{FF2B5EF4-FFF2-40B4-BE49-F238E27FC236}">
                <a16:creationId xmlns:a16="http://schemas.microsoft.com/office/drawing/2014/main" id="{A0BCFE1B-1980-22D1-773E-7B4524C7CCB1}"/>
              </a:ext>
            </a:extLst>
          </p:cNvPr>
          <p:cNvGrpSpPr/>
          <p:nvPr/>
        </p:nvGrpSpPr>
        <p:grpSpPr>
          <a:xfrm>
            <a:off x="6819743" y="910433"/>
            <a:ext cx="2053909" cy="922339"/>
            <a:chOff x="0" y="0"/>
            <a:chExt cx="5477091" cy="2459571"/>
          </a:xfrm>
        </p:grpSpPr>
        <p:sp>
          <p:nvSpPr>
            <p:cNvPr id="232" name="Freeform 65">
              <a:extLst>
                <a:ext uri="{FF2B5EF4-FFF2-40B4-BE49-F238E27FC236}">
                  <a16:creationId xmlns:a16="http://schemas.microsoft.com/office/drawing/2014/main" id="{2CFED3BB-FA4C-DF77-3B6F-9FDE83B12511}"/>
                </a:ext>
              </a:extLst>
            </p:cNvPr>
            <p:cNvSpPr/>
            <p:nvPr/>
          </p:nvSpPr>
          <p:spPr>
            <a:xfrm>
              <a:off x="0" y="0"/>
              <a:ext cx="5477129" cy="2459609"/>
            </a:xfrm>
            <a:custGeom>
              <a:avLst/>
              <a:gdLst/>
              <a:ahLst/>
              <a:cxnLst/>
              <a:rect l="l" t="t" r="r" b="b"/>
              <a:pathLst>
                <a:path w="5477129" h="2459609">
                  <a:moveTo>
                    <a:pt x="0" y="86106"/>
                  </a:moveTo>
                  <a:cubicBezTo>
                    <a:pt x="0" y="38481"/>
                    <a:pt x="38481" y="0"/>
                    <a:pt x="86106" y="0"/>
                  </a:cubicBezTo>
                  <a:lnTo>
                    <a:pt x="5391023" y="0"/>
                  </a:lnTo>
                  <a:cubicBezTo>
                    <a:pt x="5438521" y="0"/>
                    <a:pt x="5477129" y="38481"/>
                    <a:pt x="5477129" y="86106"/>
                  </a:cubicBezTo>
                  <a:lnTo>
                    <a:pt x="5477129" y="2373503"/>
                  </a:lnTo>
                  <a:cubicBezTo>
                    <a:pt x="5477129" y="2421001"/>
                    <a:pt x="5438648" y="2459609"/>
                    <a:pt x="5391023" y="2459609"/>
                  </a:cubicBezTo>
                  <a:lnTo>
                    <a:pt x="86106" y="2459609"/>
                  </a:lnTo>
                  <a:cubicBezTo>
                    <a:pt x="38608" y="2459609"/>
                    <a:pt x="0" y="2421128"/>
                    <a:pt x="0" y="237350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33" name="Group 66">
            <a:extLst>
              <a:ext uri="{FF2B5EF4-FFF2-40B4-BE49-F238E27FC236}">
                <a16:creationId xmlns:a16="http://schemas.microsoft.com/office/drawing/2014/main" id="{4FDFAD80-B469-D0D7-EFA7-D8851BA8AA6E}"/>
              </a:ext>
            </a:extLst>
          </p:cNvPr>
          <p:cNvGrpSpPr/>
          <p:nvPr/>
        </p:nvGrpSpPr>
        <p:grpSpPr>
          <a:xfrm>
            <a:off x="6823710" y="1014984"/>
            <a:ext cx="2045970" cy="434340"/>
            <a:chOff x="0" y="0"/>
            <a:chExt cx="5455920" cy="1158240"/>
          </a:xfrm>
        </p:grpSpPr>
        <p:sp>
          <p:nvSpPr>
            <p:cNvPr id="234" name="Freeform 67">
              <a:extLst>
                <a:ext uri="{FF2B5EF4-FFF2-40B4-BE49-F238E27FC236}">
                  <a16:creationId xmlns:a16="http://schemas.microsoft.com/office/drawing/2014/main" id="{E599845C-4F36-7727-8363-37C1832964F9}"/>
                </a:ext>
              </a:extLst>
            </p:cNvPr>
            <p:cNvSpPr/>
            <p:nvPr/>
          </p:nvSpPr>
          <p:spPr>
            <a:xfrm>
              <a:off x="0" y="0"/>
              <a:ext cx="5455920" cy="1158240"/>
            </a:xfrm>
            <a:custGeom>
              <a:avLst/>
              <a:gdLst/>
              <a:ahLst/>
              <a:cxnLst/>
              <a:rect l="l" t="t" r="r" b="b"/>
              <a:pathLst>
                <a:path w="5455920" h="1158240">
                  <a:moveTo>
                    <a:pt x="0" y="0"/>
                  </a:moveTo>
                  <a:lnTo>
                    <a:pt x="5455920" y="0"/>
                  </a:lnTo>
                  <a:lnTo>
                    <a:pt x="545592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1784" b="-41784"/>
              </a:stretch>
            </a:blipFill>
          </p:spPr>
        </p:sp>
        <p:sp>
          <p:nvSpPr>
            <p:cNvPr id="235" name="TextBox 68">
              <a:extLst>
                <a:ext uri="{FF2B5EF4-FFF2-40B4-BE49-F238E27FC236}">
                  <a16:creationId xmlns:a16="http://schemas.microsoft.com/office/drawing/2014/main" id="{B8294E9C-18CB-D706-519B-4009133EA811}"/>
                </a:ext>
              </a:extLst>
            </p:cNvPr>
            <p:cNvSpPr txBox="1"/>
            <p:nvPr/>
          </p:nvSpPr>
          <p:spPr>
            <a:xfrm>
              <a:off x="0" y="0"/>
              <a:ext cx="5455920" cy="1158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3종</a:t>
              </a:r>
            </a:p>
          </p:txBody>
        </p:sp>
      </p:grpSp>
      <p:grpSp>
        <p:nvGrpSpPr>
          <p:cNvPr id="236" name="Group 69">
            <a:extLst>
              <a:ext uri="{FF2B5EF4-FFF2-40B4-BE49-F238E27FC236}">
                <a16:creationId xmlns:a16="http://schemas.microsoft.com/office/drawing/2014/main" id="{28794B08-5543-D218-E74A-19AC422BE651}"/>
              </a:ext>
            </a:extLst>
          </p:cNvPr>
          <p:cNvGrpSpPr/>
          <p:nvPr/>
        </p:nvGrpSpPr>
        <p:grpSpPr>
          <a:xfrm>
            <a:off x="6823710" y="1453896"/>
            <a:ext cx="2045970" cy="192024"/>
            <a:chOff x="0" y="0"/>
            <a:chExt cx="5455920" cy="512064"/>
          </a:xfrm>
        </p:grpSpPr>
        <p:sp>
          <p:nvSpPr>
            <p:cNvPr id="237" name="Freeform 70">
              <a:extLst>
                <a:ext uri="{FF2B5EF4-FFF2-40B4-BE49-F238E27FC236}">
                  <a16:creationId xmlns:a16="http://schemas.microsoft.com/office/drawing/2014/main" id="{D3FB3397-F832-C638-75AE-D0CE1C87AAF6}"/>
                </a:ext>
              </a:extLst>
            </p:cNvPr>
            <p:cNvSpPr/>
            <p:nvPr/>
          </p:nvSpPr>
          <p:spPr>
            <a:xfrm>
              <a:off x="0" y="0"/>
              <a:ext cx="5455920" cy="512064"/>
            </a:xfrm>
            <a:custGeom>
              <a:avLst/>
              <a:gdLst/>
              <a:ahLst/>
              <a:cxnLst/>
              <a:rect l="l" t="t" r="r" b="b"/>
              <a:pathLst>
                <a:path w="5455920" h="512064">
                  <a:moveTo>
                    <a:pt x="0" y="0"/>
                  </a:moveTo>
                  <a:lnTo>
                    <a:pt x="5455920" y="0"/>
                  </a:lnTo>
                  <a:lnTo>
                    <a:pt x="54559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57608" b="-157608"/>
              </a:stretch>
            </a:blipFill>
          </p:spPr>
        </p:sp>
        <p:sp>
          <p:nvSpPr>
            <p:cNvPr id="238" name="TextBox 71">
              <a:extLst>
                <a:ext uri="{FF2B5EF4-FFF2-40B4-BE49-F238E27FC236}">
                  <a16:creationId xmlns:a16="http://schemas.microsoft.com/office/drawing/2014/main" id="{E696BD5E-2C5E-8D2E-9CFF-B473A878116D}"/>
                </a:ext>
              </a:extLst>
            </p:cNvPr>
            <p:cNvSpPr txBox="1"/>
            <p:nvPr/>
          </p:nvSpPr>
          <p:spPr>
            <a:xfrm>
              <a:off x="0" y="-9525"/>
              <a:ext cx="5455920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"/>
                </a:lnSpc>
              </a:pPr>
              <a:r>
                <a:rPr lang="en-US" sz="8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센서 피처</a:t>
              </a:r>
            </a:p>
          </p:txBody>
        </p:sp>
      </p:grpSp>
      <p:grpSp>
        <p:nvGrpSpPr>
          <p:cNvPr id="239" name="Group 72">
            <a:extLst>
              <a:ext uri="{FF2B5EF4-FFF2-40B4-BE49-F238E27FC236}">
                <a16:creationId xmlns:a16="http://schemas.microsoft.com/office/drawing/2014/main" id="{E3DDC405-3A06-78FC-E592-A9CA706717BE}"/>
              </a:ext>
            </a:extLst>
          </p:cNvPr>
          <p:cNvGrpSpPr/>
          <p:nvPr/>
        </p:nvGrpSpPr>
        <p:grpSpPr>
          <a:xfrm>
            <a:off x="6869430" y="1627632"/>
            <a:ext cx="1954530" cy="164592"/>
            <a:chOff x="0" y="0"/>
            <a:chExt cx="5212080" cy="438912"/>
          </a:xfrm>
        </p:grpSpPr>
        <p:sp>
          <p:nvSpPr>
            <p:cNvPr id="240" name="Freeform 73">
              <a:extLst>
                <a:ext uri="{FF2B5EF4-FFF2-40B4-BE49-F238E27FC236}">
                  <a16:creationId xmlns:a16="http://schemas.microsoft.com/office/drawing/2014/main" id="{D87CC347-1D9A-AAF7-755D-735B5707342A}"/>
                </a:ext>
              </a:extLst>
            </p:cNvPr>
            <p:cNvSpPr/>
            <p:nvPr/>
          </p:nvSpPr>
          <p:spPr>
            <a:xfrm>
              <a:off x="0" y="0"/>
              <a:ext cx="5212080" cy="438912"/>
            </a:xfrm>
            <a:custGeom>
              <a:avLst/>
              <a:gdLst/>
              <a:ahLst/>
              <a:cxnLst/>
              <a:rect l="l" t="t" r="r" b="b"/>
              <a:pathLst>
                <a:path w="5212080" h="438912">
                  <a:moveTo>
                    <a:pt x="0" y="0"/>
                  </a:moveTo>
                  <a:lnTo>
                    <a:pt x="5212080" y="0"/>
                  </a:lnTo>
                  <a:lnTo>
                    <a:pt x="52120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81384" b="-181384"/>
              </a:stretch>
            </a:blipFill>
          </p:spPr>
        </p:sp>
        <p:sp>
          <p:nvSpPr>
            <p:cNvPr id="241" name="TextBox 74">
              <a:extLst>
                <a:ext uri="{FF2B5EF4-FFF2-40B4-BE49-F238E27FC236}">
                  <a16:creationId xmlns:a16="http://schemas.microsoft.com/office/drawing/2014/main" id="{14013A09-0DD9-1506-7CE3-63E6057A5A2F}"/>
                </a:ext>
              </a:extLst>
            </p:cNvPr>
            <p:cNvSpPr txBox="1"/>
            <p:nvPr/>
          </p:nvSpPr>
          <p:spPr>
            <a:xfrm>
              <a:off x="0" y="-9525"/>
              <a:ext cx="5212080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"/>
                </a:lnSpc>
              </a:pPr>
              <a:r>
                <a:rPr lang="en-US" sz="600" b="1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전압 · 전류 · 온도</a:t>
              </a:r>
            </a:p>
          </p:txBody>
        </p:sp>
      </p:grpSp>
      <p:sp>
        <p:nvSpPr>
          <p:cNvPr id="242" name="Freeform 75">
            <a:extLst>
              <a:ext uri="{FF2B5EF4-FFF2-40B4-BE49-F238E27FC236}">
                <a16:creationId xmlns:a16="http://schemas.microsoft.com/office/drawing/2014/main" id="{5542B617-63CC-7F50-3D3D-2F2D5933C25C}"/>
              </a:ext>
            </a:extLst>
          </p:cNvPr>
          <p:cNvSpPr/>
          <p:nvPr/>
        </p:nvSpPr>
        <p:spPr>
          <a:xfrm>
            <a:off x="454858" y="1933754"/>
            <a:ext cx="1287308" cy="271505"/>
          </a:xfrm>
          <a:custGeom>
            <a:avLst/>
            <a:gdLst/>
            <a:ahLst/>
            <a:cxnLst/>
            <a:rect l="l" t="t" r="r" b="b"/>
            <a:pathLst>
              <a:path w="2574616" h="543010">
                <a:moveTo>
                  <a:pt x="0" y="0"/>
                </a:moveTo>
                <a:lnTo>
                  <a:pt x="2574616" y="0"/>
                </a:lnTo>
                <a:lnTo>
                  <a:pt x="2574616" y="543010"/>
                </a:lnTo>
                <a:lnTo>
                  <a:pt x="0" y="543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3" name="Freeform 76">
            <a:extLst>
              <a:ext uri="{FF2B5EF4-FFF2-40B4-BE49-F238E27FC236}">
                <a16:creationId xmlns:a16="http://schemas.microsoft.com/office/drawing/2014/main" id="{8CA7F7DE-4595-FBA1-70D3-16727FF270CB}"/>
              </a:ext>
            </a:extLst>
          </p:cNvPr>
          <p:cNvSpPr/>
          <p:nvPr/>
        </p:nvSpPr>
        <p:spPr>
          <a:xfrm>
            <a:off x="3170392" y="1933754"/>
            <a:ext cx="1287308" cy="271505"/>
          </a:xfrm>
          <a:custGeom>
            <a:avLst/>
            <a:gdLst/>
            <a:ahLst/>
            <a:cxnLst/>
            <a:rect l="l" t="t" r="r" b="b"/>
            <a:pathLst>
              <a:path w="2574616" h="543010">
                <a:moveTo>
                  <a:pt x="0" y="0"/>
                </a:moveTo>
                <a:lnTo>
                  <a:pt x="2574616" y="0"/>
                </a:lnTo>
                <a:lnTo>
                  <a:pt x="2574616" y="543010"/>
                </a:lnTo>
                <a:lnTo>
                  <a:pt x="0" y="543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4" name="TextBox 77">
            <a:extLst>
              <a:ext uri="{FF2B5EF4-FFF2-40B4-BE49-F238E27FC236}">
                <a16:creationId xmlns:a16="http://schemas.microsoft.com/office/drawing/2014/main" id="{A58622BC-3729-69E7-2259-BD99C0508642}"/>
              </a:ext>
            </a:extLst>
          </p:cNvPr>
          <p:cNvSpPr txBox="1"/>
          <p:nvPr/>
        </p:nvSpPr>
        <p:spPr>
          <a:xfrm>
            <a:off x="728451" y="1946650"/>
            <a:ext cx="749648" cy="200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클래스 분포</a:t>
            </a:r>
          </a:p>
        </p:txBody>
      </p:sp>
      <p:grpSp>
        <p:nvGrpSpPr>
          <p:cNvPr id="245" name="Group 78">
            <a:extLst>
              <a:ext uri="{FF2B5EF4-FFF2-40B4-BE49-F238E27FC236}">
                <a16:creationId xmlns:a16="http://schemas.microsoft.com/office/drawing/2014/main" id="{EB6E09C2-FD93-91EB-C097-FA3E4DCD45E5}"/>
              </a:ext>
            </a:extLst>
          </p:cNvPr>
          <p:cNvGrpSpPr/>
          <p:nvPr/>
        </p:nvGrpSpPr>
        <p:grpSpPr>
          <a:xfrm>
            <a:off x="649589" y="4233792"/>
            <a:ext cx="3815739" cy="269304"/>
            <a:chOff x="0" y="0"/>
            <a:chExt cx="10175303" cy="718144"/>
          </a:xfrm>
        </p:grpSpPr>
        <p:sp>
          <p:nvSpPr>
            <p:cNvPr id="246" name="Freeform 79">
              <a:extLst>
                <a:ext uri="{FF2B5EF4-FFF2-40B4-BE49-F238E27FC236}">
                  <a16:creationId xmlns:a16="http://schemas.microsoft.com/office/drawing/2014/main" id="{9F3F47EE-B78E-86EA-188B-6F9A9E2C66B0}"/>
                </a:ext>
              </a:extLst>
            </p:cNvPr>
            <p:cNvSpPr/>
            <p:nvPr/>
          </p:nvSpPr>
          <p:spPr>
            <a:xfrm>
              <a:off x="0" y="0"/>
              <a:ext cx="10175301" cy="718149"/>
            </a:xfrm>
            <a:custGeom>
              <a:avLst/>
              <a:gdLst/>
              <a:ahLst/>
              <a:cxnLst/>
              <a:rect l="l" t="t" r="r" b="b"/>
              <a:pathLst>
                <a:path w="10175301" h="718149">
                  <a:moveTo>
                    <a:pt x="0" y="0"/>
                  </a:moveTo>
                  <a:lnTo>
                    <a:pt x="10175301" y="0"/>
                  </a:lnTo>
                  <a:lnTo>
                    <a:pt x="10175301" y="718149"/>
                  </a:lnTo>
                  <a:lnTo>
                    <a:pt x="0" y="71814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66936" r="-31304" b="-358075"/>
              </a:stretch>
            </a:blipFill>
          </p:spPr>
        </p:sp>
        <p:sp>
          <p:nvSpPr>
            <p:cNvPr id="247" name="TextBox 80">
              <a:extLst>
                <a:ext uri="{FF2B5EF4-FFF2-40B4-BE49-F238E27FC236}">
                  <a16:creationId xmlns:a16="http://schemas.microsoft.com/office/drawing/2014/main" id="{0F0C1C7E-5F05-3830-CCF3-7443A86A4D1C}"/>
                </a:ext>
              </a:extLst>
            </p:cNvPr>
            <p:cNvSpPr txBox="1"/>
            <p:nvPr/>
          </p:nvSpPr>
          <p:spPr>
            <a:xfrm>
              <a:off x="0" y="0"/>
              <a:ext cx="10175303" cy="7181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결측 · 중복 0건 → 별도 클렌징 없이 run 단위 시계열로 통합</a:t>
              </a:r>
            </a:p>
          </p:txBody>
        </p:sp>
      </p:grpSp>
      <p:sp>
        <p:nvSpPr>
          <p:cNvPr id="248" name="TextBox 81">
            <a:extLst>
              <a:ext uri="{FF2B5EF4-FFF2-40B4-BE49-F238E27FC236}">
                <a16:creationId xmlns:a16="http://schemas.microsoft.com/office/drawing/2014/main" id="{5C164330-CB3F-55B4-9FB5-4535C2C8B997}"/>
              </a:ext>
            </a:extLst>
          </p:cNvPr>
          <p:cNvSpPr txBox="1"/>
          <p:nvPr/>
        </p:nvSpPr>
        <p:spPr>
          <a:xfrm>
            <a:off x="3238084" y="1946650"/>
            <a:ext cx="1171315" cy="200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기초통계 (변수별)</a:t>
            </a:r>
          </a:p>
        </p:txBody>
      </p:sp>
      <p:pic>
        <p:nvPicPr>
          <p:cNvPr id="249" name="Picture 82">
            <a:extLst>
              <a:ext uri="{FF2B5EF4-FFF2-40B4-BE49-F238E27FC236}">
                <a16:creationId xmlns:a16="http://schemas.microsoft.com/office/drawing/2014/main" id="{DC1D73D6-381F-99A6-CB6E-992F5783945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110" y="2175862"/>
            <a:ext cx="1912506" cy="1912506"/>
          </a:xfrm>
          <a:prstGeom prst="rect">
            <a:avLst/>
          </a:prstGeom>
        </p:spPr>
      </p:pic>
      <p:grpSp>
        <p:nvGrpSpPr>
          <p:cNvPr id="250" name="Group 83">
            <a:extLst>
              <a:ext uri="{FF2B5EF4-FFF2-40B4-BE49-F238E27FC236}">
                <a16:creationId xmlns:a16="http://schemas.microsoft.com/office/drawing/2014/main" id="{A89BEA9C-D5BB-7212-8F07-B17D92F72043}"/>
              </a:ext>
            </a:extLst>
          </p:cNvPr>
          <p:cNvGrpSpPr/>
          <p:nvPr/>
        </p:nvGrpSpPr>
        <p:grpSpPr>
          <a:xfrm>
            <a:off x="772725" y="2893520"/>
            <a:ext cx="803276" cy="477190"/>
            <a:chOff x="0" y="0"/>
            <a:chExt cx="2438400" cy="1448542"/>
          </a:xfrm>
        </p:grpSpPr>
        <p:sp>
          <p:nvSpPr>
            <p:cNvPr id="251" name="Freeform 84">
              <a:extLst>
                <a:ext uri="{FF2B5EF4-FFF2-40B4-BE49-F238E27FC236}">
                  <a16:creationId xmlns:a16="http://schemas.microsoft.com/office/drawing/2014/main" id="{689CD752-9E47-82BA-C905-0B452DB56E39}"/>
                </a:ext>
              </a:extLst>
            </p:cNvPr>
            <p:cNvSpPr/>
            <p:nvPr/>
          </p:nvSpPr>
          <p:spPr>
            <a:xfrm>
              <a:off x="0" y="0"/>
              <a:ext cx="2438400" cy="1448542"/>
            </a:xfrm>
            <a:custGeom>
              <a:avLst/>
              <a:gdLst/>
              <a:ahLst/>
              <a:cxnLst/>
              <a:rect l="l" t="t" r="r" b="b"/>
              <a:pathLst>
                <a:path w="2438400" h="1448542">
                  <a:moveTo>
                    <a:pt x="0" y="0"/>
                  </a:moveTo>
                  <a:lnTo>
                    <a:pt x="2438400" y="0"/>
                  </a:lnTo>
                  <a:lnTo>
                    <a:pt x="2438400" y="1448542"/>
                  </a:lnTo>
                  <a:lnTo>
                    <a:pt x="0" y="144854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6982" r="-26982" b="-1000"/>
              </a:stretch>
            </a:blipFill>
          </p:spPr>
        </p:sp>
        <p:sp>
          <p:nvSpPr>
            <p:cNvPr id="252" name="TextBox 85">
              <a:extLst>
                <a:ext uri="{FF2B5EF4-FFF2-40B4-BE49-F238E27FC236}">
                  <a16:creationId xmlns:a16="http://schemas.microsoft.com/office/drawing/2014/main" id="{3FC0F937-BA9B-75EC-1E4C-70A4309EED70}"/>
                </a:ext>
              </a:extLst>
            </p:cNvPr>
            <p:cNvSpPr txBox="1"/>
            <p:nvPr/>
          </p:nvSpPr>
          <p:spPr>
            <a:xfrm>
              <a:off x="0" y="-19050"/>
              <a:ext cx="2438400" cy="1467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F0BB7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11%</a:t>
              </a:r>
            </a:p>
            <a:p>
              <a:pPr algn="ctr">
                <a:lnSpc>
                  <a:spcPts val="960"/>
                </a:lnSpc>
              </a:pPr>
              <a:r>
                <a:rPr lang="en-US" sz="800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불량</a:t>
              </a:r>
            </a:p>
          </p:txBody>
        </p:sp>
      </p:grpSp>
      <p:grpSp>
        <p:nvGrpSpPr>
          <p:cNvPr id="253" name="Group 86">
            <a:extLst>
              <a:ext uri="{FF2B5EF4-FFF2-40B4-BE49-F238E27FC236}">
                <a16:creationId xmlns:a16="http://schemas.microsoft.com/office/drawing/2014/main" id="{24F8BB30-C90B-EA85-783F-F8C7E03F3F66}"/>
              </a:ext>
            </a:extLst>
          </p:cNvPr>
          <p:cNvGrpSpPr/>
          <p:nvPr/>
        </p:nvGrpSpPr>
        <p:grpSpPr>
          <a:xfrm>
            <a:off x="2094784" y="2893520"/>
            <a:ext cx="1385651" cy="465900"/>
            <a:chOff x="0" y="0"/>
            <a:chExt cx="3695070" cy="1242400"/>
          </a:xfrm>
        </p:grpSpPr>
        <p:grpSp>
          <p:nvGrpSpPr>
            <p:cNvPr id="254" name="Group 87">
              <a:extLst>
                <a:ext uri="{FF2B5EF4-FFF2-40B4-BE49-F238E27FC236}">
                  <a16:creationId xmlns:a16="http://schemas.microsoft.com/office/drawing/2014/main" id="{CC469803-5E49-C588-2FC4-0DC5EAFA8F3B}"/>
                </a:ext>
              </a:extLst>
            </p:cNvPr>
            <p:cNvGrpSpPr/>
            <p:nvPr/>
          </p:nvGrpSpPr>
          <p:grpSpPr>
            <a:xfrm>
              <a:off x="0" y="64262"/>
              <a:ext cx="364152" cy="364152"/>
              <a:chOff x="0" y="0"/>
              <a:chExt cx="414528" cy="414528"/>
            </a:xfrm>
          </p:grpSpPr>
          <p:sp>
            <p:nvSpPr>
              <p:cNvPr id="263" name="Freeform 88">
                <a:extLst>
                  <a:ext uri="{FF2B5EF4-FFF2-40B4-BE49-F238E27FC236}">
                    <a16:creationId xmlns:a16="http://schemas.microsoft.com/office/drawing/2014/main" id="{CAB23FBD-83C8-8D5E-F970-9A5DD55CE4CF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255" name="Group 89">
              <a:extLst>
                <a:ext uri="{FF2B5EF4-FFF2-40B4-BE49-F238E27FC236}">
                  <a16:creationId xmlns:a16="http://schemas.microsoft.com/office/drawing/2014/main" id="{60ADC24E-52C7-26B8-771C-9B6950E6AFF7}"/>
                </a:ext>
              </a:extLst>
            </p:cNvPr>
            <p:cNvGrpSpPr/>
            <p:nvPr/>
          </p:nvGrpSpPr>
          <p:grpSpPr>
            <a:xfrm>
              <a:off x="481966" y="0"/>
              <a:ext cx="3213104" cy="492676"/>
              <a:chOff x="0" y="0"/>
              <a:chExt cx="3657600" cy="560832"/>
            </a:xfrm>
          </p:grpSpPr>
          <p:sp>
            <p:nvSpPr>
              <p:cNvPr id="261" name="Freeform 90">
                <a:extLst>
                  <a:ext uri="{FF2B5EF4-FFF2-40B4-BE49-F238E27FC236}">
                    <a16:creationId xmlns:a16="http://schemas.microsoft.com/office/drawing/2014/main" id="{CCE9D3E3-ABB5-4848-7687-EA610912A24B}"/>
                  </a:ext>
                </a:extLst>
              </p:cNvPr>
              <p:cNvSpPr/>
              <p:nvPr/>
            </p:nvSpPr>
            <p:spPr>
              <a:xfrm>
                <a:off x="0" y="0"/>
                <a:ext cx="3657600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560832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b="-77076"/>
                </a:stretch>
              </a:blipFill>
            </p:spPr>
          </p:sp>
          <p:sp>
            <p:nvSpPr>
              <p:cNvPr id="262" name="TextBox 91">
                <a:extLst>
                  <a:ext uri="{FF2B5EF4-FFF2-40B4-BE49-F238E27FC236}">
                    <a16:creationId xmlns:a16="http://schemas.microsoft.com/office/drawing/2014/main" id="{522E8E25-9180-DFEA-25AC-69B7D517D99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57600" cy="58940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정상  89</a:t>
                </a:r>
              </a:p>
            </p:txBody>
          </p:sp>
        </p:grpSp>
        <p:grpSp>
          <p:nvGrpSpPr>
            <p:cNvPr id="256" name="Group 92">
              <a:extLst>
                <a:ext uri="{FF2B5EF4-FFF2-40B4-BE49-F238E27FC236}">
                  <a16:creationId xmlns:a16="http://schemas.microsoft.com/office/drawing/2014/main" id="{E315CAD7-59EF-C23B-E682-DA8B4D0EE63E}"/>
                </a:ext>
              </a:extLst>
            </p:cNvPr>
            <p:cNvGrpSpPr/>
            <p:nvPr/>
          </p:nvGrpSpPr>
          <p:grpSpPr>
            <a:xfrm>
              <a:off x="0" y="813986"/>
              <a:ext cx="364152" cy="364152"/>
              <a:chOff x="0" y="0"/>
              <a:chExt cx="414528" cy="414528"/>
            </a:xfrm>
          </p:grpSpPr>
          <p:sp>
            <p:nvSpPr>
              <p:cNvPr id="260" name="Freeform 93">
                <a:extLst>
                  <a:ext uri="{FF2B5EF4-FFF2-40B4-BE49-F238E27FC236}">
                    <a16:creationId xmlns:a16="http://schemas.microsoft.com/office/drawing/2014/main" id="{12EE9DC9-9197-C4AA-CB77-E1B8039D6D3B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F0BB78"/>
              </a:solidFill>
            </p:spPr>
          </p:sp>
        </p:grpSp>
        <p:grpSp>
          <p:nvGrpSpPr>
            <p:cNvPr id="257" name="Group 94">
              <a:extLst>
                <a:ext uri="{FF2B5EF4-FFF2-40B4-BE49-F238E27FC236}">
                  <a16:creationId xmlns:a16="http://schemas.microsoft.com/office/drawing/2014/main" id="{E472380F-8FE9-4143-2DBB-E79DA196D76E}"/>
                </a:ext>
              </a:extLst>
            </p:cNvPr>
            <p:cNvGrpSpPr/>
            <p:nvPr/>
          </p:nvGrpSpPr>
          <p:grpSpPr>
            <a:xfrm>
              <a:off x="481966" y="749724"/>
              <a:ext cx="3213104" cy="492676"/>
              <a:chOff x="0" y="0"/>
              <a:chExt cx="3657600" cy="560832"/>
            </a:xfrm>
          </p:grpSpPr>
          <p:sp>
            <p:nvSpPr>
              <p:cNvPr id="258" name="Freeform 95">
                <a:extLst>
                  <a:ext uri="{FF2B5EF4-FFF2-40B4-BE49-F238E27FC236}">
                    <a16:creationId xmlns:a16="http://schemas.microsoft.com/office/drawing/2014/main" id="{872872FA-66CC-DF8E-0B71-F817EF16D508}"/>
                  </a:ext>
                </a:extLst>
              </p:cNvPr>
              <p:cNvSpPr/>
              <p:nvPr/>
            </p:nvSpPr>
            <p:spPr>
              <a:xfrm>
                <a:off x="0" y="0"/>
                <a:ext cx="3657600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560832">
                    <a:moveTo>
                      <a:pt x="0" y="0"/>
                    </a:moveTo>
                    <a:lnTo>
                      <a:pt x="3657600" y="0"/>
                    </a:lnTo>
                    <a:lnTo>
                      <a:pt x="3657600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b="-77076"/>
                </a:stretch>
              </a:blipFill>
            </p:spPr>
          </p:sp>
          <p:sp>
            <p:nvSpPr>
              <p:cNvPr id="259" name="TextBox 96">
                <a:extLst>
                  <a:ext uri="{FF2B5EF4-FFF2-40B4-BE49-F238E27FC236}">
                    <a16:creationId xmlns:a16="http://schemas.microsoft.com/office/drawing/2014/main" id="{ACD56549-3CD3-12A4-6B1D-5E2ED1BDC3AA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657600" cy="58940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불량  11</a:t>
                </a:r>
              </a:p>
            </p:txBody>
          </p:sp>
        </p:grpSp>
      </p:grpSp>
      <p:graphicFrame>
        <p:nvGraphicFramePr>
          <p:cNvPr id="264" name="Table 97">
            <a:extLst>
              <a:ext uri="{FF2B5EF4-FFF2-40B4-BE49-F238E27FC236}">
                <a16:creationId xmlns:a16="http://schemas.microsoft.com/office/drawing/2014/main" id="{25508CE6-E42C-8649-0F71-F8C48152AA91}"/>
              </a:ext>
            </a:extLst>
          </p:cNvPr>
          <p:cNvGraphicFramePr>
            <a:graphicFrameLocks noGrp="1"/>
          </p:cNvGraphicFramePr>
          <p:nvPr/>
        </p:nvGraphicFramePr>
        <p:xfrm>
          <a:off x="3133090" y="2413184"/>
          <a:ext cx="5690872" cy="1491996"/>
        </p:xfrm>
        <a:graphic>
          <a:graphicData uri="http://schemas.openxmlformats.org/drawingml/2006/table">
            <a:tbl>
              <a:tblPr/>
              <a:tblGrid>
                <a:gridCol w="1140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6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6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37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변수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6F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평균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6F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표준편차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6F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최대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6F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87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262A1E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전류 (A)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551.45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286.06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1522.0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87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262A1E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전압 (V)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23.22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6.26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31.10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87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262A1E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온도 (℃)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12.42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2.17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2Z Medium"/>
                          <a:ea typeface="A2Z Medium"/>
                          <a:cs typeface="A2Z Medium"/>
                          <a:sym typeface="A2Z Medium"/>
                        </a:rPr>
                        <a:t>18.0</a:t>
                      </a:r>
                      <a:endParaRPr lang="en-US" sz="600"/>
                    </a:p>
                  </a:txBody>
                  <a:tcPr marL="45720" marR="45720" anchor="ctr">
                    <a:lnL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2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E2B9F-DA0C-0519-EB0B-4BCA85C3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D7FCF97-93AF-9ACB-7811-4279C844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B4829EB-8569-D9F1-BBF7-12DCDF882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22415FB-04A8-DC94-9E97-4AFE44DAD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8217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13DBEE1-410B-F289-F514-1C47D0141B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4DB31DB-4480-1914-3835-21060A5118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C7C64F1F-DB08-BA35-466B-A04867770005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322E538A-BE7D-9A21-9093-AD425055DD99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특징</a:t>
            </a:r>
            <a:endParaRPr lang="en-US" sz="1200" dirty="0"/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9A62F72E-CFE5-A1EF-ABBB-51F66B0B1482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229C37B4-4D27-E3BC-0A2A-53FC061584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76" name="Group 71">
            <a:extLst>
              <a:ext uri="{FF2B5EF4-FFF2-40B4-BE49-F238E27FC236}">
                <a16:creationId xmlns:a16="http://schemas.microsoft.com/office/drawing/2014/main" id="{5DD66901-06DE-FD71-BB58-F550C770BA4A}"/>
              </a:ext>
            </a:extLst>
          </p:cNvPr>
          <p:cNvGrpSpPr/>
          <p:nvPr/>
        </p:nvGrpSpPr>
        <p:grpSpPr>
          <a:xfrm>
            <a:off x="446120" y="2022778"/>
            <a:ext cx="3706216" cy="288261"/>
            <a:chOff x="0" y="0"/>
            <a:chExt cx="9883242" cy="768697"/>
          </a:xfrm>
        </p:grpSpPr>
        <p:sp>
          <p:nvSpPr>
            <p:cNvPr id="77" name="Freeform 72">
              <a:extLst>
                <a:ext uri="{FF2B5EF4-FFF2-40B4-BE49-F238E27FC236}">
                  <a16:creationId xmlns:a16="http://schemas.microsoft.com/office/drawing/2014/main" id="{FC3D47C0-DBF7-247D-9767-F412C0AF61BC}"/>
                </a:ext>
              </a:extLst>
            </p:cNvPr>
            <p:cNvSpPr/>
            <p:nvPr/>
          </p:nvSpPr>
          <p:spPr>
            <a:xfrm>
              <a:off x="0" y="0"/>
              <a:ext cx="9883241" cy="768700"/>
            </a:xfrm>
            <a:custGeom>
              <a:avLst/>
              <a:gdLst/>
              <a:ahLst/>
              <a:cxnLst/>
              <a:rect l="l" t="t" r="r" b="b"/>
              <a:pathLst>
                <a:path w="9883241" h="768700">
                  <a:moveTo>
                    <a:pt x="0" y="0"/>
                  </a:moveTo>
                  <a:lnTo>
                    <a:pt x="9883241" y="0"/>
                  </a:lnTo>
                  <a:lnTo>
                    <a:pt x="9883241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00521" b="-200520"/>
              </a:stretch>
            </a:blipFill>
          </p:spPr>
        </p:sp>
        <p:sp>
          <p:nvSpPr>
            <p:cNvPr id="78" name="TextBox 73">
              <a:extLst>
                <a:ext uri="{FF2B5EF4-FFF2-40B4-BE49-F238E27FC236}">
                  <a16:creationId xmlns:a16="http://schemas.microsoft.com/office/drawing/2014/main" id="{470468D1-CABA-6002-75DD-9EC2E62FC905}"/>
                </a:ext>
              </a:extLst>
            </p:cNvPr>
            <p:cNvSpPr txBox="1"/>
            <p:nvPr/>
          </p:nvSpPr>
          <p:spPr>
            <a:xfrm>
              <a:off x="0" y="-28575"/>
              <a:ext cx="9883242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시계열 길이 분포 히스토그램</a:t>
              </a:r>
            </a:p>
          </p:txBody>
        </p:sp>
      </p:grpSp>
      <p:grpSp>
        <p:nvGrpSpPr>
          <p:cNvPr id="81" name="Group 78">
            <a:extLst>
              <a:ext uri="{FF2B5EF4-FFF2-40B4-BE49-F238E27FC236}">
                <a16:creationId xmlns:a16="http://schemas.microsoft.com/office/drawing/2014/main" id="{DC76EFD3-A7DD-CEA2-3B37-30DED90C65BB}"/>
              </a:ext>
            </a:extLst>
          </p:cNvPr>
          <p:cNvGrpSpPr/>
          <p:nvPr/>
        </p:nvGrpSpPr>
        <p:grpSpPr>
          <a:xfrm>
            <a:off x="5342169" y="2029500"/>
            <a:ext cx="3706216" cy="288261"/>
            <a:chOff x="0" y="0"/>
            <a:chExt cx="9883242" cy="768697"/>
          </a:xfrm>
        </p:grpSpPr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B3696733-DDF8-60E2-E4CE-18A97723C4C0}"/>
                </a:ext>
              </a:extLst>
            </p:cNvPr>
            <p:cNvSpPr/>
            <p:nvPr/>
          </p:nvSpPr>
          <p:spPr>
            <a:xfrm>
              <a:off x="0" y="0"/>
              <a:ext cx="9883241" cy="768700"/>
            </a:xfrm>
            <a:custGeom>
              <a:avLst/>
              <a:gdLst/>
              <a:ahLst/>
              <a:cxnLst/>
              <a:rect l="l" t="t" r="r" b="b"/>
              <a:pathLst>
                <a:path w="9883241" h="768700">
                  <a:moveTo>
                    <a:pt x="0" y="0"/>
                  </a:moveTo>
                  <a:lnTo>
                    <a:pt x="9883241" y="0"/>
                  </a:lnTo>
                  <a:lnTo>
                    <a:pt x="9883241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00521" b="-200520"/>
              </a:stretch>
            </a:blipFill>
          </p:spPr>
        </p:sp>
        <p:sp>
          <p:nvSpPr>
            <p:cNvPr id="83" name="TextBox 80">
              <a:extLst>
                <a:ext uri="{FF2B5EF4-FFF2-40B4-BE49-F238E27FC236}">
                  <a16:creationId xmlns:a16="http://schemas.microsoft.com/office/drawing/2014/main" id="{6289A9E2-CEA9-C6B1-FBCC-2A95405731B4}"/>
                </a:ext>
              </a:extLst>
            </p:cNvPr>
            <p:cNvSpPr txBox="1"/>
            <p:nvPr/>
          </p:nvSpPr>
          <p:spPr>
            <a:xfrm>
              <a:off x="0" y="-28575"/>
              <a:ext cx="9883242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원인 변수가 기계마다 다름</a:t>
              </a:r>
            </a:p>
          </p:txBody>
        </p:sp>
      </p:grpSp>
      <p:grpSp>
        <p:nvGrpSpPr>
          <p:cNvPr id="111" name="Group 22">
            <a:extLst>
              <a:ext uri="{FF2B5EF4-FFF2-40B4-BE49-F238E27FC236}">
                <a16:creationId xmlns:a16="http://schemas.microsoft.com/office/drawing/2014/main" id="{0D6BE592-D4C3-2FC9-0E25-D4C71D3E3173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112" name="Freeform 23">
              <a:extLst>
                <a:ext uri="{FF2B5EF4-FFF2-40B4-BE49-F238E27FC236}">
                  <a16:creationId xmlns:a16="http://schemas.microsoft.com/office/drawing/2014/main" id="{3B159C7E-2E4C-2B71-CCA3-4F7834F3040A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13" name="Group 22">
            <a:extLst>
              <a:ext uri="{FF2B5EF4-FFF2-40B4-BE49-F238E27FC236}">
                <a16:creationId xmlns:a16="http://schemas.microsoft.com/office/drawing/2014/main" id="{328B6747-1AB5-EC99-7725-E68C3071FF9D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214" name="Freeform 23">
              <a:extLst>
                <a:ext uri="{FF2B5EF4-FFF2-40B4-BE49-F238E27FC236}">
                  <a16:creationId xmlns:a16="http://schemas.microsoft.com/office/drawing/2014/main" id="{717ED424-BBA9-69B8-C363-6A4C997A56B4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15" name="Group 24">
            <a:extLst>
              <a:ext uri="{FF2B5EF4-FFF2-40B4-BE49-F238E27FC236}">
                <a16:creationId xmlns:a16="http://schemas.microsoft.com/office/drawing/2014/main" id="{9C7658F5-172A-D1DD-DB83-A1B76B599114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216" name="Freeform 25" descr="logo.png">
              <a:extLst>
                <a:ext uri="{FF2B5EF4-FFF2-40B4-BE49-F238E27FC236}">
                  <a16:creationId xmlns:a16="http://schemas.microsoft.com/office/drawing/2014/main" id="{C34E00B2-A76C-A523-A7DC-1C1C0D3B7C5A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8" b="8"/>
              </a:stretch>
            </a:blipFill>
          </p:spPr>
        </p:sp>
      </p:grpSp>
      <p:grpSp>
        <p:nvGrpSpPr>
          <p:cNvPr id="217" name="Group 26">
            <a:extLst>
              <a:ext uri="{FF2B5EF4-FFF2-40B4-BE49-F238E27FC236}">
                <a16:creationId xmlns:a16="http://schemas.microsoft.com/office/drawing/2014/main" id="{2CE334C1-B97C-3EC8-8E43-1ED974845F83}"/>
              </a:ext>
            </a:extLst>
          </p:cNvPr>
          <p:cNvGrpSpPr/>
          <p:nvPr/>
        </p:nvGrpSpPr>
        <p:grpSpPr>
          <a:xfrm>
            <a:off x="3270301" y="1447863"/>
            <a:ext cx="5495299" cy="425530"/>
            <a:chOff x="0" y="0"/>
            <a:chExt cx="14654130" cy="1134745"/>
          </a:xfrm>
        </p:grpSpPr>
        <p:sp>
          <p:nvSpPr>
            <p:cNvPr id="218" name="Freeform 27">
              <a:extLst>
                <a:ext uri="{FF2B5EF4-FFF2-40B4-BE49-F238E27FC236}">
                  <a16:creationId xmlns:a16="http://schemas.microsoft.com/office/drawing/2014/main" id="{74DBFBD0-508C-D26C-7182-8B6C910A3994}"/>
                </a:ext>
              </a:extLst>
            </p:cNvPr>
            <p:cNvSpPr/>
            <p:nvPr/>
          </p:nvSpPr>
          <p:spPr>
            <a:xfrm>
              <a:off x="0" y="0"/>
              <a:ext cx="14654168" cy="1134783"/>
            </a:xfrm>
            <a:custGeom>
              <a:avLst/>
              <a:gdLst/>
              <a:ahLst/>
              <a:cxnLst/>
              <a:rect l="l" t="t" r="r" b="b"/>
              <a:pathLst>
                <a:path w="14654168" h="1134783">
                  <a:moveTo>
                    <a:pt x="0" y="189142"/>
                  </a:moveTo>
                  <a:cubicBezTo>
                    <a:pt x="0" y="84708"/>
                    <a:pt x="84973" y="0"/>
                    <a:pt x="189735" y="0"/>
                  </a:cubicBezTo>
                  <a:lnTo>
                    <a:pt x="14464421" y="0"/>
                  </a:lnTo>
                  <a:cubicBezTo>
                    <a:pt x="14569182" y="0"/>
                    <a:pt x="14654168" y="84708"/>
                    <a:pt x="14654168" y="189142"/>
                  </a:cubicBezTo>
                  <a:lnTo>
                    <a:pt x="14654168" y="945628"/>
                  </a:lnTo>
                  <a:cubicBezTo>
                    <a:pt x="14654168" y="1050062"/>
                    <a:pt x="14569182" y="1134783"/>
                    <a:pt x="14464421" y="1134783"/>
                  </a:cubicBezTo>
                  <a:lnTo>
                    <a:pt x="189735" y="1134783"/>
                  </a:lnTo>
                  <a:cubicBezTo>
                    <a:pt x="84973" y="1134783"/>
                    <a:pt x="0" y="1050062"/>
                    <a:pt x="0" y="945628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219" name="Group 28">
            <a:extLst>
              <a:ext uri="{FF2B5EF4-FFF2-40B4-BE49-F238E27FC236}">
                <a16:creationId xmlns:a16="http://schemas.microsoft.com/office/drawing/2014/main" id="{531F4688-745E-0061-EAC1-5C2CBC366E44}"/>
              </a:ext>
            </a:extLst>
          </p:cNvPr>
          <p:cNvGrpSpPr/>
          <p:nvPr/>
        </p:nvGrpSpPr>
        <p:grpSpPr>
          <a:xfrm>
            <a:off x="3377356" y="1403251"/>
            <a:ext cx="3280105" cy="514752"/>
            <a:chOff x="0" y="0"/>
            <a:chExt cx="8746947" cy="1372672"/>
          </a:xfrm>
        </p:grpSpPr>
        <p:sp>
          <p:nvSpPr>
            <p:cNvPr id="220" name="Freeform 29">
              <a:extLst>
                <a:ext uri="{FF2B5EF4-FFF2-40B4-BE49-F238E27FC236}">
                  <a16:creationId xmlns:a16="http://schemas.microsoft.com/office/drawing/2014/main" id="{8B7F6D8A-627A-5362-B463-0D43BA0214B2}"/>
                </a:ext>
              </a:extLst>
            </p:cNvPr>
            <p:cNvSpPr/>
            <p:nvPr/>
          </p:nvSpPr>
          <p:spPr>
            <a:xfrm>
              <a:off x="0" y="0"/>
              <a:ext cx="8746945" cy="1372678"/>
            </a:xfrm>
            <a:custGeom>
              <a:avLst/>
              <a:gdLst/>
              <a:ahLst/>
              <a:cxnLst/>
              <a:rect l="l" t="t" r="r" b="b"/>
              <a:pathLst>
                <a:path w="8746945" h="1372678">
                  <a:moveTo>
                    <a:pt x="0" y="0"/>
                  </a:moveTo>
                  <a:lnTo>
                    <a:pt x="8746945" y="0"/>
                  </a:lnTo>
                  <a:lnTo>
                    <a:pt x="8746945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39654" r="-52746" b="-139653"/>
              </a:stretch>
            </a:blipFill>
          </p:spPr>
        </p:sp>
        <p:sp>
          <p:nvSpPr>
            <p:cNvPr id="221" name="TextBox 30">
              <a:extLst>
                <a:ext uri="{FF2B5EF4-FFF2-40B4-BE49-F238E27FC236}">
                  <a16:creationId xmlns:a16="http://schemas.microsoft.com/office/drawing/2014/main" id="{9D1F2E9B-F959-44DE-DF38-5A16FF74C654}"/>
                </a:ext>
              </a:extLst>
            </p:cNvPr>
            <p:cNvSpPr txBox="1"/>
            <p:nvPr/>
          </p:nvSpPr>
          <p:spPr>
            <a:xfrm>
              <a:off x="0" y="0"/>
              <a:ext cx="8746947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평균 수준 차이는 존재하나 단일 변수로는 한계</a:t>
              </a: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변수 결합·파생 정보가 중요</a:t>
              </a:r>
            </a:p>
          </p:txBody>
        </p:sp>
      </p:grpSp>
      <p:grpSp>
        <p:nvGrpSpPr>
          <p:cNvPr id="222" name="Group 31">
            <a:extLst>
              <a:ext uri="{FF2B5EF4-FFF2-40B4-BE49-F238E27FC236}">
                <a16:creationId xmlns:a16="http://schemas.microsoft.com/office/drawing/2014/main" id="{3318D2FE-4E70-D32E-C398-5EA804E70F06}"/>
              </a:ext>
            </a:extLst>
          </p:cNvPr>
          <p:cNvGrpSpPr/>
          <p:nvPr/>
        </p:nvGrpSpPr>
        <p:grpSpPr>
          <a:xfrm>
            <a:off x="6260567" y="1564539"/>
            <a:ext cx="314531" cy="192177"/>
            <a:chOff x="0" y="0"/>
            <a:chExt cx="838750" cy="512470"/>
          </a:xfrm>
        </p:grpSpPr>
        <p:sp>
          <p:nvSpPr>
            <p:cNvPr id="223" name="Freeform 32">
              <a:extLst>
                <a:ext uri="{FF2B5EF4-FFF2-40B4-BE49-F238E27FC236}">
                  <a16:creationId xmlns:a16="http://schemas.microsoft.com/office/drawing/2014/main" id="{56BE6FD4-2684-7B97-AE24-206FDAC8BE89}"/>
                </a:ext>
              </a:extLst>
            </p:cNvPr>
            <p:cNvSpPr/>
            <p:nvPr/>
          </p:nvSpPr>
          <p:spPr>
            <a:xfrm>
              <a:off x="0" y="0"/>
              <a:ext cx="838762" cy="512445"/>
            </a:xfrm>
            <a:custGeom>
              <a:avLst/>
              <a:gdLst/>
              <a:ahLst/>
              <a:cxnLst/>
              <a:rect l="l" t="t" r="r" b="b"/>
              <a:pathLst>
                <a:path w="838762" h="512445">
                  <a:moveTo>
                    <a:pt x="0" y="128143"/>
                  </a:moveTo>
                  <a:lnTo>
                    <a:pt x="670973" y="128143"/>
                  </a:lnTo>
                  <a:lnTo>
                    <a:pt x="670973" y="0"/>
                  </a:lnTo>
                  <a:lnTo>
                    <a:pt x="838762" y="256286"/>
                  </a:lnTo>
                  <a:lnTo>
                    <a:pt x="670973" y="512445"/>
                  </a:lnTo>
                  <a:lnTo>
                    <a:pt x="670973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24" name="Group 33">
            <a:extLst>
              <a:ext uri="{FF2B5EF4-FFF2-40B4-BE49-F238E27FC236}">
                <a16:creationId xmlns:a16="http://schemas.microsoft.com/office/drawing/2014/main" id="{EF27EB7F-CEAC-4CB8-8A57-19C160C71ED7}"/>
              </a:ext>
            </a:extLst>
          </p:cNvPr>
          <p:cNvGrpSpPr/>
          <p:nvPr/>
        </p:nvGrpSpPr>
        <p:grpSpPr>
          <a:xfrm>
            <a:off x="7062273" y="1334618"/>
            <a:ext cx="1460321" cy="652020"/>
            <a:chOff x="0" y="0"/>
            <a:chExt cx="3894189" cy="1738718"/>
          </a:xfrm>
        </p:grpSpPr>
        <p:sp>
          <p:nvSpPr>
            <p:cNvPr id="225" name="Freeform 34">
              <a:extLst>
                <a:ext uri="{FF2B5EF4-FFF2-40B4-BE49-F238E27FC236}">
                  <a16:creationId xmlns:a16="http://schemas.microsoft.com/office/drawing/2014/main" id="{E567E3AB-1924-84D4-DAE6-17913E69D6B2}"/>
                </a:ext>
              </a:extLst>
            </p:cNvPr>
            <p:cNvSpPr/>
            <p:nvPr/>
          </p:nvSpPr>
          <p:spPr>
            <a:xfrm>
              <a:off x="0" y="0"/>
              <a:ext cx="3894188" cy="1738718"/>
            </a:xfrm>
            <a:custGeom>
              <a:avLst/>
              <a:gdLst/>
              <a:ahLst/>
              <a:cxnLst/>
              <a:rect l="l" t="t" r="r" b="b"/>
              <a:pathLst>
                <a:path w="3894188" h="1738718">
                  <a:moveTo>
                    <a:pt x="0" y="0"/>
                  </a:moveTo>
                  <a:lnTo>
                    <a:pt x="3894188" y="0"/>
                  </a:lnTo>
                  <a:lnTo>
                    <a:pt x="389418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659" r="-52746" b="-16659"/>
              </a:stretch>
            </a:blipFill>
          </p:spPr>
        </p:sp>
        <p:sp>
          <p:nvSpPr>
            <p:cNvPr id="226" name="TextBox 35">
              <a:extLst>
                <a:ext uri="{FF2B5EF4-FFF2-40B4-BE49-F238E27FC236}">
                  <a16:creationId xmlns:a16="http://schemas.microsoft.com/office/drawing/2014/main" id="{37A7A375-FCBE-1481-53EC-39A1F85BCE1B}"/>
                </a:ext>
              </a:extLst>
            </p:cNvPr>
            <p:cNvSpPr txBox="1"/>
            <p:nvPr/>
          </p:nvSpPr>
          <p:spPr>
            <a:xfrm>
              <a:off x="0" y="-9525"/>
              <a:ext cx="3894189" cy="17482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19"/>
                </a:lnSpc>
              </a:pPr>
              <a:r>
                <a:rPr lang="en-US" sz="112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파생변수 설계의 근거</a:t>
              </a:r>
            </a:p>
          </p:txBody>
        </p:sp>
      </p:grpSp>
      <p:grpSp>
        <p:nvGrpSpPr>
          <p:cNvPr id="227" name="Group 36">
            <a:extLst>
              <a:ext uri="{FF2B5EF4-FFF2-40B4-BE49-F238E27FC236}">
                <a16:creationId xmlns:a16="http://schemas.microsoft.com/office/drawing/2014/main" id="{DDE3B17D-1052-ACB7-5085-249A7D97949F}"/>
              </a:ext>
            </a:extLst>
          </p:cNvPr>
          <p:cNvGrpSpPr/>
          <p:nvPr/>
        </p:nvGrpSpPr>
        <p:grpSpPr>
          <a:xfrm>
            <a:off x="377486" y="910433"/>
            <a:ext cx="2838607" cy="975598"/>
            <a:chOff x="0" y="0"/>
            <a:chExt cx="7569619" cy="2601593"/>
          </a:xfrm>
        </p:grpSpPr>
        <p:sp>
          <p:nvSpPr>
            <p:cNvPr id="228" name="Freeform 37">
              <a:extLst>
                <a:ext uri="{FF2B5EF4-FFF2-40B4-BE49-F238E27FC236}">
                  <a16:creationId xmlns:a16="http://schemas.microsoft.com/office/drawing/2014/main" id="{DE3C3F46-E942-5F61-90C2-1DAEE2E059D2}"/>
                </a:ext>
              </a:extLst>
            </p:cNvPr>
            <p:cNvSpPr/>
            <p:nvPr/>
          </p:nvSpPr>
          <p:spPr>
            <a:xfrm>
              <a:off x="0" y="0"/>
              <a:ext cx="7569658" cy="2601632"/>
            </a:xfrm>
            <a:custGeom>
              <a:avLst/>
              <a:gdLst/>
              <a:ahLst/>
              <a:cxnLst/>
              <a:rect l="l" t="t" r="r" b="b"/>
              <a:pathLst>
                <a:path w="7569658" h="2601632">
                  <a:moveTo>
                    <a:pt x="0" y="59724"/>
                  </a:moveTo>
                  <a:cubicBezTo>
                    <a:pt x="0" y="26770"/>
                    <a:pt x="19881" y="0"/>
                    <a:pt x="44355" y="0"/>
                  </a:cubicBezTo>
                  <a:lnTo>
                    <a:pt x="7525284" y="0"/>
                  </a:lnTo>
                  <a:cubicBezTo>
                    <a:pt x="7549758" y="0"/>
                    <a:pt x="7569658" y="26770"/>
                    <a:pt x="7569658" y="59724"/>
                  </a:cubicBezTo>
                  <a:lnTo>
                    <a:pt x="7569658" y="2541896"/>
                  </a:lnTo>
                  <a:cubicBezTo>
                    <a:pt x="7569658" y="2574850"/>
                    <a:pt x="7549758" y="2601632"/>
                    <a:pt x="7525284" y="2601632"/>
                  </a:cubicBezTo>
                  <a:lnTo>
                    <a:pt x="44355" y="2601632"/>
                  </a:lnTo>
                  <a:cubicBezTo>
                    <a:pt x="19881" y="2601632"/>
                    <a:pt x="0" y="2574850"/>
                    <a:pt x="0" y="254189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29" name="Group 38">
            <a:extLst>
              <a:ext uri="{FF2B5EF4-FFF2-40B4-BE49-F238E27FC236}">
                <a16:creationId xmlns:a16="http://schemas.microsoft.com/office/drawing/2014/main" id="{965A3333-2991-60A9-F055-8ADEB52F7C8F}"/>
              </a:ext>
            </a:extLst>
          </p:cNvPr>
          <p:cNvGrpSpPr/>
          <p:nvPr/>
        </p:nvGrpSpPr>
        <p:grpSpPr>
          <a:xfrm>
            <a:off x="377486" y="907354"/>
            <a:ext cx="1612274" cy="288261"/>
            <a:chOff x="0" y="0"/>
            <a:chExt cx="4299397" cy="768697"/>
          </a:xfrm>
        </p:grpSpPr>
        <p:grpSp>
          <p:nvGrpSpPr>
            <p:cNvPr id="230" name="Group 39">
              <a:extLst>
                <a:ext uri="{FF2B5EF4-FFF2-40B4-BE49-F238E27FC236}">
                  <a16:creationId xmlns:a16="http://schemas.microsoft.com/office/drawing/2014/main" id="{8C2FED8C-DAD3-B713-3062-FF2DB1C80C30}"/>
                </a:ext>
              </a:extLst>
            </p:cNvPr>
            <p:cNvGrpSpPr/>
            <p:nvPr/>
          </p:nvGrpSpPr>
          <p:grpSpPr>
            <a:xfrm>
              <a:off x="0" y="0"/>
              <a:ext cx="4299397" cy="768693"/>
              <a:chOff x="0" y="0"/>
              <a:chExt cx="4299397" cy="768693"/>
            </a:xfrm>
          </p:grpSpPr>
          <p:sp>
            <p:nvSpPr>
              <p:cNvPr id="234" name="Freeform 40">
                <a:extLst>
                  <a:ext uri="{FF2B5EF4-FFF2-40B4-BE49-F238E27FC236}">
                    <a16:creationId xmlns:a16="http://schemas.microsoft.com/office/drawing/2014/main" id="{CAC731F1-1D38-2B2D-09EB-EE2E1C623647}"/>
                  </a:ext>
                </a:extLst>
              </p:cNvPr>
              <p:cNvSpPr/>
              <p:nvPr/>
            </p:nvSpPr>
            <p:spPr>
              <a:xfrm>
                <a:off x="0" y="0"/>
                <a:ext cx="4299398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4299398" h="768731">
                    <a:moveTo>
                      <a:pt x="0" y="128143"/>
                    </a:moveTo>
                    <a:cubicBezTo>
                      <a:pt x="0" y="57404"/>
                      <a:pt x="24080" y="0"/>
                      <a:pt x="53754" y="0"/>
                    </a:cubicBezTo>
                    <a:lnTo>
                      <a:pt x="4245644" y="0"/>
                    </a:lnTo>
                    <a:cubicBezTo>
                      <a:pt x="4275317" y="0"/>
                      <a:pt x="4299398" y="57404"/>
                      <a:pt x="4299398" y="128143"/>
                    </a:cubicBezTo>
                    <a:lnTo>
                      <a:pt x="4299398" y="640588"/>
                    </a:lnTo>
                    <a:cubicBezTo>
                      <a:pt x="4299398" y="711327"/>
                      <a:pt x="4275317" y="768731"/>
                      <a:pt x="4245644" y="768731"/>
                    </a:cubicBezTo>
                    <a:lnTo>
                      <a:pt x="53754" y="768731"/>
                    </a:lnTo>
                    <a:cubicBezTo>
                      <a:pt x="24080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31" name="Group 41">
              <a:extLst>
                <a:ext uri="{FF2B5EF4-FFF2-40B4-BE49-F238E27FC236}">
                  <a16:creationId xmlns:a16="http://schemas.microsoft.com/office/drawing/2014/main" id="{360D0363-350D-F2A0-E049-7D2ED4F615A5}"/>
                </a:ext>
              </a:extLst>
            </p:cNvPr>
            <p:cNvGrpSpPr/>
            <p:nvPr/>
          </p:nvGrpSpPr>
          <p:grpSpPr>
            <a:xfrm>
              <a:off x="219621" y="0"/>
              <a:ext cx="4079776" cy="768697"/>
              <a:chOff x="0" y="0"/>
              <a:chExt cx="4079776" cy="768697"/>
            </a:xfrm>
          </p:grpSpPr>
          <p:sp>
            <p:nvSpPr>
              <p:cNvPr id="232" name="Freeform 42">
                <a:extLst>
                  <a:ext uri="{FF2B5EF4-FFF2-40B4-BE49-F238E27FC236}">
                    <a16:creationId xmlns:a16="http://schemas.microsoft.com/office/drawing/2014/main" id="{9B95C395-A491-E363-EBB1-546E836D8DA3}"/>
                  </a:ext>
                </a:extLst>
              </p:cNvPr>
              <p:cNvSpPr/>
              <p:nvPr/>
            </p:nvSpPr>
            <p:spPr>
              <a:xfrm>
                <a:off x="0" y="0"/>
                <a:ext cx="4079776" cy="768700"/>
              </a:xfrm>
              <a:custGeom>
                <a:avLst/>
                <a:gdLst/>
                <a:ahLst/>
                <a:cxnLst/>
                <a:rect l="l" t="t" r="r" b="b"/>
                <a:pathLst>
                  <a:path w="4079776" h="768700">
                    <a:moveTo>
                      <a:pt x="0" y="0"/>
                    </a:moveTo>
                    <a:lnTo>
                      <a:pt x="4079776" y="0"/>
                    </a:lnTo>
                    <a:lnTo>
                      <a:pt x="4079776" y="768700"/>
                    </a:lnTo>
                    <a:lnTo>
                      <a:pt x="0" y="768700"/>
                    </a:lnTo>
                    <a:close/>
                  </a:path>
                </a:pathLst>
              </a:custGeom>
              <a:blipFill>
                <a:blip r:embed="rId8">
                  <a:alphaModFix amt="0"/>
                </a:blip>
                <a:stretch>
                  <a:fillRect t="-200521" r="-142249" b="-200520"/>
                </a:stretch>
              </a:blipFill>
            </p:spPr>
          </p:sp>
          <p:sp>
            <p:nvSpPr>
              <p:cNvPr id="233" name="TextBox 43">
                <a:extLst>
                  <a:ext uri="{FF2B5EF4-FFF2-40B4-BE49-F238E27FC236}">
                    <a16:creationId xmlns:a16="http://schemas.microsoft.com/office/drawing/2014/main" id="{700C878C-773A-4F88-C3B9-E4D02DF4070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4079776" cy="797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시퀀스 길이 ( 측정 레코드 수 )</a:t>
                </a:r>
              </a:p>
            </p:txBody>
          </p:sp>
        </p:grpSp>
      </p:grpSp>
      <p:grpSp>
        <p:nvGrpSpPr>
          <p:cNvPr id="235" name="Group 44">
            <a:extLst>
              <a:ext uri="{FF2B5EF4-FFF2-40B4-BE49-F238E27FC236}">
                <a16:creationId xmlns:a16="http://schemas.microsoft.com/office/drawing/2014/main" id="{AA595813-D008-81C3-941C-002EB053C60B}"/>
              </a:ext>
            </a:extLst>
          </p:cNvPr>
          <p:cNvGrpSpPr/>
          <p:nvPr/>
        </p:nvGrpSpPr>
        <p:grpSpPr>
          <a:xfrm>
            <a:off x="569450" y="1463434"/>
            <a:ext cx="576178" cy="254446"/>
            <a:chOff x="0" y="0"/>
            <a:chExt cx="1536474" cy="678522"/>
          </a:xfrm>
        </p:grpSpPr>
        <p:sp>
          <p:nvSpPr>
            <p:cNvPr id="236" name="Freeform 45">
              <a:extLst>
                <a:ext uri="{FF2B5EF4-FFF2-40B4-BE49-F238E27FC236}">
                  <a16:creationId xmlns:a16="http://schemas.microsoft.com/office/drawing/2014/main" id="{63FFD1AC-091C-B6A1-25C1-9423FD967F26}"/>
                </a:ext>
              </a:extLst>
            </p:cNvPr>
            <p:cNvSpPr/>
            <p:nvPr/>
          </p:nvSpPr>
          <p:spPr>
            <a:xfrm>
              <a:off x="0" y="0"/>
              <a:ext cx="1536474" cy="678522"/>
            </a:xfrm>
            <a:custGeom>
              <a:avLst/>
              <a:gdLst/>
              <a:ahLst/>
              <a:cxnLst/>
              <a:rect l="l" t="t" r="r" b="b"/>
              <a:pathLst>
                <a:path w="1536474" h="678522">
                  <a:moveTo>
                    <a:pt x="0" y="0"/>
                  </a:moveTo>
                  <a:lnTo>
                    <a:pt x="1536474" y="0"/>
                  </a:lnTo>
                  <a:lnTo>
                    <a:pt x="1536474" y="678522"/>
                  </a:lnTo>
                  <a:lnTo>
                    <a:pt x="0" y="67852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68172" r="-217401" b="-111920"/>
              </a:stretch>
            </a:blipFill>
          </p:spPr>
        </p:sp>
        <p:sp>
          <p:nvSpPr>
            <p:cNvPr id="237" name="TextBox 46">
              <a:extLst>
                <a:ext uri="{FF2B5EF4-FFF2-40B4-BE49-F238E27FC236}">
                  <a16:creationId xmlns:a16="http://schemas.microsoft.com/office/drawing/2014/main" id="{C47B2818-B536-2655-8506-B5E008DDDFC9}"/>
                </a:ext>
              </a:extLst>
            </p:cNvPr>
            <p:cNvSpPr txBox="1"/>
            <p:nvPr/>
          </p:nvSpPr>
          <p:spPr>
            <a:xfrm>
              <a:off x="0" y="-9525"/>
              <a:ext cx="1536474" cy="688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0"/>
                </a:lnSpc>
              </a:pPr>
              <a:r>
                <a:rPr lang="en-US" sz="8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571</a:t>
              </a:r>
              <a:r>
                <a:rPr lang="en-US" sz="800" b="1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 </a:t>
              </a:r>
            </a:p>
          </p:txBody>
        </p:sp>
      </p:grpSp>
      <p:grpSp>
        <p:nvGrpSpPr>
          <p:cNvPr id="238" name="Group 47">
            <a:extLst>
              <a:ext uri="{FF2B5EF4-FFF2-40B4-BE49-F238E27FC236}">
                <a16:creationId xmlns:a16="http://schemas.microsoft.com/office/drawing/2014/main" id="{E36495CB-C5CC-368B-8B58-9E96D46FE414}"/>
              </a:ext>
            </a:extLst>
          </p:cNvPr>
          <p:cNvGrpSpPr/>
          <p:nvPr/>
        </p:nvGrpSpPr>
        <p:grpSpPr>
          <a:xfrm>
            <a:off x="2130126" y="1005840"/>
            <a:ext cx="938642" cy="706610"/>
            <a:chOff x="0" y="0"/>
            <a:chExt cx="2494380" cy="1877770"/>
          </a:xfrm>
        </p:grpSpPr>
        <p:sp>
          <p:nvSpPr>
            <p:cNvPr id="239" name="Freeform 48">
              <a:extLst>
                <a:ext uri="{FF2B5EF4-FFF2-40B4-BE49-F238E27FC236}">
                  <a16:creationId xmlns:a16="http://schemas.microsoft.com/office/drawing/2014/main" id="{F4D2FBB3-3A65-4C2D-CA56-4CC780CADC03}"/>
                </a:ext>
              </a:extLst>
            </p:cNvPr>
            <p:cNvSpPr/>
            <p:nvPr/>
          </p:nvSpPr>
          <p:spPr>
            <a:xfrm>
              <a:off x="0" y="0"/>
              <a:ext cx="2494380" cy="1877770"/>
            </a:xfrm>
            <a:custGeom>
              <a:avLst/>
              <a:gdLst/>
              <a:ahLst/>
              <a:cxnLst/>
              <a:rect l="l" t="t" r="r" b="b"/>
              <a:pathLst>
                <a:path w="2494380" h="1877770">
                  <a:moveTo>
                    <a:pt x="0" y="0"/>
                  </a:moveTo>
                  <a:lnTo>
                    <a:pt x="2494380" y="0"/>
                  </a:lnTo>
                  <a:lnTo>
                    <a:pt x="2494380" y="1877770"/>
                  </a:lnTo>
                  <a:lnTo>
                    <a:pt x="0" y="18777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4633" r="-95511" b="23423"/>
              </a:stretch>
            </a:blipFill>
          </p:spPr>
        </p:sp>
        <p:sp>
          <p:nvSpPr>
            <p:cNvPr id="240" name="TextBox 49">
              <a:extLst>
                <a:ext uri="{FF2B5EF4-FFF2-40B4-BE49-F238E27FC236}">
                  <a16:creationId xmlns:a16="http://schemas.microsoft.com/office/drawing/2014/main" id="{EB8D9895-3DD9-3DE5-78D0-628CE2C7D523}"/>
                </a:ext>
              </a:extLst>
            </p:cNvPr>
            <p:cNvSpPr txBox="1"/>
            <p:nvPr/>
          </p:nvSpPr>
          <p:spPr>
            <a:xfrm>
              <a:off x="0" y="-28575"/>
              <a:ext cx="2494380" cy="190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20"/>
                </a:lnSpc>
              </a:pPr>
              <a:r>
                <a:rPr lang="en-US" sz="1600" b="1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최대  </a:t>
              </a:r>
              <a:r>
                <a:rPr lang="en-US" sz="16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1,693</a:t>
              </a:r>
            </a:p>
          </p:txBody>
        </p:sp>
      </p:grpSp>
      <p:grpSp>
        <p:nvGrpSpPr>
          <p:cNvPr id="241" name="Group 50">
            <a:extLst>
              <a:ext uri="{FF2B5EF4-FFF2-40B4-BE49-F238E27FC236}">
                <a16:creationId xmlns:a16="http://schemas.microsoft.com/office/drawing/2014/main" id="{03F17FF1-DBED-1BA0-2035-5799959A097E}"/>
              </a:ext>
            </a:extLst>
          </p:cNvPr>
          <p:cNvGrpSpPr/>
          <p:nvPr/>
        </p:nvGrpSpPr>
        <p:grpSpPr>
          <a:xfrm>
            <a:off x="496439" y="1660627"/>
            <a:ext cx="2572330" cy="114501"/>
            <a:chOff x="0" y="0"/>
            <a:chExt cx="6859546" cy="305335"/>
          </a:xfrm>
        </p:grpSpPr>
        <p:sp>
          <p:nvSpPr>
            <p:cNvPr id="242" name="Freeform 51">
              <a:extLst>
                <a:ext uri="{FF2B5EF4-FFF2-40B4-BE49-F238E27FC236}">
                  <a16:creationId xmlns:a16="http://schemas.microsoft.com/office/drawing/2014/main" id="{94378F2D-7907-BA72-BA58-79A0806EC663}"/>
                </a:ext>
              </a:extLst>
            </p:cNvPr>
            <p:cNvSpPr/>
            <p:nvPr/>
          </p:nvSpPr>
          <p:spPr>
            <a:xfrm>
              <a:off x="0" y="0"/>
              <a:ext cx="6859546" cy="305335"/>
            </a:xfrm>
            <a:custGeom>
              <a:avLst/>
              <a:gdLst/>
              <a:ahLst/>
              <a:cxnLst/>
              <a:rect l="l" t="t" r="r" b="b"/>
              <a:pathLst>
                <a:path w="6859546" h="305335">
                  <a:moveTo>
                    <a:pt x="0" y="152667"/>
                  </a:moveTo>
                  <a:cubicBezTo>
                    <a:pt x="0" y="68382"/>
                    <a:pt x="50277" y="0"/>
                    <a:pt x="112247" y="0"/>
                  </a:cubicBezTo>
                  <a:lnTo>
                    <a:pt x="6747298" y="0"/>
                  </a:lnTo>
                  <a:cubicBezTo>
                    <a:pt x="6809268" y="0"/>
                    <a:pt x="6859546" y="68382"/>
                    <a:pt x="6859546" y="152667"/>
                  </a:cubicBezTo>
                  <a:cubicBezTo>
                    <a:pt x="6859546" y="236953"/>
                    <a:pt x="6809268" y="305335"/>
                    <a:pt x="6747298" y="305335"/>
                  </a:cubicBezTo>
                  <a:lnTo>
                    <a:pt x="112247" y="305335"/>
                  </a:lnTo>
                  <a:cubicBezTo>
                    <a:pt x="50277" y="305335"/>
                    <a:pt x="0" y="236953"/>
                    <a:pt x="0" y="152667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243" name="Group 52">
            <a:extLst>
              <a:ext uri="{FF2B5EF4-FFF2-40B4-BE49-F238E27FC236}">
                <a16:creationId xmlns:a16="http://schemas.microsoft.com/office/drawing/2014/main" id="{96D59A95-9C34-4C85-4817-A2E57DE61036}"/>
              </a:ext>
            </a:extLst>
          </p:cNvPr>
          <p:cNvGrpSpPr/>
          <p:nvPr/>
        </p:nvGrpSpPr>
        <p:grpSpPr>
          <a:xfrm>
            <a:off x="496439" y="1660627"/>
            <a:ext cx="1178603" cy="114501"/>
            <a:chOff x="0" y="0"/>
            <a:chExt cx="4938873" cy="479809"/>
          </a:xfrm>
        </p:grpSpPr>
        <p:sp>
          <p:nvSpPr>
            <p:cNvPr id="244" name="Freeform 53">
              <a:extLst>
                <a:ext uri="{FF2B5EF4-FFF2-40B4-BE49-F238E27FC236}">
                  <a16:creationId xmlns:a16="http://schemas.microsoft.com/office/drawing/2014/main" id="{89CD1991-A157-8B68-F4D5-25444274A5DB}"/>
                </a:ext>
              </a:extLst>
            </p:cNvPr>
            <p:cNvSpPr/>
            <p:nvPr/>
          </p:nvSpPr>
          <p:spPr>
            <a:xfrm>
              <a:off x="0" y="0"/>
              <a:ext cx="4938873" cy="479809"/>
            </a:xfrm>
            <a:custGeom>
              <a:avLst/>
              <a:gdLst/>
              <a:ahLst/>
              <a:cxnLst/>
              <a:rect l="l" t="t" r="r" b="b"/>
              <a:pathLst>
                <a:path w="4938873" h="479809">
                  <a:moveTo>
                    <a:pt x="0" y="239904"/>
                  </a:moveTo>
                  <a:cubicBezTo>
                    <a:pt x="0" y="107457"/>
                    <a:pt x="50277" y="0"/>
                    <a:pt x="112247" y="0"/>
                  </a:cubicBezTo>
                  <a:lnTo>
                    <a:pt x="4826626" y="0"/>
                  </a:lnTo>
                  <a:cubicBezTo>
                    <a:pt x="4888595" y="0"/>
                    <a:pt x="4938873" y="107457"/>
                    <a:pt x="4938873" y="239904"/>
                  </a:cubicBezTo>
                  <a:cubicBezTo>
                    <a:pt x="4938873" y="372352"/>
                    <a:pt x="4888595" y="479809"/>
                    <a:pt x="4826626" y="479809"/>
                  </a:cubicBezTo>
                  <a:lnTo>
                    <a:pt x="112247" y="479809"/>
                  </a:lnTo>
                  <a:cubicBezTo>
                    <a:pt x="50277" y="479809"/>
                    <a:pt x="0" y="372352"/>
                    <a:pt x="0" y="239904"/>
                  </a:cubicBez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245" name="Group 54">
            <a:extLst>
              <a:ext uri="{FF2B5EF4-FFF2-40B4-BE49-F238E27FC236}">
                <a16:creationId xmlns:a16="http://schemas.microsoft.com/office/drawing/2014/main" id="{0A164ED6-95E4-F1CD-BC00-87E264F81BEA}"/>
              </a:ext>
            </a:extLst>
          </p:cNvPr>
          <p:cNvGrpSpPr/>
          <p:nvPr/>
        </p:nvGrpSpPr>
        <p:grpSpPr>
          <a:xfrm>
            <a:off x="469807" y="1630766"/>
            <a:ext cx="128098" cy="174226"/>
            <a:chOff x="0" y="0"/>
            <a:chExt cx="341594" cy="464602"/>
          </a:xfrm>
        </p:grpSpPr>
        <p:sp>
          <p:nvSpPr>
            <p:cNvPr id="246" name="Freeform 55">
              <a:extLst>
                <a:ext uri="{FF2B5EF4-FFF2-40B4-BE49-F238E27FC236}">
                  <a16:creationId xmlns:a16="http://schemas.microsoft.com/office/drawing/2014/main" id="{3749B13F-EE80-A125-BEC5-563D1A75502B}"/>
                </a:ext>
              </a:extLst>
            </p:cNvPr>
            <p:cNvSpPr/>
            <p:nvPr/>
          </p:nvSpPr>
          <p:spPr>
            <a:xfrm>
              <a:off x="0" y="0"/>
              <a:ext cx="341632" cy="464640"/>
            </a:xfrm>
            <a:custGeom>
              <a:avLst/>
              <a:gdLst/>
              <a:ahLst/>
              <a:cxnLst/>
              <a:rect l="l" t="t" r="r" b="b"/>
              <a:pathLst>
                <a:path w="341632" h="464640">
                  <a:moveTo>
                    <a:pt x="0" y="232270"/>
                  </a:moveTo>
                  <a:cubicBezTo>
                    <a:pt x="0" y="103987"/>
                    <a:pt x="76455" y="0"/>
                    <a:pt x="170774" y="0"/>
                  </a:cubicBezTo>
                  <a:cubicBezTo>
                    <a:pt x="265093" y="0"/>
                    <a:pt x="341632" y="103987"/>
                    <a:pt x="341632" y="232270"/>
                  </a:cubicBezTo>
                  <a:cubicBezTo>
                    <a:pt x="341632" y="360553"/>
                    <a:pt x="265093" y="464640"/>
                    <a:pt x="170774" y="464640"/>
                  </a:cubicBezTo>
                  <a:cubicBezTo>
                    <a:pt x="76455" y="464640"/>
                    <a:pt x="0" y="360553"/>
                    <a:pt x="0" y="232270"/>
                  </a:cubicBezTo>
                  <a:close/>
                </a:path>
              </a:pathLst>
            </a:custGeom>
            <a:solidFill>
              <a:srgbClr val="626F47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47" name="Group 56">
            <a:extLst>
              <a:ext uri="{FF2B5EF4-FFF2-40B4-BE49-F238E27FC236}">
                <a16:creationId xmlns:a16="http://schemas.microsoft.com/office/drawing/2014/main" id="{ABEF22F3-9060-5CFA-4957-8DD03CFE8145}"/>
              </a:ext>
            </a:extLst>
          </p:cNvPr>
          <p:cNvGrpSpPr/>
          <p:nvPr/>
        </p:nvGrpSpPr>
        <p:grpSpPr>
          <a:xfrm>
            <a:off x="2967305" y="1630766"/>
            <a:ext cx="128098" cy="174226"/>
            <a:chOff x="0" y="0"/>
            <a:chExt cx="341594" cy="464602"/>
          </a:xfrm>
        </p:grpSpPr>
        <p:sp>
          <p:nvSpPr>
            <p:cNvPr id="248" name="Freeform 57">
              <a:extLst>
                <a:ext uri="{FF2B5EF4-FFF2-40B4-BE49-F238E27FC236}">
                  <a16:creationId xmlns:a16="http://schemas.microsoft.com/office/drawing/2014/main" id="{1BFE5943-C69B-3748-49E1-769B40A687F2}"/>
                </a:ext>
              </a:extLst>
            </p:cNvPr>
            <p:cNvSpPr/>
            <p:nvPr/>
          </p:nvSpPr>
          <p:spPr>
            <a:xfrm>
              <a:off x="0" y="0"/>
              <a:ext cx="341632" cy="464640"/>
            </a:xfrm>
            <a:custGeom>
              <a:avLst/>
              <a:gdLst/>
              <a:ahLst/>
              <a:cxnLst/>
              <a:rect l="l" t="t" r="r" b="b"/>
              <a:pathLst>
                <a:path w="341632" h="464640">
                  <a:moveTo>
                    <a:pt x="0" y="232270"/>
                  </a:moveTo>
                  <a:cubicBezTo>
                    <a:pt x="0" y="103987"/>
                    <a:pt x="76455" y="0"/>
                    <a:pt x="170774" y="0"/>
                  </a:cubicBezTo>
                  <a:cubicBezTo>
                    <a:pt x="265093" y="0"/>
                    <a:pt x="341632" y="103987"/>
                    <a:pt x="341632" y="232270"/>
                  </a:cubicBezTo>
                  <a:cubicBezTo>
                    <a:pt x="341632" y="360553"/>
                    <a:pt x="265093" y="464640"/>
                    <a:pt x="170774" y="464640"/>
                  </a:cubicBezTo>
                  <a:cubicBezTo>
                    <a:pt x="76455" y="464640"/>
                    <a:pt x="0" y="360553"/>
                    <a:pt x="0" y="232270"/>
                  </a:cubicBezTo>
                  <a:close/>
                </a:path>
              </a:pathLst>
            </a:custGeom>
            <a:solidFill>
              <a:srgbClr val="626F47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49" name="Group 58">
            <a:extLst>
              <a:ext uri="{FF2B5EF4-FFF2-40B4-BE49-F238E27FC236}">
                <a16:creationId xmlns:a16="http://schemas.microsoft.com/office/drawing/2014/main" id="{D1B9F265-48DF-BF57-6A56-EEA776BDD385}"/>
              </a:ext>
            </a:extLst>
          </p:cNvPr>
          <p:cNvGrpSpPr/>
          <p:nvPr/>
        </p:nvGrpSpPr>
        <p:grpSpPr>
          <a:xfrm>
            <a:off x="3270301" y="917388"/>
            <a:ext cx="5495299" cy="441757"/>
            <a:chOff x="0" y="0"/>
            <a:chExt cx="28473317" cy="2288917"/>
          </a:xfrm>
        </p:grpSpPr>
        <p:sp>
          <p:nvSpPr>
            <p:cNvPr id="250" name="Freeform 59">
              <a:extLst>
                <a:ext uri="{FF2B5EF4-FFF2-40B4-BE49-F238E27FC236}">
                  <a16:creationId xmlns:a16="http://schemas.microsoft.com/office/drawing/2014/main" id="{216D3169-E60A-F207-9326-2F4735C60303}"/>
                </a:ext>
              </a:extLst>
            </p:cNvPr>
            <p:cNvSpPr/>
            <p:nvPr/>
          </p:nvSpPr>
          <p:spPr>
            <a:xfrm>
              <a:off x="0" y="0"/>
              <a:ext cx="28473357" cy="2288955"/>
            </a:xfrm>
            <a:custGeom>
              <a:avLst/>
              <a:gdLst/>
              <a:ahLst/>
              <a:cxnLst/>
              <a:rect l="l" t="t" r="r" b="b"/>
              <a:pathLst>
                <a:path w="28473357" h="2288955">
                  <a:moveTo>
                    <a:pt x="0" y="62872"/>
                  </a:moveTo>
                  <a:cubicBezTo>
                    <a:pt x="0" y="28139"/>
                    <a:pt x="74783" y="0"/>
                    <a:pt x="167088" y="0"/>
                  </a:cubicBezTo>
                  <a:lnTo>
                    <a:pt x="28306303" y="0"/>
                  </a:lnTo>
                  <a:cubicBezTo>
                    <a:pt x="28398608" y="0"/>
                    <a:pt x="28473357" y="28139"/>
                    <a:pt x="28473357" y="62872"/>
                  </a:cubicBezTo>
                  <a:lnTo>
                    <a:pt x="28473357" y="2226072"/>
                  </a:lnTo>
                  <a:cubicBezTo>
                    <a:pt x="28473357" y="2260805"/>
                    <a:pt x="28398608" y="2288955"/>
                    <a:pt x="28306303" y="2288955"/>
                  </a:cubicBezTo>
                  <a:lnTo>
                    <a:pt x="167088" y="2288955"/>
                  </a:lnTo>
                  <a:cubicBezTo>
                    <a:pt x="74783" y="2288955"/>
                    <a:pt x="0" y="2260805"/>
                    <a:pt x="0" y="2226072"/>
                  </a:cubicBezTo>
                  <a:close/>
                </a:path>
              </a:pathLst>
            </a:custGeom>
            <a:solidFill>
              <a:srgbClr val="E8F0D8"/>
            </a:solidFill>
            <a:ln w="15875" cap="sq">
              <a:solidFill>
                <a:srgbClr val="C9D2A6"/>
              </a:solidFill>
              <a:prstDash val="solid"/>
              <a:miter/>
            </a:ln>
          </p:spPr>
        </p:sp>
      </p:grpSp>
      <p:grpSp>
        <p:nvGrpSpPr>
          <p:cNvPr id="251" name="Group 60">
            <a:extLst>
              <a:ext uri="{FF2B5EF4-FFF2-40B4-BE49-F238E27FC236}">
                <a16:creationId xmlns:a16="http://schemas.microsoft.com/office/drawing/2014/main" id="{08D1A54E-EA6B-C3BE-163F-9DBCF292B919}"/>
              </a:ext>
            </a:extLst>
          </p:cNvPr>
          <p:cNvGrpSpPr/>
          <p:nvPr/>
        </p:nvGrpSpPr>
        <p:grpSpPr>
          <a:xfrm>
            <a:off x="3473715" y="956472"/>
            <a:ext cx="2190049" cy="402674"/>
            <a:chOff x="0" y="0"/>
            <a:chExt cx="10425131" cy="1916818"/>
          </a:xfrm>
        </p:grpSpPr>
        <p:sp>
          <p:nvSpPr>
            <p:cNvPr id="252" name="Freeform 61">
              <a:extLst>
                <a:ext uri="{FF2B5EF4-FFF2-40B4-BE49-F238E27FC236}">
                  <a16:creationId xmlns:a16="http://schemas.microsoft.com/office/drawing/2014/main" id="{3D11D254-D164-EA7D-29B3-2C8CE9B62B6B}"/>
                </a:ext>
              </a:extLst>
            </p:cNvPr>
            <p:cNvSpPr/>
            <p:nvPr/>
          </p:nvSpPr>
          <p:spPr>
            <a:xfrm>
              <a:off x="0" y="0"/>
              <a:ext cx="10425130" cy="1916818"/>
            </a:xfrm>
            <a:custGeom>
              <a:avLst/>
              <a:gdLst/>
              <a:ahLst/>
              <a:cxnLst/>
              <a:rect l="l" t="t" r="r" b="b"/>
              <a:pathLst>
                <a:path w="10425130" h="1916818">
                  <a:moveTo>
                    <a:pt x="0" y="0"/>
                  </a:moveTo>
                  <a:lnTo>
                    <a:pt x="10425130" y="0"/>
                  </a:lnTo>
                  <a:lnTo>
                    <a:pt x="10425130" y="1916818"/>
                  </a:lnTo>
                  <a:lnTo>
                    <a:pt x="0" y="19168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6531" r="42010" b="-36751"/>
              </a:stretch>
            </a:blipFill>
          </p:spPr>
        </p:sp>
        <p:sp>
          <p:nvSpPr>
            <p:cNvPr id="253" name="TextBox 62">
              <a:extLst>
                <a:ext uri="{FF2B5EF4-FFF2-40B4-BE49-F238E27FC236}">
                  <a16:creationId xmlns:a16="http://schemas.microsoft.com/office/drawing/2014/main" id="{B3CDEFDE-6556-0B0C-8D4B-2CA2758D7B9F}"/>
                </a:ext>
              </a:extLst>
            </p:cNvPr>
            <p:cNvSpPr txBox="1"/>
            <p:nvPr/>
          </p:nvSpPr>
          <p:spPr>
            <a:xfrm>
              <a:off x="0" y="-9525"/>
              <a:ext cx="10425131" cy="1926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100%</a:t>
              </a:r>
            </a:p>
          </p:txBody>
        </p:sp>
      </p:grpSp>
      <p:grpSp>
        <p:nvGrpSpPr>
          <p:cNvPr id="254" name="Group 63">
            <a:extLst>
              <a:ext uri="{FF2B5EF4-FFF2-40B4-BE49-F238E27FC236}">
                <a16:creationId xmlns:a16="http://schemas.microsoft.com/office/drawing/2014/main" id="{CD67BD90-11C9-EFCF-4650-B25F85474204}"/>
              </a:ext>
            </a:extLst>
          </p:cNvPr>
          <p:cNvGrpSpPr/>
          <p:nvPr/>
        </p:nvGrpSpPr>
        <p:grpSpPr>
          <a:xfrm>
            <a:off x="5763312" y="956472"/>
            <a:ext cx="3285074" cy="402674"/>
            <a:chOff x="0" y="0"/>
            <a:chExt cx="15637696" cy="1916818"/>
          </a:xfrm>
        </p:grpSpPr>
        <p:sp>
          <p:nvSpPr>
            <p:cNvPr id="255" name="Freeform 64">
              <a:extLst>
                <a:ext uri="{FF2B5EF4-FFF2-40B4-BE49-F238E27FC236}">
                  <a16:creationId xmlns:a16="http://schemas.microsoft.com/office/drawing/2014/main" id="{F8A6F818-A8AF-30B6-D5D4-0A0F88791D06}"/>
                </a:ext>
              </a:extLst>
            </p:cNvPr>
            <p:cNvSpPr/>
            <p:nvPr/>
          </p:nvSpPr>
          <p:spPr>
            <a:xfrm>
              <a:off x="0" y="0"/>
              <a:ext cx="15637695" cy="1916818"/>
            </a:xfrm>
            <a:custGeom>
              <a:avLst/>
              <a:gdLst/>
              <a:ahLst/>
              <a:cxnLst/>
              <a:rect l="l" t="t" r="r" b="b"/>
              <a:pathLst>
                <a:path w="15637695" h="1916818">
                  <a:moveTo>
                    <a:pt x="0" y="0"/>
                  </a:moveTo>
                  <a:lnTo>
                    <a:pt x="15637695" y="0"/>
                  </a:lnTo>
                  <a:lnTo>
                    <a:pt x="15637695" y="1916818"/>
                  </a:lnTo>
                  <a:lnTo>
                    <a:pt x="0" y="19168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3421" r="48542" b="-50173"/>
              </a:stretch>
            </a:blipFill>
          </p:spPr>
        </p:sp>
        <p:sp>
          <p:nvSpPr>
            <p:cNvPr id="256" name="TextBox 65">
              <a:extLst>
                <a:ext uri="{FF2B5EF4-FFF2-40B4-BE49-F238E27FC236}">
                  <a16:creationId xmlns:a16="http://schemas.microsoft.com/office/drawing/2014/main" id="{3DD63340-04A4-E1A2-1AEE-23DDB7B1186E}"/>
                </a:ext>
              </a:extLst>
            </p:cNvPr>
            <p:cNvSpPr txBox="1"/>
            <p:nvPr/>
          </p:nvSpPr>
          <p:spPr>
            <a:xfrm>
              <a:off x="0" y="-66675"/>
              <a:ext cx="15637696" cy="19834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82"/>
                </a:lnSpc>
              </a:pPr>
              <a:r>
                <a:rPr lang="en-US" sz="950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시퀀스 내 라벨 일치</a:t>
              </a:r>
            </a:p>
            <a:p>
              <a:pPr>
                <a:lnSpc>
                  <a:spcPts val="1092"/>
                </a:lnSpc>
              </a:pPr>
              <a:r>
                <a:rPr lang="en-US" sz="70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단일 run = 단일 상태 (정상 / 불량)</a:t>
              </a:r>
            </a:p>
          </p:txBody>
        </p:sp>
      </p:grpSp>
      <p:grpSp>
        <p:nvGrpSpPr>
          <p:cNvPr id="257" name="Group 66">
            <a:extLst>
              <a:ext uri="{FF2B5EF4-FFF2-40B4-BE49-F238E27FC236}">
                <a16:creationId xmlns:a16="http://schemas.microsoft.com/office/drawing/2014/main" id="{73F19F7E-AF97-80EF-0952-0297828B68FA}"/>
              </a:ext>
            </a:extLst>
          </p:cNvPr>
          <p:cNvGrpSpPr/>
          <p:nvPr/>
        </p:nvGrpSpPr>
        <p:grpSpPr>
          <a:xfrm>
            <a:off x="569450" y="1267052"/>
            <a:ext cx="288089" cy="254446"/>
            <a:chOff x="0" y="0"/>
            <a:chExt cx="768237" cy="678522"/>
          </a:xfrm>
        </p:grpSpPr>
        <p:sp>
          <p:nvSpPr>
            <p:cNvPr id="258" name="Freeform 67">
              <a:extLst>
                <a:ext uri="{FF2B5EF4-FFF2-40B4-BE49-F238E27FC236}">
                  <a16:creationId xmlns:a16="http://schemas.microsoft.com/office/drawing/2014/main" id="{63FF4F4F-10E7-0E98-B613-945243958997}"/>
                </a:ext>
              </a:extLst>
            </p:cNvPr>
            <p:cNvSpPr/>
            <p:nvPr/>
          </p:nvSpPr>
          <p:spPr>
            <a:xfrm>
              <a:off x="0" y="0"/>
              <a:ext cx="768237" cy="678522"/>
            </a:xfrm>
            <a:custGeom>
              <a:avLst/>
              <a:gdLst/>
              <a:ahLst/>
              <a:cxnLst/>
              <a:rect l="l" t="t" r="r" b="b"/>
              <a:pathLst>
                <a:path w="768237" h="678522">
                  <a:moveTo>
                    <a:pt x="0" y="0"/>
                  </a:moveTo>
                  <a:lnTo>
                    <a:pt x="768237" y="0"/>
                  </a:lnTo>
                  <a:lnTo>
                    <a:pt x="768237" y="678522"/>
                  </a:lnTo>
                  <a:lnTo>
                    <a:pt x="0" y="67852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68172" r="-534803" b="-111920"/>
              </a:stretch>
            </a:blipFill>
          </p:spPr>
        </p:sp>
        <p:sp>
          <p:nvSpPr>
            <p:cNvPr id="259" name="TextBox 68">
              <a:extLst>
                <a:ext uri="{FF2B5EF4-FFF2-40B4-BE49-F238E27FC236}">
                  <a16:creationId xmlns:a16="http://schemas.microsoft.com/office/drawing/2014/main" id="{A6D12F30-6D0B-0F46-9B60-94D0783B2068}"/>
                </a:ext>
              </a:extLst>
            </p:cNvPr>
            <p:cNvSpPr txBox="1"/>
            <p:nvPr/>
          </p:nvSpPr>
          <p:spPr>
            <a:xfrm>
              <a:off x="0" y="-9525"/>
              <a:ext cx="768237" cy="688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0"/>
                </a:lnSpc>
              </a:pPr>
              <a:r>
                <a:rPr lang="en-US" sz="800" b="1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최소</a:t>
              </a:r>
            </a:p>
          </p:txBody>
        </p:sp>
      </p:grpSp>
      <p:grpSp>
        <p:nvGrpSpPr>
          <p:cNvPr id="260" name="Group 69">
            <a:extLst>
              <a:ext uri="{FF2B5EF4-FFF2-40B4-BE49-F238E27FC236}">
                <a16:creationId xmlns:a16="http://schemas.microsoft.com/office/drawing/2014/main" id="{45CA9222-23E8-10DF-50A5-EA7BACD5E2B6}"/>
              </a:ext>
            </a:extLst>
          </p:cNvPr>
          <p:cNvGrpSpPr/>
          <p:nvPr/>
        </p:nvGrpSpPr>
        <p:grpSpPr>
          <a:xfrm>
            <a:off x="363300" y="2024143"/>
            <a:ext cx="2838607" cy="288260"/>
            <a:chOff x="0" y="0"/>
            <a:chExt cx="7569619" cy="768693"/>
          </a:xfrm>
        </p:grpSpPr>
        <p:sp>
          <p:nvSpPr>
            <p:cNvPr id="261" name="Freeform 70">
              <a:extLst>
                <a:ext uri="{FF2B5EF4-FFF2-40B4-BE49-F238E27FC236}">
                  <a16:creationId xmlns:a16="http://schemas.microsoft.com/office/drawing/2014/main" id="{0CC99BC9-52FC-C61A-493B-5E8F9EC70733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62" name="Group 71">
            <a:extLst>
              <a:ext uri="{FF2B5EF4-FFF2-40B4-BE49-F238E27FC236}">
                <a16:creationId xmlns:a16="http://schemas.microsoft.com/office/drawing/2014/main" id="{363CF3F7-A641-449F-90C4-DEC9A9748038}"/>
              </a:ext>
            </a:extLst>
          </p:cNvPr>
          <p:cNvGrpSpPr/>
          <p:nvPr/>
        </p:nvGrpSpPr>
        <p:grpSpPr>
          <a:xfrm>
            <a:off x="446120" y="2022778"/>
            <a:ext cx="3706216" cy="288261"/>
            <a:chOff x="0" y="0"/>
            <a:chExt cx="9883242" cy="768697"/>
          </a:xfrm>
        </p:grpSpPr>
        <p:sp>
          <p:nvSpPr>
            <p:cNvPr id="263" name="Freeform 72">
              <a:extLst>
                <a:ext uri="{FF2B5EF4-FFF2-40B4-BE49-F238E27FC236}">
                  <a16:creationId xmlns:a16="http://schemas.microsoft.com/office/drawing/2014/main" id="{C9E83AFF-299D-7B78-1147-3C2C352A56C7}"/>
                </a:ext>
              </a:extLst>
            </p:cNvPr>
            <p:cNvSpPr/>
            <p:nvPr/>
          </p:nvSpPr>
          <p:spPr>
            <a:xfrm>
              <a:off x="0" y="0"/>
              <a:ext cx="9883241" cy="768700"/>
            </a:xfrm>
            <a:custGeom>
              <a:avLst/>
              <a:gdLst/>
              <a:ahLst/>
              <a:cxnLst/>
              <a:rect l="l" t="t" r="r" b="b"/>
              <a:pathLst>
                <a:path w="9883241" h="768700">
                  <a:moveTo>
                    <a:pt x="0" y="0"/>
                  </a:moveTo>
                  <a:lnTo>
                    <a:pt x="9883241" y="0"/>
                  </a:lnTo>
                  <a:lnTo>
                    <a:pt x="9883241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00521" b="-200520"/>
              </a:stretch>
            </a:blipFill>
          </p:spPr>
        </p:sp>
        <p:sp>
          <p:nvSpPr>
            <p:cNvPr id="264" name="TextBox 73">
              <a:extLst>
                <a:ext uri="{FF2B5EF4-FFF2-40B4-BE49-F238E27FC236}">
                  <a16:creationId xmlns:a16="http://schemas.microsoft.com/office/drawing/2014/main" id="{CFA650A0-AC9E-B591-FB67-ABC7593A4FE0}"/>
                </a:ext>
              </a:extLst>
            </p:cNvPr>
            <p:cNvSpPr txBox="1"/>
            <p:nvPr/>
          </p:nvSpPr>
          <p:spPr>
            <a:xfrm>
              <a:off x="0" y="-28575"/>
              <a:ext cx="9883242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시계열 길이 분포 히스토그램</a:t>
              </a:r>
            </a:p>
          </p:txBody>
        </p:sp>
      </p:grpSp>
      <p:grpSp>
        <p:nvGrpSpPr>
          <p:cNvPr id="265" name="Group 74">
            <a:extLst>
              <a:ext uri="{FF2B5EF4-FFF2-40B4-BE49-F238E27FC236}">
                <a16:creationId xmlns:a16="http://schemas.microsoft.com/office/drawing/2014/main" id="{CFD69947-0921-1446-FA20-D16799A510FD}"/>
              </a:ext>
            </a:extLst>
          </p:cNvPr>
          <p:cNvGrpSpPr/>
          <p:nvPr/>
        </p:nvGrpSpPr>
        <p:grpSpPr>
          <a:xfrm>
            <a:off x="5262843" y="2030864"/>
            <a:ext cx="2838607" cy="288260"/>
            <a:chOff x="0" y="0"/>
            <a:chExt cx="7569619" cy="768693"/>
          </a:xfrm>
        </p:grpSpPr>
        <p:sp>
          <p:nvSpPr>
            <p:cNvPr id="266" name="Freeform 75">
              <a:extLst>
                <a:ext uri="{FF2B5EF4-FFF2-40B4-BE49-F238E27FC236}">
                  <a16:creationId xmlns:a16="http://schemas.microsoft.com/office/drawing/2014/main" id="{B38F5168-3209-AA06-3213-7BDDE629072E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67" name="Group 76">
            <a:extLst>
              <a:ext uri="{FF2B5EF4-FFF2-40B4-BE49-F238E27FC236}">
                <a16:creationId xmlns:a16="http://schemas.microsoft.com/office/drawing/2014/main" id="{8555CEEF-4260-A764-F41D-21C15E350ACA}"/>
              </a:ext>
            </a:extLst>
          </p:cNvPr>
          <p:cNvGrpSpPr/>
          <p:nvPr/>
        </p:nvGrpSpPr>
        <p:grpSpPr>
          <a:xfrm>
            <a:off x="5186677" y="2464284"/>
            <a:ext cx="3578923" cy="2117110"/>
            <a:chOff x="0" y="0"/>
            <a:chExt cx="12262536" cy="7253897"/>
          </a:xfrm>
        </p:grpSpPr>
        <p:sp>
          <p:nvSpPr>
            <p:cNvPr id="268" name="Freeform 77" descr="c3_var_contrib.png">
              <a:extLst>
                <a:ext uri="{FF2B5EF4-FFF2-40B4-BE49-F238E27FC236}">
                  <a16:creationId xmlns:a16="http://schemas.microsoft.com/office/drawing/2014/main" id="{AB783495-1124-1F11-274B-FCA7CCFDC4CD}"/>
                </a:ext>
              </a:extLst>
            </p:cNvPr>
            <p:cNvSpPr/>
            <p:nvPr/>
          </p:nvSpPr>
          <p:spPr>
            <a:xfrm>
              <a:off x="0" y="0"/>
              <a:ext cx="12262485" cy="7253859"/>
            </a:xfrm>
            <a:custGeom>
              <a:avLst/>
              <a:gdLst/>
              <a:ahLst/>
              <a:cxnLst/>
              <a:rect l="l" t="t" r="r" b="b"/>
              <a:pathLst>
                <a:path w="12262485" h="7253859">
                  <a:moveTo>
                    <a:pt x="0" y="0"/>
                  </a:moveTo>
                  <a:lnTo>
                    <a:pt x="12262485" y="0"/>
                  </a:lnTo>
                  <a:lnTo>
                    <a:pt x="12262485" y="7253859"/>
                  </a:lnTo>
                  <a:lnTo>
                    <a:pt x="0" y="725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69" name="Group 78">
            <a:extLst>
              <a:ext uri="{FF2B5EF4-FFF2-40B4-BE49-F238E27FC236}">
                <a16:creationId xmlns:a16="http://schemas.microsoft.com/office/drawing/2014/main" id="{D9CBB3CD-6263-BBAD-9565-09B1E67FBE4D}"/>
              </a:ext>
            </a:extLst>
          </p:cNvPr>
          <p:cNvGrpSpPr/>
          <p:nvPr/>
        </p:nvGrpSpPr>
        <p:grpSpPr>
          <a:xfrm>
            <a:off x="5342169" y="2029500"/>
            <a:ext cx="3706216" cy="288261"/>
            <a:chOff x="0" y="0"/>
            <a:chExt cx="9883242" cy="768697"/>
          </a:xfrm>
        </p:grpSpPr>
        <p:sp>
          <p:nvSpPr>
            <p:cNvPr id="270" name="Freeform 79">
              <a:extLst>
                <a:ext uri="{FF2B5EF4-FFF2-40B4-BE49-F238E27FC236}">
                  <a16:creationId xmlns:a16="http://schemas.microsoft.com/office/drawing/2014/main" id="{58FED5ED-65DB-F3E5-4330-AED1C2A29A6A}"/>
                </a:ext>
              </a:extLst>
            </p:cNvPr>
            <p:cNvSpPr/>
            <p:nvPr/>
          </p:nvSpPr>
          <p:spPr>
            <a:xfrm>
              <a:off x="0" y="0"/>
              <a:ext cx="9883241" cy="768700"/>
            </a:xfrm>
            <a:custGeom>
              <a:avLst/>
              <a:gdLst/>
              <a:ahLst/>
              <a:cxnLst/>
              <a:rect l="l" t="t" r="r" b="b"/>
              <a:pathLst>
                <a:path w="9883241" h="768700">
                  <a:moveTo>
                    <a:pt x="0" y="0"/>
                  </a:moveTo>
                  <a:lnTo>
                    <a:pt x="9883241" y="0"/>
                  </a:lnTo>
                  <a:lnTo>
                    <a:pt x="9883241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00521" b="-200520"/>
              </a:stretch>
            </a:blipFill>
          </p:spPr>
        </p:sp>
        <p:sp>
          <p:nvSpPr>
            <p:cNvPr id="271" name="TextBox 80">
              <a:extLst>
                <a:ext uri="{FF2B5EF4-FFF2-40B4-BE49-F238E27FC236}">
                  <a16:creationId xmlns:a16="http://schemas.microsoft.com/office/drawing/2014/main" id="{E621F3F7-5C90-75E3-5EC1-5562FC0410D6}"/>
                </a:ext>
              </a:extLst>
            </p:cNvPr>
            <p:cNvSpPr txBox="1"/>
            <p:nvPr/>
          </p:nvSpPr>
          <p:spPr>
            <a:xfrm>
              <a:off x="0" y="-28575"/>
              <a:ext cx="9883242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원인 변수가 기계마다 다름</a:t>
              </a:r>
            </a:p>
          </p:txBody>
        </p:sp>
      </p:grpSp>
      <p:sp>
        <p:nvSpPr>
          <p:cNvPr id="272" name="Freeform 81">
            <a:extLst>
              <a:ext uri="{FF2B5EF4-FFF2-40B4-BE49-F238E27FC236}">
                <a16:creationId xmlns:a16="http://schemas.microsoft.com/office/drawing/2014/main" id="{29A879ED-3B47-31F9-6783-8674F74A0A3F}"/>
              </a:ext>
            </a:extLst>
          </p:cNvPr>
          <p:cNvSpPr/>
          <p:nvPr/>
        </p:nvSpPr>
        <p:spPr>
          <a:xfrm>
            <a:off x="377486" y="2560053"/>
            <a:ext cx="4372421" cy="2005848"/>
          </a:xfrm>
          <a:custGeom>
            <a:avLst/>
            <a:gdLst/>
            <a:ahLst/>
            <a:cxnLst/>
            <a:rect l="l" t="t" r="r" b="b"/>
            <a:pathLst>
              <a:path w="8744842" h="4011696">
                <a:moveTo>
                  <a:pt x="0" y="0"/>
                </a:moveTo>
                <a:lnTo>
                  <a:pt x="8744841" y="0"/>
                </a:lnTo>
                <a:lnTo>
                  <a:pt x="8744841" y="4011696"/>
                </a:lnTo>
                <a:lnTo>
                  <a:pt x="0" y="4011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9753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9EAD-682C-B6A0-F442-16F64471F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505EFB-4E51-7622-BC07-084C386E86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BFBEA82-AB40-63BA-D24D-DF09F3F78B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FBE26AEB-4782-1FB7-0294-90DEA64FEA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6EF84AE-3076-80FF-AEAA-6D50BCF968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976E7F8-FC80-6564-6DBD-04B235B7A3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21306F6-5687-0D92-A943-112ED8AA8968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EBF8CD1E-24AA-2FFD-EC98-4BC8C46B1E25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특징</a:t>
            </a:r>
            <a:endParaRPr lang="en-US" sz="1200" dirty="0"/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37A6A8FB-BCC9-68F0-7EC7-6DEE947F89FA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32B57305-66B2-05A5-1646-CF87751DDD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5" name="Group 26">
            <a:extLst>
              <a:ext uri="{FF2B5EF4-FFF2-40B4-BE49-F238E27FC236}">
                <a16:creationId xmlns:a16="http://schemas.microsoft.com/office/drawing/2014/main" id="{CD8D0AD7-9A3F-2DFE-7F5C-F78AA630A611}"/>
              </a:ext>
            </a:extLst>
          </p:cNvPr>
          <p:cNvGrpSpPr/>
          <p:nvPr/>
        </p:nvGrpSpPr>
        <p:grpSpPr>
          <a:xfrm>
            <a:off x="377486" y="967610"/>
            <a:ext cx="2838607" cy="288260"/>
            <a:chOff x="0" y="0"/>
            <a:chExt cx="7569619" cy="768693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07841331-2F87-CEC0-D0CB-27CD680CEBA5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87" name="Group 28">
            <a:extLst>
              <a:ext uri="{FF2B5EF4-FFF2-40B4-BE49-F238E27FC236}">
                <a16:creationId xmlns:a16="http://schemas.microsoft.com/office/drawing/2014/main" id="{D461238D-1DE7-C907-BCE4-8A7731067BA3}"/>
              </a:ext>
            </a:extLst>
          </p:cNvPr>
          <p:cNvGrpSpPr/>
          <p:nvPr/>
        </p:nvGrpSpPr>
        <p:grpSpPr>
          <a:xfrm>
            <a:off x="514350" y="967610"/>
            <a:ext cx="2756250" cy="288261"/>
            <a:chOff x="0" y="0"/>
            <a:chExt cx="7349998" cy="768697"/>
          </a:xfrm>
        </p:grpSpPr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78062066-6EAC-2BDC-EC20-7F519F5D0D5B}"/>
                </a:ext>
              </a:extLst>
            </p:cNvPr>
            <p:cNvSpPr/>
            <p:nvPr/>
          </p:nvSpPr>
          <p:spPr>
            <a:xfrm>
              <a:off x="0" y="0"/>
              <a:ext cx="7349998" cy="768700"/>
            </a:xfrm>
            <a:custGeom>
              <a:avLst/>
              <a:gdLst/>
              <a:ahLst/>
              <a:cxnLst/>
              <a:rect l="l" t="t" r="r" b="b"/>
              <a:pathLst>
                <a:path w="7349998" h="768700">
                  <a:moveTo>
                    <a:pt x="0" y="0"/>
                  </a:moveTo>
                  <a:lnTo>
                    <a:pt x="7349998" y="0"/>
                  </a:lnTo>
                  <a:lnTo>
                    <a:pt x="7349998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00521" r="-34465" b="-200520"/>
              </a:stretch>
            </a:blipFill>
          </p:spPr>
        </p:sp>
        <p:sp>
          <p:nvSpPr>
            <p:cNvPr id="89" name="TextBox 30">
              <a:extLst>
                <a:ext uri="{FF2B5EF4-FFF2-40B4-BE49-F238E27FC236}">
                  <a16:creationId xmlns:a16="http://schemas.microsoft.com/office/drawing/2014/main" id="{F9760FBD-BACB-942F-3487-12F3672BCE37}"/>
                </a:ext>
              </a:extLst>
            </p:cNvPr>
            <p:cNvSpPr txBox="1"/>
            <p:nvPr/>
          </p:nvSpPr>
          <p:spPr>
            <a:xfrm>
              <a:off x="0" y="-9525"/>
              <a:ext cx="7349998" cy="778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46"/>
                </a:lnSpc>
              </a:pPr>
              <a:r>
                <a:rPr lang="en-US" sz="10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전압 &amp; 전류 분포 이봉성</a:t>
              </a:r>
            </a:p>
          </p:txBody>
        </p:sp>
      </p:grpSp>
      <p:grpSp>
        <p:nvGrpSpPr>
          <p:cNvPr id="90" name="Group 31">
            <a:extLst>
              <a:ext uri="{FF2B5EF4-FFF2-40B4-BE49-F238E27FC236}">
                <a16:creationId xmlns:a16="http://schemas.microsoft.com/office/drawing/2014/main" id="{511D6319-35D5-BE7B-55EC-EE8932E4F384}"/>
              </a:ext>
            </a:extLst>
          </p:cNvPr>
          <p:cNvGrpSpPr/>
          <p:nvPr/>
        </p:nvGrpSpPr>
        <p:grpSpPr>
          <a:xfrm>
            <a:off x="377486" y="1373577"/>
            <a:ext cx="4037276" cy="2661176"/>
            <a:chOff x="0" y="0"/>
            <a:chExt cx="10766069" cy="7096468"/>
          </a:xfrm>
        </p:grpSpPr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0A7C0099-4369-08B0-40C6-DA047910CB1C}"/>
                </a:ext>
              </a:extLst>
            </p:cNvPr>
            <p:cNvSpPr/>
            <p:nvPr/>
          </p:nvSpPr>
          <p:spPr>
            <a:xfrm>
              <a:off x="0" y="0"/>
              <a:ext cx="10766044" cy="7096506"/>
            </a:xfrm>
            <a:custGeom>
              <a:avLst/>
              <a:gdLst/>
              <a:ahLst/>
              <a:cxnLst/>
              <a:rect l="l" t="t" r="r" b="b"/>
              <a:pathLst>
                <a:path w="10766044" h="7096506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10482199" y="0"/>
                  </a:lnTo>
                  <a:cubicBezTo>
                    <a:pt x="10638917" y="0"/>
                    <a:pt x="10766044" y="127127"/>
                    <a:pt x="10766044" y="283845"/>
                  </a:cubicBezTo>
                  <a:lnTo>
                    <a:pt x="10766044" y="6812661"/>
                  </a:lnTo>
                  <a:cubicBezTo>
                    <a:pt x="10766044" y="6969379"/>
                    <a:pt x="10638917" y="7096506"/>
                    <a:pt x="10482199" y="7096506"/>
                  </a:cubicBezTo>
                  <a:lnTo>
                    <a:pt x="283845" y="7096506"/>
                  </a:lnTo>
                  <a:cubicBezTo>
                    <a:pt x="127127" y="7096506"/>
                    <a:pt x="0" y="6969379"/>
                    <a:pt x="0" y="6812661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92" name="Group 33">
            <a:extLst>
              <a:ext uri="{FF2B5EF4-FFF2-40B4-BE49-F238E27FC236}">
                <a16:creationId xmlns:a16="http://schemas.microsoft.com/office/drawing/2014/main" id="{3485190F-79A3-D09F-289E-201F5F30EE98}"/>
              </a:ext>
            </a:extLst>
          </p:cNvPr>
          <p:cNvGrpSpPr/>
          <p:nvPr/>
        </p:nvGrpSpPr>
        <p:grpSpPr>
          <a:xfrm>
            <a:off x="561890" y="1516804"/>
            <a:ext cx="567002" cy="274535"/>
            <a:chOff x="0" y="0"/>
            <a:chExt cx="1512003" cy="732092"/>
          </a:xfrm>
        </p:grpSpPr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AE326612-25EF-B3F1-74BD-4C6201C038A0}"/>
                </a:ext>
              </a:extLst>
            </p:cNvPr>
            <p:cNvSpPr/>
            <p:nvPr/>
          </p:nvSpPr>
          <p:spPr>
            <a:xfrm>
              <a:off x="0" y="0"/>
              <a:ext cx="1512067" cy="732155"/>
            </a:xfrm>
            <a:custGeom>
              <a:avLst/>
              <a:gdLst/>
              <a:ahLst/>
              <a:cxnLst/>
              <a:rect l="l" t="t" r="r" b="b"/>
              <a:pathLst>
                <a:path w="1512067" h="732155">
                  <a:moveTo>
                    <a:pt x="0" y="131826"/>
                  </a:moveTo>
                  <a:cubicBezTo>
                    <a:pt x="0" y="59055"/>
                    <a:pt x="31475" y="0"/>
                    <a:pt x="70261" y="0"/>
                  </a:cubicBezTo>
                  <a:lnTo>
                    <a:pt x="1441776" y="0"/>
                  </a:lnTo>
                  <a:cubicBezTo>
                    <a:pt x="1480562" y="0"/>
                    <a:pt x="1512067" y="59055"/>
                    <a:pt x="1512067" y="131826"/>
                  </a:cubicBezTo>
                  <a:lnTo>
                    <a:pt x="1512067" y="600329"/>
                  </a:lnTo>
                  <a:cubicBezTo>
                    <a:pt x="1512067" y="673100"/>
                    <a:pt x="1480562" y="732155"/>
                    <a:pt x="1441776" y="732155"/>
                  </a:cubicBezTo>
                  <a:lnTo>
                    <a:pt x="70261" y="732155"/>
                  </a:lnTo>
                  <a:cubicBezTo>
                    <a:pt x="31475" y="732155"/>
                    <a:pt x="0" y="673100"/>
                    <a:pt x="0" y="600329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94" name="TextBox 35">
              <a:extLst>
                <a:ext uri="{FF2B5EF4-FFF2-40B4-BE49-F238E27FC236}">
                  <a16:creationId xmlns:a16="http://schemas.microsoft.com/office/drawing/2014/main" id="{2F1F931F-827A-EF3B-BE3D-BB986C64ADF9}"/>
                </a:ext>
              </a:extLst>
            </p:cNvPr>
            <p:cNvSpPr txBox="1"/>
            <p:nvPr/>
          </p:nvSpPr>
          <p:spPr>
            <a:xfrm>
              <a:off x="0" y="-19050"/>
              <a:ext cx="1512003" cy="751142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081"/>
                </a:lnSpc>
              </a:pPr>
              <a:r>
                <a:rPr lang="en-US" sz="90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전압 분포</a:t>
              </a:r>
            </a:p>
          </p:txBody>
        </p:sp>
      </p:grpSp>
      <p:grpSp>
        <p:nvGrpSpPr>
          <p:cNvPr id="95" name="Group 36">
            <a:extLst>
              <a:ext uri="{FF2B5EF4-FFF2-40B4-BE49-F238E27FC236}">
                <a16:creationId xmlns:a16="http://schemas.microsoft.com/office/drawing/2014/main" id="{A4F89006-244E-FB0A-800D-600A5B5B6781}"/>
              </a:ext>
            </a:extLst>
          </p:cNvPr>
          <p:cNvGrpSpPr/>
          <p:nvPr/>
        </p:nvGrpSpPr>
        <p:grpSpPr>
          <a:xfrm>
            <a:off x="3036132" y="1530530"/>
            <a:ext cx="1221677" cy="247084"/>
            <a:chOff x="0" y="0"/>
            <a:chExt cx="3257804" cy="658889"/>
          </a:xfrm>
        </p:grpSpPr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53782078-FBF2-D806-9B9D-EC3F88C75C1F}"/>
                </a:ext>
              </a:extLst>
            </p:cNvPr>
            <p:cNvSpPr/>
            <p:nvPr/>
          </p:nvSpPr>
          <p:spPr>
            <a:xfrm>
              <a:off x="0" y="0"/>
              <a:ext cx="3257809" cy="658883"/>
            </a:xfrm>
            <a:custGeom>
              <a:avLst/>
              <a:gdLst/>
              <a:ahLst/>
              <a:cxnLst/>
              <a:rect l="l" t="t" r="r" b="b"/>
              <a:pathLst>
                <a:path w="3257809" h="658883">
                  <a:moveTo>
                    <a:pt x="0" y="0"/>
                  </a:moveTo>
                  <a:lnTo>
                    <a:pt x="3257809" y="0"/>
                  </a:lnTo>
                  <a:lnTo>
                    <a:pt x="3257809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46342" b="-46342"/>
              </a:stretch>
            </a:blipFill>
          </p:spPr>
        </p:sp>
        <p:sp>
          <p:nvSpPr>
            <p:cNvPr id="97" name="TextBox 38">
              <a:extLst>
                <a:ext uri="{FF2B5EF4-FFF2-40B4-BE49-F238E27FC236}">
                  <a16:creationId xmlns:a16="http://schemas.microsoft.com/office/drawing/2014/main" id="{1D0ACE05-28E0-A48E-1C1C-0791E8638181}"/>
                </a:ext>
              </a:extLst>
            </p:cNvPr>
            <p:cNvSpPr txBox="1"/>
            <p:nvPr/>
          </p:nvSpPr>
          <p:spPr>
            <a:xfrm>
              <a:off x="0" y="-19050"/>
              <a:ext cx="3257804" cy="677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856"/>
                </a:lnSpc>
              </a:pPr>
              <a:r>
                <a:rPr lang="en-US" sz="713" dirty="0">
                  <a:solidFill>
                    <a:srgbClr val="C9503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--- </a:t>
              </a:r>
              <a:r>
                <a:rPr lang="en-US" sz="713" dirty="0" err="1">
                  <a:solidFill>
                    <a:srgbClr val="C9503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임계선</a:t>
              </a:r>
              <a:r>
                <a:rPr lang="en-US" sz="713" dirty="0">
                  <a:solidFill>
                    <a:srgbClr val="C9503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V≈5</a:t>
              </a:r>
            </a:p>
          </p:txBody>
        </p:sp>
      </p:grpSp>
      <p:grpSp>
        <p:nvGrpSpPr>
          <p:cNvPr id="100" name="Group 39">
            <a:extLst>
              <a:ext uri="{FF2B5EF4-FFF2-40B4-BE49-F238E27FC236}">
                <a16:creationId xmlns:a16="http://schemas.microsoft.com/office/drawing/2014/main" id="{32B7DADD-F8F5-B4DF-2B03-FD690224A51C}"/>
              </a:ext>
            </a:extLst>
          </p:cNvPr>
          <p:cNvGrpSpPr/>
          <p:nvPr/>
        </p:nvGrpSpPr>
        <p:grpSpPr>
          <a:xfrm>
            <a:off x="506983" y="1873696"/>
            <a:ext cx="3778282" cy="1889141"/>
            <a:chOff x="0" y="0"/>
            <a:chExt cx="10075418" cy="5037709"/>
          </a:xfrm>
        </p:grpSpPr>
        <p:sp>
          <p:nvSpPr>
            <p:cNvPr id="101" name="Freeform 40" descr="dist_volt.png">
              <a:extLst>
                <a:ext uri="{FF2B5EF4-FFF2-40B4-BE49-F238E27FC236}">
                  <a16:creationId xmlns:a16="http://schemas.microsoft.com/office/drawing/2014/main" id="{55D7F172-1710-CED5-07C0-CC2F0E0FD63F}"/>
                </a:ext>
              </a:extLst>
            </p:cNvPr>
            <p:cNvSpPr/>
            <p:nvPr/>
          </p:nvSpPr>
          <p:spPr>
            <a:xfrm>
              <a:off x="0" y="0"/>
              <a:ext cx="10075418" cy="5037709"/>
            </a:xfrm>
            <a:custGeom>
              <a:avLst/>
              <a:gdLst/>
              <a:ahLst/>
              <a:cxnLst/>
              <a:rect l="l" t="t" r="r" b="b"/>
              <a:pathLst>
                <a:path w="10075418" h="5037709">
                  <a:moveTo>
                    <a:pt x="0" y="0"/>
                  </a:moveTo>
                  <a:lnTo>
                    <a:pt x="10075418" y="0"/>
                  </a:lnTo>
                  <a:lnTo>
                    <a:pt x="10075418" y="5037709"/>
                  </a:lnTo>
                  <a:lnTo>
                    <a:pt x="0" y="503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02" name="Group 41">
            <a:extLst>
              <a:ext uri="{FF2B5EF4-FFF2-40B4-BE49-F238E27FC236}">
                <a16:creationId xmlns:a16="http://schemas.microsoft.com/office/drawing/2014/main" id="{84F89495-24C5-4DD7-4EC0-471F71ADC231}"/>
              </a:ext>
            </a:extLst>
          </p:cNvPr>
          <p:cNvGrpSpPr/>
          <p:nvPr/>
        </p:nvGrpSpPr>
        <p:grpSpPr>
          <a:xfrm>
            <a:off x="383443" y="3671897"/>
            <a:ext cx="4025360" cy="274535"/>
            <a:chOff x="0" y="0"/>
            <a:chExt cx="10734294" cy="732092"/>
          </a:xfrm>
        </p:grpSpPr>
        <p:sp>
          <p:nvSpPr>
            <p:cNvPr id="103" name="Freeform 42">
              <a:extLst>
                <a:ext uri="{FF2B5EF4-FFF2-40B4-BE49-F238E27FC236}">
                  <a16:creationId xmlns:a16="http://schemas.microsoft.com/office/drawing/2014/main" id="{2EEA5AE7-7FEF-64BB-62CC-1972D3A2E158}"/>
                </a:ext>
              </a:extLst>
            </p:cNvPr>
            <p:cNvSpPr/>
            <p:nvPr/>
          </p:nvSpPr>
          <p:spPr>
            <a:xfrm>
              <a:off x="0" y="0"/>
              <a:ext cx="10734298" cy="732092"/>
            </a:xfrm>
            <a:custGeom>
              <a:avLst/>
              <a:gdLst/>
              <a:ahLst/>
              <a:cxnLst/>
              <a:rect l="l" t="t" r="r" b="b"/>
              <a:pathLst>
                <a:path w="10734298" h="732092">
                  <a:moveTo>
                    <a:pt x="0" y="0"/>
                  </a:moveTo>
                  <a:lnTo>
                    <a:pt x="10734298" y="0"/>
                  </a:lnTo>
                  <a:lnTo>
                    <a:pt x="1073429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35699" b="-235699"/>
              </a:stretch>
            </a:blipFill>
          </p:spPr>
        </p:sp>
        <p:sp>
          <p:nvSpPr>
            <p:cNvPr id="104" name="TextBox 43">
              <a:extLst>
                <a:ext uri="{FF2B5EF4-FFF2-40B4-BE49-F238E27FC236}">
                  <a16:creationId xmlns:a16="http://schemas.microsoft.com/office/drawing/2014/main" id="{7AA62ACA-951E-34F1-2D23-25D97EACA5A5}"/>
                </a:ext>
              </a:extLst>
            </p:cNvPr>
            <p:cNvSpPr txBox="1"/>
            <p:nvPr/>
          </p:nvSpPr>
          <p:spPr>
            <a:xfrm>
              <a:off x="0" y="-9525"/>
              <a:ext cx="1073429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전압(V)</a:t>
              </a:r>
            </a:p>
          </p:txBody>
        </p:sp>
      </p:grpSp>
      <p:grpSp>
        <p:nvGrpSpPr>
          <p:cNvPr id="105" name="Group 44">
            <a:extLst>
              <a:ext uri="{FF2B5EF4-FFF2-40B4-BE49-F238E27FC236}">
                <a16:creationId xmlns:a16="http://schemas.microsoft.com/office/drawing/2014/main" id="{A67297AE-9576-41DD-5F7D-FC532EE96584}"/>
              </a:ext>
            </a:extLst>
          </p:cNvPr>
          <p:cNvGrpSpPr/>
          <p:nvPr/>
        </p:nvGrpSpPr>
        <p:grpSpPr>
          <a:xfrm>
            <a:off x="4746017" y="1373577"/>
            <a:ext cx="4037276" cy="2661176"/>
            <a:chOff x="0" y="0"/>
            <a:chExt cx="10766069" cy="7096468"/>
          </a:xfrm>
        </p:grpSpPr>
        <p:sp>
          <p:nvSpPr>
            <p:cNvPr id="106" name="Freeform 45">
              <a:extLst>
                <a:ext uri="{FF2B5EF4-FFF2-40B4-BE49-F238E27FC236}">
                  <a16:creationId xmlns:a16="http://schemas.microsoft.com/office/drawing/2014/main" id="{A32F3F44-48AB-4C71-C536-2B47A4E00141}"/>
                </a:ext>
              </a:extLst>
            </p:cNvPr>
            <p:cNvSpPr/>
            <p:nvPr/>
          </p:nvSpPr>
          <p:spPr>
            <a:xfrm>
              <a:off x="0" y="0"/>
              <a:ext cx="10766044" cy="7096506"/>
            </a:xfrm>
            <a:custGeom>
              <a:avLst/>
              <a:gdLst/>
              <a:ahLst/>
              <a:cxnLst/>
              <a:rect l="l" t="t" r="r" b="b"/>
              <a:pathLst>
                <a:path w="10766044" h="7096506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10482199" y="0"/>
                  </a:lnTo>
                  <a:cubicBezTo>
                    <a:pt x="10638917" y="0"/>
                    <a:pt x="10766044" y="127127"/>
                    <a:pt x="10766044" y="283845"/>
                  </a:cubicBezTo>
                  <a:lnTo>
                    <a:pt x="10766044" y="6812661"/>
                  </a:lnTo>
                  <a:cubicBezTo>
                    <a:pt x="10766044" y="6969379"/>
                    <a:pt x="10638917" y="7096506"/>
                    <a:pt x="10482199" y="7096506"/>
                  </a:cubicBezTo>
                  <a:lnTo>
                    <a:pt x="283845" y="7096506"/>
                  </a:lnTo>
                  <a:cubicBezTo>
                    <a:pt x="127127" y="7096506"/>
                    <a:pt x="0" y="6969379"/>
                    <a:pt x="0" y="6812661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107" name="Group 46">
            <a:extLst>
              <a:ext uri="{FF2B5EF4-FFF2-40B4-BE49-F238E27FC236}">
                <a16:creationId xmlns:a16="http://schemas.microsoft.com/office/drawing/2014/main" id="{CDFB9B0B-6C93-134C-95AA-BE892E8FBF9E}"/>
              </a:ext>
            </a:extLst>
          </p:cNvPr>
          <p:cNvGrpSpPr/>
          <p:nvPr/>
        </p:nvGrpSpPr>
        <p:grpSpPr>
          <a:xfrm>
            <a:off x="4930421" y="1516804"/>
            <a:ext cx="541846" cy="274535"/>
            <a:chOff x="0" y="0"/>
            <a:chExt cx="1444922" cy="732092"/>
          </a:xfrm>
        </p:grpSpPr>
        <p:sp>
          <p:nvSpPr>
            <p:cNvPr id="108" name="Freeform 47">
              <a:extLst>
                <a:ext uri="{FF2B5EF4-FFF2-40B4-BE49-F238E27FC236}">
                  <a16:creationId xmlns:a16="http://schemas.microsoft.com/office/drawing/2014/main" id="{C0AF7037-4B45-CF1A-7A89-38286ACEA1F6}"/>
                </a:ext>
              </a:extLst>
            </p:cNvPr>
            <p:cNvSpPr/>
            <p:nvPr/>
          </p:nvSpPr>
          <p:spPr>
            <a:xfrm>
              <a:off x="0" y="0"/>
              <a:ext cx="1444986" cy="732155"/>
            </a:xfrm>
            <a:custGeom>
              <a:avLst/>
              <a:gdLst/>
              <a:ahLst/>
              <a:cxnLst/>
              <a:rect l="l" t="t" r="r" b="b"/>
              <a:pathLst>
                <a:path w="1444986" h="732155">
                  <a:moveTo>
                    <a:pt x="0" y="131826"/>
                  </a:moveTo>
                  <a:cubicBezTo>
                    <a:pt x="0" y="59055"/>
                    <a:pt x="30079" y="0"/>
                    <a:pt x="67144" y="0"/>
                  </a:cubicBezTo>
                  <a:lnTo>
                    <a:pt x="1377810" y="0"/>
                  </a:lnTo>
                  <a:cubicBezTo>
                    <a:pt x="1414875" y="0"/>
                    <a:pt x="1444986" y="59055"/>
                    <a:pt x="1444986" y="131826"/>
                  </a:cubicBezTo>
                  <a:lnTo>
                    <a:pt x="1444986" y="600329"/>
                  </a:lnTo>
                  <a:cubicBezTo>
                    <a:pt x="1444986" y="673100"/>
                    <a:pt x="1414875" y="732155"/>
                    <a:pt x="1377810" y="732155"/>
                  </a:cubicBezTo>
                  <a:lnTo>
                    <a:pt x="67144" y="732155"/>
                  </a:lnTo>
                  <a:cubicBezTo>
                    <a:pt x="30079" y="732155"/>
                    <a:pt x="0" y="673100"/>
                    <a:pt x="0" y="600329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109" name="TextBox 48">
              <a:extLst>
                <a:ext uri="{FF2B5EF4-FFF2-40B4-BE49-F238E27FC236}">
                  <a16:creationId xmlns:a16="http://schemas.microsoft.com/office/drawing/2014/main" id="{A68552E8-2E60-3866-41C3-21457726BDC3}"/>
                </a:ext>
              </a:extLst>
            </p:cNvPr>
            <p:cNvSpPr txBox="1"/>
            <p:nvPr/>
          </p:nvSpPr>
          <p:spPr>
            <a:xfrm>
              <a:off x="0" y="-19050"/>
              <a:ext cx="1444922" cy="751142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081"/>
                </a:lnSpc>
              </a:pPr>
              <a:r>
                <a:rPr lang="en-US" sz="90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전류 분포</a:t>
              </a:r>
            </a:p>
          </p:txBody>
        </p:sp>
      </p:grpSp>
      <p:grpSp>
        <p:nvGrpSpPr>
          <p:cNvPr id="110" name="Group 49">
            <a:extLst>
              <a:ext uri="{FF2B5EF4-FFF2-40B4-BE49-F238E27FC236}">
                <a16:creationId xmlns:a16="http://schemas.microsoft.com/office/drawing/2014/main" id="{E85BDB14-642B-53A7-6CE8-85806F03668B}"/>
              </a:ext>
            </a:extLst>
          </p:cNvPr>
          <p:cNvGrpSpPr/>
          <p:nvPr/>
        </p:nvGrpSpPr>
        <p:grpSpPr>
          <a:xfrm>
            <a:off x="7404664" y="1530530"/>
            <a:ext cx="1221677" cy="247084"/>
            <a:chOff x="0" y="0"/>
            <a:chExt cx="3257804" cy="658889"/>
          </a:xfrm>
        </p:grpSpPr>
        <p:sp>
          <p:nvSpPr>
            <p:cNvPr id="111" name="Freeform 50">
              <a:extLst>
                <a:ext uri="{FF2B5EF4-FFF2-40B4-BE49-F238E27FC236}">
                  <a16:creationId xmlns:a16="http://schemas.microsoft.com/office/drawing/2014/main" id="{4B1DDF8E-FE73-52EB-CBC1-DD0B31C6A0C4}"/>
                </a:ext>
              </a:extLst>
            </p:cNvPr>
            <p:cNvSpPr/>
            <p:nvPr/>
          </p:nvSpPr>
          <p:spPr>
            <a:xfrm>
              <a:off x="0" y="0"/>
              <a:ext cx="3257809" cy="658883"/>
            </a:xfrm>
            <a:custGeom>
              <a:avLst/>
              <a:gdLst/>
              <a:ahLst/>
              <a:cxnLst/>
              <a:rect l="l" t="t" r="r" b="b"/>
              <a:pathLst>
                <a:path w="3257809" h="658883">
                  <a:moveTo>
                    <a:pt x="0" y="0"/>
                  </a:moveTo>
                  <a:lnTo>
                    <a:pt x="3257809" y="0"/>
                  </a:lnTo>
                  <a:lnTo>
                    <a:pt x="3257809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46342" b="-46342"/>
              </a:stretch>
            </a:blipFill>
          </p:spPr>
        </p:sp>
        <p:sp>
          <p:nvSpPr>
            <p:cNvPr id="112" name="TextBox 51">
              <a:extLst>
                <a:ext uri="{FF2B5EF4-FFF2-40B4-BE49-F238E27FC236}">
                  <a16:creationId xmlns:a16="http://schemas.microsoft.com/office/drawing/2014/main" id="{3BB8D4AB-E14A-2ABD-787E-3A5F079AA84F}"/>
                </a:ext>
              </a:extLst>
            </p:cNvPr>
            <p:cNvSpPr txBox="1"/>
            <p:nvPr/>
          </p:nvSpPr>
          <p:spPr>
            <a:xfrm>
              <a:off x="0" y="-19050"/>
              <a:ext cx="3257804" cy="677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856"/>
                </a:lnSpc>
              </a:pPr>
              <a:r>
                <a:rPr lang="en-US" sz="713">
                  <a:solidFill>
                    <a:srgbClr val="C9503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--- 임계선 I≈100</a:t>
              </a:r>
            </a:p>
          </p:txBody>
        </p:sp>
      </p:grpSp>
      <p:grpSp>
        <p:nvGrpSpPr>
          <p:cNvPr id="113" name="Group 52">
            <a:extLst>
              <a:ext uri="{FF2B5EF4-FFF2-40B4-BE49-F238E27FC236}">
                <a16:creationId xmlns:a16="http://schemas.microsoft.com/office/drawing/2014/main" id="{2B062250-DE66-0160-6645-3EA0EBA54EFA}"/>
              </a:ext>
            </a:extLst>
          </p:cNvPr>
          <p:cNvGrpSpPr/>
          <p:nvPr/>
        </p:nvGrpSpPr>
        <p:grpSpPr>
          <a:xfrm>
            <a:off x="4875514" y="1873696"/>
            <a:ext cx="3778282" cy="1889141"/>
            <a:chOff x="0" y="0"/>
            <a:chExt cx="10075418" cy="5037709"/>
          </a:xfrm>
        </p:grpSpPr>
        <p:sp>
          <p:nvSpPr>
            <p:cNvPr id="114" name="Freeform 53" descr="dist_cur.png">
              <a:extLst>
                <a:ext uri="{FF2B5EF4-FFF2-40B4-BE49-F238E27FC236}">
                  <a16:creationId xmlns:a16="http://schemas.microsoft.com/office/drawing/2014/main" id="{77544A0B-10F8-82E2-FA0F-8793E4077D42}"/>
                </a:ext>
              </a:extLst>
            </p:cNvPr>
            <p:cNvSpPr/>
            <p:nvPr/>
          </p:nvSpPr>
          <p:spPr>
            <a:xfrm>
              <a:off x="0" y="0"/>
              <a:ext cx="10075418" cy="5037709"/>
            </a:xfrm>
            <a:custGeom>
              <a:avLst/>
              <a:gdLst/>
              <a:ahLst/>
              <a:cxnLst/>
              <a:rect l="l" t="t" r="r" b="b"/>
              <a:pathLst>
                <a:path w="10075418" h="5037709">
                  <a:moveTo>
                    <a:pt x="0" y="0"/>
                  </a:moveTo>
                  <a:lnTo>
                    <a:pt x="10075418" y="0"/>
                  </a:lnTo>
                  <a:lnTo>
                    <a:pt x="10075418" y="5037709"/>
                  </a:lnTo>
                  <a:lnTo>
                    <a:pt x="0" y="5037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15" name="Group 54">
            <a:extLst>
              <a:ext uri="{FF2B5EF4-FFF2-40B4-BE49-F238E27FC236}">
                <a16:creationId xmlns:a16="http://schemas.microsoft.com/office/drawing/2014/main" id="{6E2D8D96-E652-06E9-32BC-7271AFF312B0}"/>
              </a:ext>
            </a:extLst>
          </p:cNvPr>
          <p:cNvGrpSpPr/>
          <p:nvPr/>
        </p:nvGrpSpPr>
        <p:grpSpPr>
          <a:xfrm>
            <a:off x="4751975" y="3671897"/>
            <a:ext cx="4025360" cy="274535"/>
            <a:chOff x="0" y="0"/>
            <a:chExt cx="10734294" cy="732092"/>
          </a:xfrm>
        </p:grpSpPr>
        <p:sp>
          <p:nvSpPr>
            <p:cNvPr id="116" name="Freeform 55">
              <a:extLst>
                <a:ext uri="{FF2B5EF4-FFF2-40B4-BE49-F238E27FC236}">
                  <a16:creationId xmlns:a16="http://schemas.microsoft.com/office/drawing/2014/main" id="{8968B92A-B9F8-62FC-BFE0-8BDFFE3E6C3C}"/>
                </a:ext>
              </a:extLst>
            </p:cNvPr>
            <p:cNvSpPr/>
            <p:nvPr/>
          </p:nvSpPr>
          <p:spPr>
            <a:xfrm>
              <a:off x="0" y="0"/>
              <a:ext cx="10734298" cy="732092"/>
            </a:xfrm>
            <a:custGeom>
              <a:avLst/>
              <a:gdLst/>
              <a:ahLst/>
              <a:cxnLst/>
              <a:rect l="l" t="t" r="r" b="b"/>
              <a:pathLst>
                <a:path w="10734298" h="732092">
                  <a:moveTo>
                    <a:pt x="0" y="0"/>
                  </a:moveTo>
                  <a:lnTo>
                    <a:pt x="10734298" y="0"/>
                  </a:lnTo>
                  <a:lnTo>
                    <a:pt x="1073429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235699" b="-235699"/>
              </a:stretch>
            </a:blipFill>
          </p:spPr>
        </p:sp>
        <p:sp>
          <p:nvSpPr>
            <p:cNvPr id="117" name="TextBox 56">
              <a:extLst>
                <a:ext uri="{FF2B5EF4-FFF2-40B4-BE49-F238E27FC236}">
                  <a16:creationId xmlns:a16="http://schemas.microsoft.com/office/drawing/2014/main" id="{00C9AB62-76A1-7852-8FE0-9AD57C845ECD}"/>
                </a:ext>
              </a:extLst>
            </p:cNvPr>
            <p:cNvSpPr txBox="1"/>
            <p:nvPr/>
          </p:nvSpPr>
          <p:spPr>
            <a:xfrm>
              <a:off x="0" y="-9525"/>
              <a:ext cx="10734294" cy="7416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전류(I)</a:t>
              </a:r>
            </a:p>
          </p:txBody>
        </p:sp>
      </p:grpSp>
      <p:grpSp>
        <p:nvGrpSpPr>
          <p:cNvPr id="118" name="Group 57">
            <a:extLst>
              <a:ext uri="{FF2B5EF4-FFF2-40B4-BE49-F238E27FC236}">
                <a16:creationId xmlns:a16="http://schemas.microsoft.com/office/drawing/2014/main" id="{60B344F6-C186-DB12-3FB1-6DA2A9C173C1}"/>
              </a:ext>
            </a:extLst>
          </p:cNvPr>
          <p:cNvGrpSpPr/>
          <p:nvPr/>
        </p:nvGrpSpPr>
        <p:grpSpPr>
          <a:xfrm>
            <a:off x="377486" y="4130002"/>
            <a:ext cx="8393892" cy="644033"/>
            <a:chOff x="0" y="0"/>
            <a:chExt cx="22383712" cy="1717421"/>
          </a:xfrm>
        </p:grpSpPr>
        <p:sp>
          <p:nvSpPr>
            <p:cNvPr id="119" name="Freeform 58">
              <a:extLst>
                <a:ext uri="{FF2B5EF4-FFF2-40B4-BE49-F238E27FC236}">
                  <a16:creationId xmlns:a16="http://schemas.microsoft.com/office/drawing/2014/main" id="{CE4742E4-39BE-354A-B00E-555C0530CF8E}"/>
                </a:ext>
              </a:extLst>
            </p:cNvPr>
            <p:cNvSpPr/>
            <p:nvPr/>
          </p:nvSpPr>
          <p:spPr>
            <a:xfrm>
              <a:off x="0" y="0"/>
              <a:ext cx="22383750" cy="1717421"/>
            </a:xfrm>
            <a:custGeom>
              <a:avLst/>
              <a:gdLst/>
              <a:ahLst/>
              <a:cxnLst/>
              <a:rect l="l" t="t" r="r" b="b"/>
              <a:pathLst>
                <a:path w="22383750" h="1717421">
                  <a:moveTo>
                    <a:pt x="0" y="206120"/>
                  </a:moveTo>
                  <a:cubicBezTo>
                    <a:pt x="0" y="92298"/>
                    <a:pt x="96393" y="0"/>
                    <a:pt x="215265" y="0"/>
                  </a:cubicBezTo>
                  <a:lnTo>
                    <a:pt x="22168484" y="0"/>
                  </a:lnTo>
                  <a:cubicBezTo>
                    <a:pt x="22287357" y="0"/>
                    <a:pt x="22383750" y="92298"/>
                    <a:pt x="22383750" y="206120"/>
                  </a:cubicBezTo>
                  <a:lnTo>
                    <a:pt x="22383750" y="1511301"/>
                  </a:lnTo>
                  <a:cubicBezTo>
                    <a:pt x="22383750" y="1625123"/>
                    <a:pt x="22287357" y="1717421"/>
                    <a:pt x="22168484" y="1717421"/>
                  </a:cubicBezTo>
                  <a:lnTo>
                    <a:pt x="215265" y="1717421"/>
                  </a:lnTo>
                  <a:cubicBezTo>
                    <a:pt x="96393" y="1717421"/>
                    <a:pt x="0" y="1625123"/>
                    <a:pt x="0" y="1511301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20" name="Group 59">
            <a:extLst>
              <a:ext uri="{FF2B5EF4-FFF2-40B4-BE49-F238E27FC236}">
                <a16:creationId xmlns:a16="http://schemas.microsoft.com/office/drawing/2014/main" id="{FEAACB44-8052-72FA-F33C-80D53E4181E5}"/>
              </a:ext>
            </a:extLst>
          </p:cNvPr>
          <p:cNvGrpSpPr/>
          <p:nvPr/>
        </p:nvGrpSpPr>
        <p:grpSpPr>
          <a:xfrm>
            <a:off x="561890" y="4227283"/>
            <a:ext cx="5147520" cy="180228"/>
            <a:chOff x="0" y="0"/>
            <a:chExt cx="13726719" cy="480609"/>
          </a:xfrm>
        </p:grpSpPr>
        <p:sp>
          <p:nvSpPr>
            <p:cNvPr id="121" name="Freeform 60">
              <a:extLst>
                <a:ext uri="{FF2B5EF4-FFF2-40B4-BE49-F238E27FC236}">
                  <a16:creationId xmlns:a16="http://schemas.microsoft.com/office/drawing/2014/main" id="{2C40113C-69CE-6375-4416-3DD822D3D005}"/>
                </a:ext>
              </a:extLst>
            </p:cNvPr>
            <p:cNvSpPr/>
            <p:nvPr/>
          </p:nvSpPr>
          <p:spPr>
            <a:xfrm>
              <a:off x="0" y="0"/>
              <a:ext cx="13726723" cy="480613"/>
            </a:xfrm>
            <a:custGeom>
              <a:avLst/>
              <a:gdLst/>
              <a:ahLst/>
              <a:cxnLst/>
              <a:rect l="l" t="t" r="r" b="b"/>
              <a:pathLst>
                <a:path w="13726723" h="480613">
                  <a:moveTo>
                    <a:pt x="0" y="0"/>
                  </a:moveTo>
                  <a:lnTo>
                    <a:pt x="13726723" y="0"/>
                  </a:lnTo>
                  <a:lnTo>
                    <a:pt x="13726723" y="480613"/>
                  </a:lnTo>
                  <a:lnTo>
                    <a:pt x="0" y="4806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415609" b="-597409"/>
              </a:stretch>
            </a:blipFill>
          </p:spPr>
        </p:sp>
        <p:sp>
          <p:nvSpPr>
            <p:cNvPr id="122" name="TextBox 61">
              <a:extLst>
                <a:ext uri="{FF2B5EF4-FFF2-40B4-BE49-F238E27FC236}">
                  <a16:creationId xmlns:a16="http://schemas.microsoft.com/office/drawing/2014/main" id="{78469C30-C65F-FBD5-76F0-F166CDB29703}"/>
                </a:ext>
              </a:extLst>
            </p:cNvPr>
            <p:cNvSpPr txBox="1"/>
            <p:nvPr/>
          </p:nvSpPr>
          <p:spPr>
            <a:xfrm>
              <a:off x="0" y="-9525"/>
              <a:ext cx="13726719" cy="4901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1"/>
                </a:lnSpc>
              </a:pPr>
              <a:r>
                <a:rPr lang="en-US" sz="901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 </a:t>
              </a:r>
              <a:r>
                <a:rPr lang="en-US" sz="901">
                  <a:solidFill>
                    <a:srgbClr val="4449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전압·전류 모두 0 부근(대기)과 공정 구간에서 뚜렷한 두 개의 피크 형성</a:t>
              </a:r>
            </a:p>
          </p:txBody>
        </p:sp>
      </p:grpSp>
      <p:grpSp>
        <p:nvGrpSpPr>
          <p:cNvPr id="123" name="Group 62">
            <a:extLst>
              <a:ext uri="{FF2B5EF4-FFF2-40B4-BE49-F238E27FC236}">
                <a16:creationId xmlns:a16="http://schemas.microsoft.com/office/drawing/2014/main" id="{A5101B09-81D3-FCD9-0A6A-A81F864B950E}"/>
              </a:ext>
            </a:extLst>
          </p:cNvPr>
          <p:cNvGrpSpPr/>
          <p:nvPr/>
        </p:nvGrpSpPr>
        <p:grpSpPr>
          <a:xfrm>
            <a:off x="4365098" y="4353198"/>
            <a:ext cx="452981" cy="192177"/>
            <a:chOff x="0" y="0"/>
            <a:chExt cx="1207948" cy="512470"/>
          </a:xfrm>
        </p:grpSpPr>
        <p:sp>
          <p:nvSpPr>
            <p:cNvPr id="124" name="Freeform 63">
              <a:extLst>
                <a:ext uri="{FF2B5EF4-FFF2-40B4-BE49-F238E27FC236}">
                  <a16:creationId xmlns:a16="http://schemas.microsoft.com/office/drawing/2014/main" id="{2C3361AA-0A10-4D39-DFE1-BC265A39E475}"/>
                </a:ext>
              </a:extLst>
            </p:cNvPr>
            <p:cNvSpPr/>
            <p:nvPr/>
          </p:nvSpPr>
          <p:spPr>
            <a:xfrm>
              <a:off x="0" y="0"/>
              <a:ext cx="1207897" cy="512445"/>
            </a:xfrm>
            <a:custGeom>
              <a:avLst/>
              <a:gdLst/>
              <a:ahLst/>
              <a:cxnLst/>
              <a:rect l="l" t="t" r="r" b="b"/>
              <a:pathLst>
                <a:path w="1207897" h="512445">
                  <a:moveTo>
                    <a:pt x="0" y="128143"/>
                  </a:moveTo>
                  <a:lnTo>
                    <a:pt x="951738" y="128143"/>
                  </a:lnTo>
                  <a:lnTo>
                    <a:pt x="951738" y="0"/>
                  </a:lnTo>
                  <a:lnTo>
                    <a:pt x="1207897" y="256286"/>
                  </a:lnTo>
                  <a:lnTo>
                    <a:pt x="951738" y="512445"/>
                  </a:lnTo>
                  <a:lnTo>
                    <a:pt x="951738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125" name="Group 64">
            <a:extLst>
              <a:ext uri="{FF2B5EF4-FFF2-40B4-BE49-F238E27FC236}">
                <a16:creationId xmlns:a16="http://schemas.microsoft.com/office/drawing/2014/main" id="{672F3447-5675-8200-9F32-1C0935DE20A9}"/>
              </a:ext>
            </a:extLst>
          </p:cNvPr>
          <p:cNvGrpSpPr/>
          <p:nvPr/>
        </p:nvGrpSpPr>
        <p:grpSpPr>
          <a:xfrm>
            <a:off x="5709409" y="4130002"/>
            <a:ext cx="2161961" cy="672610"/>
            <a:chOff x="0" y="0"/>
            <a:chExt cx="5765228" cy="1793625"/>
          </a:xfrm>
        </p:grpSpPr>
        <p:sp>
          <p:nvSpPr>
            <p:cNvPr id="126" name="Freeform 65">
              <a:extLst>
                <a:ext uri="{FF2B5EF4-FFF2-40B4-BE49-F238E27FC236}">
                  <a16:creationId xmlns:a16="http://schemas.microsoft.com/office/drawing/2014/main" id="{73BC45C1-C04A-ABB0-776B-C43935CAA86B}"/>
                </a:ext>
              </a:extLst>
            </p:cNvPr>
            <p:cNvSpPr/>
            <p:nvPr/>
          </p:nvSpPr>
          <p:spPr>
            <a:xfrm>
              <a:off x="0" y="0"/>
              <a:ext cx="5765224" cy="1793629"/>
            </a:xfrm>
            <a:custGeom>
              <a:avLst/>
              <a:gdLst/>
              <a:ahLst/>
              <a:cxnLst/>
              <a:rect l="l" t="t" r="r" b="b"/>
              <a:pathLst>
                <a:path w="5765224" h="1793629">
                  <a:moveTo>
                    <a:pt x="0" y="0"/>
                  </a:moveTo>
                  <a:lnTo>
                    <a:pt x="5765224" y="0"/>
                  </a:lnTo>
                  <a:lnTo>
                    <a:pt x="5765224" y="1793629"/>
                  </a:lnTo>
                  <a:lnTo>
                    <a:pt x="0" y="17936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2630" b="-12630"/>
              </a:stretch>
            </a:blipFill>
          </p:spPr>
        </p:sp>
        <p:sp>
          <p:nvSpPr>
            <p:cNvPr id="127" name="TextBox 66">
              <a:extLst>
                <a:ext uri="{FF2B5EF4-FFF2-40B4-BE49-F238E27FC236}">
                  <a16:creationId xmlns:a16="http://schemas.microsoft.com/office/drawing/2014/main" id="{D2BCC7C8-4933-3FCB-561A-B55F5A9EE78C}"/>
                </a:ext>
              </a:extLst>
            </p:cNvPr>
            <p:cNvSpPr txBox="1"/>
            <p:nvPr/>
          </p:nvSpPr>
          <p:spPr>
            <a:xfrm>
              <a:off x="0" y="-19050"/>
              <a:ext cx="5765228" cy="1812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39"/>
                </a:lnSpc>
              </a:pPr>
              <a:r>
                <a:rPr lang="en-US" sz="1301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KIMM_Bold Bold"/>
                </a:rPr>
                <a:t>이봉(Bimodal) 분포 확인</a:t>
              </a:r>
            </a:p>
          </p:txBody>
        </p:sp>
      </p:grpSp>
      <p:grpSp>
        <p:nvGrpSpPr>
          <p:cNvPr id="128" name="Group 67">
            <a:extLst>
              <a:ext uri="{FF2B5EF4-FFF2-40B4-BE49-F238E27FC236}">
                <a16:creationId xmlns:a16="http://schemas.microsoft.com/office/drawing/2014/main" id="{025C1C7F-71D0-B115-A290-E5D19FB3DFBE}"/>
              </a:ext>
            </a:extLst>
          </p:cNvPr>
          <p:cNvGrpSpPr/>
          <p:nvPr/>
        </p:nvGrpSpPr>
        <p:grpSpPr>
          <a:xfrm>
            <a:off x="561890" y="4449287"/>
            <a:ext cx="5147520" cy="227468"/>
            <a:chOff x="0" y="0"/>
            <a:chExt cx="13726719" cy="606581"/>
          </a:xfrm>
        </p:grpSpPr>
        <p:sp>
          <p:nvSpPr>
            <p:cNvPr id="129" name="Freeform 68">
              <a:extLst>
                <a:ext uri="{FF2B5EF4-FFF2-40B4-BE49-F238E27FC236}">
                  <a16:creationId xmlns:a16="http://schemas.microsoft.com/office/drawing/2014/main" id="{5FE4F4A2-0B3E-5839-BFC1-46D6FDFC65A8}"/>
                </a:ext>
              </a:extLst>
            </p:cNvPr>
            <p:cNvSpPr/>
            <p:nvPr/>
          </p:nvSpPr>
          <p:spPr>
            <a:xfrm>
              <a:off x="0" y="0"/>
              <a:ext cx="13726723" cy="606585"/>
            </a:xfrm>
            <a:custGeom>
              <a:avLst/>
              <a:gdLst/>
              <a:ahLst/>
              <a:cxnLst/>
              <a:rect l="l" t="t" r="r" b="b"/>
              <a:pathLst>
                <a:path w="13726723" h="606585">
                  <a:moveTo>
                    <a:pt x="0" y="0"/>
                  </a:moveTo>
                  <a:lnTo>
                    <a:pt x="13726723" y="0"/>
                  </a:lnTo>
                  <a:lnTo>
                    <a:pt x="13726723" y="606585"/>
                  </a:lnTo>
                  <a:lnTo>
                    <a:pt x="0" y="606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29297" b="-452574"/>
              </a:stretch>
            </a:blipFill>
          </p:spPr>
        </p:sp>
        <p:sp>
          <p:nvSpPr>
            <p:cNvPr id="130" name="TextBox 69">
              <a:extLst>
                <a:ext uri="{FF2B5EF4-FFF2-40B4-BE49-F238E27FC236}">
                  <a16:creationId xmlns:a16="http://schemas.microsoft.com/office/drawing/2014/main" id="{13CEE3BA-DA10-ADB4-0FB8-826191074E71}"/>
                </a:ext>
              </a:extLst>
            </p:cNvPr>
            <p:cNvSpPr txBox="1"/>
            <p:nvPr/>
          </p:nvSpPr>
          <p:spPr>
            <a:xfrm>
              <a:off x="0" y="-9525"/>
              <a:ext cx="13726719" cy="6161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81"/>
                </a:lnSpc>
              </a:pPr>
              <a:r>
                <a:rPr lang="en-US" sz="901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 </a:t>
              </a:r>
              <a:r>
                <a:rPr lang="en-US" sz="901">
                  <a:solidFill>
                    <a:srgbClr val="4449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단일 분포 가정의 사후 품질 관리로는 구간 구분 불가</a:t>
              </a:r>
            </a:p>
          </p:txBody>
        </p:sp>
      </p:grpSp>
      <p:grpSp>
        <p:nvGrpSpPr>
          <p:cNvPr id="131" name="Group 22">
            <a:extLst>
              <a:ext uri="{FF2B5EF4-FFF2-40B4-BE49-F238E27FC236}">
                <a16:creationId xmlns:a16="http://schemas.microsoft.com/office/drawing/2014/main" id="{BB6AAB6B-78D1-7045-E1DC-5FEEE8098EAE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132" name="Freeform 23">
              <a:extLst>
                <a:ext uri="{FF2B5EF4-FFF2-40B4-BE49-F238E27FC236}">
                  <a16:creationId xmlns:a16="http://schemas.microsoft.com/office/drawing/2014/main" id="{07C3ADC3-8716-573D-E568-75D877A410DD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</p:spTree>
    <p:extLst>
      <p:ext uri="{BB962C8B-B14F-4D97-AF65-F5344CB8AC3E}">
        <p14:creationId xmlns:p14="http://schemas.microsoft.com/office/powerpoint/2010/main" val="150419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D0493-229C-BF82-1F7E-0B38D3ED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8AC6B0E-CF65-C312-1B40-2829DC84BA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FE91257-B1AE-7F1F-30AE-BE56AE76CD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250F3C0-4335-A9DF-1782-86CE94D45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748F5A7-0038-2BA9-49A4-A7CDD81B4D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4FA6F68-CBC3-507F-6253-8CA5762E729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D928523C-C826-FD97-3DDA-583261AA5BD0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3EBF794C-4AEF-4EFC-8AF6-384D225DAB7A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검정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(Mann-Whitney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U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검정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)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29158CBD-D511-D3E6-60E7-FA27F15258DC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9E8F181B-90F3-999E-FD2C-71393C7B83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75" name="Group 22">
            <a:extLst>
              <a:ext uri="{FF2B5EF4-FFF2-40B4-BE49-F238E27FC236}">
                <a16:creationId xmlns:a16="http://schemas.microsoft.com/office/drawing/2014/main" id="{F36CA631-61D5-68AC-5AA2-250269939833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76" name="Freeform 23">
              <a:extLst>
                <a:ext uri="{FF2B5EF4-FFF2-40B4-BE49-F238E27FC236}">
                  <a16:creationId xmlns:a16="http://schemas.microsoft.com/office/drawing/2014/main" id="{22EFB937-14B8-1518-82C7-9997593912B7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7" name="Group 24">
            <a:extLst>
              <a:ext uri="{FF2B5EF4-FFF2-40B4-BE49-F238E27FC236}">
                <a16:creationId xmlns:a16="http://schemas.microsoft.com/office/drawing/2014/main" id="{E309F2DD-E023-CAF4-B5D1-341A7D7B9304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78" name="Freeform 25" descr="logo.png">
              <a:extLst>
                <a:ext uri="{FF2B5EF4-FFF2-40B4-BE49-F238E27FC236}">
                  <a16:creationId xmlns:a16="http://schemas.microsoft.com/office/drawing/2014/main" id="{E6F41030-0E0B-9E3A-36B7-08C71D1AD9B3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79" name="Group 26">
            <a:extLst>
              <a:ext uri="{FF2B5EF4-FFF2-40B4-BE49-F238E27FC236}">
                <a16:creationId xmlns:a16="http://schemas.microsoft.com/office/drawing/2014/main" id="{B4937EAB-FB5D-6270-E4CA-A3C605FA4C78}"/>
              </a:ext>
            </a:extLst>
          </p:cNvPr>
          <p:cNvGrpSpPr/>
          <p:nvPr/>
        </p:nvGrpSpPr>
        <p:grpSpPr>
          <a:xfrm>
            <a:off x="504335" y="3393324"/>
            <a:ext cx="2399029" cy="6349"/>
            <a:chOff x="0" y="0"/>
            <a:chExt cx="6397409" cy="16929"/>
          </a:xfrm>
        </p:grpSpPr>
        <p:sp>
          <p:nvSpPr>
            <p:cNvPr id="80" name="Freeform 27">
              <a:extLst>
                <a:ext uri="{FF2B5EF4-FFF2-40B4-BE49-F238E27FC236}">
                  <a16:creationId xmlns:a16="http://schemas.microsoft.com/office/drawing/2014/main" id="{4CF99810-6A6C-3648-8EBB-73811D24140D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9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grpSp>
        <p:nvGrpSpPr>
          <p:cNvPr id="81" name="Group 28">
            <a:extLst>
              <a:ext uri="{FF2B5EF4-FFF2-40B4-BE49-F238E27FC236}">
                <a16:creationId xmlns:a16="http://schemas.microsoft.com/office/drawing/2014/main" id="{608D8A23-5D76-9CD6-70BB-FCA32C84C1CF}"/>
              </a:ext>
            </a:extLst>
          </p:cNvPr>
          <p:cNvGrpSpPr/>
          <p:nvPr/>
        </p:nvGrpSpPr>
        <p:grpSpPr>
          <a:xfrm>
            <a:off x="668666" y="891650"/>
            <a:ext cx="3888558" cy="4040192"/>
            <a:chOff x="0" y="0"/>
            <a:chExt cx="5307972" cy="5514955"/>
          </a:xfrm>
        </p:grpSpPr>
        <p:sp>
          <p:nvSpPr>
            <p:cNvPr id="82" name="Freeform 29">
              <a:extLst>
                <a:ext uri="{FF2B5EF4-FFF2-40B4-BE49-F238E27FC236}">
                  <a16:creationId xmlns:a16="http://schemas.microsoft.com/office/drawing/2014/main" id="{F8CFD4AE-22E5-EBB3-EDF1-6A1CBFB7168D}"/>
                </a:ext>
              </a:extLst>
            </p:cNvPr>
            <p:cNvSpPr/>
            <p:nvPr/>
          </p:nvSpPr>
          <p:spPr>
            <a:xfrm>
              <a:off x="0" y="0"/>
              <a:ext cx="5307908" cy="5514841"/>
            </a:xfrm>
            <a:custGeom>
              <a:avLst/>
              <a:gdLst/>
              <a:ahLst/>
              <a:cxnLst/>
              <a:rect l="l" t="t" r="r" b="b"/>
              <a:pathLst>
                <a:path w="5307908" h="5514841">
                  <a:moveTo>
                    <a:pt x="0" y="110245"/>
                  </a:moveTo>
                  <a:cubicBezTo>
                    <a:pt x="0" y="49324"/>
                    <a:pt x="27597" y="0"/>
                    <a:pt x="61682" y="0"/>
                  </a:cubicBezTo>
                  <a:lnTo>
                    <a:pt x="5246226" y="0"/>
                  </a:lnTo>
                  <a:cubicBezTo>
                    <a:pt x="5280311" y="0"/>
                    <a:pt x="5307908" y="49324"/>
                    <a:pt x="5307908" y="110245"/>
                  </a:cubicBezTo>
                  <a:lnTo>
                    <a:pt x="5307908" y="5404596"/>
                  </a:lnTo>
                  <a:cubicBezTo>
                    <a:pt x="5307908" y="5465517"/>
                    <a:pt x="5280311" y="5514841"/>
                    <a:pt x="5246226" y="5514841"/>
                  </a:cubicBezTo>
                  <a:lnTo>
                    <a:pt x="61682" y="5514841"/>
                  </a:lnTo>
                  <a:cubicBezTo>
                    <a:pt x="27597" y="5514841"/>
                    <a:pt x="0" y="5465517"/>
                    <a:pt x="0" y="540459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83" name="Group 30">
            <a:extLst>
              <a:ext uri="{FF2B5EF4-FFF2-40B4-BE49-F238E27FC236}">
                <a16:creationId xmlns:a16="http://schemas.microsoft.com/office/drawing/2014/main" id="{50FC951B-5465-944A-B910-95392B4776FC}"/>
              </a:ext>
            </a:extLst>
          </p:cNvPr>
          <p:cNvGrpSpPr/>
          <p:nvPr/>
        </p:nvGrpSpPr>
        <p:grpSpPr>
          <a:xfrm>
            <a:off x="4646716" y="893212"/>
            <a:ext cx="3911823" cy="4038630"/>
            <a:chOff x="0" y="0"/>
            <a:chExt cx="5307972" cy="5480037"/>
          </a:xfrm>
        </p:grpSpPr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8C36A134-E81C-7BDE-BCD1-B83B00D59FA7}"/>
                </a:ext>
              </a:extLst>
            </p:cNvPr>
            <p:cNvSpPr/>
            <p:nvPr/>
          </p:nvSpPr>
          <p:spPr>
            <a:xfrm>
              <a:off x="0" y="0"/>
              <a:ext cx="5307908" cy="5479923"/>
            </a:xfrm>
            <a:custGeom>
              <a:avLst/>
              <a:gdLst/>
              <a:ahLst/>
              <a:cxnLst/>
              <a:rect l="l" t="t" r="r" b="b"/>
              <a:pathLst>
                <a:path w="5307908" h="5479923">
                  <a:moveTo>
                    <a:pt x="0" y="109547"/>
                  </a:moveTo>
                  <a:cubicBezTo>
                    <a:pt x="0" y="49012"/>
                    <a:pt x="27597" y="0"/>
                    <a:pt x="61682" y="0"/>
                  </a:cubicBezTo>
                  <a:lnTo>
                    <a:pt x="5246226" y="0"/>
                  </a:lnTo>
                  <a:cubicBezTo>
                    <a:pt x="5280311" y="0"/>
                    <a:pt x="5307908" y="49012"/>
                    <a:pt x="5307908" y="109547"/>
                  </a:cubicBezTo>
                  <a:lnTo>
                    <a:pt x="5307908" y="5370377"/>
                  </a:lnTo>
                  <a:cubicBezTo>
                    <a:pt x="5307908" y="5430912"/>
                    <a:pt x="5280311" y="5479923"/>
                    <a:pt x="5246226" y="5479923"/>
                  </a:cubicBezTo>
                  <a:lnTo>
                    <a:pt x="61682" y="5479923"/>
                  </a:lnTo>
                  <a:cubicBezTo>
                    <a:pt x="27597" y="5479923"/>
                    <a:pt x="0" y="5430912"/>
                    <a:pt x="0" y="537037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86" name="Group 32">
            <a:extLst>
              <a:ext uri="{FF2B5EF4-FFF2-40B4-BE49-F238E27FC236}">
                <a16:creationId xmlns:a16="http://schemas.microsoft.com/office/drawing/2014/main" id="{5C5FB7FD-84C8-6215-29E0-F85E067825E2}"/>
              </a:ext>
            </a:extLst>
          </p:cNvPr>
          <p:cNvGrpSpPr/>
          <p:nvPr/>
        </p:nvGrpSpPr>
        <p:grpSpPr>
          <a:xfrm>
            <a:off x="1054549" y="982804"/>
            <a:ext cx="308632" cy="308632"/>
            <a:chOff x="0" y="0"/>
            <a:chExt cx="1219200" cy="1219200"/>
          </a:xfrm>
        </p:grpSpPr>
        <p:sp>
          <p:nvSpPr>
            <p:cNvPr id="87" name="Freeform 33">
              <a:extLst>
                <a:ext uri="{FF2B5EF4-FFF2-40B4-BE49-F238E27FC236}">
                  <a16:creationId xmlns:a16="http://schemas.microsoft.com/office/drawing/2014/main" id="{54ED8359-F4DA-BBFE-7230-2BD8D0056DB6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sp>
        <p:nvSpPr>
          <p:cNvPr id="88" name="TextBox 34">
            <a:extLst>
              <a:ext uri="{FF2B5EF4-FFF2-40B4-BE49-F238E27FC236}">
                <a16:creationId xmlns:a16="http://schemas.microsoft.com/office/drawing/2014/main" id="{B61FDA86-1A89-DDE4-5453-0F917D9639B9}"/>
              </a:ext>
            </a:extLst>
          </p:cNvPr>
          <p:cNvSpPr txBox="1"/>
          <p:nvPr/>
        </p:nvSpPr>
        <p:spPr>
          <a:xfrm>
            <a:off x="4991465" y="3133668"/>
            <a:ext cx="3331993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</a:pPr>
            <a:endParaRPr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H0 : 평균 전류·전력이 정상 기준보다 낮아도 불량이 아니다.</a:t>
            </a: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H₁ : 평균 전류·전력이 정상 기준보다 낮아도 불량이다.</a:t>
            </a:r>
          </a:p>
          <a:p>
            <a:pPr algn="ctr">
              <a:lnSpc>
                <a:spcPts val="1537"/>
              </a:lnSpc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평균 전류 절대값 p=2.1x10-5 *</a:t>
            </a: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평균 전력 절대값 p=8.2x10-5 *</a:t>
            </a:r>
          </a:p>
          <a:p>
            <a:pPr algn="ctr">
              <a:lnSpc>
                <a:spcPts val="1537"/>
              </a:lnSpc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→ 귀무가설을 기각한다.</a:t>
            </a:r>
          </a:p>
          <a:p>
            <a:pPr algn="ctr">
              <a:lnSpc>
                <a:spcPts val="1537"/>
              </a:lnSpc>
              <a:spcBef>
                <a:spcPct val="0"/>
              </a:spcBef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89" name="TextBox 35">
            <a:extLst>
              <a:ext uri="{FF2B5EF4-FFF2-40B4-BE49-F238E27FC236}">
                <a16:creationId xmlns:a16="http://schemas.microsoft.com/office/drawing/2014/main" id="{9B4F1EFF-5778-5AF6-A280-8FE1A9DB9C81}"/>
              </a:ext>
            </a:extLst>
          </p:cNvPr>
          <p:cNvSpPr txBox="1"/>
          <p:nvPr/>
        </p:nvSpPr>
        <p:spPr>
          <a:xfrm>
            <a:off x="1565462" y="965794"/>
            <a:ext cx="2094967" cy="3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불량은 초반 일정 시간 안에 </a:t>
            </a:r>
          </a:p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이상 신호가 나타나는가?</a:t>
            </a:r>
          </a:p>
        </p:txBody>
      </p:sp>
      <p:sp>
        <p:nvSpPr>
          <p:cNvPr id="90" name="TextBox 36">
            <a:extLst>
              <a:ext uri="{FF2B5EF4-FFF2-40B4-BE49-F238E27FC236}">
                <a16:creationId xmlns:a16="http://schemas.microsoft.com/office/drawing/2014/main" id="{E01443F0-310F-7785-CBE2-53350CF5C3B2}"/>
              </a:ext>
            </a:extLst>
          </p:cNvPr>
          <p:cNvSpPr txBox="1"/>
          <p:nvPr/>
        </p:nvSpPr>
        <p:spPr>
          <a:xfrm>
            <a:off x="1015923" y="3228918"/>
            <a:ext cx="3194044" cy="133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</a:pPr>
            <a:endParaRPr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ts val="1537"/>
              </a:lnSpc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H0 : 불량은 초반 일정 구간 안에 이상 신호가 나타나지 않는다.</a:t>
            </a:r>
          </a:p>
          <a:p>
            <a:pPr algn="ctr">
              <a:lnSpc>
                <a:spcPts val="1537"/>
              </a:lnSpc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H₁ : 불량은 초반 일정 구간 안에 이상 신호가 나타난다.</a:t>
            </a:r>
          </a:p>
          <a:p>
            <a:pPr algn="ctr">
              <a:lnSpc>
                <a:spcPts val="1537"/>
              </a:lnSpc>
            </a:pPr>
            <a:endParaRPr lang="en-US" sz="1025" b="1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 Medium"/>
            </a:endParaRP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p-value=0.63</a:t>
            </a:r>
          </a:p>
          <a:p>
            <a:pPr algn="ctr">
              <a:lnSpc>
                <a:spcPts val="1537"/>
              </a:lnSpc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→ 귀무가설을 기각할 충분한 증거가 없다.</a:t>
            </a:r>
          </a:p>
        </p:txBody>
      </p:sp>
      <p:grpSp>
        <p:nvGrpSpPr>
          <p:cNvPr id="91" name="Group 38">
            <a:extLst>
              <a:ext uri="{FF2B5EF4-FFF2-40B4-BE49-F238E27FC236}">
                <a16:creationId xmlns:a16="http://schemas.microsoft.com/office/drawing/2014/main" id="{093C9F11-AA56-20E0-C751-9042C475EF7C}"/>
              </a:ext>
            </a:extLst>
          </p:cNvPr>
          <p:cNvGrpSpPr/>
          <p:nvPr/>
        </p:nvGrpSpPr>
        <p:grpSpPr>
          <a:xfrm>
            <a:off x="5236743" y="1011028"/>
            <a:ext cx="308632" cy="308632"/>
            <a:chOff x="0" y="0"/>
            <a:chExt cx="1219200" cy="1219200"/>
          </a:xfrm>
        </p:grpSpPr>
        <p:sp>
          <p:nvSpPr>
            <p:cNvPr id="92" name="Freeform 39">
              <a:extLst>
                <a:ext uri="{FF2B5EF4-FFF2-40B4-BE49-F238E27FC236}">
                  <a16:creationId xmlns:a16="http://schemas.microsoft.com/office/drawing/2014/main" id="{85107EC1-955C-326A-3BFC-E103CEFE4D58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sp>
        <p:nvSpPr>
          <p:cNvPr id="93" name="TextBox 40">
            <a:extLst>
              <a:ext uri="{FF2B5EF4-FFF2-40B4-BE49-F238E27FC236}">
                <a16:creationId xmlns:a16="http://schemas.microsoft.com/office/drawing/2014/main" id="{B3633814-2B56-F8D2-30F6-84452B08D31E}"/>
              </a:ext>
            </a:extLst>
          </p:cNvPr>
          <p:cNvSpPr txBox="1"/>
          <p:nvPr/>
        </p:nvSpPr>
        <p:spPr>
          <a:xfrm>
            <a:off x="5655407" y="965794"/>
            <a:ext cx="2230895" cy="36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 전류·전력이 정상 기준보다 낮으면</a:t>
            </a:r>
          </a:p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산화피막 목표미달 불량이다</a:t>
            </a:r>
          </a:p>
        </p:txBody>
      </p:sp>
      <p:grpSp>
        <p:nvGrpSpPr>
          <p:cNvPr id="94" name="Group 41">
            <a:extLst>
              <a:ext uri="{FF2B5EF4-FFF2-40B4-BE49-F238E27FC236}">
                <a16:creationId xmlns:a16="http://schemas.microsoft.com/office/drawing/2014/main" id="{EEFEC63F-125D-1026-053C-C2DAB9E8E057}"/>
              </a:ext>
            </a:extLst>
          </p:cNvPr>
          <p:cNvGrpSpPr/>
          <p:nvPr/>
        </p:nvGrpSpPr>
        <p:grpSpPr>
          <a:xfrm>
            <a:off x="776628" y="1386324"/>
            <a:ext cx="3629651" cy="1797821"/>
            <a:chOff x="0" y="-57149"/>
            <a:chExt cx="9679070" cy="4794189"/>
          </a:xfrm>
        </p:grpSpPr>
        <p:sp>
          <p:nvSpPr>
            <p:cNvPr id="95" name="Freeform 42">
              <a:extLst>
                <a:ext uri="{FF2B5EF4-FFF2-40B4-BE49-F238E27FC236}">
                  <a16:creationId xmlns:a16="http://schemas.microsoft.com/office/drawing/2014/main" id="{1F412E89-8FF2-D17F-60E0-08ADAC2EF06A}"/>
                </a:ext>
              </a:extLst>
            </p:cNvPr>
            <p:cNvSpPr/>
            <p:nvPr/>
          </p:nvSpPr>
          <p:spPr>
            <a:xfrm>
              <a:off x="0" y="381459"/>
              <a:ext cx="9679070" cy="4355581"/>
            </a:xfrm>
            <a:custGeom>
              <a:avLst/>
              <a:gdLst/>
              <a:ahLst/>
              <a:cxnLst/>
              <a:rect l="l" t="t" r="r" b="b"/>
              <a:pathLst>
                <a:path w="9679070" h="4355581">
                  <a:moveTo>
                    <a:pt x="0" y="0"/>
                  </a:moveTo>
                  <a:lnTo>
                    <a:pt x="9679070" y="0"/>
                  </a:lnTo>
                  <a:lnTo>
                    <a:pt x="9679070" y="4355582"/>
                  </a:lnTo>
                  <a:lnTo>
                    <a:pt x="0" y="4355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grpSp>
          <p:nvGrpSpPr>
            <p:cNvPr id="96" name="Group 43">
              <a:extLst>
                <a:ext uri="{FF2B5EF4-FFF2-40B4-BE49-F238E27FC236}">
                  <a16:creationId xmlns:a16="http://schemas.microsoft.com/office/drawing/2014/main" id="{88B5FE2C-4A79-EAF1-EDB3-8566FE4FD097}"/>
                </a:ext>
              </a:extLst>
            </p:cNvPr>
            <p:cNvGrpSpPr/>
            <p:nvPr/>
          </p:nvGrpSpPr>
          <p:grpSpPr>
            <a:xfrm>
              <a:off x="1603905" y="703166"/>
              <a:ext cx="161295" cy="51732"/>
              <a:chOff x="0" y="0"/>
              <a:chExt cx="339545" cy="108901"/>
            </a:xfrm>
          </p:grpSpPr>
          <p:sp>
            <p:nvSpPr>
              <p:cNvPr id="108" name="Freeform 44">
                <a:extLst>
                  <a:ext uri="{FF2B5EF4-FFF2-40B4-BE49-F238E27FC236}">
                    <a16:creationId xmlns:a16="http://schemas.microsoft.com/office/drawing/2014/main" id="{06B6E88E-0AD2-2496-1DDC-7CD2B075F770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97" name="Group 45">
              <a:extLst>
                <a:ext uri="{FF2B5EF4-FFF2-40B4-BE49-F238E27FC236}">
                  <a16:creationId xmlns:a16="http://schemas.microsoft.com/office/drawing/2014/main" id="{12B883B7-B790-931F-78ED-72768C4216AD}"/>
                </a:ext>
              </a:extLst>
            </p:cNvPr>
            <p:cNvGrpSpPr/>
            <p:nvPr/>
          </p:nvGrpSpPr>
          <p:grpSpPr>
            <a:xfrm>
              <a:off x="1784533" y="528348"/>
              <a:ext cx="808023" cy="401368"/>
              <a:chOff x="0" y="0"/>
              <a:chExt cx="1129051" cy="560832"/>
            </a:xfrm>
          </p:grpSpPr>
          <p:sp>
            <p:nvSpPr>
              <p:cNvPr id="106" name="Freeform 46">
                <a:extLst>
                  <a:ext uri="{FF2B5EF4-FFF2-40B4-BE49-F238E27FC236}">
                    <a16:creationId xmlns:a16="http://schemas.microsoft.com/office/drawing/2014/main" id="{C2249E06-B5C0-8962-271A-FC0AEA929E4B}"/>
                  </a:ext>
                </a:extLst>
              </p:cNvPr>
              <p:cNvSpPr/>
              <p:nvPr/>
            </p:nvSpPr>
            <p:spPr>
              <a:xfrm>
                <a:off x="0" y="0"/>
                <a:ext cx="1129051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129051" h="560832">
                    <a:moveTo>
                      <a:pt x="0" y="0"/>
                    </a:moveTo>
                    <a:lnTo>
                      <a:pt x="1129051" y="0"/>
                    </a:lnTo>
                    <a:lnTo>
                      <a:pt x="1129051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23953" b="-77076"/>
                </a:stretch>
              </a:blipFill>
            </p:spPr>
          </p:sp>
          <p:sp>
            <p:nvSpPr>
              <p:cNvPr id="107" name="TextBox 47">
                <a:extLst>
                  <a:ext uri="{FF2B5EF4-FFF2-40B4-BE49-F238E27FC236}">
                    <a16:creationId xmlns:a16="http://schemas.microsoft.com/office/drawing/2014/main" id="{2F542860-9808-1BD1-AC2C-54DD51BFC5F8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129051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626F47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정상</a:t>
                </a:r>
              </a:p>
            </p:txBody>
          </p:sp>
        </p:grpSp>
        <p:grpSp>
          <p:nvGrpSpPr>
            <p:cNvPr id="100" name="Group 48">
              <a:extLst>
                <a:ext uri="{FF2B5EF4-FFF2-40B4-BE49-F238E27FC236}">
                  <a16:creationId xmlns:a16="http://schemas.microsoft.com/office/drawing/2014/main" id="{9ACCF892-FB40-76FA-8955-3C74A7DD1685}"/>
                </a:ext>
              </a:extLst>
            </p:cNvPr>
            <p:cNvGrpSpPr/>
            <p:nvPr/>
          </p:nvGrpSpPr>
          <p:grpSpPr>
            <a:xfrm>
              <a:off x="1603905" y="987233"/>
              <a:ext cx="161295" cy="51732"/>
              <a:chOff x="0" y="0"/>
              <a:chExt cx="339545" cy="108901"/>
            </a:xfrm>
          </p:grpSpPr>
          <p:sp>
            <p:nvSpPr>
              <p:cNvPr id="105" name="Freeform 49">
                <a:extLst>
                  <a:ext uri="{FF2B5EF4-FFF2-40B4-BE49-F238E27FC236}">
                    <a16:creationId xmlns:a16="http://schemas.microsoft.com/office/drawing/2014/main" id="{04812852-4AFA-8FB9-69CF-09F484C765AA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C0504D"/>
              </a:solidFill>
            </p:spPr>
          </p:sp>
        </p:grpSp>
        <p:grpSp>
          <p:nvGrpSpPr>
            <p:cNvPr id="101" name="Group 50">
              <a:extLst>
                <a:ext uri="{FF2B5EF4-FFF2-40B4-BE49-F238E27FC236}">
                  <a16:creationId xmlns:a16="http://schemas.microsoft.com/office/drawing/2014/main" id="{7F759393-A822-AAE2-F1BD-320A12F54E99}"/>
                </a:ext>
              </a:extLst>
            </p:cNvPr>
            <p:cNvGrpSpPr/>
            <p:nvPr/>
          </p:nvGrpSpPr>
          <p:grpSpPr>
            <a:xfrm>
              <a:off x="1784533" y="812415"/>
              <a:ext cx="859208" cy="401368"/>
              <a:chOff x="0" y="0"/>
              <a:chExt cx="1200572" cy="560832"/>
            </a:xfrm>
          </p:grpSpPr>
          <p:sp>
            <p:nvSpPr>
              <p:cNvPr id="103" name="Freeform 51">
                <a:extLst>
                  <a:ext uri="{FF2B5EF4-FFF2-40B4-BE49-F238E27FC236}">
                    <a16:creationId xmlns:a16="http://schemas.microsoft.com/office/drawing/2014/main" id="{0860377B-122B-7C2A-C708-7AEA2821AA55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104" name="TextBox 52">
                <a:extLst>
                  <a:ext uri="{FF2B5EF4-FFF2-40B4-BE49-F238E27FC236}">
                    <a16:creationId xmlns:a16="http://schemas.microsoft.com/office/drawing/2014/main" id="{20496AE7-EE79-15A5-D0E3-0B94074878F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200572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626F47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불량</a:t>
                </a:r>
              </a:p>
            </p:txBody>
          </p:sp>
        </p:grpSp>
        <p:sp>
          <p:nvSpPr>
            <p:cNvPr id="102" name="TextBox 53">
              <a:extLst>
                <a:ext uri="{FF2B5EF4-FFF2-40B4-BE49-F238E27FC236}">
                  <a16:creationId xmlns:a16="http://schemas.microsoft.com/office/drawing/2014/main" id="{94B09104-E93D-0BE7-27C0-15747AC1B5AF}"/>
                </a:ext>
              </a:extLst>
            </p:cNvPr>
            <p:cNvSpPr txBox="1"/>
            <p:nvPr/>
          </p:nvSpPr>
          <p:spPr>
            <a:xfrm>
              <a:off x="3042859" y="-57149"/>
              <a:ext cx="3593352" cy="4370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8"/>
                </a:lnSpc>
                <a:spcBef>
                  <a:spcPct val="0"/>
                </a:spcBef>
              </a:pPr>
              <a:r>
                <a:rPr lang="en-US" sz="939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불량 이탈 시점 전류 절대값</a:t>
              </a:r>
            </a:p>
          </p:txBody>
        </p:sp>
      </p:grpSp>
      <p:grpSp>
        <p:nvGrpSpPr>
          <p:cNvPr id="109" name="Group 54">
            <a:extLst>
              <a:ext uri="{FF2B5EF4-FFF2-40B4-BE49-F238E27FC236}">
                <a16:creationId xmlns:a16="http://schemas.microsoft.com/office/drawing/2014/main" id="{91BDE4CA-00E7-4295-FDDB-0345184AF47D}"/>
              </a:ext>
            </a:extLst>
          </p:cNvPr>
          <p:cNvGrpSpPr/>
          <p:nvPr/>
        </p:nvGrpSpPr>
        <p:grpSpPr>
          <a:xfrm>
            <a:off x="4808172" y="1425434"/>
            <a:ext cx="3532707" cy="1651067"/>
            <a:chOff x="0" y="-47625"/>
            <a:chExt cx="9420552" cy="4402843"/>
          </a:xfrm>
        </p:grpSpPr>
        <p:sp>
          <p:nvSpPr>
            <p:cNvPr id="110" name="Freeform 55">
              <a:extLst>
                <a:ext uri="{FF2B5EF4-FFF2-40B4-BE49-F238E27FC236}">
                  <a16:creationId xmlns:a16="http://schemas.microsoft.com/office/drawing/2014/main" id="{B4282445-67EA-6F1D-F587-073FECA3DF4B}"/>
                </a:ext>
              </a:extLst>
            </p:cNvPr>
            <p:cNvSpPr/>
            <p:nvPr/>
          </p:nvSpPr>
          <p:spPr>
            <a:xfrm>
              <a:off x="0" y="379133"/>
              <a:ext cx="9420552" cy="3598244"/>
            </a:xfrm>
            <a:custGeom>
              <a:avLst/>
              <a:gdLst/>
              <a:ahLst/>
              <a:cxnLst/>
              <a:rect l="l" t="t" r="r" b="b"/>
              <a:pathLst>
                <a:path w="9420552" h="3598244">
                  <a:moveTo>
                    <a:pt x="0" y="0"/>
                  </a:moveTo>
                  <a:lnTo>
                    <a:pt x="9420552" y="0"/>
                  </a:lnTo>
                  <a:lnTo>
                    <a:pt x="9420552" y="3598244"/>
                  </a:lnTo>
                  <a:lnTo>
                    <a:pt x="0" y="3598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0927" b="-18484"/>
              </a:stretch>
            </a:blipFill>
          </p:spPr>
        </p:sp>
        <p:sp>
          <p:nvSpPr>
            <p:cNvPr id="111" name="TextBox 56">
              <a:extLst>
                <a:ext uri="{FF2B5EF4-FFF2-40B4-BE49-F238E27FC236}">
                  <a16:creationId xmlns:a16="http://schemas.microsoft.com/office/drawing/2014/main" id="{06549E2E-DE64-8CBD-39C2-15955511A2C7}"/>
                </a:ext>
              </a:extLst>
            </p:cNvPr>
            <p:cNvSpPr txBox="1"/>
            <p:nvPr/>
          </p:nvSpPr>
          <p:spPr>
            <a:xfrm>
              <a:off x="1362280" y="3920226"/>
              <a:ext cx="571395" cy="434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72"/>
                </a:lnSpc>
                <a:spcBef>
                  <a:spcPct val="0"/>
                </a:spcBef>
              </a:pPr>
              <a:r>
                <a:rPr lang="en-US" sz="915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정상</a:t>
              </a:r>
            </a:p>
          </p:txBody>
        </p:sp>
        <p:sp>
          <p:nvSpPr>
            <p:cNvPr id="112" name="TextBox 57">
              <a:extLst>
                <a:ext uri="{FF2B5EF4-FFF2-40B4-BE49-F238E27FC236}">
                  <a16:creationId xmlns:a16="http://schemas.microsoft.com/office/drawing/2014/main" id="{DFB78098-949E-0BA0-BC6B-87E92ECDAB59}"/>
                </a:ext>
              </a:extLst>
            </p:cNvPr>
            <p:cNvSpPr txBox="1"/>
            <p:nvPr/>
          </p:nvSpPr>
          <p:spPr>
            <a:xfrm>
              <a:off x="3369400" y="3920226"/>
              <a:ext cx="571395" cy="434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72"/>
                </a:lnSpc>
                <a:spcBef>
                  <a:spcPct val="0"/>
                </a:spcBef>
              </a:pPr>
              <a:r>
                <a:rPr lang="en-US" sz="915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</a:t>
              </a:r>
            </a:p>
          </p:txBody>
        </p:sp>
        <p:sp>
          <p:nvSpPr>
            <p:cNvPr id="113" name="TextBox 58">
              <a:extLst>
                <a:ext uri="{FF2B5EF4-FFF2-40B4-BE49-F238E27FC236}">
                  <a16:creationId xmlns:a16="http://schemas.microsoft.com/office/drawing/2014/main" id="{0524B6B7-9654-73DB-8926-FDA536E883B9}"/>
                </a:ext>
              </a:extLst>
            </p:cNvPr>
            <p:cNvSpPr txBox="1"/>
            <p:nvPr/>
          </p:nvSpPr>
          <p:spPr>
            <a:xfrm>
              <a:off x="6039963" y="3920226"/>
              <a:ext cx="571395" cy="434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72"/>
                </a:lnSpc>
                <a:spcBef>
                  <a:spcPct val="0"/>
                </a:spcBef>
              </a:pPr>
              <a:r>
                <a:rPr lang="en-US" sz="915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정상</a:t>
              </a:r>
            </a:p>
          </p:txBody>
        </p:sp>
        <p:sp>
          <p:nvSpPr>
            <p:cNvPr id="114" name="TextBox 59">
              <a:extLst>
                <a:ext uri="{FF2B5EF4-FFF2-40B4-BE49-F238E27FC236}">
                  <a16:creationId xmlns:a16="http://schemas.microsoft.com/office/drawing/2014/main" id="{D0BF76F9-F378-40C9-FFAC-2FA8856C8F02}"/>
                </a:ext>
              </a:extLst>
            </p:cNvPr>
            <p:cNvSpPr txBox="1"/>
            <p:nvPr/>
          </p:nvSpPr>
          <p:spPr>
            <a:xfrm>
              <a:off x="8047085" y="3920226"/>
              <a:ext cx="571395" cy="434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72"/>
                </a:lnSpc>
                <a:spcBef>
                  <a:spcPct val="0"/>
                </a:spcBef>
              </a:pPr>
              <a:r>
                <a:rPr lang="en-US" sz="915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</a:t>
              </a:r>
            </a:p>
          </p:txBody>
        </p:sp>
        <p:sp>
          <p:nvSpPr>
            <p:cNvPr id="115" name="TextBox 60">
              <a:extLst>
                <a:ext uri="{FF2B5EF4-FFF2-40B4-BE49-F238E27FC236}">
                  <a16:creationId xmlns:a16="http://schemas.microsoft.com/office/drawing/2014/main" id="{92C7E8CD-1AFA-4778-D4DE-DBDD56DB91E3}"/>
                </a:ext>
              </a:extLst>
            </p:cNvPr>
            <p:cNvSpPr txBox="1"/>
            <p:nvPr/>
          </p:nvSpPr>
          <p:spPr>
            <a:xfrm>
              <a:off x="1473976" y="-47625"/>
              <a:ext cx="2233720" cy="436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32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평균 전류 절대값</a:t>
              </a:r>
            </a:p>
          </p:txBody>
        </p:sp>
        <p:sp>
          <p:nvSpPr>
            <p:cNvPr id="116" name="TextBox 61">
              <a:extLst>
                <a:ext uri="{FF2B5EF4-FFF2-40B4-BE49-F238E27FC236}">
                  <a16:creationId xmlns:a16="http://schemas.microsoft.com/office/drawing/2014/main" id="{55B48BCC-E7A2-A55B-6F87-CB533DF956AC}"/>
                </a:ext>
              </a:extLst>
            </p:cNvPr>
            <p:cNvSpPr txBox="1"/>
            <p:nvPr/>
          </p:nvSpPr>
          <p:spPr>
            <a:xfrm>
              <a:off x="5860544" y="-47625"/>
              <a:ext cx="2233720" cy="4365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99"/>
                </a:lnSpc>
                <a:spcBef>
                  <a:spcPct val="0"/>
                </a:spcBef>
              </a:pPr>
              <a:r>
                <a:rPr lang="en-US" sz="932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평균 전력 절대값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7619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9480-2FCB-9033-E76F-769E89EC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376FFBF-AD1B-5DC5-30DA-7443BFAE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FDA83D6-78A1-FCCB-C304-AC8F8AE173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7F483C4-EB89-3A73-C198-34D68BEC3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D7C5CD0-295A-78CC-C014-262A9AA56C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CCD0D90-0FAA-62BE-7E3C-CABC51B3519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0CD9B19-F5E5-6C26-5556-72DD22CBB0FF}"/>
              </a:ext>
            </a:extLst>
          </p:cNvPr>
          <p:cNvSpPr/>
          <p:nvPr/>
        </p:nvSpPr>
        <p:spPr>
          <a:xfrm>
            <a:off x="797584" y="334423"/>
            <a:ext cx="2185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67"/>
              </a:lnSpc>
              <a:buNone/>
            </a:pPr>
            <a:r>
              <a:rPr lang="ko-KR" alt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</a:t>
            </a:r>
            <a:r>
              <a:rPr lang="en-US" sz="1565" b="1" dirty="0">
                <a:solidFill>
                  <a:srgbClr val="1A1A1A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수행 절차 및 방법</a:t>
            </a:r>
            <a:endParaRPr lang="en-US" sz="1565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0FDB8526-13B0-CDBE-5AB1-E3E669A67E5F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가설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검정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(Mann-Whitney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U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검정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DC87FEAC-4F34-649F-752D-B6BCB8C680B5}"/>
              </a:ext>
            </a:extLst>
          </p:cNvPr>
          <p:cNvSpPr/>
          <p:nvPr/>
        </p:nvSpPr>
        <p:spPr>
          <a:xfrm>
            <a:off x="428625" y="377856"/>
            <a:ext cx="200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4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AB73BACC-32F5-F3CE-573D-43908C60AE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69" name="Group 22">
            <a:extLst>
              <a:ext uri="{FF2B5EF4-FFF2-40B4-BE49-F238E27FC236}">
                <a16:creationId xmlns:a16="http://schemas.microsoft.com/office/drawing/2014/main" id="{C8EC78A7-F9D8-E28D-95F0-7A7EF2A21FFC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70" name="Freeform 23">
              <a:extLst>
                <a:ext uri="{FF2B5EF4-FFF2-40B4-BE49-F238E27FC236}">
                  <a16:creationId xmlns:a16="http://schemas.microsoft.com/office/drawing/2014/main" id="{31E38301-CA57-6C6D-C93E-8042BF6D038D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1" name="Group 24">
            <a:extLst>
              <a:ext uri="{FF2B5EF4-FFF2-40B4-BE49-F238E27FC236}">
                <a16:creationId xmlns:a16="http://schemas.microsoft.com/office/drawing/2014/main" id="{6870B2E4-D9FB-8DB6-4956-13E384E4AA09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72" name="Freeform 25" descr="logo.png">
              <a:extLst>
                <a:ext uri="{FF2B5EF4-FFF2-40B4-BE49-F238E27FC236}">
                  <a16:creationId xmlns:a16="http://schemas.microsoft.com/office/drawing/2014/main" id="{DAA23063-6669-BB4C-4817-0163120DBF31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73" name="Group 26">
            <a:extLst>
              <a:ext uri="{FF2B5EF4-FFF2-40B4-BE49-F238E27FC236}">
                <a16:creationId xmlns:a16="http://schemas.microsoft.com/office/drawing/2014/main" id="{77A9305A-77B1-4696-4501-271CD87E86AA}"/>
              </a:ext>
            </a:extLst>
          </p:cNvPr>
          <p:cNvGrpSpPr/>
          <p:nvPr/>
        </p:nvGrpSpPr>
        <p:grpSpPr>
          <a:xfrm>
            <a:off x="504335" y="3393324"/>
            <a:ext cx="2399029" cy="6349"/>
            <a:chOff x="0" y="0"/>
            <a:chExt cx="6397409" cy="16929"/>
          </a:xfrm>
        </p:grpSpPr>
        <p:sp>
          <p:nvSpPr>
            <p:cNvPr id="74" name="Freeform 27">
              <a:extLst>
                <a:ext uri="{FF2B5EF4-FFF2-40B4-BE49-F238E27FC236}">
                  <a16:creationId xmlns:a16="http://schemas.microsoft.com/office/drawing/2014/main" id="{A833E87A-E39E-936B-7B64-F73260857AAC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9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grpSp>
        <p:nvGrpSpPr>
          <p:cNvPr id="75" name="Group 28">
            <a:extLst>
              <a:ext uri="{FF2B5EF4-FFF2-40B4-BE49-F238E27FC236}">
                <a16:creationId xmlns:a16="http://schemas.microsoft.com/office/drawing/2014/main" id="{7F10FAE7-7F2B-DD5A-590A-4550C4405C12}"/>
              </a:ext>
            </a:extLst>
          </p:cNvPr>
          <p:cNvGrpSpPr/>
          <p:nvPr/>
        </p:nvGrpSpPr>
        <p:grpSpPr>
          <a:xfrm>
            <a:off x="668666" y="891650"/>
            <a:ext cx="3888558" cy="4040192"/>
            <a:chOff x="0" y="0"/>
            <a:chExt cx="5307972" cy="5514955"/>
          </a:xfrm>
        </p:grpSpPr>
        <p:sp>
          <p:nvSpPr>
            <p:cNvPr id="76" name="Freeform 29">
              <a:extLst>
                <a:ext uri="{FF2B5EF4-FFF2-40B4-BE49-F238E27FC236}">
                  <a16:creationId xmlns:a16="http://schemas.microsoft.com/office/drawing/2014/main" id="{61BF4E6A-C559-FF46-BC2D-64EF6999B0B6}"/>
                </a:ext>
              </a:extLst>
            </p:cNvPr>
            <p:cNvSpPr/>
            <p:nvPr/>
          </p:nvSpPr>
          <p:spPr>
            <a:xfrm>
              <a:off x="0" y="0"/>
              <a:ext cx="5307908" cy="5514841"/>
            </a:xfrm>
            <a:custGeom>
              <a:avLst/>
              <a:gdLst/>
              <a:ahLst/>
              <a:cxnLst/>
              <a:rect l="l" t="t" r="r" b="b"/>
              <a:pathLst>
                <a:path w="5307908" h="5514841">
                  <a:moveTo>
                    <a:pt x="0" y="110245"/>
                  </a:moveTo>
                  <a:cubicBezTo>
                    <a:pt x="0" y="49324"/>
                    <a:pt x="27597" y="0"/>
                    <a:pt x="61682" y="0"/>
                  </a:cubicBezTo>
                  <a:lnTo>
                    <a:pt x="5246226" y="0"/>
                  </a:lnTo>
                  <a:cubicBezTo>
                    <a:pt x="5280311" y="0"/>
                    <a:pt x="5307908" y="49324"/>
                    <a:pt x="5307908" y="110245"/>
                  </a:cubicBezTo>
                  <a:lnTo>
                    <a:pt x="5307908" y="5404596"/>
                  </a:lnTo>
                  <a:cubicBezTo>
                    <a:pt x="5307908" y="5465517"/>
                    <a:pt x="5280311" y="5514841"/>
                    <a:pt x="5246226" y="5514841"/>
                  </a:cubicBezTo>
                  <a:lnTo>
                    <a:pt x="61682" y="5514841"/>
                  </a:lnTo>
                  <a:cubicBezTo>
                    <a:pt x="27597" y="5514841"/>
                    <a:pt x="0" y="5465517"/>
                    <a:pt x="0" y="5404596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77" name="Group 30">
            <a:extLst>
              <a:ext uri="{FF2B5EF4-FFF2-40B4-BE49-F238E27FC236}">
                <a16:creationId xmlns:a16="http://schemas.microsoft.com/office/drawing/2014/main" id="{3D4C8984-EBC6-6CCF-9F2C-753BA83A000B}"/>
              </a:ext>
            </a:extLst>
          </p:cNvPr>
          <p:cNvGrpSpPr/>
          <p:nvPr/>
        </p:nvGrpSpPr>
        <p:grpSpPr>
          <a:xfrm>
            <a:off x="4646716" y="893212"/>
            <a:ext cx="3911823" cy="4038630"/>
            <a:chOff x="0" y="0"/>
            <a:chExt cx="5307972" cy="5480037"/>
          </a:xfrm>
        </p:grpSpPr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AD73714B-3A77-887B-22A2-7993CC8D08E8}"/>
                </a:ext>
              </a:extLst>
            </p:cNvPr>
            <p:cNvSpPr/>
            <p:nvPr/>
          </p:nvSpPr>
          <p:spPr>
            <a:xfrm>
              <a:off x="0" y="0"/>
              <a:ext cx="5307908" cy="5479923"/>
            </a:xfrm>
            <a:custGeom>
              <a:avLst/>
              <a:gdLst/>
              <a:ahLst/>
              <a:cxnLst/>
              <a:rect l="l" t="t" r="r" b="b"/>
              <a:pathLst>
                <a:path w="5307908" h="5479923">
                  <a:moveTo>
                    <a:pt x="0" y="109547"/>
                  </a:moveTo>
                  <a:cubicBezTo>
                    <a:pt x="0" y="49012"/>
                    <a:pt x="27597" y="0"/>
                    <a:pt x="61682" y="0"/>
                  </a:cubicBezTo>
                  <a:lnTo>
                    <a:pt x="5246226" y="0"/>
                  </a:lnTo>
                  <a:cubicBezTo>
                    <a:pt x="5280311" y="0"/>
                    <a:pt x="5307908" y="49012"/>
                    <a:pt x="5307908" y="109547"/>
                  </a:cubicBezTo>
                  <a:lnTo>
                    <a:pt x="5307908" y="5370377"/>
                  </a:lnTo>
                  <a:cubicBezTo>
                    <a:pt x="5307908" y="5430912"/>
                    <a:pt x="5280311" y="5479923"/>
                    <a:pt x="5246226" y="5479923"/>
                  </a:cubicBezTo>
                  <a:lnTo>
                    <a:pt x="61682" y="5479923"/>
                  </a:lnTo>
                  <a:cubicBezTo>
                    <a:pt x="27597" y="5479923"/>
                    <a:pt x="0" y="5430912"/>
                    <a:pt x="0" y="537037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79" name="Group 32">
            <a:extLst>
              <a:ext uri="{FF2B5EF4-FFF2-40B4-BE49-F238E27FC236}">
                <a16:creationId xmlns:a16="http://schemas.microsoft.com/office/drawing/2014/main" id="{B90504BC-1F61-E9BE-B772-BACC17FDFC73}"/>
              </a:ext>
            </a:extLst>
          </p:cNvPr>
          <p:cNvGrpSpPr/>
          <p:nvPr/>
        </p:nvGrpSpPr>
        <p:grpSpPr>
          <a:xfrm>
            <a:off x="1054549" y="982804"/>
            <a:ext cx="308632" cy="308632"/>
            <a:chOff x="0" y="0"/>
            <a:chExt cx="1219200" cy="1219200"/>
          </a:xfrm>
        </p:grpSpPr>
        <p:sp>
          <p:nvSpPr>
            <p:cNvPr id="80" name="Freeform 33">
              <a:extLst>
                <a:ext uri="{FF2B5EF4-FFF2-40B4-BE49-F238E27FC236}">
                  <a16:creationId xmlns:a16="http://schemas.microsoft.com/office/drawing/2014/main" id="{656EFF76-969C-B2AC-9B4C-B43DCEEADF36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81" name="Group 34">
            <a:extLst>
              <a:ext uri="{FF2B5EF4-FFF2-40B4-BE49-F238E27FC236}">
                <a16:creationId xmlns:a16="http://schemas.microsoft.com/office/drawing/2014/main" id="{B7CE11B2-9035-36C0-BDD2-5C17E6755959}"/>
              </a:ext>
            </a:extLst>
          </p:cNvPr>
          <p:cNvGrpSpPr/>
          <p:nvPr/>
        </p:nvGrpSpPr>
        <p:grpSpPr>
          <a:xfrm>
            <a:off x="931076" y="1453078"/>
            <a:ext cx="2936631" cy="1643393"/>
            <a:chOff x="-60117" y="0"/>
            <a:chExt cx="7831014" cy="4382381"/>
          </a:xfrm>
        </p:grpSpPr>
        <p:sp>
          <p:nvSpPr>
            <p:cNvPr id="82" name="Freeform 35">
              <a:extLst>
                <a:ext uri="{FF2B5EF4-FFF2-40B4-BE49-F238E27FC236}">
                  <a16:creationId xmlns:a16="http://schemas.microsoft.com/office/drawing/2014/main" id="{C00C0B7F-BCFC-2CF5-DDE5-86370C437CE6}"/>
                </a:ext>
              </a:extLst>
            </p:cNvPr>
            <p:cNvSpPr/>
            <p:nvPr/>
          </p:nvSpPr>
          <p:spPr>
            <a:xfrm>
              <a:off x="335353" y="0"/>
              <a:ext cx="7435544" cy="4057595"/>
            </a:xfrm>
            <a:custGeom>
              <a:avLst/>
              <a:gdLst/>
              <a:ahLst/>
              <a:cxnLst/>
              <a:rect l="l" t="t" r="r" b="b"/>
              <a:pathLst>
                <a:path w="7435544" h="4057595">
                  <a:moveTo>
                    <a:pt x="0" y="0"/>
                  </a:moveTo>
                  <a:lnTo>
                    <a:pt x="7435545" y="0"/>
                  </a:lnTo>
                  <a:lnTo>
                    <a:pt x="7435545" y="4057595"/>
                  </a:lnTo>
                  <a:lnTo>
                    <a:pt x="0" y="4057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303" b="-8190"/>
              </a:stretch>
            </a:blipFill>
          </p:spPr>
        </p:sp>
        <p:grpSp>
          <p:nvGrpSpPr>
            <p:cNvPr id="83" name="Group 36">
              <a:extLst>
                <a:ext uri="{FF2B5EF4-FFF2-40B4-BE49-F238E27FC236}">
                  <a16:creationId xmlns:a16="http://schemas.microsoft.com/office/drawing/2014/main" id="{A972A615-6620-A1C3-0C1F-EF145FBF9836}"/>
                </a:ext>
              </a:extLst>
            </p:cNvPr>
            <p:cNvGrpSpPr/>
            <p:nvPr/>
          </p:nvGrpSpPr>
          <p:grpSpPr>
            <a:xfrm>
              <a:off x="6592161" y="477150"/>
              <a:ext cx="182840" cy="58642"/>
              <a:chOff x="0" y="0"/>
              <a:chExt cx="339545" cy="108901"/>
            </a:xfrm>
          </p:grpSpPr>
          <p:sp>
            <p:nvSpPr>
              <p:cNvPr id="95" name="Freeform 37">
                <a:extLst>
                  <a:ext uri="{FF2B5EF4-FFF2-40B4-BE49-F238E27FC236}">
                    <a16:creationId xmlns:a16="http://schemas.microsoft.com/office/drawing/2014/main" id="{26EC5AE2-FF17-B653-F5DA-ABA9BDCF9D62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85" name="Group 38">
              <a:extLst>
                <a:ext uri="{FF2B5EF4-FFF2-40B4-BE49-F238E27FC236}">
                  <a16:creationId xmlns:a16="http://schemas.microsoft.com/office/drawing/2014/main" id="{07EA8EFB-2967-31AF-26B5-BBADB3F54925}"/>
                </a:ext>
              </a:extLst>
            </p:cNvPr>
            <p:cNvGrpSpPr/>
            <p:nvPr/>
          </p:nvGrpSpPr>
          <p:grpSpPr>
            <a:xfrm>
              <a:off x="6796917" y="278979"/>
              <a:ext cx="915958" cy="454983"/>
              <a:chOff x="0" y="0"/>
              <a:chExt cx="1129051" cy="560832"/>
            </a:xfrm>
          </p:grpSpPr>
          <p:sp>
            <p:nvSpPr>
              <p:cNvPr id="93" name="Freeform 39">
                <a:extLst>
                  <a:ext uri="{FF2B5EF4-FFF2-40B4-BE49-F238E27FC236}">
                    <a16:creationId xmlns:a16="http://schemas.microsoft.com/office/drawing/2014/main" id="{C0099094-3C0E-BDFC-493A-C52572B93E3C}"/>
                  </a:ext>
                </a:extLst>
              </p:cNvPr>
              <p:cNvSpPr/>
              <p:nvPr/>
            </p:nvSpPr>
            <p:spPr>
              <a:xfrm>
                <a:off x="0" y="0"/>
                <a:ext cx="1129051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129051" h="560832">
                    <a:moveTo>
                      <a:pt x="0" y="0"/>
                    </a:moveTo>
                    <a:lnTo>
                      <a:pt x="1129051" y="0"/>
                    </a:lnTo>
                    <a:lnTo>
                      <a:pt x="1129051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23953" b="-77076"/>
                </a:stretch>
              </a:blipFill>
            </p:spPr>
          </p:sp>
          <p:sp>
            <p:nvSpPr>
              <p:cNvPr id="94" name="TextBox 40">
                <a:extLst>
                  <a:ext uri="{FF2B5EF4-FFF2-40B4-BE49-F238E27FC236}">
                    <a16:creationId xmlns:a16="http://schemas.microsoft.com/office/drawing/2014/main" id="{DB8C68D0-C76B-5F8B-51B1-F9D5A859A85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129051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626F47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정상</a:t>
                </a:r>
              </a:p>
            </p:txBody>
          </p:sp>
        </p:grpSp>
        <p:grpSp>
          <p:nvGrpSpPr>
            <p:cNvPr id="86" name="Group 41">
              <a:extLst>
                <a:ext uri="{FF2B5EF4-FFF2-40B4-BE49-F238E27FC236}">
                  <a16:creationId xmlns:a16="http://schemas.microsoft.com/office/drawing/2014/main" id="{0A92374D-2566-1ED0-6D46-8852BFCD9400}"/>
                </a:ext>
              </a:extLst>
            </p:cNvPr>
            <p:cNvGrpSpPr/>
            <p:nvPr/>
          </p:nvGrpSpPr>
          <p:grpSpPr>
            <a:xfrm>
              <a:off x="6592161" y="799162"/>
              <a:ext cx="182840" cy="58642"/>
              <a:chOff x="0" y="0"/>
              <a:chExt cx="339545" cy="108901"/>
            </a:xfrm>
          </p:grpSpPr>
          <p:sp>
            <p:nvSpPr>
              <p:cNvPr id="92" name="Freeform 42">
                <a:extLst>
                  <a:ext uri="{FF2B5EF4-FFF2-40B4-BE49-F238E27FC236}">
                    <a16:creationId xmlns:a16="http://schemas.microsoft.com/office/drawing/2014/main" id="{B641F48D-4F54-0CA2-4E10-4B60593A9439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A4B465"/>
              </a:solidFill>
            </p:spPr>
          </p:sp>
        </p:grpSp>
        <p:grpSp>
          <p:nvGrpSpPr>
            <p:cNvPr id="87" name="Group 43">
              <a:extLst>
                <a:ext uri="{FF2B5EF4-FFF2-40B4-BE49-F238E27FC236}">
                  <a16:creationId xmlns:a16="http://schemas.microsoft.com/office/drawing/2014/main" id="{8513AFDA-EDB2-3B06-618D-E742A2B1ECEB}"/>
                </a:ext>
              </a:extLst>
            </p:cNvPr>
            <p:cNvGrpSpPr/>
            <p:nvPr/>
          </p:nvGrpSpPr>
          <p:grpSpPr>
            <a:xfrm>
              <a:off x="6796917" y="600992"/>
              <a:ext cx="973980" cy="454983"/>
              <a:chOff x="0" y="0"/>
              <a:chExt cx="1200572" cy="560832"/>
            </a:xfrm>
          </p:grpSpPr>
          <p:sp>
            <p:nvSpPr>
              <p:cNvPr id="90" name="Freeform 44">
                <a:extLst>
                  <a:ext uri="{FF2B5EF4-FFF2-40B4-BE49-F238E27FC236}">
                    <a16:creationId xmlns:a16="http://schemas.microsoft.com/office/drawing/2014/main" id="{1A3CE7D0-1ED6-5AEB-BEC6-FEBB7FE67491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91" name="TextBox 45">
                <a:extLst>
                  <a:ext uri="{FF2B5EF4-FFF2-40B4-BE49-F238E27FC236}">
                    <a16:creationId xmlns:a16="http://schemas.microsoft.com/office/drawing/2014/main" id="{79B61E77-E2A8-211E-0061-1133E858672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200572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626F47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불량</a:t>
                </a:r>
              </a:p>
            </p:txBody>
          </p:sp>
        </p:grpSp>
        <p:sp>
          <p:nvSpPr>
            <p:cNvPr id="88" name="TextBox 46">
              <a:extLst>
                <a:ext uri="{FF2B5EF4-FFF2-40B4-BE49-F238E27FC236}">
                  <a16:creationId xmlns:a16="http://schemas.microsoft.com/office/drawing/2014/main" id="{3068F01E-D5F7-A461-178F-8AD5F7AA3F17}"/>
                </a:ext>
              </a:extLst>
            </p:cNvPr>
            <p:cNvSpPr txBox="1"/>
            <p:nvPr/>
          </p:nvSpPr>
          <p:spPr>
            <a:xfrm>
              <a:off x="3216591" y="4009970"/>
              <a:ext cx="1866533" cy="372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9"/>
                </a:lnSpc>
                <a:spcBef>
                  <a:spcPct val="0"/>
                </a:spcBef>
              </a:pPr>
              <a:r>
                <a:rPr lang="en-US" sz="78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평균 전압 절대값</a:t>
              </a:r>
            </a:p>
          </p:txBody>
        </p:sp>
        <p:sp>
          <p:nvSpPr>
            <p:cNvPr id="89" name="TextBox 47">
              <a:extLst>
                <a:ext uri="{FF2B5EF4-FFF2-40B4-BE49-F238E27FC236}">
                  <a16:creationId xmlns:a16="http://schemas.microsoft.com/office/drawing/2014/main" id="{4904C21E-F6F7-69F2-FBE0-0AE3C6BE2919}"/>
                </a:ext>
              </a:extLst>
            </p:cNvPr>
            <p:cNvSpPr txBox="1"/>
            <p:nvPr/>
          </p:nvSpPr>
          <p:spPr>
            <a:xfrm rot="16200000">
              <a:off x="-128465" y="1811304"/>
              <a:ext cx="571688" cy="434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73"/>
                </a:lnSpc>
                <a:spcBef>
                  <a:spcPct val="0"/>
                </a:spcBef>
              </a:pPr>
              <a:r>
                <a:rPr lang="en-US" sz="915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밀도</a:t>
              </a:r>
            </a:p>
          </p:txBody>
        </p:sp>
      </p:grpSp>
      <p:sp>
        <p:nvSpPr>
          <p:cNvPr id="96" name="Freeform 48">
            <a:extLst>
              <a:ext uri="{FF2B5EF4-FFF2-40B4-BE49-F238E27FC236}">
                <a16:creationId xmlns:a16="http://schemas.microsoft.com/office/drawing/2014/main" id="{8ED28BC3-4EAB-7842-019C-B95B7BA50588}"/>
              </a:ext>
            </a:extLst>
          </p:cNvPr>
          <p:cNvSpPr/>
          <p:nvPr/>
        </p:nvSpPr>
        <p:spPr>
          <a:xfrm>
            <a:off x="5194544" y="1328144"/>
            <a:ext cx="2925833" cy="2121229"/>
          </a:xfrm>
          <a:custGeom>
            <a:avLst/>
            <a:gdLst/>
            <a:ahLst/>
            <a:cxnLst/>
            <a:rect l="l" t="t" r="r" b="b"/>
            <a:pathLst>
              <a:path w="5851666" h="4242458">
                <a:moveTo>
                  <a:pt x="0" y="0"/>
                </a:moveTo>
                <a:lnTo>
                  <a:pt x="5851667" y="0"/>
                </a:lnTo>
                <a:lnTo>
                  <a:pt x="5851667" y="4242458"/>
                </a:lnTo>
                <a:lnTo>
                  <a:pt x="0" y="4242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97" name="TextBox 49">
            <a:extLst>
              <a:ext uri="{FF2B5EF4-FFF2-40B4-BE49-F238E27FC236}">
                <a16:creationId xmlns:a16="http://schemas.microsoft.com/office/drawing/2014/main" id="{A172D9DE-A241-CBD9-8A85-2E82A604A40B}"/>
              </a:ext>
            </a:extLst>
          </p:cNvPr>
          <p:cNvSpPr txBox="1"/>
          <p:nvPr/>
        </p:nvSpPr>
        <p:spPr>
          <a:xfrm>
            <a:off x="5297658" y="3496627"/>
            <a:ext cx="2554881" cy="113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여러 검정 동시 수행 시, 우연히 유의한 결과가 나올 가능성 존재</a:t>
            </a:r>
          </a:p>
          <a:p>
            <a:pPr algn="ctr">
              <a:lnSpc>
                <a:spcPts val="1537"/>
              </a:lnSpc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→ BH-FDR은 거짓 양성 비율을 통제</a:t>
            </a:r>
          </a:p>
          <a:p>
            <a:pPr algn="ctr">
              <a:lnSpc>
                <a:spcPts val="1537"/>
              </a:lnSpc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가설에서 언급된 변수 이외 모든 변수도 검정</a:t>
            </a:r>
          </a:p>
        </p:txBody>
      </p:sp>
      <p:sp>
        <p:nvSpPr>
          <p:cNvPr id="100" name="TextBox 50">
            <a:extLst>
              <a:ext uri="{FF2B5EF4-FFF2-40B4-BE49-F238E27FC236}">
                <a16:creationId xmlns:a16="http://schemas.microsoft.com/office/drawing/2014/main" id="{E557280A-BE21-80FE-0DF1-2799DA8A407E}"/>
              </a:ext>
            </a:extLst>
          </p:cNvPr>
          <p:cNvSpPr txBox="1"/>
          <p:nvPr/>
        </p:nvSpPr>
        <p:spPr>
          <a:xfrm>
            <a:off x="1363181" y="980434"/>
            <a:ext cx="2094967" cy="366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 전압이 정상 범위를 초과하면 </a:t>
            </a:r>
          </a:p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변색 불량이다</a:t>
            </a:r>
          </a:p>
        </p:txBody>
      </p:sp>
      <p:sp>
        <p:nvSpPr>
          <p:cNvPr id="101" name="TextBox 51">
            <a:extLst>
              <a:ext uri="{FF2B5EF4-FFF2-40B4-BE49-F238E27FC236}">
                <a16:creationId xmlns:a16="http://schemas.microsoft.com/office/drawing/2014/main" id="{A53C2175-56D1-32F0-954F-AEDAA2EAE9CA}"/>
              </a:ext>
            </a:extLst>
          </p:cNvPr>
          <p:cNvSpPr txBox="1"/>
          <p:nvPr/>
        </p:nvSpPr>
        <p:spPr>
          <a:xfrm>
            <a:off x="1015923" y="3306127"/>
            <a:ext cx="3194044" cy="132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</a:pPr>
            <a:endParaRPr sz="9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ts val="1537"/>
              </a:lnSpc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H0 :평균 전압이 정상 범위를 초과하면 불량이 아니다.</a:t>
            </a:r>
          </a:p>
          <a:p>
            <a:pPr>
              <a:lnSpc>
                <a:spcPts val="1537"/>
              </a:lnSpc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H₁ : 평균 전압이 정상 범위를 초과하면 불량이다.</a:t>
            </a:r>
          </a:p>
          <a:p>
            <a:pPr algn="ctr">
              <a:lnSpc>
                <a:spcPts val="1537"/>
              </a:lnSpc>
            </a:pPr>
            <a:endParaRPr lang="en-US" sz="1025" b="1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 Medium"/>
            </a:endParaRPr>
          </a:p>
          <a:p>
            <a:pPr algn="ctr">
              <a:lnSpc>
                <a:spcPts val="1537"/>
              </a:lnSpc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p-value=0.0010 *</a:t>
            </a:r>
          </a:p>
          <a:p>
            <a:pPr algn="ctr">
              <a:lnSpc>
                <a:spcPts val="1537"/>
              </a:lnSpc>
            </a:pPr>
            <a:endParaRPr lang="en-US" sz="1025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→ 귀무가설을 기각한다.</a:t>
            </a:r>
          </a:p>
        </p:txBody>
      </p:sp>
      <p:grpSp>
        <p:nvGrpSpPr>
          <p:cNvPr id="102" name="Group 53">
            <a:extLst>
              <a:ext uri="{FF2B5EF4-FFF2-40B4-BE49-F238E27FC236}">
                <a16:creationId xmlns:a16="http://schemas.microsoft.com/office/drawing/2014/main" id="{C6C2E94F-DC7A-6B83-8629-BF1229305D1E}"/>
              </a:ext>
            </a:extLst>
          </p:cNvPr>
          <p:cNvGrpSpPr/>
          <p:nvPr/>
        </p:nvGrpSpPr>
        <p:grpSpPr>
          <a:xfrm>
            <a:off x="5429138" y="982804"/>
            <a:ext cx="308632" cy="308632"/>
            <a:chOff x="0" y="0"/>
            <a:chExt cx="1219200" cy="1219200"/>
          </a:xfrm>
        </p:grpSpPr>
        <p:sp>
          <p:nvSpPr>
            <p:cNvPr id="103" name="Freeform 54">
              <a:extLst>
                <a:ext uri="{FF2B5EF4-FFF2-40B4-BE49-F238E27FC236}">
                  <a16:creationId xmlns:a16="http://schemas.microsoft.com/office/drawing/2014/main" id="{5B245ED1-F12D-AB15-3C34-D939A65F85B9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sp>
        <p:nvSpPr>
          <p:cNvPr id="104" name="TextBox 55">
            <a:extLst>
              <a:ext uri="{FF2B5EF4-FFF2-40B4-BE49-F238E27FC236}">
                <a16:creationId xmlns:a16="http://schemas.microsoft.com/office/drawing/2014/main" id="{B29ED070-D299-CC95-EDED-9F65E5233FAB}"/>
              </a:ext>
            </a:extLst>
          </p:cNvPr>
          <p:cNvSpPr txBox="1"/>
          <p:nvPr/>
        </p:nvSpPr>
        <p:spPr>
          <a:xfrm>
            <a:off x="5737770" y="1032821"/>
            <a:ext cx="2094967" cy="17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spcBef>
                <a:spcPct val="0"/>
              </a:spcBef>
            </a:pPr>
            <a:r>
              <a:rPr lang="en-US" sz="102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BH-FDR 다중비교검정</a:t>
            </a:r>
          </a:p>
        </p:txBody>
      </p:sp>
    </p:spTree>
    <p:extLst>
      <p:ext uri="{BB962C8B-B14F-4D97-AF65-F5344CB8AC3E}">
        <p14:creationId xmlns:p14="http://schemas.microsoft.com/office/powerpoint/2010/main" val="1881753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D05C-0429-22F4-C1D3-23FC0823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1A27D0A-616B-0E2A-6405-3A51DEC35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D9C7B8B-BECA-6C95-38DF-B1AC294ADA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E247018-89A4-5A10-153E-18F9919A4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A6B3A8C-B1E2-D621-1CCD-B58BCDC991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3819AD3-D755-2693-8513-2F92BB2309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82CDB3C5-A56E-F1FD-688D-959F18FBF93C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파생변수 설계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F4B99487-4745-AC38-DBB3-32B9561736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110" name="Group 30">
            <a:extLst>
              <a:ext uri="{FF2B5EF4-FFF2-40B4-BE49-F238E27FC236}">
                <a16:creationId xmlns:a16="http://schemas.microsoft.com/office/drawing/2014/main" id="{CC743FB3-6735-D13D-8524-5E74B5324212}"/>
              </a:ext>
            </a:extLst>
          </p:cNvPr>
          <p:cNvGrpSpPr/>
          <p:nvPr/>
        </p:nvGrpSpPr>
        <p:grpSpPr>
          <a:xfrm>
            <a:off x="504335" y="1029762"/>
            <a:ext cx="457200" cy="457200"/>
            <a:chOff x="0" y="0"/>
            <a:chExt cx="1219200" cy="1219200"/>
          </a:xfrm>
        </p:grpSpPr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4648070E-9BE0-82C9-2972-38CA3A1C2FE0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12" name="TextBox 32">
              <a:extLst>
                <a:ext uri="{FF2B5EF4-FFF2-40B4-BE49-F238E27FC236}">
                  <a16:creationId xmlns:a16="http://schemas.microsoft.com/office/drawing/2014/main" id="{8EBB9D38-DCE8-7818-0C2C-3A77805FD6C4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5</a:t>
              </a:r>
            </a:p>
          </p:txBody>
        </p:sp>
      </p:grpSp>
      <p:grpSp>
        <p:nvGrpSpPr>
          <p:cNvPr id="119" name="Group 43">
            <a:extLst>
              <a:ext uri="{FF2B5EF4-FFF2-40B4-BE49-F238E27FC236}">
                <a16:creationId xmlns:a16="http://schemas.microsoft.com/office/drawing/2014/main" id="{28C3C0BD-05F3-A341-5156-925A9565980B}"/>
              </a:ext>
            </a:extLst>
          </p:cNvPr>
          <p:cNvGrpSpPr/>
          <p:nvPr/>
        </p:nvGrpSpPr>
        <p:grpSpPr>
          <a:xfrm>
            <a:off x="3422795" y="1029762"/>
            <a:ext cx="457200" cy="457200"/>
            <a:chOff x="0" y="0"/>
            <a:chExt cx="1219200" cy="1219200"/>
          </a:xfrm>
        </p:grpSpPr>
        <p:sp>
          <p:nvSpPr>
            <p:cNvPr id="120" name="Freeform 44">
              <a:extLst>
                <a:ext uri="{FF2B5EF4-FFF2-40B4-BE49-F238E27FC236}">
                  <a16:creationId xmlns:a16="http://schemas.microsoft.com/office/drawing/2014/main" id="{33898C56-26D6-B1F6-4161-5A4D880135CE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1" name="TextBox 45">
              <a:extLst>
                <a:ext uri="{FF2B5EF4-FFF2-40B4-BE49-F238E27FC236}">
                  <a16:creationId xmlns:a16="http://schemas.microsoft.com/office/drawing/2014/main" id="{4253E096-D480-5946-0C85-C687DCC4711C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7</a:t>
              </a:r>
            </a:p>
          </p:txBody>
        </p:sp>
      </p:grpSp>
      <p:grpSp>
        <p:nvGrpSpPr>
          <p:cNvPr id="128" name="Group 56">
            <a:extLst>
              <a:ext uri="{FF2B5EF4-FFF2-40B4-BE49-F238E27FC236}">
                <a16:creationId xmlns:a16="http://schemas.microsoft.com/office/drawing/2014/main" id="{6B021841-AC9C-E1F9-7FAC-FFC80972A0A8}"/>
              </a:ext>
            </a:extLst>
          </p:cNvPr>
          <p:cNvGrpSpPr/>
          <p:nvPr/>
        </p:nvGrpSpPr>
        <p:grpSpPr>
          <a:xfrm>
            <a:off x="6191250" y="1029762"/>
            <a:ext cx="457200" cy="457200"/>
            <a:chOff x="0" y="0"/>
            <a:chExt cx="1219200" cy="1219200"/>
          </a:xfrm>
        </p:grpSpPr>
        <p:sp>
          <p:nvSpPr>
            <p:cNvPr id="129" name="Freeform 57">
              <a:extLst>
                <a:ext uri="{FF2B5EF4-FFF2-40B4-BE49-F238E27FC236}">
                  <a16:creationId xmlns:a16="http://schemas.microsoft.com/office/drawing/2014/main" id="{7DF536C2-B4DA-9210-36F8-668777E5EA69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0" name="TextBox 58">
              <a:extLst>
                <a:ext uri="{FF2B5EF4-FFF2-40B4-BE49-F238E27FC236}">
                  <a16:creationId xmlns:a16="http://schemas.microsoft.com/office/drawing/2014/main" id="{9B28DFE8-A9F3-BB58-5AAA-6C9B7ED4EF56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5</a:t>
              </a:r>
            </a:p>
          </p:txBody>
        </p:sp>
      </p:grpSp>
      <p:grpSp>
        <p:nvGrpSpPr>
          <p:cNvPr id="137" name="Group 69">
            <a:extLst>
              <a:ext uri="{FF2B5EF4-FFF2-40B4-BE49-F238E27FC236}">
                <a16:creationId xmlns:a16="http://schemas.microsoft.com/office/drawing/2014/main" id="{941B395E-CECC-4528-79C4-445F8911BF19}"/>
              </a:ext>
            </a:extLst>
          </p:cNvPr>
          <p:cNvGrpSpPr/>
          <p:nvPr/>
        </p:nvGrpSpPr>
        <p:grpSpPr>
          <a:xfrm>
            <a:off x="504335" y="2780060"/>
            <a:ext cx="457200" cy="457200"/>
            <a:chOff x="0" y="0"/>
            <a:chExt cx="1219200" cy="1219200"/>
          </a:xfrm>
        </p:grpSpPr>
        <p:sp>
          <p:nvSpPr>
            <p:cNvPr id="138" name="Freeform 70">
              <a:extLst>
                <a:ext uri="{FF2B5EF4-FFF2-40B4-BE49-F238E27FC236}">
                  <a16:creationId xmlns:a16="http://schemas.microsoft.com/office/drawing/2014/main" id="{2DFD590C-EEED-92EB-D84A-E1EBDA22F5A9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9" name="TextBox 71">
              <a:extLst>
                <a:ext uri="{FF2B5EF4-FFF2-40B4-BE49-F238E27FC236}">
                  <a16:creationId xmlns:a16="http://schemas.microsoft.com/office/drawing/2014/main" id="{C8F7A950-388B-6262-58C6-9C1B458389E8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5</a:t>
              </a:r>
            </a:p>
          </p:txBody>
        </p:sp>
      </p:grpSp>
      <p:grpSp>
        <p:nvGrpSpPr>
          <p:cNvPr id="146" name="Group 82">
            <a:extLst>
              <a:ext uri="{FF2B5EF4-FFF2-40B4-BE49-F238E27FC236}">
                <a16:creationId xmlns:a16="http://schemas.microsoft.com/office/drawing/2014/main" id="{C5D70DA4-B03E-E81A-AE87-FF85F971E90E}"/>
              </a:ext>
            </a:extLst>
          </p:cNvPr>
          <p:cNvGrpSpPr/>
          <p:nvPr/>
        </p:nvGrpSpPr>
        <p:grpSpPr>
          <a:xfrm>
            <a:off x="3422795" y="2780060"/>
            <a:ext cx="457200" cy="457200"/>
            <a:chOff x="0" y="0"/>
            <a:chExt cx="1219200" cy="1219200"/>
          </a:xfrm>
        </p:grpSpPr>
        <p:sp>
          <p:nvSpPr>
            <p:cNvPr id="147" name="Freeform 83">
              <a:extLst>
                <a:ext uri="{FF2B5EF4-FFF2-40B4-BE49-F238E27FC236}">
                  <a16:creationId xmlns:a16="http://schemas.microsoft.com/office/drawing/2014/main" id="{3FFA8EC2-C7A1-965B-32CA-D7D8EE0492F0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48" name="TextBox 84">
              <a:extLst>
                <a:ext uri="{FF2B5EF4-FFF2-40B4-BE49-F238E27FC236}">
                  <a16:creationId xmlns:a16="http://schemas.microsoft.com/office/drawing/2014/main" id="{3CB3F70A-E6FB-845C-B6ED-BA9557EEFD99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4</a:t>
              </a:r>
            </a:p>
          </p:txBody>
        </p:sp>
      </p:grpSp>
      <p:grpSp>
        <p:nvGrpSpPr>
          <p:cNvPr id="155" name="Group 95">
            <a:extLst>
              <a:ext uri="{FF2B5EF4-FFF2-40B4-BE49-F238E27FC236}">
                <a16:creationId xmlns:a16="http://schemas.microsoft.com/office/drawing/2014/main" id="{059EA969-0399-DA53-2323-9AD3183CFBF7}"/>
              </a:ext>
            </a:extLst>
          </p:cNvPr>
          <p:cNvGrpSpPr/>
          <p:nvPr/>
        </p:nvGrpSpPr>
        <p:grpSpPr>
          <a:xfrm>
            <a:off x="6191250" y="2780060"/>
            <a:ext cx="457200" cy="457200"/>
            <a:chOff x="0" y="0"/>
            <a:chExt cx="1219200" cy="1219200"/>
          </a:xfrm>
        </p:grpSpPr>
        <p:sp>
          <p:nvSpPr>
            <p:cNvPr id="156" name="Freeform 96">
              <a:extLst>
                <a:ext uri="{FF2B5EF4-FFF2-40B4-BE49-F238E27FC236}">
                  <a16:creationId xmlns:a16="http://schemas.microsoft.com/office/drawing/2014/main" id="{95198A2D-7E62-AAFA-F71F-A3B6B142B585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7" name="TextBox 97">
              <a:extLst>
                <a:ext uri="{FF2B5EF4-FFF2-40B4-BE49-F238E27FC236}">
                  <a16:creationId xmlns:a16="http://schemas.microsoft.com/office/drawing/2014/main" id="{A0CEA112-30F1-7DAF-1D3A-9CE609B4B2CC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4</a:t>
              </a:r>
            </a:p>
          </p:txBody>
        </p:sp>
      </p:grpSp>
      <p:pic>
        <p:nvPicPr>
          <p:cNvPr id="208" name="Image 1" descr="preencoded.png">
            <a:extLst>
              <a:ext uri="{FF2B5EF4-FFF2-40B4-BE49-F238E27FC236}">
                <a16:creationId xmlns:a16="http://schemas.microsoft.com/office/drawing/2014/main" id="{EC45FC78-57ED-6451-BC55-9E9AC579473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209" name="Text 2">
            <a:extLst>
              <a:ext uri="{FF2B5EF4-FFF2-40B4-BE49-F238E27FC236}">
                <a16:creationId xmlns:a16="http://schemas.microsoft.com/office/drawing/2014/main" id="{57A81DFB-CF44-334E-51D9-379D3F828FE4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210" name="Text 9">
            <a:extLst>
              <a:ext uri="{FF2B5EF4-FFF2-40B4-BE49-F238E27FC236}">
                <a16:creationId xmlns:a16="http://schemas.microsoft.com/office/drawing/2014/main" id="{DC29CC0F-4314-D242-AF5B-1E56BA0DA738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  <p:grpSp>
        <p:nvGrpSpPr>
          <p:cNvPr id="211" name="Group 22">
            <a:extLst>
              <a:ext uri="{FF2B5EF4-FFF2-40B4-BE49-F238E27FC236}">
                <a16:creationId xmlns:a16="http://schemas.microsoft.com/office/drawing/2014/main" id="{85A66B54-CA2B-A545-F536-C47B4280228E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212" name="Freeform 23">
              <a:extLst>
                <a:ext uri="{FF2B5EF4-FFF2-40B4-BE49-F238E27FC236}">
                  <a16:creationId xmlns:a16="http://schemas.microsoft.com/office/drawing/2014/main" id="{82499C26-33BC-7DBE-1DD5-644643672355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13" name="Group 24">
            <a:extLst>
              <a:ext uri="{FF2B5EF4-FFF2-40B4-BE49-F238E27FC236}">
                <a16:creationId xmlns:a16="http://schemas.microsoft.com/office/drawing/2014/main" id="{9DEBC0B8-5FA7-DE2E-9771-662ADD8E7B2E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214" name="Freeform 25" descr="logo.png">
              <a:extLst>
                <a:ext uri="{FF2B5EF4-FFF2-40B4-BE49-F238E27FC236}">
                  <a16:creationId xmlns:a16="http://schemas.microsoft.com/office/drawing/2014/main" id="{9CD41E45-61D5-9E85-04E1-E5F8A8BAA326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8" b="8"/>
              </a:stretch>
            </a:blipFill>
          </p:spPr>
        </p:sp>
      </p:grpSp>
      <p:grpSp>
        <p:nvGrpSpPr>
          <p:cNvPr id="215" name="Group 26">
            <a:extLst>
              <a:ext uri="{FF2B5EF4-FFF2-40B4-BE49-F238E27FC236}">
                <a16:creationId xmlns:a16="http://schemas.microsoft.com/office/drawing/2014/main" id="{A022B1FF-92A3-3C44-0EC0-5C8CA9D49487}"/>
              </a:ext>
            </a:extLst>
          </p:cNvPr>
          <p:cNvGrpSpPr/>
          <p:nvPr/>
        </p:nvGrpSpPr>
        <p:grpSpPr>
          <a:xfrm>
            <a:off x="412786" y="946576"/>
            <a:ext cx="2656347" cy="1544176"/>
            <a:chOff x="0" y="0"/>
            <a:chExt cx="7377011" cy="4288371"/>
          </a:xfrm>
        </p:grpSpPr>
        <p:sp>
          <p:nvSpPr>
            <p:cNvPr id="216" name="Freeform 27">
              <a:extLst>
                <a:ext uri="{FF2B5EF4-FFF2-40B4-BE49-F238E27FC236}">
                  <a16:creationId xmlns:a16="http://schemas.microsoft.com/office/drawing/2014/main" id="{0CF22A3A-EAE9-DAFE-4FF7-98E98AA19648}"/>
                </a:ext>
              </a:extLst>
            </p:cNvPr>
            <p:cNvSpPr/>
            <p:nvPr/>
          </p:nvSpPr>
          <p:spPr>
            <a:xfrm>
              <a:off x="0" y="0"/>
              <a:ext cx="7376922" cy="4288282"/>
            </a:xfrm>
            <a:custGeom>
              <a:avLst/>
              <a:gdLst/>
              <a:ahLst/>
              <a:cxnLst/>
              <a:rect l="l" t="t" r="r" b="b"/>
              <a:pathLst>
                <a:path w="7376922" h="4288282">
                  <a:moveTo>
                    <a:pt x="0" y="85725"/>
                  </a:moveTo>
                  <a:cubicBezTo>
                    <a:pt x="0" y="38354"/>
                    <a:pt x="38354" y="0"/>
                    <a:pt x="85725" y="0"/>
                  </a:cubicBezTo>
                  <a:lnTo>
                    <a:pt x="7291197" y="0"/>
                  </a:lnTo>
                  <a:cubicBezTo>
                    <a:pt x="7338568" y="0"/>
                    <a:pt x="7376922" y="38354"/>
                    <a:pt x="7376922" y="85725"/>
                  </a:cubicBezTo>
                  <a:lnTo>
                    <a:pt x="7376922" y="4202557"/>
                  </a:lnTo>
                  <a:cubicBezTo>
                    <a:pt x="7376922" y="4249928"/>
                    <a:pt x="7338568" y="4288282"/>
                    <a:pt x="7291197" y="4288282"/>
                  </a:cubicBezTo>
                  <a:lnTo>
                    <a:pt x="85725" y="4288282"/>
                  </a:lnTo>
                  <a:cubicBezTo>
                    <a:pt x="38354" y="4288282"/>
                    <a:pt x="0" y="4249928"/>
                    <a:pt x="0" y="420255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17" name="Group 28">
            <a:extLst>
              <a:ext uri="{FF2B5EF4-FFF2-40B4-BE49-F238E27FC236}">
                <a16:creationId xmlns:a16="http://schemas.microsoft.com/office/drawing/2014/main" id="{403C6D04-909F-EABA-0E4C-4C9ED8A410AC}"/>
              </a:ext>
            </a:extLst>
          </p:cNvPr>
          <p:cNvGrpSpPr/>
          <p:nvPr/>
        </p:nvGrpSpPr>
        <p:grpSpPr>
          <a:xfrm>
            <a:off x="504335" y="1029762"/>
            <a:ext cx="457200" cy="457200"/>
            <a:chOff x="0" y="0"/>
            <a:chExt cx="1219200" cy="1219200"/>
          </a:xfrm>
        </p:grpSpPr>
        <p:sp>
          <p:nvSpPr>
            <p:cNvPr id="218" name="Freeform 29">
              <a:extLst>
                <a:ext uri="{FF2B5EF4-FFF2-40B4-BE49-F238E27FC236}">
                  <a16:creationId xmlns:a16="http://schemas.microsoft.com/office/drawing/2014/main" id="{42A57BEF-743E-FBBC-733C-FB13108828A2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219" name="Group 30">
            <a:extLst>
              <a:ext uri="{FF2B5EF4-FFF2-40B4-BE49-F238E27FC236}">
                <a16:creationId xmlns:a16="http://schemas.microsoft.com/office/drawing/2014/main" id="{64119C0B-CDC0-6349-697D-B8BB783EC1B3}"/>
              </a:ext>
            </a:extLst>
          </p:cNvPr>
          <p:cNvGrpSpPr/>
          <p:nvPr/>
        </p:nvGrpSpPr>
        <p:grpSpPr>
          <a:xfrm>
            <a:off x="504335" y="1029762"/>
            <a:ext cx="457200" cy="457200"/>
            <a:chOff x="0" y="0"/>
            <a:chExt cx="1219200" cy="1219200"/>
          </a:xfrm>
        </p:grpSpPr>
        <p:sp>
          <p:nvSpPr>
            <p:cNvPr id="220" name="Freeform 31">
              <a:extLst>
                <a:ext uri="{FF2B5EF4-FFF2-40B4-BE49-F238E27FC236}">
                  <a16:creationId xmlns:a16="http://schemas.microsoft.com/office/drawing/2014/main" id="{137328C7-CBF0-593B-2A6D-33EC6E392ABA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1" name="TextBox 32">
              <a:extLst>
                <a:ext uri="{FF2B5EF4-FFF2-40B4-BE49-F238E27FC236}">
                  <a16:creationId xmlns:a16="http://schemas.microsoft.com/office/drawing/2014/main" id="{F552B9C9-CDCE-D1BF-2CC5-7AC534C5D3C4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5</a:t>
              </a:r>
            </a:p>
          </p:txBody>
        </p:sp>
      </p:grpSp>
      <p:grpSp>
        <p:nvGrpSpPr>
          <p:cNvPr id="222" name="Group 33">
            <a:extLst>
              <a:ext uri="{FF2B5EF4-FFF2-40B4-BE49-F238E27FC236}">
                <a16:creationId xmlns:a16="http://schemas.microsoft.com/office/drawing/2014/main" id="{36E16E65-4FFF-5331-E0E0-97D329B1C403}"/>
              </a:ext>
            </a:extLst>
          </p:cNvPr>
          <p:cNvGrpSpPr/>
          <p:nvPr/>
        </p:nvGrpSpPr>
        <p:grpSpPr>
          <a:xfrm>
            <a:off x="1052975" y="1029762"/>
            <a:ext cx="1889760" cy="457200"/>
            <a:chOff x="0" y="0"/>
            <a:chExt cx="5039360" cy="1219200"/>
          </a:xfrm>
        </p:grpSpPr>
        <p:sp>
          <p:nvSpPr>
            <p:cNvPr id="223" name="Freeform 34">
              <a:extLst>
                <a:ext uri="{FF2B5EF4-FFF2-40B4-BE49-F238E27FC236}">
                  <a16:creationId xmlns:a16="http://schemas.microsoft.com/office/drawing/2014/main" id="{642D96BA-F2AD-9B52-26FF-115DAAD6B817}"/>
                </a:ext>
              </a:extLst>
            </p:cNvPr>
            <p:cNvSpPr/>
            <p:nvPr/>
          </p:nvSpPr>
          <p:spPr>
            <a:xfrm>
              <a:off x="0" y="0"/>
              <a:ext cx="5039360" cy="1219200"/>
            </a:xfrm>
            <a:custGeom>
              <a:avLst/>
              <a:gdLst/>
              <a:ahLst/>
              <a:cxnLst/>
              <a:rect l="l" t="t" r="r" b="b"/>
              <a:pathLst>
                <a:path w="5039360" h="1219200">
                  <a:moveTo>
                    <a:pt x="0" y="0"/>
                  </a:moveTo>
                  <a:lnTo>
                    <a:pt x="5039360" y="0"/>
                  </a:lnTo>
                  <a:lnTo>
                    <a:pt x="503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24" name="TextBox 35">
              <a:extLst>
                <a:ext uri="{FF2B5EF4-FFF2-40B4-BE49-F238E27FC236}">
                  <a16:creationId xmlns:a16="http://schemas.microsoft.com/office/drawing/2014/main" id="{D64B977A-EACB-B163-B2E0-B745E9DCFF84}"/>
                </a:ext>
              </a:extLst>
            </p:cNvPr>
            <p:cNvSpPr txBox="1"/>
            <p:nvPr/>
          </p:nvSpPr>
          <p:spPr>
            <a:xfrm>
              <a:off x="0" y="0"/>
              <a:ext cx="50393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전압 계열</a:t>
              </a:r>
            </a:p>
          </p:txBody>
        </p:sp>
      </p:grpSp>
      <p:grpSp>
        <p:nvGrpSpPr>
          <p:cNvPr id="225" name="Group 36">
            <a:extLst>
              <a:ext uri="{FF2B5EF4-FFF2-40B4-BE49-F238E27FC236}">
                <a16:creationId xmlns:a16="http://schemas.microsoft.com/office/drawing/2014/main" id="{32370477-112A-F7C8-140C-2CA374C82096}"/>
              </a:ext>
            </a:extLst>
          </p:cNvPr>
          <p:cNvGrpSpPr/>
          <p:nvPr/>
        </p:nvGrpSpPr>
        <p:grpSpPr>
          <a:xfrm>
            <a:off x="504335" y="1488324"/>
            <a:ext cx="2399029" cy="6349"/>
            <a:chOff x="0" y="0"/>
            <a:chExt cx="6397409" cy="16929"/>
          </a:xfrm>
        </p:grpSpPr>
        <p:sp>
          <p:nvSpPr>
            <p:cNvPr id="226" name="Freeform 37">
              <a:extLst>
                <a:ext uri="{FF2B5EF4-FFF2-40B4-BE49-F238E27FC236}">
                  <a16:creationId xmlns:a16="http://schemas.microsoft.com/office/drawing/2014/main" id="{2B9A8282-B05E-6C21-E4C8-E3EA35E38109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sp>
        <p:nvSpPr>
          <p:cNvPr id="227" name="TextBox 38">
            <a:extLst>
              <a:ext uri="{FF2B5EF4-FFF2-40B4-BE49-F238E27FC236}">
                <a16:creationId xmlns:a16="http://schemas.microsoft.com/office/drawing/2014/main" id="{FB44DF05-A913-B6A9-311A-56BFA8BE491C}"/>
              </a:ext>
            </a:extLst>
          </p:cNvPr>
          <p:cNvSpPr txBox="1"/>
          <p:nvPr/>
        </p:nvSpPr>
        <p:spPr>
          <a:xfrm>
            <a:off x="551169" y="1683563"/>
            <a:ext cx="2392680" cy="62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volt_mean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표준편차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(std)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최대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(max)</a:t>
            </a:r>
          </a:p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범위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(range)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절대이탈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mean_absz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</p:txBody>
      </p:sp>
      <p:grpSp>
        <p:nvGrpSpPr>
          <p:cNvPr id="228" name="Group 39">
            <a:extLst>
              <a:ext uri="{FF2B5EF4-FFF2-40B4-BE49-F238E27FC236}">
                <a16:creationId xmlns:a16="http://schemas.microsoft.com/office/drawing/2014/main" id="{44E2F6F1-08B1-7B59-374E-24247C85B53F}"/>
              </a:ext>
            </a:extLst>
          </p:cNvPr>
          <p:cNvGrpSpPr/>
          <p:nvPr/>
        </p:nvGrpSpPr>
        <p:grpSpPr>
          <a:xfrm>
            <a:off x="3215164" y="946576"/>
            <a:ext cx="2656347" cy="1544176"/>
            <a:chOff x="0" y="0"/>
            <a:chExt cx="7377011" cy="4288371"/>
          </a:xfrm>
        </p:grpSpPr>
        <p:sp>
          <p:nvSpPr>
            <p:cNvPr id="229" name="Freeform 40">
              <a:extLst>
                <a:ext uri="{FF2B5EF4-FFF2-40B4-BE49-F238E27FC236}">
                  <a16:creationId xmlns:a16="http://schemas.microsoft.com/office/drawing/2014/main" id="{D552E36A-8AFA-8456-5D66-2D4BB0B7B378}"/>
                </a:ext>
              </a:extLst>
            </p:cNvPr>
            <p:cNvSpPr/>
            <p:nvPr/>
          </p:nvSpPr>
          <p:spPr>
            <a:xfrm>
              <a:off x="0" y="0"/>
              <a:ext cx="7376922" cy="4288282"/>
            </a:xfrm>
            <a:custGeom>
              <a:avLst/>
              <a:gdLst/>
              <a:ahLst/>
              <a:cxnLst/>
              <a:rect l="l" t="t" r="r" b="b"/>
              <a:pathLst>
                <a:path w="7376922" h="4288282">
                  <a:moveTo>
                    <a:pt x="0" y="85725"/>
                  </a:moveTo>
                  <a:cubicBezTo>
                    <a:pt x="0" y="38354"/>
                    <a:pt x="38354" y="0"/>
                    <a:pt x="85725" y="0"/>
                  </a:cubicBezTo>
                  <a:lnTo>
                    <a:pt x="7291197" y="0"/>
                  </a:lnTo>
                  <a:cubicBezTo>
                    <a:pt x="7338568" y="0"/>
                    <a:pt x="7376922" y="38354"/>
                    <a:pt x="7376922" y="85725"/>
                  </a:cubicBezTo>
                  <a:lnTo>
                    <a:pt x="7376922" y="4202557"/>
                  </a:lnTo>
                  <a:cubicBezTo>
                    <a:pt x="7376922" y="4249928"/>
                    <a:pt x="7338568" y="4288282"/>
                    <a:pt x="7291197" y="4288282"/>
                  </a:cubicBezTo>
                  <a:lnTo>
                    <a:pt x="85725" y="4288282"/>
                  </a:lnTo>
                  <a:cubicBezTo>
                    <a:pt x="38354" y="4288282"/>
                    <a:pt x="0" y="4249928"/>
                    <a:pt x="0" y="420255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30" name="Group 41">
            <a:extLst>
              <a:ext uri="{FF2B5EF4-FFF2-40B4-BE49-F238E27FC236}">
                <a16:creationId xmlns:a16="http://schemas.microsoft.com/office/drawing/2014/main" id="{857A3146-8FC1-8E3C-B2E5-87F58956634E}"/>
              </a:ext>
            </a:extLst>
          </p:cNvPr>
          <p:cNvGrpSpPr/>
          <p:nvPr/>
        </p:nvGrpSpPr>
        <p:grpSpPr>
          <a:xfrm>
            <a:off x="3422795" y="1029762"/>
            <a:ext cx="457200" cy="457200"/>
            <a:chOff x="0" y="0"/>
            <a:chExt cx="1219200" cy="1219200"/>
          </a:xfrm>
        </p:grpSpPr>
        <p:sp>
          <p:nvSpPr>
            <p:cNvPr id="231" name="Freeform 42">
              <a:extLst>
                <a:ext uri="{FF2B5EF4-FFF2-40B4-BE49-F238E27FC236}">
                  <a16:creationId xmlns:a16="http://schemas.microsoft.com/office/drawing/2014/main" id="{5F046063-A625-D8F9-FA47-C4C3565E14EA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32" name="Group 43">
            <a:extLst>
              <a:ext uri="{FF2B5EF4-FFF2-40B4-BE49-F238E27FC236}">
                <a16:creationId xmlns:a16="http://schemas.microsoft.com/office/drawing/2014/main" id="{3D477D07-0254-F540-27DE-2B2C94C9D830}"/>
              </a:ext>
            </a:extLst>
          </p:cNvPr>
          <p:cNvGrpSpPr/>
          <p:nvPr/>
        </p:nvGrpSpPr>
        <p:grpSpPr>
          <a:xfrm>
            <a:off x="3422795" y="1029762"/>
            <a:ext cx="457200" cy="457200"/>
            <a:chOff x="0" y="0"/>
            <a:chExt cx="1219200" cy="1219200"/>
          </a:xfrm>
        </p:grpSpPr>
        <p:sp>
          <p:nvSpPr>
            <p:cNvPr id="233" name="Freeform 44">
              <a:extLst>
                <a:ext uri="{FF2B5EF4-FFF2-40B4-BE49-F238E27FC236}">
                  <a16:creationId xmlns:a16="http://schemas.microsoft.com/office/drawing/2014/main" id="{07979676-4812-ADFB-8A01-30630B71C693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34" name="TextBox 45">
              <a:extLst>
                <a:ext uri="{FF2B5EF4-FFF2-40B4-BE49-F238E27FC236}">
                  <a16:creationId xmlns:a16="http://schemas.microsoft.com/office/drawing/2014/main" id="{AEF02D19-8FF2-918E-20CB-ABCD3066E946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7</a:t>
              </a:r>
            </a:p>
          </p:txBody>
        </p:sp>
      </p:grpSp>
      <p:grpSp>
        <p:nvGrpSpPr>
          <p:cNvPr id="235" name="Group 46">
            <a:extLst>
              <a:ext uri="{FF2B5EF4-FFF2-40B4-BE49-F238E27FC236}">
                <a16:creationId xmlns:a16="http://schemas.microsoft.com/office/drawing/2014/main" id="{8EAB2743-A6DC-E14A-1ED8-CA400042E4C7}"/>
              </a:ext>
            </a:extLst>
          </p:cNvPr>
          <p:cNvGrpSpPr/>
          <p:nvPr/>
        </p:nvGrpSpPr>
        <p:grpSpPr>
          <a:xfrm>
            <a:off x="3971435" y="1029762"/>
            <a:ext cx="1889760" cy="457200"/>
            <a:chOff x="0" y="0"/>
            <a:chExt cx="5039360" cy="1219200"/>
          </a:xfrm>
        </p:grpSpPr>
        <p:sp>
          <p:nvSpPr>
            <p:cNvPr id="236" name="Freeform 47">
              <a:extLst>
                <a:ext uri="{FF2B5EF4-FFF2-40B4-BE49-F238E27FC236}">
                  <a16:creationId xmlns:a16="http://schemas.microsoft.com/office/drawing/2014/main" id="{C3BC7478-9495-2D89-C84B-6F533C30E320}"/>
                </a:ext>
              </a:extLst>
            </p:cNvPr>
            <p:cNvSpPr/>
            <p:nvPr/>
          </p:nvSpPr>
          <p:spPr>
            <a:xfrm>
              <a:off x="0" y="0"/>
              <a:ext cx="5039360" cy="1219200"/>
            </a:xfrm>
            <a:custGeom>
              <a:avLst/>
              <a:gdLst/>
              <a:ahLst/>
              <a:cxnLst/>
              <a:rect l="l" t="t" r="r" b="b"/>
              <a:pathLst>
                <a:path w="5039360" h="1219200">
                  <a:moveTo>
                    <a:pt x="0" y="0"/>
                  </a:moveTo>
                  <a:lnTo>
                    <a:pt x="5039360" y="0"/>
                  </a:lnTo>
                  <a:lnTo>
                    <a:pt x="503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37" name="TextBox 48">
              <a:extLst>
                <a:ext uri="{FF2B5EF4-FFF2-40B4-BE49-F238E27FC236}">
                  <a16:creationId xmlns:a16="http://schemas.microsoft.com/office/drawing/2014/main" id="{257AEF2A-D03A-6D4C-A8F8-9059B29E4748}"/>
                </a:ext>
              </a:extLst>
            </p:cNvPr>
            <p:cNvSpPr txBox="1"/>
            <p:nvPr/>
          </p:nvSpPr>
          <p:spPr>
            <a:xfrm>
              <a:off x="0" y="0"/>
              <a:ext cx="50393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전류 계열</a:t>
              </a:r>
            </a:p>
          </p:txBody>
        </p:sp>
      </p:grpSp>
      <p:grpSp>
        <p:nvGrpSpPr>
          <p:cNvPr id="238" name="Group 49">
            <a:extLst>
              <a:ext uri="{FF2B5EF4-FFF2-40B4-BE49-F238E27FC236}">
                <a16:creationId xmlns:a16="http://schemas.microsoft.com/office/drawing/2014/main" id="{62756083-7E1B-B10B-D3CC-E9DC4942AB42}"/>
              </a:ext>
            </a:extLst>
          </p:cNvPr>
          <p:cNvGrpSpPr/>
          <p:nvPr/>
        </p:nvGrpSpPr>
        <p:grpSpPr>
          <a:xfrm>
            <a:off x="3346595" y="1511184"/>
            <a:ext cx="2399029" cy="6349"/>
            <a:chOff x="0" y="0"/>
            <a:chExt cx="6397409" cy="16929"/>
          </a:xfrm>
        </p:grpSpPr>
        <p:sp>
          <p:nvSpPr>
            <p:cNvPr id="239" name="Freeform 50">
              <a:extLst>
                <a:ext uri="{FF2B5EF4-FFF2-40B4-BE49-F238E27FC236}">
                  <a16:creationId xmlns:a16="http://schemas.microsoft.com/office/drawing/2014/main" id="{73BE5BB8-6242-1B43-0443-7A74CE31B129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sp>
        <p:nvSpPr>
          <p:cNvPr id="240" name="TextBox 51">
            <a:extLst>
              <a:ext uri="{FF2B5EF4-FFF2-40B4-BE49-F238E27FC236}">
                <a16:creationId xmlns:a16="http://schemas.microsoft.com/office/drawing/2014/main" id="{178BF6E5-3F8D-A491-BED9-53CF9B5B2BC0}"/>
              </a:ext>
            </a:extLst>
          </p:cNvPr>
          <p:cNvSpPr txBox="1"/>
          <p:nvPr/>
        </p:nvSpPr>
        <p:spPr>
          <a:xfrm>
            <a:off x="3468515" y="1534587"/>
            <a:ext cx="2392680" cy="100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ampere_mean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표준편차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(std)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최대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(max)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범위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(range)</a:t>
            </a:r>
          </a:p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절대이탈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mean_absz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최대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절대이탈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max_absz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범위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절대이탈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range_absz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endParaRPr lang="en-US" sz="675" dirty="0">
              <a:solidFill>
                <a:srgbClr val="8A8F7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grpSp>
        <p:nvGrpSpPr>
          <p:cNvPr id="241" name="Group 52">
            <a:extLst>
              <a:ext uri="{FF2B5EF4-FFF2-40B4-BE49-F238E27FC236}">
                <a16:creationId xmlns:a16="http://schemas.microsoft.com/office/drawing/2014/main" id="{BF0F41A9-F2DC-6472-2D5C-F2BE59023C29}"/>
              </a:ext>
            </a:extLst>
          </p:cNvPr>
          <p:cNvGrpSpPr/>
          <p:nvPr/>
        </p:nvGrpSpPr>
        <p:grpSpPr>
          <a:xfrm>
            <a:off x="6017542" y="946576"/>
            <a:ext cx="2656347" cy="1544176"/>
            <a:chOff x="0" y="0"/>
            <a:chExt cx="7377011" cy="4288371"/>
          </a:xfrm>
        </p:grpSpPr>
        <p:sp>
          <p:nvSpPr>
            <p:cNvPr id="242" name="Freeform 53">
              <a:extLst>
                <a:ext uri="{FF2B5EF4-FFF2-40B4-BE49-F238E27FC236}">
                  <a16:creationId xmlns:a16="http://schemas.microsoft.com/office/drawing/2014/main" id="{031A2A0D-F5FC-0EB2-D05E-ED16FD2F1115}"/>
                </a:ext>
              </a:extLst>
            </p:cNvPr>
            <p:cNvSpPr/>
            <p:nvPr/>
          </p:nvSpPr>
          <p:spPr>
            <a:xfrm>
              <a:off x="0" y="0"/>
              <a:ext cx="7376922" cy="4288282"/>
            </a:xfrm>
            <a:custGeom>
              <a:avLst/>
              <a:gdLst/>
              <a:ahLst/>
              <a:cxnLst/>
              <a:rect l="l" t="t" r="r" b="b"/>
              <a:pathLst>
                <a:path w="7376922" h="4288282">
                  <a:moveTo>
                    <a:pt x="0" y="85725"/>
                  </a:moveTo>
                  <a:cubicBezTo>
                    <a:pt x="0" y="38354"/>
                    <a:pt x="38354" y="0"/>
                    <a:pt x="85725" y="0"/>
                  </a:cubicBezTo>
                  <a:lnTo>
                    <a:pt x="7291197" y="0"/>
                  </a:lnTo>
                  <a:cubicBezTo>
                    <a:pt x="7338568" y="0"/>
                    <a:pt x="7376922" y="38354"/>
                    <a:pt x="7376922" y="85725"/>
                  </a:cubicBezTo>
                  <a:lnTo>
                    <a:pt x="7376922" y="4202557"/>
                  </a:lnTo>
                  <a:cubicBezTo>
                    <a:pt x="7376922" y="4249928"/>
                    <a:pt x="7338568" y="4288282"/>
                    <a:pt x="7291197" y="4288282"/>
                  </a:cubicBezTo>
                  <a:lnTo>
                    <a:pt x="85725" y="4288282"/>
                  </a:lnTo>
                  <a:cubicBezTo>
                    <a:pt x="38354" y="4288282"/>
                    <a:pt x="0" y="4249928"/>
                    <a:pt x="0" y="420255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43" name="Group 54">
            <a:extLst>
              <a:ext uri="{FF2B5EF4-FFF2-40B4-BE49-F238E27FC236}">
                <a16:creationId xmlns:a16="http://schemas.microsoft.com/office/drawing/2014/main" id="{01D48ADB-B428-D1A0-C4C7-DE7A4AE4F17D}"/>
              </a:ext>
            </a:extLst>
          </p:cNvPr>
          <p:cNvGrpSpPr/>
          <p:nvPr/>
        </p:nvGrpSpPr>
        <p:grpSpPr>
          <a:xfrm>
            <a:off x="6191250" y="1029762"/>
            <a:ext cx="457200" cy="457200"/>
            <a:chOff x="0" y="0"/>
            <a:chExt cx="1219200" cy="1219200"/>
          </a:xfrm>
        </p:grpSpPr>
        <p:sp>
          <p:nvSpPr>
            <p:cNvPr id="244" name="Freeform 55">
              <a:extLst>
                <a:ext uri="{FF2B5EF4-FFF2-40B4-BE49-F238E27FC236}">
                  <a16:creationId xmlns:a16="http://schemas.microsoft.com/office/drawing/2014/main" id="{866AAE42-D93E-F6DA-F312-276477034F86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grpSp>
        <p:nvGrpSpPr>
          <p:cNvPr id="245" name="Group 56">
            <a:extLst>
              <a:ext uri="{FF2B5EF4-FFF2-40B4-BE49-F238E27FC236}">
                <a16:creationId xmlns:a16="http://schemas.microsoft.com/office/drawing/2014/main" id="{B355498C-B08A-A911-1CB7-ADEAED514997}"/>
              </a:ext>
            </a:extLst>
          </p:cNvPr>
          <p:cNvGrpSpPr/>
          <p:nvPr/>
        </p:nvGrpSpPr>
        <p:grpSpPr>
          <a:xfrm>
            <a:off x="6191250" y="1029762"/>
            <a:ext cx="457200" cy="457200"/>
            <a:chOff x="0" y="0"/>
            <a:chExt cx="1219200" cy="1219200"/>
          </a:xfrm>
        </p:grpSpPr>
        <p:sp>
          <p:nvSpPr>
            <p:cNvPr id="246" name="Freeform 57">
              <a:extLst>
                <a:ext uri="{FF2B5EF4-FFF2-40B4-BE49-F238E27FC236}">
                  <a16:creationId xmlns:a16="http://schemas.microsoft.com/office/drawing/2014/main" id="{997CD35C-8533-F6E7-2E9C-9A6BE002131B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47" name="TextBox 58">
              <a:extLst>
                <a:ext uri="{FF2B5EF4-FFF2-40B4-BE49-F238E27FC236}">
                  <a16:creationId xmlns:a16="http://schemas.microsoft.com/office/drawing/2014/main" id="{8804FEAB-DFEF-FAA6-E5A4-AB7581187954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5</a:t>
              </a:r>
            </a:p>
          </p:txBody>
        </p:sp>
      </p:grpSp>
      <p:grpSp>
        <p:nvGrpSpPr>
          <p:cNvPr id="248" name="Group 59">
            <a:extLst>
              <a:ext uri="{FF2B5EF4-FFF2-40B4-BE49-F238E27FC236}">
                <a16:creationId xmlns:a16="http://schemas.microsoft.com/office/drawing/2014/main" id="{47F8A057-FB28-6C84-50C4-CAFCAFF93D77}"/>
              </a:ext>
            </a:extLst>
          </p:cNvPr>
          <p:cNvGrpSpPr/>
          <p:nvPr/>
        </p:nvGrpSpPr>
        <p:grpSpPr>
          <a:xfrm>
            <a:off x="6739890" y="1029762"/>
            <a:ext cx="1889760" cy="457200"/>
            <a:chOff x="0" y="0"/>
            <a:chExt cx="5039360" cy="1219200"/>
          </a:xfrm>
        </p:grpSpPr>
        <p:sp>
          <p:nvSpPr>
            <p:cNvPr id="249" name="Freeform 60">
              <a:extLst>
                <a:ext uri="{FF2B5EF4-FFF2-40B4-BE49-F238E27FC236}">
                  <a16:creationId xmlns:a16="http://schemas.microsoft.com/office/drawing/2014/main" id="{5CE4E807-4335-31E6-3B5B-CBF9AACFEFE0}"/>
                </a:ext>
              </a:extLst>
            </p:cNvPr>
            <p:cNvSpPr/>
            <p:nvPr/>
          </p:nvSpPr>
          <p:spPr>
            <a:xfrm>
              <a:off x="0" y="0"/>
              <a:ext cx="5039360" cy="1219200"/>
            </a:xfrm>
            <a:custGeom>
              <a:avLst/>
              <a:gdLst/>
              <a:ahLst/>
              <a:cxnLst/>
              <a:rect l="l" t="t" r="r" b="b"/>
              <a:pathLst>
                <a:path w="5039360" h="1219200">
                  <a:moveTo>
                    <a:pt x="0" y="0"/>
                  </a:moveTo>
                  <a:lnTo>
                    <a:pt x="5039360" y="0"/>
                  </a:lnTo>
                  <a:lnTo>
                    <a:pt x="503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50" name="TextBox 61">
              <a:extLst>
                <a:ext uri="{FF2B5EF4-FFF2-40B4-BE49-F238E27FC236}">
                  <a16:creationId xmlns:a16="http://schemas.microsoft.com/office/drawing/2014/main" id="{1D061902-02BE-CC16-1BC8-AD7B287D748C}"/>
                </a:ext>
              </a:extLst>
            </p:cNvPr>
            <p:cNvSpPr txBox="1"/>
            <p:nvPr/>
          </p:nvSpPr>
          <p:spPr>
            <a:xfrm>
              <a:off x="0" y="0"/>
              <a:ext cx="50393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온도 계열</a:t>
              </a:r>
            </a:p>
          </p:txBody>
        </p:sp>
      </p:grpSp>
      <p:grpSp>
        <p:nvGrpSpPr>
          <p:cNvPr id="251" name="Group 62">
            <a:extLst>
              <a:ext uri="{FF2B5EF4-FFF2-40B4-BE49-F238E27FC236}">
                <a16:creationId xmlns:a16="http://schemas.microsoft.com/office/drawing/2014/main" id="{796B5A8F-1ACB-94C2-3C0C-C09A8ACBDD73}"/>
              </a:ext>
            </a:extLst>
          </p:cNvPr>
          <p:cNvGrpSpPr/>
          <p:nvPr/>
        </p:nvGrpSpPr>
        <p:grpSpPr>
          <a:xfrm>
            <a:off x="6165995" y="1518804"/>
            <a:ext cx="2399029" cy="6349"/>
            <a:chOff x="0" y="0"/>
            <a:chExt cx="6397409" cy="16929"/>
          </a:xfrm>
        </p:grpSpPr>
        <p:sp>
          <p:nvSpPr>
            <p:cNvPr id="252" name="Freeform 63">
              <a:extLst>
                <a:ext uri="{FF2B5EF4-FFF2-40B4-BE49-F238E27FC236}">
                  <a16:creationId xmlns:a16="http://schemas.microsoft.com/office/drawing/2014/main" id="{9C6DAB1D-E4BF-5ED9-2232-196A2EA6FDA2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sp>
        <p:nvSpPr>
          <p:cNvPr id="253" name="TextBox 64">
            <a:extLst>
              <a:ext uri="{FF2B5EF4-FFF2-40B4-BE49-F238E27FC236}">
                <a16:creationId xmlns:a16="http://schemas.microsoft.com/office/drawing/2014/main" id="{D420B0B6-5E42-B7B3-C12B-0E8D4402CCC2}"/>
              </a:ext>
            </a:extLst>
          </p:cNvPr>
          <p:cNvSpPr txBox="1"/>
          <p:nvPr/>
        </p:nvSpPr>
        <p:spPr>
          <a:xfrm>
            <a:off x="6223935" y="1561643"/>
            <a:ext cx="2392680" cy="62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temp_mean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표준편차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(std)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최대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(max)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범위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(range)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절대이탈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mean_absz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</p:txBody>
      </p:sp>
      <p:grpSp>
        <p:nvGrpSpPr>
          <p:cNvPr id="254" name="Group 65">
            <a:extLst>
              <a:ext uri="{FF2B5EF4-FFF2-40B4-BE49-F238E27FC236}">
                <a16:creationId xmlns:a16="http://schemas.microsoft.com/office/drawing/2014/main" id="{BE682E98-E720-BC0D-CF2E-B8CDA4734B13}"/>
              </a:ext>
            </a:extLst>
          </p:cNvPr>
          <p:cNvGrpSpPr/>
          <p:nvPr/>
        </p:nvGrpSpPr>
        <p:grpSpPr>
          <a:xfrm>
            <a:off x="412786" y="2636784"/>
            <a:ext cx="2656347" cy="1544176"/>
            <a:chOff x="0" y="0"/>
            <a:chExt cx="7377011" cy="4288371"/>
          </a:xfrm>
        </p:grpSpPr>
        <p:sp>
          <p:nvSpPr>
            <p:cNvPr id="255" name="Freeform 66">
              <a:extLst>
                <a:ext uri="{FF2B5EF4-FFF2-40B4-BE49-F238E27FC236}">
                  <a16:creationId xmlns:a16="http://schemas.microsoft.com/office/drawing/2014/main" id="{19F5DB09-3ADB-7BF9-736F-2AC417D3A41F}"/>
                </a:ext>
              </a:extLst>
            </p:cNvPr>
            <p:cNvSpPr/>
            <p:nvPr/>
          </p:nvSpPr>
          <p:spPr>
            <a:xfrm>
              <a:off x="0" y="0"/>
              <a:ext cx="7376922" cy="4288282"/>
            </a:xfrm>
            <a:custGeom>
              <a:avLst/>
              <a:gdLst/>
              <a:ahLst/>
              <a:cxnLst/>
              <a:rect l="l" t="t" r="r" b="b"/>
              <a:pathLst>
                <a:path w="7376922" h="4288282">
                  <a:moveTo>
                    <a:pt x="0" y="85725"/>
                  </a:moveTo>
                  <a:cubicBezTo>
                    <a:pt x="0" y="38354"/>
                    <a:pt x="38354" y="0"/>
                    <a:pt x="85725" y="0"/>
                  </a:cubicBezTo>
                  <a:lnTo>
                    <a:pt x="7291197" y="0"/>
                  </a:lnTo>
                  <a:cubicBezTo>
                    <a:pt x="7338568" y="0"/>
                    <a:pt x="7376922" y="38354"/>
                    <a:pt x="7376922" y="85725"/>
                  </a:cubicBezTo>
                  <a:lnTo>
                    <a:pt x="7376922" y="4202557"/>
                  </a:lnTo>
                  <a:cubicBezTo>
                    <a:pt x="7376922" y="4249928"/>
                    <a:pt x="7338568" y="4288282"/>
                    <a:pt x="7291197" y="4288282"/>
                  </a:cubicBezTo>
                  <a:lnTo>
                    <a:pt x="85725" y="4288282"/>
                  </a:lnTo>
                  <a:cubicBezTo>
                    <a:pt x="38354" y="4288282"/>
                    <a:pt x="0" y="4249928"/>
                    <a:pt x="0" y="420255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56" name="Group 67">
            <a:extLst>
              <a:ext uri="{FF2B5EF4-FFF2-40B4-BE49-F238E27FC236}">
                <a16:creationId xmlns:a16="http://schemas.microsoft.com/office/drawing/2014/main" id="{AB293073-3084-437F-CDAE-8EC47E1C0F33}"/>
              </a:ext>
            </a:extLst>
          </p:cNvPr>
          <p:cNvGrpSpPr/>
          <p:nvPr/>
        </p:nvGrpSpPr>
        <p:grpSpPr>
          <a:xfrm>
            <a:off x="504335" y="2780060"/>
            <a:ext cx="457200" cy="457200"/>
            <a:chOff x="0" y="0"/>
            <a:chExt cx="1219200" cy="1219200"/>
          </a:xfrm>
        </p:grpSpPr>
        <p:sp>
          <p:nvSpPr>
            <p:cNvPr id="257" name="Freeform 68">
              <a:extLst>
                <a:ext uri="{FF2B5EF4-FFF2-40B4-BE49-F238E27FC236}">
                  <a16:creationId xmlns:a16="http://schemas.microsoft.com/office/drawing/2014/main" id="{616337AF-5451-8B99-897B-41A4F93333A3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258" name="Group 69">
            <a:extLst>
              <a:ext uri="{FF2B5EF4-FFF2-40B4-BE49-F238E27FC236}">
                <a16:creationId xmlns:a16="http://schemas.microsoft.com/office/drawing/2014/main" id="{FB2044FC-597C-1D1A-DCC8-E690E42FE48D}"/>
              </a:ext>
            </a:extLst>
          </p:cNvPr>
          <p:cNvGrpSpPr/>
          <p:nvPr/>
        </p:nvGrpSpPr>
        <p:grpSpPr>
          <a:xfrm>
            <a:off x="504335" y="2780060"/>
            <a:ext cx="457200" cy="457200"/>
            <a:chOff x="0" y="0"/>
            <a:chExt cx="1219200" cy="1219200"/>
          </a:xfrm>
        </p:grpSpPr>
        <p:sp>
          <p:nvSpPr>
            <p:cNvPr id="259" name="Freeform 70">
              <a:extLst>
                <a:ext uri="{FF2B5EF4-FFF2-40B4-BE49-F238E27FC236}">
                  <a16:creationId xmlns:a16="http://schemas.microsoft.com/office/drawing/2014/main" id="{4A4060A9-C8A9-6E95-8E07-6C2950CD6A15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60" name="TextBox 71">
              <a:extLst>
                <a:ext uri="{FF2B5EF4-FFF2-40B4-BE49-F238E27FC236}">
                  <a16:creationId xmlns:a16="http://schemas.microsoft.com/office/drawing/2014/main" id="{AD7D7A09-CCB2-5597-41F3-7494A0A816CB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5</a:t>
              </a:r>
            </a:p>
          </p:txBody>
        </p:sp>
      </p:grpSp>
      <p:grpSp>
        <p:nvGrpSpPr>
          <p:cNvPr id="261" name="Group 72">
            <a:extLst>
              <a:ext uri="{FF2B5EF4-FFF2-40B4-BE49-F238E27FC236}">
                <a16:creationId xmlns:a16="http://schemas.microsoft.com/office/drawing/2014/main" id="{CE2FAA47-3635-921C-22AA-7606F3C33E56}"/>
              </a:ext>
            </a:extLst>
          </p:cNvPr>
          <p:cNvGrpSpPr/>
          <p:nvPr/>
        </p:nvGrpSpPr>
        <p:grpSpPr>
          <a:xfrm>
            <a:off x="1052975" y="2780060"/>
            <a:ext cx="1889760" cy="457200"/>
            <a:chOff x="0" y="0"/>
            <a:chExt cx="5039360" cy="1219200"/>
          </a:xfrm>
        </p:grpSpPr>
        <p:sp>
          <p:nvSpPr>
            <p:cNvPr id="262" name="Freeform 73">
              <a:extLst>
                <a:ext uri="{FF2B5EF4-FFF2-40B4-BE49-F238E27FC236}">
                  <a16:creationId xmlns:a16="http://schemas.microsoft.com/office/drawing/2014/main" id="{04DB3BC9-1A3A-7F13-C4CD-6E8FC9AA54C3}"/>
                </a:ext>
              </a:extLst>
            </p:cNvPr>
            <p:cNvSpPr/>
            <p:nvPr/>
          </p:nvSpPr>
          <p:spPr>
            <a:xfrm>
              <a:off x="0" y="0"/>
              <a:ext cx="5039360" cy="1219200"/>
            </a:xfrm>
            <a:custGeom>
              <a:avLst/>
              <a:gdLst/>
              <a:ahLst/>
              <a:cxnLst/>
              <a:rect l="l" t="t" r="r" b="b"/>
              <a:pathLst>
                <a:path w="5039360" h="1219200">
                  <a:moveTo>
                    <a:pt x="0" y="0"/>
                  </a:moveTo>
                  <a:lnTo>
                    <a:pt x="5039360" y="0"/>
                  </a:lnTo>
                  <a:lnTo>
                    <a:pt x="503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63" name="TextBox 74">
              <a:extLst>
                <a:ext uri="{FF2B5EF4-FFF2-40B4-BE49-F238E27FC236}">
                  <a16:creationId xmlns:a16="http://schemas.microsoft.com/office/drawing/2014/main" id="{BB25A5A9-77F7-B819-A74C-3CDC66BAD9DD}"/>
                </a:ext>
              </a:extLst>
            </p:cNvPr>
            <p:cNvSpPr txBox="1"/>
            <p:nvPr/>
          </p:nvSpPr>
          <p:spPr>
            <a:xfrm>
              <a:off x="0" y="0"/>
              <a:ext cx="50393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전력 계열</a:t>
              </a:r>
            </a:p>
          </p:txBody>
        </p:sp>
      </p:grpSp>
      <p:grpSp>
        <p:nvGrpSpPr>
          <p:cNvPr id="264" name="Group 75">
            <a:extLst>
              <a:ext uri="{FF2B5EF4-FFF2-40B4-BE49-F238E27FC236}">
                <a16:creationId xmlns:a16="http://schemas.microsoft.com/office/drawing/2014/main" id="{16A953A7-5C72-6F96-B880-F0062018E04C}"/>
              </a:ext>
            </a:extLst>
          </p:cNvPr>
          <p:cNvGrpSpPr/>
          <p:nvPr/>
        </p:nvGrpSpPr>
        <p:grpSpPr>
          <a:xfrm>
            <a:off x="504335" y="3256164"/>
            <a:ext cx="2399029" cy="6349"/>
            <a:chOff x="0" y="0"/>
            <a:chExt cx="6397409" cy="16929"/>
          </a:xfrm>
        </p:grpSpPr>
        <p:sp>
          <p:nvSpPr>
            <p:cNvPr id="265" name="Freeform 76">
              <a:extLst>
                <a:ext uri="{FF2B5EF4-FFF2-40B4-BE49-F238E27FC236}">
                  <a16:creationId xmlns:a16="http://schemas.microsoft.com/office/drawing/2014/main" id="{3270A248-3370-A0C9-44F9-B5396CE85D89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sp>
        <p:nvSpPr>
          <p:cNvPr id="266" name="TextBox 77">
            <a:extLst>
              <a:ext uri="{FF2B5EF4-FFF2-40B4-BE49-F238E27FC236}">
                <a16:creationId xmlns:a16="http://schemas.microsoft.com/office/drawing/2014/main" id="{037F6FA0-1029-D888-30A4-58B6AAAD9F47}"/>
              </a:ext>
            </a:extLst>
          </p:cNvPr>
          <p:cNvSpPr txBox="1"/>
          <p:nvPr/>
        </p:nvSpPr>
        <p:spPr>
          <a:xfrm>
            <a:off x="550055" y="3365847"/>
            <a:ext cx="2392680" cy="75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3"/>
              </a:lnSpc>
            </a:pP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평균 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(power_mean)</a:t>
            </a:r>
          </a:p>
          <a:p>
            <a:pPr>
              <a:lnSpc>
                <a:spcPts val="1013"/>
              </a:lnSpc>
            </a:pP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표준편차 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(std)</a:t>
            </a:r>
          </a:p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·최대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(max)</a:t>
            </a:r>
          </a:p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·범위 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(range)</a:t>
            </a:r>
          </a:p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·평균 절대이탈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(mean_absz)</a:t>
            </a:r>
          </a:p>
          <a:p>
            <a:pPr>
              <a:lnSpc>
                <a:spcPts val="1013"/>
              </a:lnSpc>
            </a:pPr>
            <a:endParaRPr lang="en-US" sz="675">
              <a:solidFill>
                <a:srgbClr val="8A8F7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grpSp>
        <p:nvGrpSpPr>
          <p:cNvPr id="267" name="Group 78">
            <a:extLst>
              <a:ext uri="{FF2B5EF4-FFF2-40B4-BE49-F238E27FC236}">
                <a16:creationId xmlns:a16="http://schemas.microsoft.com/office/drawing/2014/main" id="{200E7F6A-21B9-8AB5-7918-5950B07CEDDF}"/>
              </a:ext>
            </a:extLst>
          </p:cNvPr>
          <p:cNvGrpSpPr/>
          <p:nvPr/>
        </p:nvGrpSpPr>
        <p:grpSpPr>
          <a:xfrm>
            <a:off x="3215159" y="2641357"/>
            <a:ext cx="2656347" cy="1544176"/>
            <a:chOff x="0" y="0"/>
            <a:chExt cx="7377011" cy="4288371"/>
          </a:xfrm>
        </p:grpSpPr>
        <p:sp>
          <p:nvSpPr>
            <p:cNvPr id="268" name="Freeform 79">
              <a:extLst>
                <a:ext uri="{FF2B5EF4-FFF2-40B4-BE49-F238E27FC236}">
                  <a16:creationId xmlns:a16="http://schemas.microsoft.com/office/drawing/2014/main" id="{6ED23D62-13B3-7703-9AE9-4FCB449A805F}"/>
                </a:ext>
              </a:extLst>
            </p:cNvPr>
            <p:cNvSpPr/>
            <p:nvPr/>
          </p:nvSpPr>
          <p:spPr>
            <a:xfrm>
              <a:off x="0" y="0"/>
              <a:ext cx="7376922" cy="4288282"/>
            </a:xfrm>
            <a:custGeom>
              <a:avLst/>
              <a:gdLst/>
              <a:ahLst/>
              <a:cxnLst/>
              <a:rect l="l" t="t" r="r" b="b"/>
              <a:pathLst>
                <a:path w="7376922" h="4288282">
                  <a:moveTo>
                    <a:pt x="0" y="85725"/>
                  </a:moveTo>
                  <a:cubicBezTo>
                    <a:pt x="0" y="38354"/>
                    <a:pt x="38354" y="0"/>
                    <a:pt x="85725" y="0"/>
                  </a:cubicBezTo>
                  <a:lnTo>
                    <a:pt x="7291197" y="0"/>
                  </a:lnTo>
                  <a:cubicBezTo>
                    <a:pt x="7338568" y="0"/>
                    <a:pt x="7376922" y="38354"/>
                    <a:pt x="7376922" y="85725"/>
                  </a:cubicBezTo>
                  <a:lnTo>
                    <a:pt x="7376922" y="4202557"/>
                  </a:lnTo>
                  <a:cubicBezTo>
                    <a:pt x="7376922" y="4249928"/>
                    <a:pt x="7338568" y="4288282"/>
                    <a:pt x="7291197" y="4288282"/>
                  </a:cubicBezTo>
                  <a:lnTo>
                    <a:pt x="85725" y="4288282"/>
                  </a:lnTo>
                  <a:cubicBezTo>
                    <a:pt x="38354" y="4288282"/>
                    <a:pt x="0" y="4249928"/>
                    <a:pt x="0" y="420255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69" name="Group 80">
            <a:extLst>
              <a:ext uri="{FF2B5EF4-FFF2-40B4-BE49-F238E27FC236}">
                <a16:creationId xmlns:a16="http://schemas.microsoft.com/office/drawing/2014/main" id="{27E68C74-58DF-9462-1A1B-97B6F26A4A31}"/>
              </a:ext>
            </a:extLst>
          </p:cNvPr>
          <p:cNvGrpSpPr/>
          <p:nvPr/>
        </p:nvGrpSpPr>
        <p:grpSpPr>
          <a:xfrm>
            <a:off x="3422795" y="2780060"/>
            <a:ext cx="457200" cy="457200"/>
            <a:chOff x="0" y="0"/>
            <a:chExt cx="1219200" cy="1219200"/>
          </a:xfrm>
        </p:grpSpPr>
        <p:sp>
          <p:nvSpPr>
            <p:cNvPr id="270" name="Freeform 81">
              <a:extLst>
                <a:ext uri="{FF2B5EF4-FFF2-40B4-BE49-F238E27FC236}">
                  <a16:creationId xmlns:a16="http://schemas.microsoft.com/office/drawing/2014/main" id="{CD307AC0-88CE-600F-7B0D-374CA24F3A36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71" name="Group 82">
            <a:extLst>
              <a:ext uri="{FF2B5EF4-FFF2-40B4-BE49-F238E27FC236}">
                <a16:creationId xmlns:a16="http://schemas.microsoft.com/office/drawing/2014/main" id="{C5452A47-5D6D-8454-247D-B2521F076CB4}"/>
              </a:ext>
            </a:extLst>
          </p:cNvPr>
          <p:cNvGrpSpPr/>
          <p:nvPr/>
        </p:nvGrpSpPr>
        <p:grpSpPr>
          <a:xfrm>
            <a:off x="3422795" y="2780060"/>
            <a:ext cx="457200" cy="457200"/>
            <a:chOff x="0" y="0"/>
            <a:chExt cx="1219200" cy="1219200"/>
          </a:xfrm>
        </p:grpSpPr>
        <p:sp>
          <p:nvSpPr>
            <p:cNvPr id="272" name="Freeform 83">
              <a:extLst>
                <a:ext uri="{FF2B5EF4-FFF2-40B4-BE49-F238E27FC236}">
                  <a16:creationId xmlns:a16="http://schemas.microsoft.com/office/drawing/2014/main" id="{58E99344-15D2-5EE2-AC40-E41FE4E1982F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3" name="TextBox 84">
              <a:extLst>
                <a:ext uri="{FF2B5EF4-FFF2-40B4-BE49-F238E27FC236}">
                  <a16:creationId xmlns:a16="http://schemas.microsoft.com/office/drawing/2014/main" id="{8FA6337B-B17F-05A2-4A1A-1205C6455E99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4</a:t>
              </a:r>
            </a:p>
          </p:txBody>
        </p:sp>
      </p:grpSp>
      <p:grpSp>
        <p:nvGrpSpPr>
          <p:cNvPr id="274" name="Group 85">
            <a:extLst>
              <a:ext uri="{FF2B5EF4-FFF2-40B4-BE49-F238E27FC236}">
                <a16:creationId xmlns:a16="http://schemas.microsoft.com/office/drawing/2014/main" id="{C225850E-69A7-6E1E-54A3-64FD5832BCA9}"/>
              </a:ext>
            </a:extLst>
          </p:cNvPr>
          <p:cNvGrpSpPr/>
          <p:nvPr/>
        </p:nvGrpSpPr>
        <p:grpSpPr>
          <a:xfrm>
            <a:off x="3971435" y="2780060"/>
            <a:ext cx="1889760" cy="457200"/>
            <a:chOff x="0" y="0"/>
            <a:chExt cx="5039360" cy="1219200"/>
          </a:xfrm>
        </p:grpSpPr>
        <p:sp>
          <p:nvSpPr>
            <p:cNvPr id="275" name="Freeform 86">
              <a:extLst>
                <a:ext uri="{FF2B5EF4-FFF2-40B4-BE49-F238E27FC236}">
                  <a16:creationId xmlns:a16="http://schemas.microsoft.com/office/drawing/2014/main" id="{53C600F6-4EC2-A772-0CC5-49C5E8354CC8}"/>
                </a:ext>
              </a:extLst>
            </p:cNvPr>
            <p:cNvSpPr/>
            <p:nvPr/>
          </p:nvSpPr>
          <p:spPr>
            <a:xfrm>
              <a:off x="0" y="0"/>
              <a:ext cx="5039360" cy="1219200"/>
            </a:xfrm>
            <a:custGeom>
              <a:avLst/>
              <a:gdLst/>
              <a:ahLst/>
              <a:cxnLst/>
              <a:rect l="l" t="t" r="r" b="b"/>
              <a:pathLst>
                <a:path w="5039360" h="1219200">
                  <a:moveTo>
                    <a:pt x="0" y="0"/>
                  </a:moveTo>
                  <a:lnTo>
                    <a:pt x="5039360" y="0"/>
                  </a:lnTo>
                  <a:lnTo>
                    <a:pt x="503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76" name="TextBox 87">
              <a:extLst>
                <a:ext uri="{FF2B5EF4-FFF2-40B4-BE49-F238E27FC236}">
                  <a16:creationId xmlns:a16="http://schemas.microsoft.com/office/drawing/2014/main" id="{AD72D0B6-EF4A-70A6-188B-09B8FB71F97B}"/>
                </a:ext>
              </a:extLst>
            </p:cNvPr>
            <p:cNvSpPr txBox="1"/>
            <p:nvPr/>
          </p:nvSpPr>
          <p:spPr>
            <a:xfrm>
              <a:off x="0" y="0"/>
              <a:ext cx="50393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고온 구간</a:t>
              </a:r>
            </a:p>
          </p:txBody>
        </p:sp>
      </p:grpSp>
      <p:grpSp>
        <p:nvGrpSpPr>
          <p:cNvPr id="277" name="Group 88">
            <a:extLst>
              <a:ext uri="{FF2B5EF4-FFF2-40B4-BE49-F238E27FC236}">
                <a16:creationId xmlns:a16="http://schemas.microsoft.com/office/drawing/2014/main" id="{D6D99375-ADB1-83B2-159C-7932AD7FBD2C}"/>
              </a:ext>
            </a:extLst>
          </p:cNvPr>
          <p:cNvGrpSpPr/>
          <p:nvPr/>
        </p:nvGrpSpPr>
        <p:grpSpPr>
          <a:xfrm>
            <a:off x="3384695" y="3271404"/>
            <a:ext cx="2399029" cy="6349"/>
            <a:chOff x="0" y="0"/>
            <a:chExt cx="6397409" cy="16929"/>
          </a:xfrm>
        </p:grpSpPr>
        <p:sp>
          <p:nvSpPr>
            <p:cNvPr id="278" name="Freeform 89">
              <a:extLst>
                <a:ext uri="{FF2B5EF4-FFF2-40B4-BE49-F238E27FC236}">
                  <a16:creationId xmlns:a16="http://schemas.microsoft.com/office/drawing/2014/main" id="{50662AF5-7B15-358E-4A9E-2BB39AAAFBB1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sp>
        <p:nvSpPr>
          <p:cNvPr id="279" name="TextBox 90">
            <a:extLst>
              <a:ext uri="{FF2B5EF4-FFF2-40B4-BE49-F238E27FC236}">
                <a16:creationId xmlns:a16="http://schemas.microsoft.com/office/drawing/2014/main" id="{AA701A28-5994-17C3-384B-84E02143E081}"/>
              </a:ext>
            </a:extLst>
          </p:cNvPr>
          <p:cNvSpPr txBox="1"/>
          <p:nvPr/>
        </p:nvSpPr>
        <p:spPr>
          <a:xfrm>
            <a:off x="3468515" y="3380623"/>
            <a:ext cx="2392680" cy="63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고온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전류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hot_amp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고온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전압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hot_volt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고온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전류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hot_amp_absz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고온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전압</a:t>
            </a:r>
            <a:r>
              <a:rPr lang="en-US" sz="675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</a:t>
            </a:r>
            <a:r>
              <a:rPr lang="en-US" sz="675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이탈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</a:t>
            </a:r>
            <a:r>
              <a:rPr lang="en-US" sz="675" dirty="0" err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hot_volt_absz</a:t>
            </a:r>
            <a:r>
              <a:rPr lang="en-US" sz="675" dirty="0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)</a:t>
            </a:r>
          </a:p>
          <a:p>
            <a:pPr>
              <a:lnSpc>
                <a:spcPts val="1013"/>
              </a:lnSpc>
            </a:pPr>
            <a:endParaRPr lang="en-US" sz="675" dirty="0">
              <a:solidFill>
                <a:srgbClr val="8A8F7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grpSp>
        <p:nvGrpSpPr>
          <p:cNvPr id="280" name="Group 91">
            <a:extLst>
              <a:ext uri="{FF2B5EF4-FFF2-40B4-BE49-F238E27FC236}">
                <a16:creationId xmlns:a16="http://schemas.microsoft.com/office/drawing/2014/main" id="{28354683-96B7-921C-21C9-E9C03F8DE4CF}"/>
              </a:ext>
            </a:extLst>
          </p:cNvPr>
          <p:cNvGrpSpPr/>
          <p:nvPr/>
        </p:nvGrpSpPr>
        <p:grpSpPr>
          <a:xfrm>
            <a:off x="6017542" y="2636784"/>
            <a:ext cx="2656347" cy="1544176"/>
            <a:chOff x="0" y="0"/>
            <a:chExt cx="7377011" cy="4288371"/>
          </a:xfrm>
        </p:grpSpPr>
        <p:sp>
          <p:nvSpPr>
            <p:cNvPr id="281" name="Freeform 92">
              <a:extLst>
                <a:ext uri="{FF2B5EF4-FFF2-40B4-BE49-F238E27FC236}">
                  <a16:creationId xmlns:a16="http://schemas.microsoft.com/office/drawing/2014/main" id="{D1ED6C5A-5B93-0809-5A03-2EF119C7F344}"/>
                </a:ext>
              </a:extLst>
            </p:cNvPr>
            <p:cNvSpPr/>
            <p:nvPr/>
          </p:nvSpPr>
          <p:spPr>
            <a:xfrm>
              <a:off x="0" y="0"/>
              <a:ext cx="7376922" cy="4288282"/>
            </a:xfrm>
            <a:custGeom>
              <a:avLst/>
              <a:gdLst/>
              <a:ahLst/>
              <a:cxnLst/>
              <a:rect l="l" t="t" r="r" b="b"/>
              <a:pathLst>
                <a:path w="7376922" h="4288282">
                  <a:moveTo>
                    <a:pt x="0" y="85725"/>
                  </a:moveTo>
                  <a:cubicBezTo>
                    <a:pt x="0" y="38354"/>
                    <a:pt x="38354" y="0"/>
                    <a:pt x="85725" y="0"/>
                  </a:cubicBezTo>
                  <a:lnTo>
                    <a:pt x="7291197" y="0"/>
                  </a:lnTo>
                  <a:cubicBezTo>
                    <a:pt x="7338568" y="0"/>
                    <a:pt x="7376922" y="38354"/>
                    <a:pt x="7376922" y="85725"/>
                  </a:cubicBezTo>
                  <a:lnTo>
                    <a:pt x="7376922" y="4202557"/>
                  </a:lnTo>
                  <a:cubicBezTo>
                    <a:pt x="7376922" y="4249928"/>
                    <a:pt x="7338568" y="4288282"/>
                    <a:pt x="7291197" y="4288282"/>
                  </a:cubicBezTo>
                  <a:lnTo>
                    <a:pt x="85725" y="4288282"/>
                  </a:lnTo>
                  <a:cubicBezTo>
                    <a:pt x="38354" y="4288282"/>
                    <a:pt x="0" y="4249928"/>
                    <a:pt x="0" y="4202557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82" name="Group 93">
            <a:extLst>
              <a:ext uri="{FF2B5EF4-FFF2-40B4-BE49-F238E27FC236}">
                <a16:creationId xmlns:a16="http://schemas.microsoft.com/office/drawing/2014/main" id="{CFF6DC3E-E225-073A-46E5-EA67F5197999}"/>
              </a:ext>
            </a:extLst>
          </p:cNvPr>
          <p:cNvGrpSpPr/>
          <p:nvPr/>
        </p:nvGrpSpPr>
        <p:grpSpPr>
          <a:xfrm>
            <a:off x="6191250" y="2780060"/>
            <a:ext cx="457200" cy="457200"/>
            <a:chOff x="0" y="0"/>
            <a:chExt cx="1219200" cy="1219200"/>
          </a:xfrm>
        </p:grpSpPr>
        <p:sp>
          <p:nvSpPr>
            <p:cNvPr id="283" name="Freeform 94">
              <a:extLst>
                <a:ext uri="{FF2B5EF4-FFF2-40B4-BE49-F238E27FC236}">
                  <a16:creationId xmlns:a16="http://schemas.microsoft.com/office/drawing/2014/main" id="{38B71AEF-B1C5-3E56-D066-4D1FAAEDD903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grpSp>
        <p:nvGrpSpPr>
          <p:cNvPr id="284" name="Group 95">
            <a:extLst>
              <a:ext uri="{FF2B5EF4-FFF2-40B4-BE49-F238E27FC236}">
                <a16:creationId xmlns:a16="http://schemas.microsoft.com/office/drawing/2014/main" id="{3EF132EB-D5E0-D710-CC3D-BDFB5073020E}"/>
              </a:ext>
            </a:extLst>
          </p:cNvPr>
          <p:cNvGrpSpPr/>
          <p:nvPr/>
        </p:nvGrpSpPr>
        <p:grpSpPr>
          <a:xfrm>
            <a:off x="6191250" y="2780060"/>
            <a:ext cx="457200" cy="457200"/>
            <a:chOff x="0" y="0"/>
            <a:chExt cx="1219200" cy="1219200"/>
          </a:xfrm>
        </p:grpSpPr>
        <p:sp>
          <p:nvSpPr>
            <p:cNvPr id="285" name="Freeform 96">
              <a:extLst>
                <a:ext uri="{FF2B5EF4-FFF2-40B4-BE49-F238E27FC236}">
                  <a16:creationId xmlns:a16="http://schemas.microsoft.com/office/drawing/2014/main" id="{D602A1A3-B8B9-478D-B569-6306A6688F62}"/>
                </a:ext>
              </a:extLst>
            </p:cNvPr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86" name="TextBox 97">
              <a:extLst>
                <a:ext uri="{FF2B5EF4-FFF2-40B4-BE49-F238E27FC236}">
                  <a16:creationId xmlns:a16="http://schemas.microsoft.com/office/drawing/2014/main" id="{BE0AC9EF-7096-379B-C1C1-A4B1F2FC61D9}"/>
                </a:ext>
              </a:extLst>
            </p:cNvPr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4</a:t>
              </a:r>
            </a:p>
          </p:txBody>
        </p:sp>
      </p:grpSp>
      <p:grpSp>
        <p:nvGrpSpPr>
          <p:cNvPr id="287" name="Group 98">
            <a:extLst>
              <a:ext uri="{FF2B5EF4-FFF2-40B4-BE49-F238E27FC236}">
                <a16:creationId xmlns:a16="http://schemas.microsoft.com/office/drawing/2014/main" id="{2516CB88-FA8E-16D1-3D2B-ADA19F788DF6}"/>
              </a:ext>
            </a:extLst>
          </p:cNvPr>
          <p:cNvGrpSpPr/>
          <p:nvPr/>
        </p:nvGrpSpPr>
        <p:grpSpPr>
          <a:xfrm>
            <a:off x="6739890" y="2780060"/>
            <a:ext cx="1889760" cy="457200"/>
            <a:chOff x="0" y="0"/>
            <a:chExt cx="5039360" cy="1219200"/>
          </a:xfrm>
        </p:grpSpPr>
        <p:sp>
          <p:nvSpPr>
            <p:cNvPr id="288" name="Freeform 99">
              <a:extLst>
                <a:ext uri="{FF2B5EF4-FFF2-40B4-BE49-F238E27FC236}">
                  <a16:creationId xmlns:a16="http://schemas.microsoft.com/office/drawing/2014/main" id="{151FAA7F-5640-8C9F-6E5E-175F8610F7C5}"/>
                </a:ext>
              </a:extLst>
            </p:cNvPr>
            <p:cNvSpPr/>
            <p:nvPr/>
          </p:nvSpPr>
          <p:spPr>
            <a:xfrm>
              <a:off x="0" y="0"/>
              <a:ext cx="5039360" cy="1219200"/>
            </a:xfrm>
            <a:custGeom>
              <a:avLst/>
              <a:gdLst/>
              <a:ahLst/>
              <a:cxnLst/>
              <a:rect l="l" t="t" r="r" b="b"/>
              <a:pathLst>
                <a:path w="5039360" h="1219200">
                  <a:moveTo>
                    <a:pt x="0" y="0"/>
                  </a:moveTo>
                  <a:lnTo>
                    <a:pt x="5039360" y="0"/>
                  </a:lnTo>
                  <a:lnTo>
                    <a:pt x="50393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538" b="-30538"/>
              </a:stretch>
            </a:blipFill>
          </p:spPr>
        </p:sp>
        <p:sp>
          <p:nvSpPr>
            <p:cNvPr id="289" name="TextBox 100">
              <a:extLst>
                <a:ext uri="{FF2B5EF4-FFF2-40B4-BE49-F238E27FC236}">
                  <a16:creationId xmlns:a16="http://schemas.microsoft.com/office/drawing/2014/main" id="{75DDDFC0-C43B-BE18-FE8D-121B334BF5E6}"/>
                </a:ext>
              </a:extLst>
            </p:cNvPr>
            <p:cNvSpPr txBox="1"/>
            <p:nvPr/>
          </p:nvSpPr>
          <p:spPr>
            <a:xfrm>
              <a:off x="0" y="0"/>
              <a:ext cx="50393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40"/>
                </a:lnSpc>
              </a:pPr>
              <a:r>
                <a:rPr lang="en-US" sz="12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구간 · 이탈</a:t>
              </a:r>
            </a:p>
          </p:txBody>
        </p:sp>
      </p:grpSp>
      <p:grpSp>
        <p:nvGrpSpPr>
          <p:cNvPr id="290" name="Group 101">
            <a:extLst>
              <a:ext uri="{FF2B5EF4-FFF2-40B4-BE49-F238E27FC236}">
                <a16:creationId xmlns:a16="http://schemas.microsoft.com/office/drawing/2014/main" id="{67B831C9-A510-31FF-AC84-EDA4AC13F9A4}"/>
              </a:ext>
            </a:extLst>
          </p:cNvPr>
          <p:cNvGrpSpPr/>
          <p:nvPr/>
        </p:nvGrpSpPr>
        <p:grpSpPr>
          <a:xfrm>
            <a:off x="6158375" y="3279024"/>
            <a:ext cx="2399029" cy="6349"/>
            <a:chOff x="0" y="0"/>
            <a:chExt cx="6397409" cy="16929"/>
          </a:xfrm>
        </p:grpSpPr>
        <p:sp>
          <p:nvSpPr>
            <p:cNvPr id="291" name="Freeform 102">
              <a:extLst>
                <a:ext uri="{FF2B5EF4-FFF2-40B4-BE49-F238E27FC236}">
                  <a16:creationId xmlns:a16="http://schemas.microsoft.com/office/drawing/2014/main" id="{B7AD21E9-CBFE-5E4A-D9E3-A13DC3C5CB59}"/>
                </a:ext>
              </a:extLst>
            </p:cNvPr>
            <p:cNvSpPr/>
            <p:nvPr/>
          </p:nvSpPr>
          <p:spPr>
            <a:xfrm>
              <a:off x="0" y="0"/>
              <a:ext cx="6397371" cy="16891"/>
            </a:xfrm>
            <a:custGeom>
              <a:avLst/>
              <a:gdLst/>
              <a:ahLst/>
              <a:cxnLst/>
              <a:rect l="l" t="t" r="r" b="b"/>
              <a:pathLst>
                <a:path w="6397371" h="16891">
                  <a:moveTo>
                    <a:pt x="0" y="0"/>
                  </a:moveTo>
                  <a:lnTo>
                    <a:pt x="6397371" y="16891"/>
                  </a:lnTo>
                </a:path>
              </a:pathLst>
            </a:custGeom>
            <a:blipFill>
              <a:blip r:embed="rId8">
                <a:alphaModFix amt="0"/>
              </a:blip>
              <a:stretch>
                <a:fillRect t="-7329779" b="-7330004"/>
              </a:stretch>
            </a:blipFill>
            <a:ln w="12700" cap="sq">
              <a:solidFill>
                <a:srgbClr val="EDEFE3"/>
              </a:solidFill>
              <a:prstDash val="solid"/>
              <a:miter/>
            </a:ln>
          </p:spPr>
        </p:sp>
      </p:grpSp>
      <p:sp>
        <p:nvSpPr>
          <p:cNvPr id="292" name="TextBox 103">
            <a:extLst>
              <a:ext uri="{FF2B5EF4-FFF2-40B4-BE49-F238E27FC236}">
                <a16:creationId xmlns:a16="http://schemas.microsoft.com/office/drawing/2014/main" id="{048C151B-128E-C2D6-69C0-7D41CBD534E1}"/>
              </a:ext>
            </a:extLst>
          </p:cNvPr>
          <p:cNvSpPr txBox="1"/>
          <p:nvPr/>
        </p:nvSpPr>
        <p:spPr>
          <a:xfrm>
            <a:off x="6236970" y="3365847"/>
            <a:ext cx="2392680" cy="630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·급락 런 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(drop_run)</a:t>
            </a:r>
          </a:p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·구간 내 최대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(within_max)</a:t>
            </a:r>
          </a:p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·이탈 횟수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(n_dev)</a:t>
            </a:r>
          </a:p>
          <a:p>
            <a:pPr>
              <a:lnSpc>
                <a:spcPts val="1013"/>
              </a:lnSpc>
            </a:pPr>
            <a:r>
              <a:rPr lang="en-US" sz="675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·최초 이탈 위치</a:t>
            </a:r>
            <a:r>
              <a:rPr lang="en-US" sz="675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 (first_exit_pos)</a:t>
            </a:r>
          </a:p>
          <a:p>
            <a:pPr>
              <a:lnSpc>
                <a:spcPts val="1013"/>
              </a:lnSpc>
            </a:pPr>
            <a:endParaRPr lang="en-US" sz="675">
              <a:solidFill>
                <a:srgbClr val="8A8F7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grpSp>
        <p:nvGrpSpPr>
          <p:cNvPr id="293" name="Group 104">
            <a:extLst>
              <a:ext uri="{FF2B5EF4-FFF2-40B4-BE49-F238E27FC236}">
                <a16:creationId xmlns:a16="http://schemas.microsoft.com/office/drawing/2014/main" id="{D842D401-0358-FA69-571B-C1D93EB7B847}"/>
              </a:ext>
            </a:extLst>
          </p:cNvPr>
          <p:cNvGrpSpPr/>
          <p:nvPr/>
        </p:nvGrpSpPr>
        <p:grpSpPr>
          <a:xfrm>
            <a:off x="346391" y="4307134"/>
            <a:ext cx="8424987" cy="497220"/>
            <a:chOff x="0" y="0"/>
            <a:chExt cx="22466630" cy="1325918"/>
          </a:xfrm>
        </p:grpSpPr>
        <p:sp>
          <p:nvSpPr>
            <p:cNvPr id="294" name="Freeform 105">
              <a:extLst>
                <a:ext uri="{FF2B5EF4-FFF2-40B4-BE49-F238E27FC236}">
                  <a16:creationId xmlns:a16="http://schemas.microsoft.com/office/drawing/2014/main" id="{C68CBE60-2DF7-06E7-054D-62EE99B28EE6}"/>
                </a:ext>
              </a:extLst>
            </p:cNvPr>
            <p:cNvSpPr/>
            <p:nvPr/>
          </p:nvSpPr>
          <p:spPr>
            <a:xfrm>
              <a:off x="0" y="0"/>
              <a:ext cx="22466667" cy="1325918"/>
            </a:xfrm>
            <a:custGeom>
              <a:avLst/>
              <a:gdLst/>
              <a:ahLst/>
              <a:cxnLst/>
              <a:rect l="l" t="t" r="r" b="b"/>
              <a:pathLst>
                <a:path w="22466667" h="1325918">
                  <a:moveTo>
                    <a:pt x="0" y="159133"/>
                  </a:moveTo>
                  <a:cubicBezTo>
                    <a:pt x="0" y="71258"/>
                    <a:pt x="96750" y="0"/>
                    <a:pt x="216062" y="0"/>
                  </a:cubicBezTo>
                  <a:lnTo>
                    <a:pt x="22250605" y="0"/>
                  </a:lnTo>
                  <a:cubicBezTo>
                    <a:pt x="22369918" y="0"/>
                    <a:pt x="22466667" y="71258"/>
                    <a:pt x="22466667" y="159133"/>
                  </a:cubicBezTo>
                  <a:lnTo>
                    <a:pt x="22466667" y="1166785"/>
                  </a:lnTo>
                  <a:cubicBezTo>
                    <a:pt x="22466667" y="1254660"/>
                    <a:pt x="22369918" y="1325918"/>
                    <a:pt x="22250605" y="1325918"/>
                  </a:cubicBezTo>
                  <a:lnTo>
                    <a:pt x="216062" y="1325918"/>
                  </a:lnTo>
                  <a:cubicBezTo>
                    <a:pt x="96750" y="1325918"/>
                    <a:pt x="0" y="1254660"/>
                    <a:pt x="0" y="1166785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295" name="Group 106">
            <a:extLst>
              <a:ext uri="{FF2B5EF4-FFF2-40B4-BE49-F238E27FC236}">
                <a16:creationId xmlns:a16="http://schemas.microsoft.com/office/drawing/2014/main" id="{96744B2C-3F12-784F-EDB1-5D2EF75E8327}"/>
              </a:ext>
            </a:extLst>
          </p:cNvPr>
          <p:cNvGrpSpPr/>
          <p:nvPr/>
        </p:nvGrpSpPr>
        <p:grpSpPr>
          <a:xfrm>
            <a:off x="504335" y="4432256"/>
            <a:ext cx="5625639" cy="246976"/>
            <a:chOff x="0" y="0"/>
            <a:chExt cx="15001703" cy="658602"/>
          </a:xfrm>
        </p:grpSpPr>
        <p:sp>
          <p:nvSpPr>
            <p:cNvPr id="296" name="Freeform 107">
              <a:extLst>
                <a:ext uri="{FF2B5EF4-FFF2-40B4-BE49-F238E27FC236}">
                  <a16:creationId xmlns:a16="http://schemas.microsoft.com/office/drawing/2014/main" id="{98A109A2-DC21-CDA9-C425-F16CA57782A8}"/>
                </a:ext>
              </a:extLst>
            </p:cNvPr>
            <p:cNvSpPr/>
            <p:nvPr/>
          </p:nvSpPr>
          <p:spPr>
            <a:xfrm>
              <a:off x="0" y="0"/>
              <a:ext cx="15001708" cy="658606"/>
            </a:xfrm>
            <a:custGeom>
              <a:avLst/>
              <a:gdLst/>
              <a:ahLst/>
              <a:cxnLst/>
              <a:rect l="l" t="t" r="r" b="b"/>
              <a:pathLst>
                <a:path w="15001708" h="658606">
                  <a:moveTo>
                    <a:pt x="0" y="0"/>
                  </a:moveTo>
                  <a:lnTo>
                    <a:pt x="15001708" y="0"/>
                  </a:lnTo>
                  <a:lnTo>
                    <a:pt x="15001708" y="658606"/>
                  </a:lnTo>
                  <a:lnTo>
                    <a:pt x="0" y="6586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303287" r="8498" b="-408929"/>
              </a:stretch>
            </a:blipFill>
          </p:spPr>
        </p:sp>
        <p:sp>
          <p:nvSpPr>
            <p:cNvPr id="297" name="TextBox 108">
              <a:extLst>
                <a:ext uri="{FF2B5EF4-FFF2-40B4-BE49-F238E27FC236}">
                  <a16:creationId xmlns:a16="http://schemas.microsoft.com/office/drawing/2014/main" id="{0FD874B6-260D-D3E9-EB64-7DE68B4B6109}"/>
                </a:ext>
              </a:extLst>
            </p:cNvPr>
            <p:cNvSpPr txBox="1"/>
            <p:nvPr/>
          </p:nvSpPr>
          <p:spPr>
            <a:xfrm>
              <a:off x="0" y="-9525"/>
              <a:ext cx="15001703" cy="6681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501"/>
                </a:lnSpc>
              </a:pPr>
              <a:r>
                <a:rPr lang="en-US" sz="1251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 센서 3종 →  </a:t>
              </a:r>
              <a:r>
                <a:rPr lang="en-US" sz="1251" b="1">
                  <a:solidFill>
                    <a:srgbClr val="E719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30개</a:t>
              </a:r>
              <a:r>
                <a:rPr lang="en-US" sz="1251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파생 피처로 확장 · 평균 / 표준편차 / 범위 / 이탈(z) 구조</a:t>
              </a:r>
            </a:p>
          </p:txBody>
        </p:sp>
      </p:grpSp>
      <p:grpSp>
        <p:nvGrpSpPr>
          <p:cNvPr id="298" name="Group 109">
            <a:extLst>
              <a:ext uri="{FF2B5EF4-FFF2-40B4-BE49-F238E27FC236}">
                <a16:creationId xmlns:a16="http://schemas.microsoft.com/office/drawing/2014/main" id="{CE834550-99FF-E5AC-A33F-360974CC5E32}"/>
              </a:ext>
            </a:extLst>
          </p:cNvPr>
          <p:cNvGrpSpPr/>
          <p:nvPr/>
        </p:nvGrpSpPr>
        <p:grpSpPr>
          <a:xfrm>
            <a:off x="274320" y="4855464"/>
            <a:ext cx="5943600" cy="182880"/>
            <a:chOff x="0" y="0"/>
            <a:chExt cx="15849600" cy="487680"/>
          </a:xfrm>
        </p:grpSpPr>
        <p:sp>
          <p:nvSpPr>
            <p:cNvPr id="299" name="Freeform 110">
              <a:extLst>
                <a:ext uri="{FF2B5EF4-FFF2-40B4-BE49-F238E27FC236}">
                  <a16:creationId xmlns:a16="http://schemas.microsoft.com/office/drawing/2014/main" id="{E243E7E5-B2F2-2336-9946-B9D8B6B8FA29}"/>
                </a:ext>
              </a:extLst>
            </p:cNvPr>
            <p:cNvSpPr/>
            <p:nvPr/>
          </p:nvSpPr>
          <p:spPr>
            <a:xfrm>
              <a:off x="0" y="0"/>
              <a:ext cx="15849600" cy="487680"/>
            </a:xfrm>
            <a:custGeom>
              <a:avLst/>
              <a:gdLst/>
              <a:ahLst/>
              <a:cxnLst/>
              <a:rect l="l" t="t" r="r" b="b"/>
              <a:pathLst>
                <a:path w="15849600" h="487680">
                  <a:moveTo>
                    <a:pt x="0" y="0"/>
                  </a:moveTo>
                  <a:lnTo>
                    <a:pt x="15849600" y="0"/>
                  </a:lnTo>
                  <a:lnTo>
                    <a:pt x="15849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300" name="TextBox 111">
              <a:extLst>
                <a:ext uri="{FF2B5EF4-FFF2-40B4-BE49-F238E27FC236}">
                  <a16:creationId xmlns:a16="http://schemas.microsoft.com/office/drawing/2014/main" id="{898C214E-365E-09BA-B695-6968BF451038}"/>
                </a:ext>
              </a:extLst>
            </p:cNvPr>
            <p:cNvSpPr txBox="1"/>
            <p:nvPr/>
          </p:nvSpPr>
          <p:spPr>
            <a:xfrm>
              <a:off x="0" y="-9525"/>
              <a:ext cx="15849600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60"/>
                </a:lnSpc>
              </a:pPr>
              <a:r>
                <a:rPr lang="en-US" sz="55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absz = 정상 기준 표준화 절대이탈 |z| · 모든 피처 run 단위 집계</a:t>
              </a:r>
            </a:p>
          </p:txBody>
        </p:sp>
      </p:grpSp>
      <p:grpSp>
        <p:nvGrpSpPr>
          <p:cNvPr id="301" name="Group 112">
            <a:extLst>
              <a:ext uri="{FF2B5EF4-FFF2-40B4-BE49-F238E27FC236}">
                <a16:creationId xmlns:a16="http://schemas.microsoft.com/office/drawing/2014/main" id="{A2A35263-EC60-CB43-6519-469F8E43CED0}"/>
              </a:ext>
            </a:extLst>
          </p:cNvPr>
          <p:cNvGrpSpPr/>
          <p:nvPr/>
        </p:nvGrpSpPr>
        <p:grpSpPr>
          <a:xfrm>
            <a:off x="5749290" y="4327143"/>
            <a:ext cx="2880360" cy="457200"/>
            <a:chOff x="0" y="0"/>
            <a:chExt cx="7680960" cy="1219200"/>
          </a:xfrm>
        </p:grpSpPr>
        <p:sp>
          <p:nvSpPr>
            <p:cNvPr id="302" name="Freeform 113">
              <a:extLst>
                <a:ext uri="{FF2B5EF4-FFF2-40B4-BE49-F238E27FC236}">
                  <a16:creationId xmlns:a16="http://schemas.microsoft.com/office/drawing/2014/main" id="{38334A6D-044B-64AD-B259-8A65510A5D67}"/>
                </a:ext>
              </a:extLst>
            </p:cNvPr>
            <p:cNvSpPr/>
            <p:nvPr/>
          </p:nvSpPr>
          <p:spPr>
            <a:xfrm>
              <a:off x="0" y="0"/>
              <a:ext cx="7680960" cy="1219200"/>
            </a:xfrm>
            <a:custGeom>
              <a:avLst/>
              <a:gdLst/>
              <a:ahLst/>
              <a:cxnLst/>
              <a:rect l="l" t="t" r="r" b="b"/>
              <a:pathLst>
                <a:path w="7680960" h="1219200">
                  <a:moveTo>
                    <a:pt x="0" y="0"/>
                  </a:moveTo>
                  <a:lnTo>
                    <a:pt x="7680960" y="0"/>
                  </a:lnTo>
                  <a:lnTo>
                    <a:pt x="7680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72755" b="-72755"/>
              </a:stretch>
            </a:blipFill>
          </p:spPr>
        </p:sp>
        <p:sp>
          <p:nvSpPr>
            <p:cNvPr id="303" name="TextBox 114">
              <a:extLst>
                <a:ext uri="{FF2B5EF4-FFF2-40B4-BE49-F238E27FC236}">
                  <a16:creationId xmlns:a16="http://schemas.microsoft.com/office/drawing/2014/main" id="{57DAE864-92A4-9B39-B0E6-B5B285B1711A}"/>
                </a:ext>
              </a:extLst>
            </p:cNvPr>
            <p:cNvSpPr txBox="1"/>
            <p:nvPr/>
          </p:nvSpPr>
          <p:spPr>
            <a:xfrm>
              <a:off x="0" y="-9525"/>
              <a:ext cx="768096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960"/>
                </a:lnSpc>
              </a:pPr>
              <a:r>
                <a:rPr lang="en-US" sz="8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결합 · 이탈 피처로 분리도 확보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308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E1DF-86F0-1E1A-AEF1-4042D9F11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3AFB054-2F01-FAB0-06E9-4D23DDF3DB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98776E7-082F-2CB5-E0E0-E5785B568C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22CB672-F97E-15B2-C63B-A10986DD9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40DD000-3760-1393-99D3-95F0931C9B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A827BDDD-BD9E-B672-ED96-788D4B11F20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DADB9583-6784-B9E7-4FF3-94282FE5965C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 구조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33ED4275-C4DD-18AF-6506-A82FAA5126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260" name="Group 22">
            <a:extLst>
              <a:ext uri="{FF2B5EF4-FFF2-40B4-BE49-F238E27FC236}">
                <a16:creationId xmlns:a16="http://schemas.microsoft.com/office/drawing/2014/main" id="{B31FE2C3-91D8-DBD9-2592-1FD905A8F84A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261" name="Freeform 23">
              <a:extLst>
                <a:ext uri="{FF2B5EF4-FFF2-40B4-BE49-F238E27FC236}">
                  <a16:creationId xmlns:a16="http://schemas.microsoft.com/office/drawing/2014/main" id="{7A305039-7A74-096B-9A56-2753B07ED0B0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62" name="Group 24">
            <a:extLst>
              <a:ext uri="{FF2B5EF4-FFF2-40B4-BE49-F238E27FC236}">
                <a16:creationId xmlns:a16="http://schemas.microsoft.com/office/drawing/2014/main" id="{CC2F28A7-862F-5271-87CA-DB8EA13A5AC9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263" name="Freeform 25" descr="logo.png">
              <a:extLst>
                <a:ext uri="{FF2B5EF4-FFF2-40B4-BE49-F238E27FC236}">
                  <a16:creationId xmlns:a16="http://schemas.microsoft.com/office/drawing/2014/main" id="{956EAA7C-5946-FE44-C138-2E15CC045109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264" name="Group 26">
            <a:extLst>
              <a:ext uri="{FF2B5EF4-FFF2-40B4-BE49-F238E27FC236}">
                <a16:creationId xmlns:a16="http://schemas.microsoft.com/office/drawing/2014/main" id="{0CBE3207-35BB-0ED1-950D-C7B6FDD15409}"/>
              </a:ext>
            </a:extLst>
          </p:cNvPr>
          <p:cNvGrpSpPr/>
          <p:nvPr/>
        </p:nvGrpSpPr>
        <p:grpSpPr>
          <a:xfrm>
            <a:off x="346391" y="4307134"/>
            <a:ext cx="8424987" cy="497220"/>
            <a:chOff x="0" y="0"/>
            <a:chExt cx="22466630" cy="1325918"/>
          </a:xfrm>
        </p:grpSpPr>
        <p:sp>
          <p:nvSpPr>
            <p:cNvPr id="265" name="Freeform 27">
              <a:extLst>
                <a:ext uri="{FF2B5EF4-FFF2-40B4-BE49-F238E27FC236}">
                  <a16:creationId xmlns:a16="http://schemas.microsoft.com/office/drawing/2014/main" id="{D8EBEE81-8AD3-B322-2BA9-3617E0012CAF}"/>
                </a:ext>
              </a:extLst>
            </p:cNvPr>
            <p:cNvSpPr/>
            <p:nvPr/>
          </p:nvSpPr>
          <p:spPr>
            <a:xfrm>
              <a:off x="0" y="0"/>
              <a:ext cx="22466667" cy="1325918"/>
            </a:xfrm>
            <a:custGeom>
              <a:avLst/>
              <a:gdLst/>
              <a:ahLst/>
              <a:cxnLst/>
              <a:rect l="l" t="t" r="r" b="b"/>
              <a:pathLst>
                <a:path w="22466667" h="1325918">
                  <a:moveTo>
                    <a:pt x="0" y="159133"/>
                  </a:moveTo>
                  <a:cubicBezTo>
                    <a:pt x="0" y="71258"/>
                    <a:pt x="96750" y="0"/>
                    <a:pt x="216062" y="0"/>
                  </a:cubicBezTo>
                  <a:lnTo>
                    <a:pt x="22250605" y="0"/>
                  </a:lnTo>
                  <a:cubicBezTo>
                    <a:pt x="22369918" y="0"/>
                    <a:pt x="22466667" y="71258"/>
                    <a:pt x="22466667" y="159133"/>
                  </a:cubicBezTo>
                  <a:lnTo>
                    <a:pt x="22466667" y="1166785"/>
                  </a:lnTo>
                  <a:cubicBezTo>
                    <a:pt x="22466667" y="1254660"/>
                    <a:pt x="22369918" y="1325918"/>
                    <a:pt x="22250605" y="1325918"/>
                  </a:cubicBezTo>
                  <a:lnTo>
                    <a:pt x="216062" y="1325918"/>
                  </a:lnTo>
                  <a:cubicBezTo>
                    <a:pt x="96750" y="1325918"/>
                    <a:pt x="0" y="1254660"/>
                    <a:pt x="0" y="1166785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266" name="Group 28">
            <a:extLst>
              <a:ext uri="{FF2B5EF4-FFF2-40B4-BE49-F238E27FC236}">
                <a16:creationId xmlns:a16="http://schemas.microsoft.com/office/drawing/2014/main" id="{6D2D5CCD-A44F-03AD-19A6-FD9A0ADB6375}"/>
              </a:ext>
            </a:extLst>
          </p:cNvPr>
          <p:cNvGrpSpPr/>
          <p:nvPr/>
        </p:nvGrpSpPr>
        <p:grpSpPr>
          <a:xfrm>
            <a:off x="504335" y="4432256"/>
            <a:ext cx="5625639" cy="246976"/>
            <a:chOff x="0" y="0"/>
            <a:chExt cx="15001703" cy="658602"/>
          </a:xfrm>
        </p:grpSpPr>
        <p:sp>
          <p:nvSpPr>
            <p:cNvPr id="267" name="Freeform 29">
              <a:extLst>
                <a:ext uri="{FF2B5EF4-FFF2-40B4-BE49-F238E27FC236}">
                  <a16:creationId xmlns:a16="http://schemas.microsoft.com/office/drawing/2014/main" id="{6A6E1FE1-22B2-9698-1EB8-7C77A9703089}"/>
                </a:ext>
              </a:extLst>
            </p:cNvPr>
            <p:cNvSpPr/>
            <p:nvPr/>
          </p:nvSpPr>
          <p:spPr>
            <a:xfrm>
              <a:off x="0" y="0"/>
              <a:ext cx="15001708" cy="658606"/>
            </a:xfrm>
            <a:custGeom>
              <a:avLst/>
              <a:gdLst/>
              <a:ahLst/>
              <a:cxnLst/>
              <a:rect l="l" t="t" r="r" b="b"/>
              <a:pathLst>
                <a:path w="15001708" h="658606">
                  <a:moveTo>
                    <a:pt x="0" y="0"/>
                  </a:moveTo>
                  <a:lnTo>
                    <a:pt x="15001708" y="0"/>
                  </a:lnTo>
                  <a:lnTo>
                    <a:pt x="15001708" y="658606"/>
                  </a:lnTo>
                  <a:lnTo>
                    <a:pt x="0" y="6586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03287" r="8498" b="-408929"/>
              </a:stretch>
            </a:blipFill>
          </p:spPr>
        </p:sp>
        <p:sp>
          <p:nvSpPr>
            <p:cNvPr id="268" name="TextBox 30">
              <a:extLst>
                <a:ext uri="{FF2B5EF4-FFF2-40B4-BE49-F238E27FC236}">
                  <a16:creationId xmlns:a16="http://schemas.microsoft.com/office/drawing/2014/main" id="{14CE54CF-5678-93B2-8E38-B597ABFBCFF5}"/>
                </a:ext>
              </a:extLst>
            </p:cNvPr>
            <p:cNvSpPr txBox="1"/>
            <p:nvPr/>
          </p:nvSpPr>
          <p:spPr>
            <a:xfrm>
              <a:off x="0" y="-9525"/>
              <a:ext cx="15001703" cy="6681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501"/>
                </a:lnSpc>
              </a:pPr>
              <a:r>
                <a:rPr lang="en-US" sz="1251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 전류 · 전력 r = 0.9 고상관 · 불량과의 단순 상관은 ≤ 0.15 수준</a:t>
              </a:r>
            </a:p>
          </p:txBody>
        </p:sp>
      </p:grpSp>
      <p:grpSp>
        <p:nvGrpSpPr>
          <p:cNvPr id="269" name="Group 31">
            <a:extLst>
              <a:ext uri="{FF2B5EF4-FFF2-40B4-BE49-F238E27FC236}">
                <a16:creationId xmlns:a16="http://schemas.microsoft.com/office/drawing/2014/main" id="{3B01D88D-BEA3-EFC4-CDDE-4FAAFFE17C16}"/>
              </a:ext>
            </a:extLst>
          </p:cNvPr>
          <p:cNvGrpSpPr/>
          <p:nvPr/>
        </p:nvGrpSpPr>
        <p:grpSpPr>
          <a:xfrm>
            <a:off x="5749290" y="4327143"/>
            <a:ext cx="2880360" cy="457200"/>
            <a:chOff x="0" y="0"/>
            <a:chExt cx="7680960" cy="1219200"/>
          </a:xfrm>
        </p:grpSpPr>
        <p:sp>
          <p:nvSpPr>
            <p:cNvPr id="270" name="Freeform 32">
              <a:extLst>
                <a:ext uri="{FF2B5EF4-FFF2-40B4-BE49-F238E27FC236}">
                  <a16:creationId xmlns:a16="http://schemas.microsoft.com/office/drawing/2014/main" id="{45BD178B-946C-AB22-90EC-FE610B48991B}"/>
                </a:ext>
              </a:extLst>
            </p:cNvPr>
            <p:cNvSpPr/>
            <p:nvPr/>
          </p:nvSpPr>
          <p:spPr>
            <a:xfrm>
              <a:off x="0" y="0"/>
              <a:ext cx="7680960" cy="1219200"/>
            </a:xfrm>
            <a:custGeom>
              <a:avLst/>
              <a:gdLst/>
              <a:ahLst/>
              <a:cxnLst/>
              <a:rect l="l" t="t" r="r" b="b"/>
              <a:pathLst>
                <a:path w="7680960" h="1219200">
                  <a:moveTo>
                    <a:pt x="0" y="0"/>
                  </a:moveTo>
                  <a:lnTo>
                    <a:pt x="7680960" y="0"/>
                  </a:lnTo>
                  <a:lnTo>
                    <a:pt x="7680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2755" b="-72755"/>
              </a:stretch>
            </a:blipFill>
          </p:spPr>
        </p:sp>
        <p:sp>
          <p:nvSpPr>
            <p:cNvPr id="271" name="TextBox 33">
              <a:extLst>
                <a:ext uri="{FF2B5EF4-FFF2-40B4-BE49-F238E27FC236}">
                  <a16:creationId xmlns:a16="http://schemas.microsoft.com/office/drawing/2014/main" id="{CF76C6E1-BFC5-39A6-5DFB-24FD8B816AD6}"/>
                </a:ext>
              </a:extLst>
            </p:cNvPr>
            <p:cNvSpPr txBox="1"/>
            <p:nvPr/>
          </p:nvSpPr>
          <p:spPr>
            <a:xfrm>
              <a:off x="0" y="-9525"/>
              <a:ext cx="768096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960"/>
                </a:lnSpc>
              </a:pPr>
              <a:r>
                <a:rPr lang="en-US" sz="8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결합 피처로 판별력 확보</a:t>
              </a:r>
            </a:p>
          </p:txBody>
        </p:sp>
      </p:grpSp>
      <p:grpSp>
        <p:nvGrpSpPr>
          <p:cNvPr id="272" name="Group 34">
            <a:extLst>
              <a:ext uri="{FF2B5EF4-FFF2-40B4-BE49-F238E27FC236}">
                <a16:creationId xmlns:a16="http://schemas.microsoft.com/office/drawing/2014/main" id="{B59E7180-0433-F28C-BC47-D8C31F11C88C}"/>
              </a:ext>
            </a:extLst>
          </p:cNvPr>
          <p:cNvGrpSpPr/>
          <p:nvPr/>
        </p:nvGrpSpPr>
        <p:grpSpPr>
          <a:xfrm>
            <a:off x="274320" y="4855464"/>
            <a:ext cx="5943600" cy="182880"/>
            <a:chOff x="0" y="0"/>
            <a:chExt cx="15849600" cy="487680"/>
          </a:xfrm>
        </p:grpSpPr>
        <p:sp>
          <p:nvSpPr>
            <p:cNvPr id="273" name="Freeform 35">
              <a:extLst>
                <a:ext uri="{FF2B5EF4-FFF2-40B4-BE49-F238E27FC236}">
                  <a16:creationId xmlns:a16="http://schemas.microsoft.com/office/drawing/2014/main" id="{85C06A33-329A-7594-18E1-3E543D21B641}"/>
                </a:ext>
              </a:extLst>
            </p:cNvPr>
            <p:cNvSpPr/>
            <p:nvPr/>
          </p:nvSpPr>
          <p:spPr>
            <a:xfrm>
              <a:off x="0" y="0"/>
              <a:ext cx="15849600" cy="487680"/>
            </a:xfrm>
            <a:custGeom>
              <a:avLst/>
              <a:gdLst/>
              <a:ahLst/>
              <a:cxnLst/>
              <a:rect l="l" t="t" r="r" b="b"/>
              <a:pathLst>
                <a:path w="15849600" h="487680">
                  <a:moveTo>
                    <a:pt x="0" y="0"/>
                  </a:moveTo>
                  <a:lnTo>
                    <a:pt x="15849600" y="0"/>
                  </a:lnTo>
                  <a:lnTo>
                    <a:pt x="15849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74" name="TextBox 36">
              <a:extLst>
                <a:ext uri="{FF2B5EF4-FFF2-40B4-BE49-F238E27FC236}">
                  <a16:creationId xmlns:a16="http://schemas.microsoft.com/office/drawing/2014/main" id="{0F930C3B-8D72-3DC7-3C78-0227B08B3390}"/>
                </a:ext>
              </a:extLst>
            </p:cNvPr>
            <p:cNvSpPr txBox="1"/>
            <p:nvPr/>
          </p:nvSpPr>
          <p:spPr>
            <a:xfrm>
              <a:off x="0" y="-19050"/>
              <a:ext cx="15849600" cy="5067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60"/>
                </a:lnSpc>
              </a:pPr>
              <a:r>
                <a:rPr lang="en-US" sz="55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"/>
                </a:rPr>
                <a:t>Pearson 상관계수 · 정상 전체 구간 기준</a:t>
              </a:r>
            </a:p>
          </p:txBody>
        </p:sp>
      </p:grpSp>
      <p:grpSp>
        <p:nvGrpSpPr>
          <p:cNvPr id="275" name="Group 37">
            <a:extLst>
              <a:ext uri="{FF2B5EF4-FFF2-40B4-BE49-F238E27FC236}">
                <a16:creationId xmlns:a16="http://schemas.microsoft.com/office/drawing/2014/main" id="{F28E5C3A-A442-7F7D-3980-B24EF7981459}"/>
              </a:ext>
            </a:extLst>
          </p:cNvPr>
          <p:cNvGrpSpPr/>
          <p:nvPr/>
        </p:nvGrpSpPr>
        <p:grpSpPr>
          <a:xfrm>
            <a:off x="4090916" y="1287973"/>
            <a:ext cx="4762819" cy="899479"/>
            <a:chOff x="0" y="0"/>
            <a:chExt cx="12700851" cy="2398611"/>
          </a:xfrm>
        </p:grpSpPr>
        <p:sp>
          <p:nvSpPr>
            <p:cNvPr id="276" name="Freeform 38">
              <a:extLst>
                <a:ext uri="{FF2B5EF4-FFF2-40B4-BE49-F238E27FC236}">
                  <a16:creationId xmlns:a16="http://schemas.microsoft.com/office/drawing/2014/main" id="{BE16172C-30C7-97E4-69CC-FD27FBD990BB}"/>
                </a:ext>
              </a:extLst>
            </p:cNvPr>
            <p:cNvSpPr/>
            <p:nvPr/>
          </p:nvSpPr>
          <p:spPr>
            <a:xfrm>
              <a:off x="0" y="0"/>
              <a:ext cx="12700889" cy="2398649"/>
            </a:xfrm>
            <a:custGeom>
              <a:avLst/>
              <a:gdLst/>
              <a:ahLst/>
              <a:cxnLst/>
              <a:rect l="l" t="t" r="r" b="b"/>
              <a:pathLst>
                <a:path w="12700889" h="2398649">
                  <a:moveTo>
                    <a:pt x="0" y="86106"/>
                  </a:moveTo>
                  <a:cubicBezTo>
                    <a:pt x="0" y="38608"/>
                    <a:pt x="38608" y="0"/>
                    <a:pt x="86106" y="0"/>
                  </a:cubicBezTo>
                  <a:lnTo>
                    <a:pt x="12614783" y="0"/>
                  </a:lnTo>
                  <a:cubicBezTo>
                    <a:pt x="12662281" y="0"/>
                    <a:pt x="12700889" y="38608"/>
                    <a:pt x="12700889" y="86106"/>
                  </a:cubicBezTo>
                  <a:lnTo>
                    <a:pt x="12700889" y="2312543"/>
                  </a:lnTo>
                  <a:cubicBezTo>
                    <a:pt x="12700889" y="2360041"/>
                    <a:pt x="12662281" y="2398649"/>
                    <a:pt x="12614783" y="2398649"/>
                  </a:cubicBezTo>
                  <a:lnTo>
                    <a:pt x="86106" y="2398649"/>
                  </a:lnTo>
                  <a:cubicBezTo>
                    <a:pt x="38608" y="2398649"/>
                    <a:pt x="0" y="2360041"/>
                    <a:pt x="0" y="231254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77" name="Group 39">
            <a:extLst>
              <a:ext uri="{FF2B5EF4-FFF2-40B4-BE49-F238E27FC236}">
                <a16:creationId xmlns:a16="http://schemas.microsoft.com/office/drawing/2014/main" id="{B78EDE49-8E24-2A94-8CC4-634F7AE040BF}"/>
              </a:ext>
            </a:extLst>
          </p:cNvPr>
          <p:cNvGrpSpPr/>
          <p:nvPr/>
        </p:nvGrpSpPr>
        <p:grpSpPr>
          <a:xfrm>
            <a:off x="4323483" y="1383380"/>
            <a:ext cx="4297680" cy="228600"/>
            <a:chOff x="0" y="0"/>
            <a:chExt cx="11460480" cy="609600"/>
          </a:xfrm>
        </p:grpSpPr>
        <p:sp>
          <p:nvSpPr>
            <p:cNvPr id="278" name="Freeform 40">
              <a:extLst>
                <a:ext uri="{FF2B5EF4-FFF2-40B4-BE49-F238E27FC236}">
                  <a16:creationId xmlns:a16="http://schemas.microsoft.com/office/drawing/2014/main" id="{302A4C15-7A9E-5E62-DD9B-924444F917FC}"/>
                </a:ext>
              </a:extLst>
            </p:cNvPr>
            <p:cNvSpPr/>
            <p:nvPr/>
          </p:nvSpPr>
          <p:spPr>
            <a:xfrm>
              <a:off x="0" y="0"/>
              <a:ext cx="11460480" cy="609600"/>
            </a:xfrm>
            <a:custGeom>
              <a:avLst/>
              <a:gdLst/>
              <a:ahLst/>
              <a:cxnLst/>
              <a:rect l="l" t="t" r="r" b="b"/>
              <a:pathLst>
                <a:path w="11460480" h="609600">
                  <a:moveTo>
                    <a:pt x="0" y="0"/>
                  </a:moveTo>
                  <a:lnTo>
                    <a:pt x="11460480" y="0"/>
                  </a:lnTo>
                  <a:lnTo>
                    <a:pt x="11460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16318" b="-316318"/>
              </a:stretch>
            </a:blipFill>
          </p:spPr>
        </p:sp>
        <p:sp>
          <p:nvSpPr>
            <p:cNvPr id="279" name="TextBox 41">
              <a:extLst>
                <a:ext uri="{FF2B5EF4-FFF2-40B4-BE49-F238E27FC236}">
                  <a16:creationId xmlns:a16="http://schemas.microsoft.com/office/drawing/2014/main" id="{D68584EB-4C5B-1CC3-1FE0-1BE0FEAF9CAF}"/>
                </a:ext>
              </a:extLst>
            </p:cNvPr>
            <p:cNvSpPr txBox="1"/>
            <p:nvPr/>
          </p:nvSpPr>
          <p:spPr>
            <a:xfrm>
              <a:off x="0" y="-9525"/>
              <a:ext cx="1146048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0"/>
                </a:lnSpc>
              </a:pPr>
              <a:r>
                <a:rPr lang="en-US" sz="800" b="1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고상관 쌍 ( r ≥ 0.9 )</a:t>
              </a:r>
            </a:p>
          </p:txBody>
        </p:sp>
      </p:grpSp>
      <p:grpSp>
        <p:nvGrpSpPr>
          <p:cNvPr id="280" name="Group 42">
            <a:extLst>
              <a:ext uri="{FF2B5EF4-FFF2-40B4-BE49-F238E27FC236}">
                <a16:creationId xmlns:a16="http://schemas.microsoft.com/office/drawing/2014/main" id="{DE8ABC96-929E-3EA6-BDAB-B543B13719FF}"/>
              </a:ext>
            </a:extLst>
          </p:cNvPr>
          <p:cNvGrpSpPr/>
          <p:nvPr/>
        </p:nvGrpSpPr>
        <p:grpSpPr>
          <a:xfrm>
            <a:off x="4323483" y="1611980"/>
            <a:ext cx="4297680" cy="320040"/>
            <a:chOff x="0" y="0"/>
            <a:chExt cx="11460480" cy="853440"/>
          </a:xfrm>
        </p:grpSpPr>
        <p:sp>
          <p:nvSpPr>
            <p:cNvPr id="281" name="Freeform 43">
              <a:extLst>
                <a:ext uri="{FF2B5EF4-FFF2-40B4-BE49-F238E27FC236}">
                  <a16:creationId xmlns:a16="http://schemas.microsoft.com/office/drawing/2014/main" id="{8F48DC8E-2CDF-CC91-5947-B0D46613A651}"/>
                </a:ext>
              </a:extLst>
            </p:cNvPr>
            <p:cNvSpPr/>
            <p:nvPr/>
          </p:nvSpPr>
          <p:spPr>
            <a:xfrm>
              <a:off x="0" y="0"/>
              <a:ext cx="11460480" cy="853440"/>
            </a:xfrm>
            <a:custGeom>
              <a:avLst/>
              <a:gdLst/>
              <a:ahLst/>
              <a:cxnLst/>
              <a:rect l="l" t="t" r="r" b="b"/>
              <a:pathLst>
                <a:path w="11460480" h="853440">
                  <a:moveTo>
                    <a:pt x="0" y="0"/>
                  </a:moveTo>
                  <a:lnTo>
                    <a:pt x="11460480" y="0"/>
                  </a:lnTo>
                  <a:lnTo>
                    <a:pt x="11460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282" name="TextBox 44">
              <a:extLst>
                <a:ext uri="{FF2B5EF4-FFF2-40B4-BE49-F238E27FC236}">
                  <a16:creationId xmlns:a16="http://schemas.microsoft.com/office/drawing/2014/main" id="{B7AE4ED9-6CC2-C71D-4CAD-92C13E2B79C1}"/>
                </a:ext>
              </a:extLst>
            </p:cNvPr>
            <p:cNvSpPr txBox="1"/>
            <p:nvPr/>
          </p:nvSpPr>
          <p:spPr>
            <a:xfrm>
              <a:off x="0" y="-19050"/>
              <a:ext cx="11460480" cy="872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20"/>
                </a:lnSpc>
              </a:pPr>
              <a:r>
                <a:rPr lang="en-US" sz="11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전류 · 전력   </a:t>
              </a:r>
              <a:r>
                <a:rPr lang="en-US" sz="11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r = 0.98</a:t>
              </a:r>
            </a:p>
          </p:txBody>
        </p:sp>
      </p:grpSp>
      <p:grpSp>
        <p:nvGrpSpPr>
          <p:cNvPr id="283" name="Group 45">
            <a:extLst>
              <a:ext uri="{FF2B5EF4-FFF2-40B4-BE49-F238E27FC236}">
                <a16:creationId xmlns:a16="http://schemas.microsoft.com/office/drawing/2014/main" id="{D87E6811-DFD6-7638-4FA3-01C4F83B0C3C}"/>
              </a:ext>
            </a:extLst>
          </p:cNvPr>
          <p:cNvGrpSpPr/>
          <p:nvPr/>
        </p:nvGrpSpPr>
        <p:grpSpPr>
          <a:xfrm>
            <a:off x="4323483" y="1918304"/>
            <a:ext cx="4297680" cy="205740"/>
            <a:chOff x="0" y="0"/>
            <a:chExt cx="11460480" cy="548640"/>
          </a:xfrm>
        </p:grpSpPr>
        <p:sp>
          <p:nvSpPr>
            <p:cNvPr id="284" name="Freeform 46">
              <a:extLst>
                <a:ext uri="{FF2B5EF4-FFF2-40B4-BE49-F238E27FC236}">
                  <a16:creationId xmlns:a16="http://schemas.microsoft.com/office/drawing/2014/main" id="{44811F56-DE9B-9D3E-5EEC-4EB99DC3BD2D}"/>
                </a:ext>
              </a:extLst>
            </p:cNvPr>
            <p:cNvSpPr/>
            <p:nvPr/>
          </p:nvSpPr>
          <p:spPr>
            <a:xfrm>
              <a:off x="0" y="0"/>
              <a:ext cx="11460480" cy="548640"/>
            </a:xfrm>
            <a:custGeom>
              <a:avLst/>
              <a:gdLst/>
              <a:ahLst/>
              <a:cxnLst/>
              <a:rect l="l" t="t" r="r" b="b"/>
              <a:pathLst>
                <a:path w="11460480" h="548640">
                  <a:moveTo>
                    <a:pt x="0" y="0"/>
                  </a:moveTo>
                  <a:lnTo>
                    <a:pt x="11460480" y="0"/>
                  </a:lnTo>
                  <a:lnTo>
                    <a:pt x="1146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57020" b="-357020"/>
              </a:stretch>
            </a:blipFill>
          </p:spPr>
        </p:sp>
        <p:sp>
          <p:nvSpPr>
            <p:cNvPr id="285" name="TextBox 47">
              <a:extLst>
                <a:ext uri="{FF2B5EF4-FFF2-40B4-BE49-F238E27FC236}">
                  <a16:creationId xmlns:a16="http://schemas.microsoft.com/office/drawing/2014/main" id="{6C914244-9E76-694B-0938-06E59B82A725}"/>
                </a:ext>
              </a:extLst>
            </p:cNvPr>
            <p:cNvSpPr txBox="1"/>
            <p:nvPr/>
          </p:nvSpPr>
          <p:spPr>
            <a:xfrm>
              <a:off x="0" y="-19050"/>
              <a:ext cx="114604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10"/>
                </a:lnSpc>
              </a:pPr>
              <a:r>
                <a:rPr lang="en-US" sz="675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"/>
                </a:rPr>
                <a:t>→ 다중공선성 주의 (전력 = 전압 × 전류)</a:t>
              </a:r>
            </a:p>
          </p:txBody>
        </p:sp>
      </p:grpSp>
      <p:grpSp>
        <p:nvGrpSpPr>
          <p:cNvPr id="286" name="Group 48">
            <a:extLst>
              <a:ext uri="{FF2B5EF4-FFF2-40B4-BE49-F238E27FC236}">
                <a16:creationId xmlns:a16="http://schemas.microsoft.com/office/drawing/2014/main" id="{4DA93587-B629-7C19-87DD-204D0E241C80}"/>
              </a:ext>
            </a:extLst>
          </p:cNvPr>
          <p:cNvGrpSpPr/>
          <p:nvPr/>
        </p:nvGrpSpPr>
        <p:grpSpPr>
          <a:xfrm>
            <a:off x="4090916" y="2270953"/>
            <a:ext cx="4762819" cy="899479"/>
            <a:chOff x="0" y="0"/>
            <a:chExt cx="12700851" cy="2398611"/>
          </a:xfrm>
        </p:grpSpPr>
        <p:sp>
          <p:nvSpPr>
            <p:cNvPr id="287" name="Freeform 49">
              <a:extLst>
                <a:ext uri="{FF2B5EF4-FFF2-40B4-BE49-F238E27FC236}">
                  <a16:creationId xmlns:a16="http://schemas.microsoft.com/office/drawing/2014/main" id="{CBDCEF19-FC7C-5AA2-0F33-C466D8066502}"/>
                </a:ext>
              </a:extLst>
            </p:cNvPr>
            <p:cNvSpPr/>
            <p:nvPr/>
          </p:nvSpPr>
          <p:spPr>
            <a:xfrm>
              <a:off x="0" y="0"/>
              <a:ext cx="12700889" cy="2398649"/>
            </a:xfrm>
            <a:custGeom>
              <a:avLst/>
              <a:gdLst/>
              <a:ahLst/>
              <a:cxnLst/>
              <a:rect l="l" t="t" r="r" b="b"/>
              <a:pathLst>
                <a:path w="12700889" h="2398649">
                  <a:moveTo>
                    <a:pt x="0" y="86106"/>
                  </a:moveTo>
                  <a:cubicBezTo>
                    <a:pt x="0" y="38608"/>
                    <a:pt x="38608" y="0"/>
                    <a:pt x="86106" y="0"/>
                  </a:cubicBezTo>
                  <a:lnTo>
                    <a:pt x="12614783" y="0"/>
                  </a:lnTo>
                  <a:cubicBezTo>
                    <a:pt x="12662281" y="0"/>
                    <a:pt x="12700889" y="38608"/>
                    <a:pt x="12700889" y="86106"/>
                  </a:cubicBezTo>
                  <a:lnTo>
                    <a:pt x="12700889" y="2312543"/>
                  </a:lnTo>
                  <a:cubicBezTo>
                    <a:pt x="12700889" y="2360041"/>
                    <a:pt x="12662281" y="2398649"/>
                    <a:pt x="12614783" y="2398649"/>
                  </a:cubicBezTo>
                  <a:lnTo>
                    <a:pt x="86106" y="2398649"/>
                  </a:lnTo>
                  <a:cubicBezTo>
                    <a:pt x="38608" y="2398649"/>
                    <a:pt x="0" y="2360041"/>
                    <a:pt x="0" y="231254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88" name="Group 50">
            <a:extLst>
              <a:ext uri="{FF2B5EF4-FFF2-40B4-BE49-F238E27FC236}">
                <a16:creationId xmlns:a16="http://schemas.microsoft.com/office/drawing/2014/main" id="{15300DD4-FC1E-820E-D464-ED821AC0B0A6}"/>
              </a:ext>
            </a:extLst>
          </p:cNvPr>
          <p:cNvGrpSpPr/>
          <p:nvPr/>
        </p:nvGrpSpPr>
        <p:grpSpPr>
          <a:xfrm>
            <a:off x="4323483" y="2366360"/>
            <a:ext cx="4297680" cy="228600"/>
            <a:chOff x="0" y="0"/>
            <a:chExt cx="11460480" cy="609600"/>
          </a:xfrm>
        </p:grpSpPr>
        <p:sp>
          <p:nvSpPr>
            <p:cNvPr id="289" name="Freeform 51">
              <a:extLst>
                <a:ext uri="{FF2B5EF4-FFF2-40B4-BE49-F238E27FC236}">
                  <a16:creationId xmlns:a16="http://schemas.microsoft.com/office/drawing/2014/main" id="{C211486D-78D9-1155-6EC0-DD7956F499A6}"/>
                </a:ext>
              </a:extLst>
            </p:cNvPr>
            <p:cNvSpPr/>
            <p:nvPr/>
          </p:nvSpPr>
          <p:spPr>
            <a:xfrm>
              <a:off x="0" y="0"/>
              <a:ext cx="11460480" cy="609600"/>
            </a:xfrm>
            <a:custGeom>
              <a:avLst/>
              <a:gdLst/>
              <a:ahLst/>
              <a:cxnLst/>
              <a:rect l="l" t="t" r="r" b="b"/>
              <a:pathLst>
                <a:path w="11460480" h="609600">
                  <a:moveTo>
                    <a:pt x="0" y="0"/>
                  </a:moveTo>
                  <a:lnTo>
                    <a:pt x="11460480" y="0"/>
                  </a:lnTo>
                  <a:lnTo>
                    <a:pt x="11460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16318" b="-316318"/>
              </a:stretch>
            </a:blipFill>
          </p:spPr>
        </p:sp>
        <p:sp>
          <p:nvSpPr>
            <p:cNvPr id="290" name="TextBox 52">
              <a:extLst>
                <a:ext uri="{FF2B5EF4-FFF2-40B4-BE49-F238E27FC236}">
                  <a16:creationId xmlns:a16="http://schemas.microsoft.com/office/drawing/2014/main" id="{1AF9BBC6-9394-4517-118B-51CFB375E0AA}"/>
                </a:ext>
              </a:extLst>
            </p:cNvPr>
            <p:cNvSpPr txBox="1"/>
            <p:nvPr/>
          </p:nvSpPr>
          <p:spPr>
            <a:xfrm>
              <a:off x="0" y="-9525"/>
              <a:ext cx="11460480" cy="619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60"/>
                </a:lnSpc>
              </a:pPr>
              <a:r>
                <a:rPr lang="en-US" sz="800" b="1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불량(is_def) 상관 — 약함</a:t>
              </a:r>
            </a:p>
          </p:txBody>
        </p:sp>
      </p:grpSp>
      <p:grpSp>
        <p:nvGrpSpPr>
          <p:cNvPr id="291" name="Group 53">
            <a:extLst>
              <a:ext uri="{FF2B5EF4-FFF2-40B4-BE49-F238E27FC236}">
                <a16:creationId xmlns:a16="http://schemas.microsoft.com/office/drawing/2014/main" id="{13E08F40-E348-3477-C55C-F3C612EDA0B1}"/>
              </a:ext>
            </a:extLst>
          </p:cNvPr>
          <p:cNvGrpSpPr/>
          <p:nvPr/>
        </p:nvGrpSpPr>
        <p:grpSpPr>
          <a:xfrm>
            <a:off x="4323483" y="2594960"/>
            <a:ext cx="4297680" cy="320040"/>
            <a:chOff x="0" y="0"/>
            <a:chExt cx="11460480" cy="853440"/>
          </a:xfrm>
        </p:grpSpPr>
        <p:sp>
          <p:nvSpPr>
            <p:cNvPr id="292" name="Freeform 54">
              <a:extLst>
                <a:ext uri="{FF2B5EF4-FFF2-40B4-BE49-F238E27FC236}">
                  <a16:creationId xmlns:a16="http://schemas.microsoft.com/office/drawing/2014/main" id="{57AC4601-6A26-AB86-BA56-ADBD6DF15AA9}"/>
                </a:ext>
              </a:extLst>
            </p:cNvPr>
            <p:cNvSpPr/>
            <p:nvPr/>
          </p:nvSpPr>
          <p:spPr>
            <a:xfrm>
              <a:off x="0" y="0"/>
              <a:ext cx="11460480" cy="853440"/>
            </a:xfrm>
            <a:custGeom>
              <a:avLst/>
              <a:gdLst/>
              <a:ahLst/>
              <a:cxnLst/>
              <a:rect l="l" t="t" r="r" b="b"/>
              <a:pathLst>
                <a:path w="11460480" h="853440">
                  <a:moveTo>
                    <a:pt x="0" y="0"/>
                  </a:moveTo>
                  <a:lnTo>
                    <a:pt x="11460480" y="0"/>
                  </a:lnTo>
                  <a:lnTo>
                    <a:pt x="11460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11656" b="-211656"/>
              </a:stretch>
            </a:blipFill>
          </p:spPr>
        </p:sp>
        <p:sp>
          <p:nvSpPr>
            <p:cNvPr id="293" name="TextBox 55">
              <a:extLst>
                <a:ext uri="{FF2B5EF4-FFF2-40B4-BE49-F238E27FC236}">
                  <a16:creationId xmlns:a16="http://schemas.microsoft.com/office/drawing/2014/main" id="{D0A4AF53-C047-169E-217B-1FEE507031F2}"/>
                </a:ext>
              </a:extLst>
            </p:cNvPr>
            <p:cNvSpPr txBox="1"/>
            <p:nvPr/>
          </p:nvSpPr>
          <p:spPr>
            <a:xfrm>
              <a:off x="0" y="-9525"/>
              <a:ext cx="11460480" cy="8629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00"/>
                </a:lnSpc>
              </a:pPr>
              <a:r>
                <a:rPr lang="en-US" sz="10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온도 -0.28</a:t>
              </a:r>
              <a:r>
                <a:rPr lang="en-US" sz="100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 ≈  </a:t>
              </a:r>
              <a:r>
                <a:rPr lang="en-US" sz="10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전력 -0.11</a:t>
              </a:r>
              <a:r>
                <a:rPr lang="en-US" sz="100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 ≈  </a:t>
              </a:r>
              <a:r>
                <a:rPr lang="en-US" sz="100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전류 -0.10</a:t>
              </a:r>
            </a:p>
          </p:txBody>
        </p:sp>
      </p:grpSp>
      <p:grpSp>
        <p:nvGrpSpPr>
          <p:cNvPr id="294" name="Group 56">
            <a:extLst>
              <a:ext uri="{FF2B5EF4-FFF2-40B4-BE49-F238E27FC236}">
                <a16:creationId xmlns:a16="http://schemas.microsoft.com/office/drawing/2014/main" id="{3CD69A97-3B4E-1401-902F-62A448605CEB}"/>
              </a:ext>
            </a:extLst>
          </p:cNvPr>
          <p:cNvGrpSpPr/>
          <p:nvPr/>
        </p:nvGrpSpPr>
        <p:grpSpPr>
          <a:xfrm>
            <a:off x="4323483" y="2901284"/>
            <a:ext cx="4297680" cy="205740"/>
            <a:chOff x="0" y="0"/>
            <a:chExt cx="11460480" cy="548640"/>
          </a:xfrm>
        </p:grpSpPr>
        <p:sp>
          <p:nvSpPr>
            <p:cNvPr id="295" name="Freeform 57">
              <a:extLst>
                <a:ext uri="{FF2B5EF4-FFF2-40B4-BE49-F238E27FC236}">
                  <a16:creationId xmlns:a16="http://schemas.microsoft.com/office/drawing/2014/main" id="{017F86B2-C8EB-5F03-7812-4BCC001F70FC}"/>
                </a:ext>
              </a:extLst>
            </p:cNvPr>
            <p:cNvSpPr/>
            <p:nvPr/>
          </p:nvSpPr>
          <p:spPr>
            <a:xfrm>
              <a:off x="0" y="0"/>
              <a:ext cx="11460480" cy="548640"/>
            </a:xfrm>
            <a:custGeom>
              <a:avLst/>
              <a:gdLst/>
              <a:ahLst/>
              <a:cxnLst/>
              <a:rect l="l" t="t" r="r" b="b"/>
              <a:pathLst>
                <a:path w="11460480" h="548640">
                  <a:moveTo>
                    <a:pt x="0" y="0"/>
                  </a:moveTo>
                  <a:lnTo>
                    <a:pt x="11460480" y="0"/>
                  </a:lnTo>
                  <a:lnTo>
                    <a:pt x="1146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57020" b="-357020"/>
              </a:stretch>
            </a:blipFill>
          </p:spPr>
        </p:sp>
        <p:sp>
          <p:nvSpPr>
            <p:cNvPr id="296" name="TextBox 58">
              <a:extLst>
                <a:ext uri="{FF2B5EF4-FFF2-40B4-BE49-F238E27FC236}">
                  <a16:creationId xmlns:a16="http://schemas.microsoft.com/office/drawing/2014/main" id="{6EB62AE9-5143-FDAE-8932-6C21DC22A523}"/>
                </a:ext>
              </a:extLst>
            </p:cNvPr>
            <p:cNvSpPr txBox="1"/>
            <p:nvPr/>
          </p:nvSpPr>
          <p:spPr>
            <a:xfrm>
              <a:off x="0" y="-19050"/>
              <a:ext cx="1146048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10"/>
                </a:lnSpc>
              </a:pPr>
              <a:r>
                <a:rPr lang="en-US" sz="675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"/>
                </a:rPr>
                <a:t>→ 단일 변수로는 정상 · 불량 분리 한계</a:t>
              </a:r>
            </a:p>
          </p:txBody>
        </p:sp>
      </p:grpSp>
      <p:grpSp>
        <p:nvGrpSpPr>
          <p:cNvPr id="297" name="Group 59">
            <a:extLst>
              <a:ext uri="{FF2B5EF4-FFF2-40B4-BE49-F238E27FC236}">
                <a16:creationId xmlns:a16="http://schemas.microsoft.com/office/drawing/2014/main" id="{7EF00804-B77D-5560-20B7-4C03ED532CB8}"/>
              </a:ext>
            </a:extLst>
          </p:cNvPr>
          <p:cNvGrpSpPr/>
          <p:nvPr/>
        </p:nvGrpSpPr>
        <p:grpSpPr>
          <a:xfrm>
            <a:off x="4094883" y="3257900"/>
            <a:ext cx="4754880" cy="548640"/>
            <a:chOff x="0" y="0"/>
            <a:chExt cx="12679680" cy="1463040"/>
          </a:xfrm>
        </p:grpSpPr>
        <p:sp>
          <p:nvSpPr>
            <p:cNvPr id="298" name="Freeform 60">
              <a:extLst>
                <a:ext uri="{FF2B5EF4-FFF2-40B4-BE49-F238E27FC236}">
                  <a16:creationId xmlns:a16="http://schemas.microsoft.com/office/drawing/2014/main" id="{7DDDDA63-2488-C05F-179C-46E0132130F1}"/>
                </a:ext>
              </a:extLst>
            </p:cNvPr>
            <p:cNvSpPr/>
            <p:nvPr/>
          </p:nvSpPr>
          <p:spPr>
            <a:xfrm>
              <a:off x="0" y="0"/>
              <a:ext cx="12679680" cy="1463040"/>
            </a:xfrm>
            <a:custGeom>
              <a:avLst/>
              <a:gdLst/>
              <a:ahLst/>
              <a:cxnLst/>
              <a:rect l="l" t="t" r="r" b="b"/>
              <a:pathLst>
                <a:path w="12679680" h="1463040">
                  <a:moveTo>
                    <a:pt x="0" y="85344"/>
                  </a:moveTo>
                  <a:cubicBezTo>
                    <a:pt x="0" y="38227"/>
                    <a:pt x="38227" y="0"/>
                    <a:pt x="85344" y="0"/>
                  </a:cubicBezTo>
                  <a:lnTo>
                    <a:pt x="12594336" y="0"/>
                  </a:lnTo>
                  <a:cubicBezTo>
                    <a:pt x="12641453" y="0"/>
                    <a:pt x="12679680" y="38227"/>
                    <a:pt x="12679680" y="85344"/>
                  </a:cubicBezTo>
                  <a:lnTo>
                    <a:pt x="12679680" y="1377696"/>
                  </a:lnTo>
                  <a:cubicBezTo>
                    <a:pt x="12679680" y="1424813"/>
                    <a:pt x="12641453" y="1463040"/>
                    <a:pt x="12594336" y="1463040"/>
                  </a:cubicBezTo>
                  <a:lnTo>
                    <a:pt x="85344" y="1463040"/>
                  </a:lnTo>
                  <a:cubicBezTo>
                    <a:pt x="38227" y="1463040"/>
                    <a:pt x="0" y="1424813"/>
                    <a:pt x="0" y="1377696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299" name="Group 61">
            <a:extLst>
              <a:ext uri="{FF2B5EF4-FFF2-40B4-BE49-F238E27FC236}">
                <a16:creationId xmlns:a16="http://schemas.microsoft.com/office/drawing/2014/main" id="{5FD27D1B-82DF-94F2-4984-A60B08A1E137}"/>
              </a:ext>
            </a:extLst>
          </p:cNvPr>
          <p:cNvGrpSpPr/>
          <p:nvPr/>
        </p:nvGrpSpPr>
        <p:grpSpPr>
          <a:xfrm>
            <a:off x="4323483" y="3257900"/>
            <a:ext cx="4297680" cy="548640"/>
            <a:chOff x="0" y="0"/>
            <a:chExt cx="11460480" cy="1463040"/>
          </a:xfrm>
        </p:grpSpPr>
        <p:sp>
          <p:nvSpPr>
            <p:cNvPr id="300" name="Freeform 62">
              <a:extLst>
                <a:ext uri="{FF2B5EF4-FFF2-40B4-BE49-F238E27FC236}">
                  <a16:creationId xmlns:a16="http://schemas.microsoft.com/office/drawing/2014/main" id="{D45F5E47-9AD3-882E-9B25-9B07306C5222}"/>
                </a:ext>
              </a:extLst>
            </p:cNvPr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02632" b="-102632"/>
              </a:stretch>
            </a:blipFill>
          </p:spPr>
        </p:sp>
        <p:sp>
          <p:nvSpPr>
            <p:cNvPr id="301" name="TextBox 63">
              <a:extLst>
                <a:ext uri="{FF2B5EF4-FFF2-40B4-BE49-F238E27FC236}">
                  <a16:creationId xmlns:a16="http://schemas.microsoft.com/office/drawing/2014/main" id="{C1B950F3-3946-B4D0-2043-5C34CAE3F17B}"/>
                </a:ext>
              </a:extLst>
            </p:cNvPr>
            <p:cNvSpPr txBox="1"/>
            <p:nvPr/>
          </p:nvSpPr>
          <p:spPr>
            <a:xfrm>
              <a:off x="0" y="-9525"/>
              <a:ext cx="1146048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40"/>
                </a:lnSpc>
              </a:pPr>
              <a:r>
                <a:rPr lang="en-US" sz="9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결합 · 이탈(z) 피처로 판별력 확보</a:t>
              </a:r>
            </a:p>
          </p:txBody>
        </p:sp>
      </p:grpSp>
      <p:grpSp>
        <p:nvGrpSpPr>
          <p:cNvPr id="302" name="Group 64">
            <a:extLst>
              <a:ext uri="{FF2B5EF4-FFF2-40B4-BE49-F238E27FC236}">
                <a16:creationId xmlns:a16="http://schemas.microsoft.com/office/drawing/2014/main" id="{04E5AFDF-A839-1255-96C1-C47CE7640B4F}"/>
              </a:ext>
            </a:extLst>
          </p:cNvPr>
          <p:cNvGrpSpPr/>
          <p:nvPr/>
        </p:nvGrpSpPr>
        <p:grpSpPr>
          <a:xfrm>
            <a:off x="1057445" y="1056577"/>
            <a:ext cx="497128" cy="209317"/>
            <a:chOff x="0" y="0"/>
            <a:chExt cx="1738719" cy="732092"/>
          </a:xfrm>
        </p:grpSpPr>
        <p:sp>
          <p:nvSpPr>
            <p:cNvPr id="303" name="Freeform 65">
              <a:extLst>
                <a:ext uri="{FF2B5EF4-FFF2-40B4-BE49-F238E27FC236}">
                  <a16:creationId xmlns:a16="http://schemas.microsoft.com/office/drawing/2014/main" id="{B281761E-2090-850E-6016-A0601353171B}"/>
                </a:ext>
              </a:extLst>
            </p:cNvPr>
            <p:cNvSpPr/>
            <p:nvPr/>
          </p:nvSpPr>
          <p:spPr>
            <a:xfrm>
              <a:off x="0" y="0"/>
              <a:ext cx="1738718" cy="732092"/>
            </a:xfrm>
            <a:custGeom>
              <a:avLst/>
              <a:gdLst/>
              <a:ahLst/>
              <a:cxnLst/>
              <a:rect l="l" t="t" r="r" b="b"/>
              <a:pathLst>
                <a:path w="1738718" h="732092">
                  <a:moveTo>
                    <a:pt x="0" y="0"/>
                  </a:moveTo>
                  <a:lnTo>
                    <a:pt x="1738718" y="0"/>
                  </a:lnTo>
                  <a:lnTo>
                    <a:pt x="173871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022" r="-4022"/>
              </a:stretch>
            </a:blipFill>
          </p:spPr>
        </p:sp>
        <p:sp>
          <p:nvSpPr>
            <p:cNvPr id="304" name="TextBox 66">
              <a:extLst>
                <a:ext uri="{FF2B5EF4-FFF2-40B4-BE49-F238E27FC236}">
                  <a16:creationId xmlns:a16="http://schemas.microsoft.com/office/drawing/2014/main" id="{B1AC3C68-3816-6BC0-3C54-F89DA73F3B91}"/>
                </a:ext>
              </a:extLst>
            </p:cNvPr>
            <p:cNvSpPr txBox="1"/>
            <p:nvPr/>
          </p:nvSpPr>
          <p:spPr>
            <a:xfrm>
              <a:off x="0" y="-47625"/>
              <a:ext cx="1738719" cy="7797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전압</a:t>
              </a:r>
            </a:p>
          </p:txBody>
        </p:sp>
      </p:grpSp>
      <p:grpSp>
        <p:nvGrpSpPr>
          <p:cNvPr id="305" name="Group 67">
            <a:extLst>
              <a:ext uri="{FF2B5EF4-FFF2-40B4-BE49-F238E27FC236}">
                <a16:creationId xmlns:a16="http://schemas.microsoft.com/office/drawing/2014/main" id="{FACAE07D-19FD-1962-A8CA-CA4B0FAA5E67}"/>
              </a:ext>
            </a:extLst>
          </p:cNvPr>
          <p:cNvGrpSpPr/>
          <p:nvPr/>
        </p:nvGrpSpPr>
        <p:grpSpPr>
          <a:xfrm>
            <a:off x="1617365" y="1056577"/>
            <a:ext cx="497128" cy="209317"/>
            <a:chOff x="0" y="0"/>
            <a:chExt cx="1738719" cy="732092"/>
          </a:xfrm>
        </p:grpSpPr>
        <p:sp>
          <p:nvSpPr>
            <p:cNvPr id="306" name="Freeform 68">
              <a:extLst>
                <a:ext uri="{FF2B5EF4-FFF2-40B4-BE49-F238E27FC236}">
                  <a16:creationId xmlns:a16="http://schemas.microsoft.com/office/drawing/2014/main" id="{1B2C452C-2B06-BEEA-A23F-6F88E52271AE}"/>
                </a:ext>
              </a:extLst>
            </p:cNvPr>
            <p:cNvSpPr/>
            <p:nvPr/>
          </p:nvSpPr>
          <p:spPr>
            <a:xfrm>
              <a:off x="0" y="0"/>
              <a:ext cx="1738718" cy="732092"/>
            </a:xfrm>
            <a:custGeom>
              <a:avLst/>
              <a:gdLst/>
              <a:ahLst/>
              <a:cxnLst/>
              <a:rect l="l" t="t" r="r" b="b"/>
              <a:pathLst>
                <a:path w="1738718" h="732092">
                  <a:moveTo>
                    <a:pt x="0" y="0"/>
                  </a:moveTo>
                  <a:lnTo>
                    <a:pt x="1738718" y="0"/>
                  </a:lnTo>
                  <a:lnTo>
                    <a:pt x="173871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022" r="-4022"/>
              </a:stretch>
            </a:blipFill>
          </p:spPr>
        </p:sp>
        <p:sp>
          <p:nvSpPr>
            <p:cNvPr id="307" name="TextBox 69">
              <a:extLst>
                <a:ext uri="{FF2B5EF4-FFF2-40B4-BE49-F238E27FC236}">
                  <a16:creationId xmlns:a16="http://schemas.microsoft.com/office/drawing/2014/main" id="{D444BF01-CA0B-706F-DD29-357BF7A68A05}"/>
                </a:ext>
              </a:extLst>
            </p:cNvPr>
            <p:cNvSpPr txBox="1"/>
            <p:nvPr/>
          </p:nvSpPr>
          <p:spPr>
            <a:xfrm>
              <a:off x="0" y="-47625"/>
              <a:ext cx="1738719" cy="7797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전류</a:t>
              </a:r>
            </a:p>
          </p:txBody>
        </p:sp>
      </p:grpSp>
      <p:grpSp>
        <p:nvGrpSpPr>
          <p:cNvPr id="308" name="Group 70">
            <a:extLst>
              <a:ext uri="{FF2B5EF4-FFF2-40B4-BE49-F238E27FC236}">
                <a16:creationId xmlns:a16="http://schemas.microsoft.com/office/drawing/2014/main" id="{E2146A86-A6A4-AA95-D4A3-4CBF00A33459}"/>
              </a:ext>
            </a:extLst>
          </p:cNvPr>
          <p:cNvGrpSpPr/>
          <p:nvPr/>
        </p:nvGrpSpPr>
        <p:grpSpPr>
          <a:xfrm>
            <a:off x="2177290" y="1056577"/>
            <a:ext cx="497128" cy="209317"/>
            <a:chOff x="0" y="0"/>
            <a:chExt cx="1738719" cy="732092"/>
          </a:xfrm>
        </p:grpSpPr>
        <p:sp>
          <p:nvSpPr>
            <p:cNvPr id="309" name="Freeform 71">
              <a:extLst>
                <a:ext uri="{FF2B5EF4-FFF2-40B4-BE49-F238E27FC236}">
                  <a16:creationId xmlns:a16="http://schemas.microsoft.com/office/drawing/2014/main" id="{A3011B29-10AC-EB01-6DE1-FAC1D1628D76}"/>
                </a:ext>
              </a:extLst>
            </p:cNvPr>
            <p:cNvSpPr/>
            <p:nvPr/>
          </p:nvSpPr>
          <p:spPr>
            <a:xfrm>
              <a:off x="0" y="0"/>
              <a:ext cx="1738718" cy="732092"/>
            </a:xfrm>
            <a:custGeom>
              <a:avLst/>
              <a:gdLst/>
              <a:ahLst/>
              <a:cxnLst/>
              <a:rect l="l" t="t" r="r" b="b"/>
              <a:pathLst>
                <a:path w="1738718" h="732092">
                  <a:moveTo>
                    <a:pt x="0" y="0"/>
                  </a:moveTo>
                  <a:lnTo>
                    <a:pt x="1738718" y="0"/>
                  </a:lnTo>
                  <a:lnTo>
                    <a:pt x="173871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022" r="-4022"/>
              </a:stretch>
            </a:blipFill>
          </p:spPr>
        </p:sp>
        <p:sp>
          <p:nvSpPr>
            <p:cNvPr id="310" name="TextBox 72">
              <a:extLst>
                <a:ext uri="{FF2B5EF4-FFF2-40B4-BE49-F238E27FC236}">
                  <a16:creationId xmlns:a16="http://schemas.microsoft.com/office/drawing/2014/main" id="{553182F4-EC01-1B80-CA6D-52F3356EF091}"/>
                </a:ext>
              </a:extLst>
            </p:cNvPr>
            <p:cNvSpPr txBox="1"/>
            <p:nvPr/>
          </p:nvSpPr>
          <p:spPr>
            <a:xfrm>
              <a:off x="0" y="-47625"/>
              <a:ext cx="1738719" cy="7797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온도</a:t>
              </a:r>
            </a:p>
          </p:txBody>
        </p:sp>
      </p:grpSp>
      <p:grpSp>
        <p:nvGrpSpPr>
          <p:cNvPr id="311" name="Group 73">
            <a:extLst>
              <a:ext uri="{FF2B5EF4-FFF2-40B4-BE49-F238E27FC236}">
                <a16:creationId xmlns:a16="http://schemas.microsoft.com/office/drawing/2014/main" id="{A1583861-F3E3-1749-DFE3-5CDDC0016513}"/>
              </a:ext>
            </a:extLst>
          </p:cNvPr>
          <p:cNvGrpSpPr/>
          <p:nvPr/>
        </p:nvGrpSpPr>
        <p:grpSpPr>
          <a:xfrm>
            <a:off x="2737210" y="1056577"/>
            <a:ext cx="497128" cy="209317"/>
            <a:chOff x="0" y="0"/>
            <a:chExt cx="1738719" cy="732092"/>
          </a:xfrm>
        </p:grpSpPr>
        <p:sp>
          <p:nvSpPr>
            <p:cNvPr id="312" name="Freeform 74">
              <a:extLst>
                <a:ext uri="{FF2B5EF4-FFF2-40B4-BE49-F238E27FC236}">
                  <a16:creationId xmlns:a16="http://schemas.microsoft.com/office/drawing/2014/main" id="{C83B8CC7-C352-3150-9D39-0FEAEB5172ED}"/>
                </a:ext>
              </a:extLst>
            </p:cNvPr>
            <p:cNvSpPr/>
            <p:nvPr/>
          </p:nvSpPr>
          <p:spPr>
            <a:xfrm>
              <a:off x="0" y="0"/>
              <a:ext cx="1738718" cy="732092"/>
            </a:xfrm>
            <a:custGeom>
              <a:avLst/>
              <a:gdLst/>
              <a:ahLst/>
              <a:cxnLst/>
              <a:rect l="l" t="t" r="r" b="b"/>
              <a:pathLst>
                <a:path w="1738718" h="732092">
                  <a:moveTo>
                    <a:pt x="0" y="0"/>
                  </a:moveTo>
                  <a:lnTo>
                    <a:pt x="1738718" y="0"/>
                  </a:lnTo>
                  <a:lnTo>
                    <a:pt x="173871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022" r="-4022"/>
              </a:stretch>
            </a:blipFill>
          </p:spPr>
        </p:sp>
        <p:sp>
          <p:nvSpPr>
            <p:cNvPr id="313" name="TextBox 75">
              <a:extLst>
                <a:ext uri="{FF2B5EF4-FFF2-40B4-BE49-F238E27FC236}">
                  <a16:creationId xmlns:a16="http://schemas.microsoft.com/office/drawing/2014/main" id="{9C9D88B1-964D-591F-5D0A-9363DD9D4785}"/>
                </a:ext>
              </a:extLst>
            </p:cNvPr>
            <p:cNvSpPr txBox="1"/>
            <p:nvPr/>
          </p:nvSpPr>
          <p:spPr>
            <a:xfrm>
              <a:off x="0" y="-47625"/>
              <a:ext cx="1738719" cy="7797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전력</a:t>
              </a:r>
            </a:p>
          </p:txBody>
        </p:sp>
      </p:grpSp>
      <p:grpSp>
        <p:nvGrpSpPr>
          <p:cNvPr id="314" name="Group 76">
            <a:extLst>
              <a:ext uri="{FF2B5EF4-FFF2-40B4-BE49-F238E27FC236}">
                <a16:creationId xmlns:a16="http://schemas.microsoft.com/office/drawing/2014/main" id="{556D7262-0074-DE54-F60E-EC0ECB703A7E}"/>
              </a:ext>
            </a:extLst>
          </p:cNvPr>
          <p:cNvGrpSpPr/>
          <p:nvPr/>
        </p:nvGrpSpPr>
        <p:grpSpPr>
          <a:xfrm>
            <a:off x="3297131" y="1056577"/>
            <a:ext cx="497128" cy="209317"/>
            <a:chOff x="0" y="0"/>
            <a:chExt cx="1738719" cy="732092"/>
          </a:xfrm>
        </p:grpSpPr>
        <p:sp>
          <p:nvSpPr>
            <p:cNvPr id="315" name="Freeform 77">
              <a:extLst>
                <a:ext uri="{FF2B5EF4-FFF2-40B4-BE49-F238E27FC236}">
                  <a16:creationId xmlns:a16="http://schemas.microsoft.com/office/drawing/2014/main" id="{1453BE61-7EE9-8AC5-4E99-2082A0E57FAE}"/>
                </a:ext>
              </a:extLst>
            </p:cNvPr>
            <p:cNvSpPr/>
            <p:nvPr/>
          </p:nvSpPr>
          <p:spPr>
            <a:xfrm>
              <a:off x="0" y="0"/>
              <a:ext cx="1738718" cy="732092"/>
            </a:xfrm>
            <a:custGeom>
              <a:avLst/>
              <a:gdLst/>
              <a:ahLst/>
              <a:cxnLst/>
              <a:rect l="l" t="t" r="r" b="b"/>
              <a:pathLst>
                <a:path w="1738718" h="732092">
                  <a:moveTo>
                    <a:pt x="0" y="0"/>
                  </a:moveTo>
                  <a:lnTo>
                    <a:pt x="1738718" y="0"/>
                  </a:lnTo>
                  <a:lnTo>
                    <a:pt x="1738718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022" r="-4022"/>
              </a:stretch>
            </a:blipFill>
          </p:spPr>
        </p:sp>
        <p:sp>
          <p:nvSpPr>
            <p:cNvPr id="316" name="TextBox 78">
              <a:extLst>
                <a:ext uri="{FF2B5EF4-FFF2-40B4-BE49-F238E27FC236}">
                  <a16:creationId xmlns:a16="http://schemas.microsoft.com/office/drawing/2014/main" id="{5AF30E5B-6000-D2F2-49C9-A655D9868FAA}"/>
                </a:ext>
              </a:extLst>
            </p:cNvPr>
            <p:cNvSpPr txBox="1"/>
            <p:nvPr/>
          </p:nvSpPr>
          <p:spPr>
            <a:xfrm>
              <a:off x="0" y="-47625"/>
              <a:ext cx="1738719" cy="7797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불량</a:t>
              </a:r>
            </a:p>
          </p:txBody>
        </p:sp>
      </p:grpSp>
      <p:grpSp>
        <p:nvGrpSpPr>
          <p:cNvPr id="317" name="Group 79">
            <a:extLst>
              <a:ext uri="{FF2B5EF4-FFF2-40B4-BE49-F238E27FC236}">
                <a16:creationId xmlns:a16="http://schemas.microsoft.com/office/drawing/2014/main" id="{8EBF938C-A472-6967-11CA-F53A866FA252}"/>
              </a:ext>
            </a:extLst>
          </p:cNvPr>
          <p:cNvGrpSpPr/>
          <p:nvPr/>
        </p:nvGrpSpPr>
        <p:grpSpPr>
          <a:xfrm>
            <a:off x="560318" y="1318222"/>
            <a:ext cx="444799" cy="497128"/>
            <a:chOff x="0" y="0"/>
            <a:chExt cx="1555699" cy="1738719"/>
          </a:xfrm>
        </p:grpSpPr>
        <p:sp>
          <p:nvSpPr>
            <p:cNvPr id="318" name="Freeform 80">
              <a:extLst>
                <a:ext uri="{FF2B5EF4-FFF2-40B4-BE49-F238E27FC236}">
                  <a16:creationId xmlns:a16="http://schemas.microsoft.com/office/drawing/2014/main" id="{E92D9895-023A-4FC2-DB47-1CA8F1DBA10C}"/>
                </a:ext>
              </a:extLst>
            </p:cNvPr>
            <p:cNvSpPr/>
            <p:nvPr/>
          </p:nvSpPr>
          <p:spPr>
            <a:xfrm>
              <a:off x="0" y="0"/>
              <a:ext cx="1555695" cy="1738718"/>
            </a:xfrm>
            <a:custGeom>
              <a:avLst/>
              <a:gdLst/>
              <a:ahLst/>
              <a:cxnLst/>
              <a:rect l="l" t="t" r="r" b="b"/>
              <a:pathLst>
                <a:path w="1555695" h="1738718">
                  <a:moveTo>
                    <a:pt x="0" y="0"/>
                  </a:moveTo>
                  <a:lnTo>
                    <a:pt x="1555695" y="0"/>
                  </a:lnTo>
                  <a:lnTo>
                    <a:pt x="1555695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93398" r="-93398"/>
              </a:stretch>
            </a:blipFill>
          </p:spPr>
        </p:sp>
        <p:sp>
          <p:nvSpPr>
            <p:cNvPr id="319" name="TextBox 81">
              <a:extLst>
                <a:ext uri="{FF2B5EF4-FFF2-40B4-BE49-F238E27FC236}">
                  <a16:creationId xmlns:a16="http://schemas.microsoft.com/office/drawing/2014/main" id="{2CD136F7-789F-6C80-DD11-ACE1817DC12D}"/>
                </a:ext>
              </a:extLst>
            </p:cNvPr>
            <p:cNvSpPr txBox="1"/>
            <p:nvPr/>
          </p:nvSpPr>
          <p:spPr>
            <a:xfrm>
              <a:off x="0" y="-47625"/>
              <a:ext cx="1555699" cy="178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전압</a:t>
              </a:r>
            </a:p>
          </p:txBody>
        </p:sp>
      </p:grpSp>
      <p:grpSp>
        <p:nvGrpSpPr>
          <p:cNvPr id="320" name="Group 82">
            <a:extLst>
              <a:ext uri="{FF2B5EF4-FFF2-40B4-BE49-F238E27FC236}">
                <a16:creationId xmlns:a16="http://schemas.microsoft.com/office/drawing/2014/main" id="{E4337991-ADB7-606E-3638-26493D3FCBB3}"/>
              </a:ext>
            </a:extLst>
          </p:cNvPr>
          <p:cNvGrpSpPr/>
          <p:nvPr/>
        </p:nvGrpSpPr>
        <p:grpSpPr>
          <a:xfrm>
            <a:off x="1057445" y="1318222"/>
            <a:ext cx="497128" cy="497128"/>
            <a:chOff x="0" y="0"/>
            <a:chExt cx="1738719" cy="1738719"/>
          </a:xfrm>
        </p:grpSpPr>
        <p:sp>
          <p:nvSpPr>
            <p:cNvPr id="321" name="Freeform 83">
              <a:extLst>
                <a:ext uri="{FF2B5EF4-FFF2-40B4-BE49-F238E27FC236}">
                  <a16:creationId xmlns:a16="http://schemas.microsoft.com/office/drawing/2014/main" id="{EB04A29F-93F3-8F51-02D9-A00F72F743DE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A6E3A"/>
            </a:solidFill>
          </p:spPr>
        </p:sp>
      </p:grpSp>
      <p:grpSp>
        <p:nvGrpSpPr>
          <p:cNvPr id="322" name="Group 84">
            <a:extLst>
              <a:ext uri="{FF2B5EF4-FFF2-40B4-BE49-F238E27FC236}">
                <a16:creationId xmlns:a16="http://schemas.microsoft.com/office/drawing/2014/main" id="{2B0DF00A-7695-BA7A-A48E-2708477AC67C}"/>
              </a:ext>
            </a:extLst>
          </p:cNvPr>
          <p:cNvGrpSpPr/>
          <p:nvPr/>
        </p:nvGrpSpPr>
        <p:grpSpPr>
          <a:xfrm>
            <a:off x="1057445" y="1318222"/>
            <a:ext cx="497128" cy="497128"/>
            <a:chOff x="0" y="0"/>
            <a:chExt cx="1738719" cy="1738719"/>
          </a:xfrm>
        </p:grpSpPr>
        <p:sp>
          <p:nvSpPr>
            <p:cNvPr id="323" name="Freeform 85">
              <a:extLst>
                <a:ext uri="{FF2B5EF4-FFF2-40B4-BE49-F238E27FC236}">
                  <a16:creationId xmlns:a16="http://schemas.microsoft.com/office/drawing/2014/main" id="{54E20A5B-164D-8F33-A63F-84200C4AD038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4" name="TextBox 86">
              <a:extLst>
                <a:ext uri="{FF2B5EF4-FFF2-40B4-BE49-F238E27FC236}">
                  <a16:creationId xmlns:a16="http://schemas.microsoft.com/office/drawing/2014/main" id="{017CF046-1501-6E54-6398-82FA49DF50DB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1.00</a:t>
              </a:r>
            </a:p>
          </p:txBody>
        </p:sp>
      </p:grpSp>
      <p:grpSp>
        <p:nvGrpSpPr>
          <p:cNvPr id="325" name="Group 87">
            <a:extLst>
              <a:ext uri="{FF2B5EF4-FFF2-40B4-BE49-F238E27FC236}">
                <a16:creationId xmlns:a16="http://schemas.microsoft.com/office/drawing/2014/main" id="{0BE72E86-98F5-0EAA-B1FE-4FE3DD27E65C}"/>
              </a:ext>
            </a:extLst>
          </p:cNvPr>
          <p:cNvGrpSpPr/>
          <p:nvPr/>
        </p:nvGrpSpPr>
        <p:grpSpPr>
          <a:xfrm>
            <a:off x="1617365" y="1318222"/>
            <a:ext cx="497128" cy="497128"/>
            <a:chOff x="0" y="0"/>
            <a:chExt cx="1738719" cy="1738719"/>
          </a:xfrm>
        </p:grpSpPr>
        <p:sp>
          <p:nvSpPr>
            <p:cNvPr id="326" name="Freeform 88">
              <a:extLst>
                <a:ext uri="{FF2B5EF4-FFF2-40B4-BE49-F238E27FC236}">
                  <a16:creationId xmlns:a16="http://schemas.microsoft.com/office/drawing/2014/main" id="{099C6835-A973-7688-31C9-BA38F5349122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98A583"/>
            </a:solidFill>
          </p:spPr>
        </p:sp>
      </p:grpSp>
      <p:grpSp>
        <p:nvGrpSpPr>
          <p:cNvPr id="327" name="Group 89">
            <a:extLst>
              <a:ext uri="{FF2B5EF4-FFF2-40B4-BE49-F238E27FC236}">
                <a16:creationId xmlns:a16="http://schemas.microsoft.com/office/drawing/2014/main" id="{7974814E-6A2D-64FB-DEA4-1AA0FD839B6A}"/>
              </a:ext>
            </a:extLst>
          </p:cNvPr>
          <p:cNvGrpSpPr/>
          <p:nvPr/>
        </p:nvGrpSpPr>
        <p:grpSpPr>
          <a:xfrm>
            <a:off x="1617365" y="1318222"/>
            <a:ext cx="497128" cy="497128"/>
            <a:chOff x="0" y="0"/>
            <a:chExt cx="1738719" cy="1738719"/>
          </a:xfrm>
        </p:grpSpPr>
        <p:sp>
          <p:nvSpPr>
            <p:cNvPr id="328" name="Freeform 90">
              <a:extLst>
                <a:ext uri="{FF2B5EF4-FFF2-40B4-BE49-F238E27FC236}">
                  <a16:creationId xmlns:a16="http://schemas.microsoft.com/office/drawing/2014/main" id="{64F37658-7A7F-031D-E933-6A49E93FC3C1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29" name="TextBox 91">
              <a:extLst>
                <a:ext uri="{FF2B5EF4-FFF2-40B4-BE49-F238E27FC236}">
                  <a16:creationId xmlns:a16="http://schemas.microsoft.com/office/drawing/2014/main" id="{24647941-319F-519C-FA48-EA17E97B3305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0.59</a:t>
              </a:r>
            </a:p>
          </p:txBody>
        </p:sp>
      </p:grpSp>
      <p:grpSp>
        <p:nvGrpSpPr>
          <p:cNvPr id="330" name="Group 92">
            <a:extLst>
              <a:ext uri="{FF2B5EF4-FFF2-40B4-BE49-F238E27FC236}">
                <a16:creationId xmlns:a16="http://schemas.microsoft.com/office/drawing/2014/main" id="{6EDF7E0B-E81F-0E65-95A6-2D08EA013784}"/>
              </a:ext>
            </a:extLst>
          </p:cNvPr>
          <p:cNvGrpSpPr/>
          <p:nvPr/>
        </p:nvGrpSpPr>
        <p:grpSpPr>
          <a:xfrm>
            <a:off x="2177290" y="1318222"/>
            <a:ext cx="497128" cy="497128"/>
            <a:chOff x="0" y="0"/>
            <a:chExt cx="1738719" cy="1738719"/>
          </a:xfrm>
        </p:grpSpPr>
        <p:sp>
          <p:nvSpPr>
            <p:cNvPr id="331" name="Freeform 93">
              <a:extLst>
                <a:ext uri="{FF2B5EF4-FFF2-40B4-BE49-F238E27FC236}">
                  <a16:creationId xmlns:a16="http://schemas.microsoft.com/office/drawing/2014/main" id="{2BFA5A55-7E94-4156-6EBF-19A8B0680A8F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F0E6"/>
            </a:solidFill>
          </p:spPr>
        </p:sp>
      </p:grpSp>
      <p:grpSp>
        <p:nvGrpSpPr>
          <p:cNvPr id="332" name="Group 94">
            <a:extLst>
              <a:ext uri="{FF2B5EF4-FFF2-40B4-BE49-F238E27FC236}">
                <a16:creationId xmlns:a16="http://schemas.microsoft.com/office/drawing/2014/main" id="{2B909DB3-8AE9-F0DA-2E4E-D80DB2061CBC}"/>
              </a:ext>
            </a:extLst>
          </p:cNvPr>
          <p:cNvGrpSpPr/>
          <p:nvPr/>
        </p:nvGrpSpPr>
        <p:grpSpPr>
          <a:xfrm>
            <a:off x="2177290" y="1318222"/>
            <a:ext cx="497128" cy="497128"/>
            <a:chOff x="0" y="0"/>
            <a:chExt cx="1738719" cy="1738719"/>
          </a:xfrm>
        </p:grpSpPr>
        <p:sp>
          <p:nvSpPr>
            <p:cNvPr id="333" name="Freeform 95">
              <a:extLst>
                <a:ext uri="{FF2B5EF4-FFF2-40B4-BE49-F238E27FC236}">
                  <a16:creationId xmlns:a16="http://schemas.microsoft.com/office/drawing/2014/main" id="{B76F5A69-3A44-7584-7F80-0A2C73F1C77B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4" name="TextBox 96">
              <a:extLst>
                <a:ext uri="{FF2B5EF4-FFF2-40B4-BE49-F238E27FC236}">
                  <a16:creationId xmlns:a16="http://schemas.microsoft.com/office/drawing/2014/main" id="{1778C649-61D8-C626-EFEC-FF8B317E7F0B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0.03</a:t>
              </a:r>
            </a:p>
          </p:txBody>
        </p:sp>
      </p:grpSp>
      <p:grpSp>
        <p:nvGrpSpPr>
          <p:cNvPr id="335" name="Group 97">
            <a:extLst>
              <a:ext uri="{FF2B5EF4-FFF2-40B4-BE49-F238E27FC236}">
                <a16:creationId xmlns:a16="http://schemas.microsoft.com/office/drawing/2014/main" id="{AD59BD1B-592A-6693-E648-146EE9B9387A}"/>
              </a:ext>
            </a:extLst>
          </p:cNvPr>
          <p:cNvGrpSpPr/>
          <p:nvPr/>
        </p:nvGrpSpPr>
        <p:grpSpPr>
          <a:xfrm>
            <a:off x="2737210" y="1318222"/>
            <a:ext cx="497128" cy="497128"/>
            <a:chOff x="0" y="0"/>
            <a:chExt cx="1738719" cy="1738719"/>
          </a:xfrm>
        </p:grpSpPr>
        <p:sp>
          <p:nvSpPr>
            <p:cNvPr id="336" name="Freeform 98">
              <a:extLst>
                <a:ext uri="{FF2B5EF4-FFF2-40B4-BE49-F238E27FC236}">
                  <a16:creationId xmlns:a16="http://schemas.microsoft.com/office/drawing/2014/main" id="{841DF7BB-2008-1A59-F88A-349FB01EB45B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8F9D78"/>
            </a:solidFill>
          </p:spPr>
        </p:sp>
      </p:grpSp>
      <p:grpSp>
        <p:nvGrpSpPr>
          <p:cNvPr id="337" name="Group 99">
            <a:extLst>
              <a:ext uri="{FF2B5EF4-FFF2-40B4-BE49-F238E27FC236}">
                <a16:creationId xmlns:a16="http://schemas.microsoft.com/office/drawing/2014/main" id="{4843E0B2-F339-FD03-83EE-68B92B6D7E0D}"/>
              </a:ext>
            </a:extLst>
          </p:cNvPr>
          <p:cNvGrpSpPr/>
          <p:nvPr/>
        </p:nvGrpSpPr>
        <p:grpSpPr>
          <a:xfrm>
            <a:off x="2737210" y="1318222"/>
            <a:ext cx="497128" cy="497128"/>
            <a:chOff x="0" y="0"/>
            <a:chExt cx="1738719" cy="1738719"/>
          </a:xfrm>
        </p:grpSpPr>
        <p:sp>
          <p:nvSpPr>
            <p:cNvPr id="338" name="Freeform 100">
              <a:extLst>
                <a:ext uri="{FF2B5EF4-FFF2-40B4-BE49-F238E27FC236}">
                  <a16:creationId xmlns:a16="http://schemas.microsoft.com/office/drawing/2014/main" id="{98E9E78D-B8B7-5100-F270-1A1C7BC7471D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9" name="TextBox 101">
              <a:extLst>
                <a:ext uri="{FF2B5EF4-FFF2-40B4-BE49-F238E27FC236}">
                  <a16:creationId xmlns:a16="http://schemas.microsoft.com/office/drawing/2014/main" id="{2CB17EC1-2A48-CB0A-E00D-D056D8F5B696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0.65</a:t>
              </a:r>
            </a:p>
          </p:txBody>
        </p:sp>
      </p:grpSp>
      <p:grpSp>
        <p:nvGrpSpPr>
          <p:cNvPr id="340" name="Group 102">
            <a:extLst>
              <a:ext uri="{FF2B5EF4-FFF2-40B4-BE49-F238E27FC236}">
                <a16:creationId xmlns:a16="http://schemas.microsoft.com/office/drawing/2014/main" id="{C1229F02-B917-01DF-F611-C62D13000E26}"/>
              </a:ext>
            </a:extLst>
          </p:cNvPr>
          <p:cNvGrpSpPr/>
          <p:nvPr/>
        </p:nvGrpSpPr>
        <p:grpSpPr>
          <a:xfrm>
            <a:off x="3297131" y="1318222"/>
            <a:ext cx="497128" cy="497128"/>
            <a:chOff x="0" y="0"/>
            <a:chExt cx="1738719" cy="1738719"/>
          </a:xfrm>
        </p:grpSpPr>
        <p:sp>
          <p:nvSpPr>
            <p:cNvPr id="341" name="Freeform 103">
              <a:extLst>
                <a:ext uri="{FF2B5EF4-FFF2-40B4-BE49-F238E27FC236}">
                  <a16:creationId xmlns:a16="http://schemas.microsoft.com/office/drawing/2014/main" id="{8BBC9396-B029-50AF-E97E-E1D9BC42A8B9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342" name="Group 104">
            <a:extLst>
              <a:ext uri="{FF2B5EF4-FFF2-40B4-BE49-F238E27FC236}">
                <a16:creationId xmlns:a16="http://schemas.microsoft.com/office/drawing/2014/main" id="{10F970CC-E539-4016-DE0F-5521E91CA427}"/>
              </a:ext>
            </a:extLst>
          </p:cNvPr>
          <p:cNvGrpSpPr/>
          <p:nvPr/>
        </p:nvGrpSpPr>
        <p:grpSpPr>
          <a:xfrm>
            <a:off x="3297131" y="1318222"/>
            <a:ext cx="497128" cy="497128"/>
            <a:chOff x="0" y="0"/>
            <a:chExt cx="1738719" cy="1738719"/>
          </a:xfrm>
        </p:grpSpPr>
        <p:sp>
          <p:nvSpPr>
            <p:cNvPr id="343" name="Freeform 105">
              <a:extLst>
                <a:ext uri="{FF2B5EF4-FFF2-40B4-BE49-F238E27FC236}">
                  <a16:creationId xmlns:a16="http://schemas.microsoft.com/office/drawing/2014/main" id="{A260DAC4-E206-5288-836D-220380D8B17E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4" name="TextBox 106">
              <a:extLst>
                <a:ext uri="{FF2B5EF4-FFF2-40B4-BE49-F238E27FC236}">
                  <a16:creationId xmlns:a16="http://schemas.microsoft.com/office/drawing/2014/main" id="{B4B80217-54DB-3E7E-318D-68C56CAB861F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-0.02</a:t>
              </a:r>
            </a:p>
          </p:txBody>
        </p:sp>
      </p:grpSp>
      <p:grpSp>
        <p:nvGrpSpPr>
          <p:cNvPr id="345" name="Group 107">
            <a:extLst>
              <a:ext uri="{FF2B5EF4-FFF2-40B4-BE49-F238E27FC236}">
                <a16:creationId xmlns:a16="http://schemas.microsoft.com/office/drawing/2014/main" id="{6D5FAB8E-6DC3-3137-FD30-0B878CDEF065}"/>
              </a:ext>
            </a:extLst>
          </p:cNvPr>
          <p:cNvGrpSpPr/>
          <p:nvPr/>
        </p:nvGrpSpPr>
        <p:grpSpPr>
          <a:xfrm>
            <a:off x="560318" y="1878146"/>
            <a:ext cx="444799" cy="497128"/>
            <a:chOff x="0" y="0"/>
            <a:chExt cx="1555699" cy="1738719"/>
          </a:xfrm>
        </p:grpSpPr>
        <p:sp>
          <p:nvSpPr>
            <p:cNvPr id="346" name="Freeform 108">
              <a:extLst>
                <a:ext uri="{FF2B5EF4-FFF2-40B4-BE49-F238E27FC236}">
                  <a16:creationId xmlns:a16="http://schemas.microsoft.com/office/drawing/2014/main" id="{0178351E-8A23-7865-627B-30B9D65E2CEE}"/>
                </a:ext>
              </a:extLst>
            </p:cNvPr>
            <p:cNvSpPr/>
            <p:nvPr/>
          </p:nvSpPr>
          <p:spPr>
            <a:xfrm>
              <a:off x="0" y="0"/>
              <a:ext cx="1555695" cy="1738718"/>
            </a:xfrm>
            <a:custGeom>
              <a:avLst/>
              <a:gdLst/>
              <a:ahLst/>
              <a:cxnLst/>
              <a:rect l="l" t="t" r="r" b="b"/>
              <a:pathLst>
                <a:path w="1555695" h="1738718">
                  <a:moveTo>
                    <a:pt x="0" y="0"/>
                  </a:moveTo>
                  <a:lnTo>
                    <a:pt x="1555695" y="0"/>
                  </a:lnTo>
                  <a:lnTo>
                    <a:pt x="1555695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93398" r="-93398"/>
              </a:stretch>
            </a:blipFill>
          </p:spPr>
        </p:sp>
        <p:sp>
          <p:nvSpPr>
            <p:cNvPr id="347" name="TextBox 109">
              <a:extLst>
                <a:ext uri="{FF2B5EF4-FFF2-40B4-BE49-F238E27FC236}">
                  <a16:creationId xmlns:a16="http://schemas.microsoft.com/office/drawing/2014/main" id="{52F6A1DD-D7FD-7D10-247A-EB08B2DD216B}"/>
                </a:ext>
              </a:extLst>
            </p:cNvPr>
            <p:cNvSpPr txBox="1"/>
            <p:nvPr/>
          </p:nvSpPr>
          <p:spPr>
            <a:xfrm>
              <a:off x="0" y="-47625"/>
              <a:ext cx="1555699" cy="178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전류</a:t>
              </a:r>
            </a:p>
          </p:txBody>
        </p:sp>
      </p:grpSp>
      <p:grpSp>
        <p:nvGrpSpPr>
          <p:cNvPr id="348" name="Group 110">
            <a:extLst>
              <a:ext uri="{FF2B5EF4-FFF2-40B4-BE49-F238E27FC236}">
                <a16:creationId xmlns:a16="http://schemas.microsoft.com/office/drawing/2014/main" id="{5294F250-5998-0DC2-5208-0F88F85417A3}"/>
              </a:ext>
            </a:extLst>
          </p:cNvPr>
          <p:cNvGrpSpPr/>
          <p:nvPr/>
        </p:nvGrpSpPr>
        <p:grpSpPr>
          <a:xfrm>
            <a:off x="1057445" y="1878146"/>
            <a:ext cx="497128" cy="497128"/>
            <a:chOff x="0" y="0"/>
            <a:chExt cx="1738719" cy="1738719"/>
          </a:xfrm>
        </p:grpSpPr>
        <p:sp>
          <p:nvSpPr>
            <p:cNvPr id="349" name="Freeform 111">
              <a:extLst>
                <a:ext uri="{FF2B5EF4-FFF2-40B4-BE49-F238E27FC236}">
                  <a16:creationId xmlns:a16="http://schemas.microsoft.com/office/drawing/2014/main" id="{D4296577-CA80-F29A-A020-A71CAAC3B178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98A583"/>
            </a:solidFill>
          </p:spPr>
        </p:sp>
      </p:grpSp>
      <p:grpSp>
        <p:nvGrpSpPr>
          <p:cNvPr id="350" name="Group 112">
            <a:extLst>
              <a:ext uri="{FF2B5EF4-FFF2-40B4-BE49-F238E27FC236}">
                <a16:creationId xmlns:a16="http://schemas.microsoft.com/office/drawing/2014/main" id="{A65A0056-F23E-85D3-CD32-7C649E26F46B}"/>
              </a:ext>
            </a:extLst>
          </p:cNvPr>
          <p:cNvGrpSpPr/>
          <p:nvPr/>
        </p:nvGrpSpPr>
        <p:grpSpPr>
          <a:xfrm>
            <a:off x="1057445" y="1878146"/>
            <a:ext cx="497128" cy="497128"/>
            <a:chOff x="0" y="0"/>
            <a:chExt cx="1738719" cy="1738719"/>
          </a:xfrm>
        </p:grpSpPr>
        <p:sp>
          <p:nvSpPr>
            <p:cNvPr id="351" name="Freeform 113">
              <a:extLst>
                <a:ext uri="{FF2B5EF4-FFF2-40B4-BE49-F238E27FC236}">
                  <a16:creationId xmlns:a16="http://schemas.microsoft.com/office/drawing/2014/main" id="{BA1270FF-B355-FAC0-7097-12172EFA28DE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52" name="TextBox 114">
              <a:extLst>
                <a:ext uri="{FF2B5EF4-FFF2-40B4-BE49-F238E27FC236}">
                  <a16:creationId xmlns:a16="http://schemas.microsoft.com/office/drawing/2014/main" id="{2FEF334D-DB8C-1524-E23E-9CEC82705606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0.59</a:t>
              </a:r>
            </a:p>
          </p:txBody>
        </p:sp>
      </p:grpSp>
      <p:grpSp>
        <p:nvGrpSpPr>
          <p:cNvPr id="353" name="Group 115">
            <a:extLst>
              <a:ext uri="{FF2B5EF4-FFF2-40B4-BE49-F238E27FC236}">
                <a16:creationId xmlns:a16="http://schemas.microsoft.com/office/drawing/2014/main" id="{18335C90-A337-014F-D8BA-4E3C9AA8E164}"/>
              </a:ext>
            </a:extLst>
          </p:cNvPr>
          <p:cNvGrpSpPr/>
          <p:nvPr/>
        </p:nvGrpSpPr>
        <p:grpSpPr>
          <a:xfrm>
            <a:off x="1617365" y="1878146"/>
            <a:ext cx="497128" cy="497128"/>
            <a:chOff x="0" y="0"/>
            <a:chExt cx="1738719" cy="1738719"/>
          </a:xfrm>
        </p:grpSpPr>
        <p:sp>
          <p:nvSpPr>
            <p:cNvPr id="354" name="Freeform 116">
              <a:extLst>
                <a:ext uri="{FF2B5EF4-FFF2-40B4-BE49-F238E27FC236}">
                  <a16:creationId xmlns:a16="http://schemas.microsoft.com/office/drawing/2014/main" id="{7659B535-133F-E14F-5F49-B2E0715CE393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A6E3A"/>
            </a:solidFill>
          </p:spPr>
        </p:sp>
      </p:grpSp>
      <p:grpSp>
        <p:nvGrpSpPr>
          <p:cNvPr id="355" name="Group 117">
            <a:extLst>
              <a:ext uri="{FF2B5EF4-FFF2-40B4-BE49-F238E27FC236}">
                <a16:creationId xmlns:a16="http://schemas.microsoft.com/office/drawing/2014/main" id="{633D7CE0-3863-966E-93E1-ED82546B73FD}"/>
              </a:ext>
            </a:extLst>
          </p:cNvPr>
          <p:cNvGrpSpPr/>
          <p:nvPr/>
        </p:nvGrpSpPr>
        <p:grpSpPr>
          <a:xfrm>
            <a:off x="1617365" y="1878146"/>
            <a:ext cx="497128" cy="497128"/>
            <a:chOff x="0" y="0"/>
            <a:chExt cx="1738719" cy="1738719"/>
          </a:xfrm>
        </p:grpSpPr>
        <p:sp>
          <p:nvSpPr>
            <p:cNvPr id="356" name="Freeform 118">
              <a:extLst>
                <a:ext uri="{FF2B5EF4-FFF2-40B4-BE49-F238E27FC236}">
                  <a16:creationId xmlns:a16="http://schemas.microsoft.com/office/drawing/2014/main" id="{31C58854-1A02-1744-A51A-07860F91ADD4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57" name="TextBox 119">
              <a:extLst>
                <a:ext uri="{FF2B5EF4-FFF2-40B4-BE49-F238E27FC236}">
                  <a16:creationId xmlns:a16="http://schemas.microsoft.com/office/drawing/2014/main" id="{2D5E105F-6B0C-C1C4-676E-1B97319FBFDA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1.00</a:t>
              </a:r>
            </a:p>
          </p:txBody>
        </p:sp>
      </p:grpSp>
      <p:grpSp>
        <p:nvGrpSpPr>
          <p:cNvPr id="358" name="Group 120">
            <a:extLst>
              <a:ext uri="{FF2B5EF4-FFF2-40B4-BE49-F238E27FC236}">
                <a16:creationId xmlns:a16="http://schemas.microsoft.com/office/drawing/2014/main" id="{F1188355-EE99-6DEC-6CCA-76F220F97119}"/>
              </a:ext>
            </a:extLst>
          </p:cNvPr>
          <p:cNvGrpSpPr/>
          <p:nvPr/>
        </p:nvGrpSpPr>
        <p:grpSpPr>
          <a:xfrm>
            <a:off x="2177290" y="1878146"/>
            <a:ext cx="497128" cy="497128"/>
            <a:chOff x="0" y="0"/>
            <a:chExt cx="1738719" cy="1738719"/>
          </a:xfrm>
        </p:grpSpPr>
        <p:sp>
          <p:nvSpPr>
            <p:cNvPr id="359" name="Freeform 121">
              <a:extLst>
                <a:ext uri="{FF2B5EF4-FFF2-40B4-BE49-F238E27FC236}">
                  <a16:creationId xmlns:a16="http://schemas.microsoft.com/office/drawing/2014/main" id="{9B282AEC-23F1-DE80-3E2B-2AAD3602CF69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B2BCA1"/>
            </a:solidFill>
          </p:spPr>
        </p:sp>
      </p:grpSp>
      <p:grpSp>
        <p:nvGrpSpPr>
          <p:cNvPr id="360" name="Group 122">
            <a:extLst>
              <a:ext uri="{FF2B5EF4-FFF2-40B4-BE49-F238E27FC236}">
                <a16:creationId xmlns:a16="http://schemas.microsoft.com/office/drawing/2014/main" id="{67F3A37D-9F7A-99E2-6566-1805EFC95C69}"/>
              </a:ext>
            </a:extLst>
          </p:cNvPr>
          <p:cNvGrpSpPr/>
          <p:nvPr/>
        </p:nvGrpSpPr>
        <p:grpSpPr>
          <a:xfrm>
            <a:off x="2177290" y="1878146"/>
            <a:ext cx="497128" cy="497128"/>
            <a:chOff x="0" y="0"/>
            <a:chExt cx="1738719" cy="1738719"/>
          </a:xfrm>
        </p:grpSpPr>
        <p:sp>
          <p:nvSpPr>
            <p:cNvPr id="361" name="Freeform 123">
              <a:extLst>
                <a:ext uri="{FF2B5EF4-FFF2-40B4-BE49-F238E27FC236}">
                  <a16:creationId xmlns:a16="http://schemas.microsoft.com/office/drawing/2014/main" id="{E7A09ADA-8DCA-C5C3-BB2D-1540062BA985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2" name="TextBox 124">
              <a:extLst>
                <a:ext uri="{FF2B5EF4-FFF2-40B4-BE49-F238E27FC236}">
                  <a16:creationId xmlns:a16="http://schemas.microsoft.com/office/drawing/2014/main" id="{49C025CC-7E75-4EB5-AF03-AED89E09FBC0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0.42</a:t>
              </a:r>
            </a:p>
          </p:txBody>
        </p:sp>
      </p:grpSp>
      <p:grpSp>
        <p:nvGrpSpPr>
          <p:cNvPr id="363" name="Group 125">
            <a:extLst>
              <a:ext uri="{FF2B5EF4-FFF2-40B4-BE49-F238E27FC236}">
                <a16:creationId xmlns:a16="http://schemas.microsoft.com/office/drawing/2014/main" id="{5155D474-191C-1823-BBE9-3481FBE1C9C2}"/>
              </a:ext>
            </a:extLst>
          </p:cNvPr>
          <p:cNvGrpSpPr/>
          <p:nvPr/>
        </p:nvGrpSpPr>
        <p:grpSpPr>
          <a:xfrm>
            <a:off x="2737210" y="1878146"/>
            <a:ext cx="497128" cy="497128"/>
            <a:chOff x="0" y="0"/>
            <a:chExt cx="1738719" cy="1738719"/>
          </a:xfrm>
        </p:grpSpPr>
        <p:sp>
          <p:nvSpPr>
            <p:cNvPr id="364" name="Freeform 126">
              <a:extLst>
                <a:ext uri="{FF2B5EF4-FFF2-40B4-BE49-F238E27FC236}">
                  <a16:creationId xmlns:a16="http://schemas.microsoft.com/office/drawing/2014/main" id="{9B97110C-78A6-320D-4AF8-E3C3C6642C4F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D713E"/>
            </a:solidFill>
          </p:spPr>
        </p:sp>
      </p:grpSp>
      <p:grpSp>
        <p:nvGrpSpPr>
          <p:cNvPr id="365" name="Group 127">
            <a:extLst>
              <a:ext uri="{FF2B5EF4-FFF2-40B4-BE49-F238E27FC236}">
                <a16:creationId xmlns:a16="http://schemas.microsoft.com/office/drawing/2014/main" id="{2C061DD5-D9E3-8B8B-0468-617EFBD94717}"/>
              </a:ext>
            </a:extLst>
          </p:cNvPr>
          <p:cNvGrpSpPr/>
          <p:nvPr/>
        </p:nvGrpSpPr>
        <p:grpSpPr>
          <a:xfrm>
            <a:off x="2737210" y="1878146"/>
            <a:ext cx="497128" cy="497128"/>
            <a:chOff x="0" y="0"/>
            <a:chExt cx="1738719" cy="1738719"/>
          </a:xfrm>
        </p:grpSpPr>
        <p:sp>
          <p:nvSpPr>
            <p:cNvPr id="366" name="Freeform 128">
              <a:extLst>
                <a:ext uri="{FF2B5EF4-FFF2-40B4-BE49-F238E27FC236}">
                  <a16:creationId xmlns:a16="http://schemas.microsoft.com/office/drawing/2014/main" id="{3FE8BE15-DEE6-6434-416F-D4E8938105DE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67" name="TextBox 129">
              <a:extLst>
                <a:ext uri="{FF2B5EF4-FFF2-40B4-BE49-F238E27FC236}">
                  <a16:creationId xmlns:a16="http://schemas.microsoft.com/office/drawing/2014/main" id="{A2665CE7-9A0B-B7B9-4D95-4931420F27B1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0.98</a:t>
              </a:r>
            </a:p>
          </p:txBody>
        </p:sp>
      </p:grpSp>
      <p:grpSp>
        <p:nvGrpSpPr>
          <p:cNvPr id="368" name="Group 130">
            <a:extLst>
              <a:ext uri="{FF2B5EF4-FFF2-40B4-BE49-F238E27FC236}">
                <a16:creationId xmlns:a16="http://schemas.microsoft.com/office/drawing/2014/main" id="{8FB5E17D-CEE8-55EB-7815-D958D8D32673}"/>
              </a:ext>
            </a:extLst>
          </p:cNvPr>
          <p:cNvGrpSpPr/>
          <p:nvPr/>
        </p:nvGrpSpPr>
        <p:grpSpPr>
          <a:xfrm>
            <a:off x="3297131" y="1878146"/>
            <a:ext cx="497128" cy="497128"/>
            <a:chOff x="0" y="0"/>
            <a:chExt cx="1738719" cy="1738719"/>
          </a:xfrm>
        </p:grpSpPr>
        <p:sp>
          <p:nvSpPr>
            <p:cNvPr id="369" name="Freeform 131">
              <a:extLst>
                <a:ext uri="{FF2B5EF4-FFF2-40B4-BE49-F238E27FC236}">
                  <a16:creationId xmlns:a16="http://schemas.microsoft.com/office/drawing/2014/main" id="{3AAFEBEF-0A9A-3275-D32B-539CA4441AA5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370" name="Group 132">
            <a:extLst>
              <a:ext uri="{FF2B5EF4-FFF2-40B4-BE49-F238E27FC236}">
                <a16:creationId xmlns:a16="http://schemas.microsoft.com/office/drawing/2014/main" id="{4F46F7E6-BB24-F8CE-1212-9D507CA19692}"/>
              </a:ext>
            </a:extLst>
          </p:cNvPr>
          <p:cNvGrpSpPr/>
          <p:nvPr/>
        </p:nvGrpSpPr>
        <p:grpSpPr>
          <a:xfrm>
            <a:off x="3297131" y="1878146"/>
            <a:ext cx="497128" cy="497128"/>
            <a:chOff x="0" y="0"/>
            <a:chExt cx="1738719" cy="1738719"/>
          </a:xfrm>
        </p:grpSpPr>
        <p:sp>
          <p:nvSpPr>
            <p:cNvPr id="371" name="Freeform 133">
              <a:extLst>
                <a:ext uri="{FF2B5EF4-FFF2-40B4-BE49-F238E27FC236}">
                  <a16:creationId xmlns:a16="http://schemas.microsoft.com/office/drawing/2014/main" id="{AED32C12-C7A9-C197-DB5D-92F85178C5A4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72" name="TextBox 134">
              <a:extLst>
                <a:ext uri="{FF2B5EF4-FFF2-40B4-BE49-F238E27FC236}">
                  <a16:creationId xmlns:a16="http://schemas.microsoft.com/office/drawing/2014/main" id="{0B46A6A1-D63A-6983-E4A9-8F2EBE895D93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-0.10</a:t>
              </a:r>
            </a:p>
          </p:txBody>
        </p:sp>
      </p:grpSp>
      <p:grpSp>
        <p:nvGrpSpPr>
          <p:cNvPr id="373" name="Group 135">
            <a:extLst>
              <a:ext uri="{FF2B5EF4-FFF2-40B4-BE49-F238E27FC236}">
                <a16:creationId xmlns:a16="http://schemas.microsoft.com/office/drawing/2014/main" id="{6DE6D19C-7572-8D41-0B4C-1343ED45685F}"/>
              </a:ext>
            </a:extLst>
          </p:cNvPr>
          <p:cNvGrpSpPr/>
          <p:nvPr/>
        </p:nvGrpSpPr>
        <p:grpSpPr>
          <a:xfrm>
            <a:off x="560318" y="2438067"/>
            <a:ext cx="444799" cy="497128"/>
            <a:chOff x="0" y="0"/>
            <a:chExt cx="1555699" cy="1738719"/>
          </a:xfrm>
        </p:grpSpPr>
        <p:sp>
          <p:nvSpPr>
            <p:cNvPr id="374" name="Freeform 136">
              <a:extLst>
                <a:ext uri="{FF2B5EF4-FFF2-40B4-BE49-F238E27FC236}">
                  <a16:creationId xmlns:a16="http://schemas.microsoft.com/office/drawing/2014/main" id="{3737A9E3-EF8A-01AE-2546-AA443D762C9F}"/>
                </a:ext>
              </a:extLst>
            </p:cNvPr>
            <p:cNvSpPr/>
            <p:nvPr/>
          </p:nvSpPr>
          <p:spPr>
            <a:xfrm>
              <a:off x="0" y="0"/>
              <a:ext cx="1555695" cy="1738718"/>
            </a:xfrm>
            <a:custGeom>
              <a:avLst/>
              <a:gdLst/>
              <a:ahLst/>
              <a:cxnLst/>
              <a:rect l="l" t="t" r="r" b="b"/>
              <a:pathLst>
                <a:path w="1555695" h="1738718">
                  <a:moveTo>
                    <a:pt x="0" y="0"/>
                  </a:moveTo>
                  <a:lnTo>
                    <a:pt x="1555695" y="0"/>
                  </a:lnTo>
                  <a:lnTo>
                    <a:pt x="1555695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93398" r="-93398"/>
              </a:stretch>
            </a:blipFill>
          </p:spPr>
        </p:sp>
        <p:sp>
          <p:nvSpPr>
            <p:cNvPr id="375" name="TextBox 137">
              <a:extLst>
                <a:ext uri="{FF2B5EF4-FFF2-40B4-BE49-F238E27FC236}">
                  <a16:creationId xmlns:a16="http://schemas.microsoft.com/office/drawing/2014/main" id="{D4BAAC00-5DA4-1C58-852B-2B985335E927}"/>
                </a:ext>
              </a:extLst>
            </p:cNvPr>
            <p:cNvSpPr txBox="1"/>
            <p:nvPr/>
          </p:nvSpPr>
          <p:spPr>
            <a:xfrm>
              <a:off x="0" y="-47625"/>
              <a:ext cx="1555699" cy="178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온도</a:t>
              </a:r>
            </a:p>
          </p:txBody>
        </p:sp>
      </p:grpSp>
      <p:grpSp>
        <p:nvGrpSpPr>
          <p:cNvPr id="376" name="Group 138">
            <a:extLst>
              <a:ext uri="{FF2B5EF4-FFF2-40B4-BE49-F238E27FC236}">
                <a16:creationId xmlns:a16="http://schemas.microsoft.com/office/drawing/2014/main" id="{B9FFAEEE-8CC1-C68C-72D7-3C35199FF8E0}"/>
              </a:ext>
            </a:extLst>
          </p:cNvPr>
          <p:cNvGrpSpPr/>
          <p:nvPr/>
        </p:nvGrpSpPr>
        <p:grpSpPr>
          <a:xfrm>
            <a:off x="1057445" y="2438067"/>
            <a:ext cx="497128" cy="497128"/>
            <a:chOff x="0" y="0"/>
            <a:chExt cx="1738719" cy="1738719"/>
          </a:xfrm>
        </p:grpSpPr>
        <p:sp>
          <p:nvSpPr>
            <p:cNvPr id="377" name="Freeform 139">
              <a:extLst>
                <a:ext uri="{FF2B5EF4-FFF2-40B4-BE49-F238E27FC236}">
                  <a16:creationId xmlns:a16="http://schemas.microsoft.com/office/drawing/2014/main" id="{909768DC-60A2-586B-857E-02570E9D2E65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F0E6"/>
            </a:solidFill>
          </p:spPr>
        </p:sp>
      </p:grpSp>
      <p:grpSp>
        <p:nvGrpSpPr>
          <p:cNvPr id="378" name="Group 140">
            <a:extLst>
              <a:ext uri="{FF2B5EF4-FFF2-40B4-BE49-F238E27FC236}">
                <a16:creationId xmlns:a16="http://schemas.microsoft.com/office/drawing/2014/main" id="{8AD9AEE5-25AB-DD3A-E4C5-29CCB8C8863E}"/>
              </a:ext>
            </a:extLst>
          </p:cNvPr>
          <p:cNvGrpSpPr/>
          <p:nvPr/>
        </p:nvGrpSpPr>
        <p:grpSpPr>
          <a:xfrm>
            <a:off x="1057445" y="2438067"/>
            <a:ext cx="497128" cy="497128"/>
            <a:chOff x="0" y="0"/>
            <a:chExt cx="1738719" cy="1738719"/>
          </a:xfrm>
        </p:grpSpPr>
        <p:sp>
          <p:nvSpPr>
            <p:cNvPr id="379" name="Freeform 141">
              <a:extLst>
                <a:ext uri="{FF2B5EF4-FFF2-40B4-BE49-F238E27FC236}">
                  <a16:creationId xmlns:a16="http://schemas.microsoft.com/office/drawing/2014/main" id="{D1106D07-05B5-B1A1-C65F-17BC6B9C1B90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80" name="TextBox 142">
              <a:extLst>
                <a:ext uri="{FF2B5EF4-FFF2-40B4-BE49-F238E27FC236}">
                  <a16:creationId xmlns:a16="http://schemas.microsoft.com/office/drawing/2014/main" id="{BEE5457E-EE43-05D6-9DE8-AC47468CF325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0.03</a:t>
              </a:r>
            </a:p>
          </p:txBody>
        </p:sp>
      </p:grpSp>
      <p:grpSp>
        <p:nvGrpSpPr>
          <p:cNvPr id="381" name="Group 143">
            <a:extLst>
              <a:ext uri="{FF2B5EF4-FFF2-40B4-BE49-F238E27FC236}">
                <a16:creationId xmlns:a16="http://schemas.microsoft.com/office/drawing/2014/main" id="{A27914F4-8516-E9EF-1DD6-F1D6782B2C08}"/>
              </a:ext>
            </a:extLst>
          </p:cNvPr>
          <p:cNvGrpSpPr/>
          <p:nvPr/>
        </p:nvGrpSpPr>
        <p:grpSpPr>
          <a:xfrm>
            <a:off x="1617365" y="2438067"/>
            <a:ext cx="497128" cy="497128"/>
            <a:chOff x="0" y="0"/>
            <a:chExt cx="1738719" cy="1738719"/>
          </a:xfrm>
        </p:grpSpPr>
        <p:sp>
          <p:nvSpPr>
            <p:cNvPr id="382" name="Freeform 144">
              <a:extLst>
                <a:ext uri="{FF2B5EF4-FFF2-40B4-BE49-F238E27FC236}">
                  <a16:creationId xmlns:a16="http://schemas.microsoft.com/office/drawing/2014/main" id="{26192E96-55BF-411A-0F82-68FB57215D10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B2BCA1"/>
            </a:solidFill>
          </p:spPr>
        </p:sp>
      </p:grpSp>
      <p:grpSp>
        <p:nvGrpSpPr>
          <p:cNvPr id="383" name="Group 145">
            <a:extLst>
              <a:ext uri="{FF2B5EF4-FFF2-40B4-BE49-F238E27FC236}">
                <a16:creationId xmlns:a16="http://schemas.microsoft.com/office/drawing/2014/main" id="{293BCF4C-D961-DD28-E3AA-D8452FD9FE47}"/>
              </a:ext>
            </a:extLst>
          </p:cNvPr>
          <p:cNvGrpSpPr/>
          <p:nvPr/>
        </p:nvGrpSpPr>
        <p:grpSpPr>
          <a:xfrm>
            <a:off x="1617365" y="2438067"/>
            <a:ext cx="497128" cy="497128"/>
            <a:chOff x="0" y="0"/>
            <a:chExt cx="1738719" cy="1738719"/>
          </a:xfrm>
        </p:grpSpPr>
        <p:sp>
          <p:nvSpPr>
            <p:cNvPr id="384" name="Freeform 146">
              <a:extLst>
                <a:ext uri="{FF2B5EF4-FFF2-40B4-BE49-F238E27FC236}">
                  <a16:creationId xmlns:a16="http://schemas.microsoft.com/office/drawing/2014/main" id="{12A0C58B-CDF2-5852-9938-D49538E1E70B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85" name="TextBox 147">
              <a:extLst>
                <a:ext uri="{FF2B5EF4-FFF2-40B4-BE49-F238E27FC236}">
                  <a16:creationId xmlns:a16="http://schemas.microsoft.com/office/drawing/2014/main" id="{E769360F-D71C-F52D-16B0-1B4114837DE5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0.42</a:t>
              </a:r>
            </a:p>
          </p:txBody>
        </p:sp>
      </p:grpSp>
      <p:grpSp>
        <p:nvGrpSpPr>
          <p:cNvPr id="386" name="Group 148">
            <a:extLst>
              <a:ext uri="{FF2B5EF4-FFF2-40B4-BE49-F238E27FC236}">
                <a16:creationId xmlns:a16="http://schemas.microsoft.com/office/drawing/2014/main" id="{34EE5974-3F1F-04EA-BB27-FA5488B12C64}"/>
              </a:ext>
            </a:extLst>
          </p:cNvPr>
          <p:cNvGrpSpPr/>
          <p:nvPr/>
        </p:nvGrpSpPr>
        <p:grpSpPr>
          <a:xfrm>
            <a:off x="2177290" y="2438067"/>
            <a:ext cx="497128" cy="497128"/>
            <a:chOff x="0" y="0"/>
            <a:chExt cx="1738719" cy="1738719"/>
          </a:xfrm>
        </p:grpSpPr>
        <p:sp>
          <p:nvSpPr>
            <p:cNvPr id="387" name="Freeform 149">
              <a:extLst>
                <a:ext uri="{FF2B5EF4-FFF2-40B4-BE49-F238E27FC236}">
                  <a16:creationId xmlns:a16="http://schemas.microsoft.com/office/drawing/2014/main" id="{CEE1C5CA-660E-F933-491F-FA4DEBC36863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A6E3A"/>
            </a:solidFill>
          </p:spPr>
        </p:sp>
      </p:grpSp>
      <p:grpSp>
        <p:nvGrpSpPr>
          <p:cNvPr id="388" name="Group 150">
            <a:extLst>
              <a:ext uri="{FF2B5EF4-FFF2-40B4-BE49-F238E27FC236}">
                <a16:creationId xmlns:a16="http://schemas.microsoft.com/office/drawing/2014/main" id="{110DF9A6-6D83-EE17-66D3-FBF4184C871F}"/>
              </a:ext>
            </a:extLst>
          </p:cNvPr>
          <p:cNvGrpSpPr/>
          <p:nvPr/>
        </p:nvGrpSpPr>
        <p:grpSpPr>
          <a:xfrm>
            <a:off x="2177290" y="2438067"/>
            <a:ext cx="497128" cy="497128"/>
            <a:chOff x="0" y="0"/>
            <a:chExt cx="1738719" cy="1738719"/>
          </a:xfrm>
        </p:grpSpPr>
        <p:sp>
          <p:nvSpPr>
            <p:cNvPr id="389" name="Freeform 151">
              <a:extLst>
                <a:ext uri="{FF2B5EF4-FFF2-40B4-BE49-F238E27FC236}">
                  <a16:creationId xmlns:a16="http://schemas.microsoft.com/office/drawing/2014/main" id="{93D2C570-3AA9-7D99-F218-33356FE9FBC6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0" name="TextBox 152">
              <a:extLst>
                <a:ext uri="{FF2B5EF4-FFF2-40B4-BE49-F238E27FC236}">
                  <a16:creationId xmlns:a16="http://schemas.microsoft.com/office/drawing/2014/main" id="{811FF026-9C6D-9C0E-2728-6702D0E6D93B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1.00</a:t>
              </a:r>
            </a:p>
          </p:txBody>
        </p:sp>
      </p:grpSp>
      <p:grpSp>
        <p:nvGrpSpPr>
          <p:cNvPr id="391" name="Group 153">
            <a:extLst>
              <a:ext uri="{FF2B5EF4-FFF2-40B4-BE49-F238E27FC236}">
                <a16:creationId xmlns:a16="http://schemas.microsoft.com/office/drawing/2014/main" id="{99AB8707-50AF-F185-E290-30276F616FF7}"/>
              </a:ext>
            </a:extLst>
          </p:cNvPr>
          <p:cNvGrpSpPr/>
          <p:nvPr/>
        </p:nvGrpSpPr>
        <p:grpSpPr>
          <a:xfrm>
            <a:off x="2737210" y="2438067"/>
            <a:ext cx="497128" cy="497128"/>
            <a:chOff x="0" y="0"/>
            <a:chExt cx="1738719" cy="1738719"/>
          </a:xfrm>
        </p:grpSpPr>
        <p:sp>
          <p:nvSpPr>
            <p:cNvPr id="392" name="Freeform 154">
              <a:extLst>
                <a:ext uri="{FF2B5EF4-FFF2-40B4-BE49-F238E27FC236}">
                  <a16:creationId xmlns:a16="http://schemas.microsoft.com/office/drawing/2014/main" id="{89A760AD-A764-E24D-905B-6D5BF989CAA2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B2BCA1"/>
            </a:solidFill>
          </p:spPr>
        </p:sp>
      </p:grpSp>
      <p:grpSp>
        <p:nvGrpSpPr>
          <p:cNvPr id="393" name="Group 155">
            <a:extLst>
              <a:ext uri="{FF2B5EF4-FFF2-40B4-BE49-F238E27FC236}">
                <a16:creationId xmlns:a16="http://schemas.microsoft.com/office/drawing/2014/main" id="{036362F7-2D9B-D8AE-575D-41C6D2EB318E}"/>
              </a:ext>
            </a:extLst>
          </p:cNvPr>
          <p:cNvGrpSpPr/>
          <p:nvPr/>
        </p:nvGrpSpPr>
        <p:grpSpPr>
          <a:xfrm>
            <a:off x="2737210" y="2438067"/>
            <a:ext cx="497128" cy="497128"/>
            <a:chOff x="0" y="0"/>
            <a:chExt cx="1738719" cy="1738719"/>
          </a:xfrm>
        </p:grpSpPr>
        <p:sp>
          <p:nvSpPr>
            <p:cNvPr id="394" name="Freeform 156">
              <a:extLst>
                <a:ext uri="{FF2B5EF4-FFF2-40B4-BE49-F238E27FC236}">
                  <a16:creationId xmlns:a16="http://schemas.microsoft.com/office/drawing/2014/main" id="{86EA1407-370F-C9C1-D58E-65A60C5C0926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95" name="TextBox 157">
              <a:extLst>
                <a:ext uri="{FF2B5EF4-FFF2-40B4-BE49-F238E27FC236}">
                  <a16:creationId xmlns:a16="http://schemas.microsoft.com/office/drawing/2014/main" id="{73BCABC8-A509-DCFA-5106-BD4E9D586ABF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0.42</a:t>
              </a:r>
            </a:p>
          </p:txBody>
        </p:sp>
      </p:grpSp>
      <p:grpSp>
        <p:nvGrpSpPr>
          <p:cNvPr id="396" name="Group 158">
            <a:extLst>
              <a:ext uri="{FF2B5EF4-FFF2-40B4-BE49-F238E27FC236}">
                <a16:creationId xmlns:a16="http://schemas.microsoft.com/office/drawing/2014/main" id="{78E7A12E-6481-0D93-606B-6E89CED80DFE}"/>
              </a:ext>
            </a:extLst>
          </p:cNvPr>
          <p:cNvGrpSpPr/>
          <p:nvPr/>
        </p:nvGrpSpPr>
        <p:grpSpPr>
          <a:xfrm>
            <a:off x="3297131" y="2438067"/>
            <a:ext cx="497128" cy="497128"/>
            <a:chOff x="0" y="0"/>
            <a:chExt cx="1738719" cy="1738719"/>
          </a:xfrm>
        </p:grpSpPr>
        <p:sp>
          <p:nvSpPr>
            <p:cNvPr id="397" name="Freeform 159">
              <a:extLst>
                <a:ext uri="{FF2B5EF4-FFF2-40B4-BE49-F238E27FC236}">
                  <a16:creationId xmlns:a16="http://schemas.microsoft.com/office/drawing/2014/main" id="{1441132D-EF8F-CE00-6D17-205B4619ED47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398" name="Group 160">
            <a:extLst>
              <a:ext uri="{FF2B5EF4-FFF2-40B4-BE49-F238E27FC236}">
                <a16:creationId xmlns:a16="http://schemas.microsoft.com/office/drawing/2014/main" id="{618ED72E-0E1A-580F-0A63-629BA767BF93}"/>
              </a:ext>
            </a:extLst>
          </p:cNvPr>
          <p:cNvGrpSpPr/>
          <p:nvPr/>
        </p:nvGrpSpPr>
        <p:grpSpPr>
          <a:xfrm>
            <a:off x="3297131" y="2438067"/>
            <a:ext cx="497128" cy="497128"/>
            <a:chOff x="0" y="0"/>
            <a:chExt cx="1738719" cy="1738719"/>
          </a:xfrm>
        </p:grpSpPr>
        <p:sp>
          <p:nvSpPr>
            <p:cNvPr id="399" name="Freeform 161">
              <a:extLst>
                <a:ext uri="{FF2B5EF4-FFF2-40B4-BE49-F238E27FC236}">
                  <a16:creationId xmlns:a16="http://schemas.microsoft.com/office/drawing/2014/main" id="{81850BEC-6CCB-15D2-71D7-332E2F710EB2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0" name="TextBox 162">
              <a:extLst>
                <a:ext uri="{FF2B5EF4-FFF2-40B4-BE49-F238E27FC236}">
                  <a16:creationId xmlns:a16="http://schemas.microsoft.com/office/drawing/2014/main" id="{0B3366D9-DA2C-4693-98AA-75592810E306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-0.28</a:t>
              </a:r>
            </a:p>
          </p:txBody>
        </p:sp>
      </p:grpSp>
      <p:grpSp>
        <p:nvGrpSpPr>
          <p:cNvPr id="401" name="Group 163">
            <a:extLst>
              <a:ext uri="{FF2B5EF4-FFF2-40B4-BE49-F238E27FC236}">
                <a16:creationId xmlns:a16="http://schemas.microsoft.com/office/drawing/2014/main" id="{9C77876D-BBC3-3A61-436E-C3A592764981}"/>
              </a:ext>
            </a:extLst>
          </p:cNvPr>
          <p:cNvGrpSpPr/>
          <p:nvPr/>
        </p:nvGrpSpPr>
        <p:grpSpPr>
          <a:xfrm>
            <a:off x="560318" y="2997991"/>
            <a:ext cx="444799" cy="497128"/>
            <a:chOff x="0" y="0"/>
            <a:chExt cx="1555699" cy="1738719"/>
          </a:xfrm>
        </p:grpSpPr>
        <p:sp>
          <p:nvSpPr>
            <p:cNvPr id="402" name="Freeform 164">
              <a:extLst>
                <a:ext uri="{FF2B5EF4-FFF2-40B4-BE49-F238E27FC236}">
                  <a16:creationId xmlns:a16="http://schemas.microsoft.com/office/drawing/2014/main" id="{B852DBC7-052A-A809-BD03-D77119E2F3B8}"/>
                </a:ext>
              </a:extLst>
            </p:cNvPr>
            <p:cNvSpPr/>
            <p:nvPr/>
          </p:nvSpPr>
          <p:spPr>
            <a:xfrm>
              <a:off x="0" y="0"/>
              <a:ext cx="1555695" cy="1738718"/>
            </a:xfrm>
            <a:custGeom>
              <a:avLst/>
              <a:gdLst/>
              <a:ahLst/>
              <a:cxnLst/>
              <a:rect l="l" t="t" r="r" b="b"/>
              <a:pathLst>
                <a:path w="1555695" h="1738718">
                  <a:moveTo>
                    <a:pt x="0" y="0"/>
                  </a:moveTo>
                  <a:lnTo>
                    <a:pt x="1555695" y="0"/>
                  </a:lnTo>
                  <a:lnTo>
                    <a:pt x="1555695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93398" r="-93398"/>
              </a:stretch>
            </a:blipFill>
          </p:spPr>
        </p:sp>
        <p:sp>
          <p:nvSpPr>
            <p:cNvPr id="403" name="TextBox 165">
              <a:extLst>
                <a:ext uri="{FF2B5EF4-FFF2-40B4-BE49-F238E27FC236}">
                  <a16:creationId xmlns:a16="http://schemas.microsoft.com/office/drawing/2014/main" id="{6497DC9C-D81D-B808-915A-8034216CCA59}"/>
                </a:ext>
              </a:extLst>
            </p:cNvPr>
            <p:cNvSpPr txBox="1"/>
            <p:nvPr/>
          </p:nvSpPr>
          <p:spPr>
            <a:xfrm>
              <a:off x="0" y="-47625"/>
              <a:ext cx="1555699" cy="178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전력</a:t>
              </a:r>
            </a:p>
          </p:txBody>
        </p:sp>
      </p:grpSp>
      <p:grpSp>
        <p:nvGrpSpPr>
          <p:cNvPr id="404" name="Group 166">
            <a:extLst>
              <a:ext uri="{FF2B5EF4-FFF2-40B4-BE49-F238E27FC236}">
                <a16:creationId xmlns:a16="http://schemas.microsoft.com/office/drawing/2014/main" id="{562E4945-E3FE-D794-630B-F6AE293FCC3C}"/>
              </a:ext>
            </a:extLst>
          </p:cNvPr>
          <p:cNvGrpSpPr/>
          <p:nvPr/>
        </p:nvGrpSpPr>
        <p:grpSpPr>
          <a:xfrm>
            <a:off x="1057445" y="2997991"/>
            <a:ext cx="497128" cy="497128"/>
            <a:chOff x="0" y="0"/>
            <a:chExt cx="1738719" cy="1738719"/>
          </a:xfrm>
        </p:grpSpPr>
        <p:sp>
          <p:nvSpPr>
            <p:cNvPr id="405" name="Freeform 167">
              <a:extLst>
                <a:ext uri="{FF2B5EF4-FFF2-40B4-BE49-F238E27FC236}">
                  <a16:creationId xmlns:a16="http://schemas.microsoft.com/office/drawing/2014/main" id="{D70773FD-261F-B530-9E23-C2586578DF44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8F9D78"/>
            </a:solidFill>
          </p:spPr>
        </p:sp>
      </p:grpSp>
      <p:grpSp>
        <p:nvGrpSpPr>
          <p:cNvPr id="406" name="Group 168">
            <a:extLst>
              <a:ext uri="{FF2B5EF4-FFF2-40B4-BE49-F238E27FC236}">
                <a16:creationId xmlns:a16="http://schemas.microsoft.com/office/drawing/2014/main" id="{6F9CC62C-DA42-B74C-8A54-3942E9D26B31}"/>
              </a:ext>
            </a:extLst>
          </p:cNvPr>
          <p:cNvGrpSpPr/>
          <p:nvPr/>
        </p:nvGrpSpPr>
        <p:grpSpPr>
          <a:xfrm>
            <a:off x="1057445" y="2997991"/>
            <a:ext cx="497128" cy="497128"/>
            <a:chOff x="0" y="0"/>
            <a:chExt cx="1738719" cy="1738719"/>
          </a:xfrm>
        </p:grpSpPr>
        <p:sp>
          <p:nvSpPr>
            <p:cNvPr id="407" name="Freeform 169">
              <a:extLst>
                <a:ext uri="{FF2B5EF4-FFF2-40B4-BE49-F238E27FC236}">
                  <a16:creationId xmlns:a16="http://schemas.microsoft.com/office/drawing/2014/main" id="{513DAB0D-0272-9838-1C49-D52EAC38066D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08" name="TextBox 170">
              <a:extLst>
                <a:ext uri="{FF2B5EF4-FFF2-40B4-BE49-F238E27FC236}">
                  <a16:creationId xmlns:a16="http://schemas.microsoft.com/office/drawing/2014/main" id="{022848A9-50F0-7285-91DA-5309333F3E4D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0.65</a:t>
              </a:r>
            </a:p>
          </p:txBody>
        </p:sp>
      </p:grpSp>
      <p:grpSp>
        <p:nvGrpSpPr>
          <p:cNvPr id="409" name="Group 171">
            <a:extLst>
              <a:ext uri="{FF2B5EF4-FFF2-40B4-BE49-F238E27FC236}">
                <a16:creationId xmlns:a16="http://schemas.microsoft.com/office/drawing/2014/main" id="{359437BF-C2EE-ADEF-16DE-B5870016016D}"/>
              </a:ext>
            </a:extLst>
          </p:cNvPr>
          <p:cNvGrpSpPr/>
          <p:nvPr/>
        </p:nvGrpSpPr>
        <p:grpSpPr>
          <a:xfrm>
            <a:off x="1617365" y="2997991"/>
            <a:ext cx="497128" cy="497128"/>
            <a:chOff x="0" y="0"/>
            <a:chExt cx="1738719" cy="1738719"/>
          </a:xfrm>
        </p:grpSpPr>
        <p:sp>
          <p:nvSpPr>
            <p:cNvPr id="410" name="Freeform 172">
              <a:extLst>
                <a:ext uri="{FF2B5EF4-FFF2-40B4-BE49-F238E27FC236}">
                  <a16:creationId xmlns:a16="http://schemas.microsoft.com/office/drawing/2014/main" id="{1F9F1C97-55CD-4D3B-97F3-CD7401383DA3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D713E"/>
            </a:solidFill>
          </p:spPr>
        </p:sp>
      </p:grpSp>
      <p:grpSp>
        <p:nvGrpSpPr>
          <p:cNvPr id="411" name="Group 173">
            <a:extLst>
              <a:ext uri="{FF2B5EF4-FFF2-40B4-BE49-F238E27FC236}">
                <a16:creationId xmlns:a16="http://schemas.microsoft.com/office/drawing/2014/main" id="{87EE4583-0AF0-8D14-081E-330EFCD1C6A6}"/>
              </a:ext>
            </a:extLst>
          </p:cNvPr>
          <p:cNvGrpSpPr/>
          <p:nvPr/>
        </p:nvGrpSpPr>
        <p:grpSpPr>
          <a:xfrm>
            <a:off x="1617365" y="2997991"/>
            <a:ext cx="497128" cy="497128"/>
            <a:chOff x="0" y="0"/>
            <a:chExt cx="1738719" cy="1738719"/>
          </a:xfrm>
        </p:grpSpPr>
        <p:sp>
          <p:nvSpPr>
            <p:cNvPr id="412" name="Freeform 174">
              <a:extLst>
                <a:ext uri="{FF2B5EF4-FFF2-40B4-BE49-F238E27FC236}">
                  <a16:creationId xmlns:a16="http://schemas.microsoft.com/office/drawing/2014/main" id="{3C7ACD64-3F7B-B3CC-7D1A-F0A38217502A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3" name="TextBox 175">
              <a:extLst>
                <a:ext uri="{FF2B5EF4-FFF2-40B4-BE49-F238E27FC236}">
                  <a16:creationId xmlns:a16="http://schemas.microsoft.com/office/drawing/2014/main" id="{C7D31597-4D56-5284-0631-6D2E6264BBEF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0.98</a:t>
              </a:r>
            </a:p>
          </p:txBody>
        </p:sp>
      </p:grpSp>
      <p:grpSp>
        <p:nvGrpSpPr>
          <p:cNvPr id="414" name="Group 176">
            <a:extLst>
              <a:ext uri="{FF2B5EF4-FFF2-40B4-BE49-F238E27FC236}">
                <a16:creationId xmlns:a16="http://schemas.microsoft.com/office/drawing/2014/main" id="{42AC0681-D6BE-13F3-3F61-659CEDD81A4A}"/>
              </a:ext>
            </a:extLst>
          </p:cNvPr>
          <p:cNvGrpSpPr/>
          <p:nvPr/>
        </p:nvGrpSpPr>
        <p:grpSpPr>
          <a:xfrm>
            <a:off x="2177290" y="2997991"/>
            <a:ext cx="497128" cy="497128"/>
            <a:chOff x="0" y="0"/>
            <a:chExt cx="1738719" cy="1738719"/>
          </a:xfrm>
        </p:grpSpPr>
        <p:sp>
          <p:nvSpPr>
            <p:cNvPr id="415" name="Freeform 177">
              <a:extLst>
                <a:ext uri="{FF2B5EF4-FFF2-40B4-BE49-F238E27FC236}">
                  <a16:creationId xmlns:a16="http://schemas.microsoft.com/office/drawing/2014/main" id="{A7F7CE7C-E0EF-E631-9E49-63C9A256755D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B2BCA1"/>
            </a:solidFill>
          </p:spPr>
        </p:sp>
      </p:grpSp>
      <p:grpSp>
        <p:nvGrpSpPr>
          <p:cNvPr id="416" name="Group 178">
            <a:extLst>
              <a:ext uri="{FF2B5EF4-FFF2-40B4-BE49-F238E27FC236}">
                <a16:creationId xmlns:a16="http://schemas.microsoft.com/office/drawing/2014/main" id="{ECB514E8-0581-8EB9-6412-1AF85690778E}"/>
              </a:ext>
            </a:extLst>
          </p:cNvPr>
          <p:cNvGrpSpPr/>
          <p:nvPr/>
        </p:nvGrpSpPr>
        <p:grpSpPr>
          <a:xfrm>
            <a:off x="2177290" y="2997991"/>
            <a:ext cx="497128" cy="497128"/>
            <a:chOff x="0" y="0"/>
            <a:chExt cx="1738719" cy="1738719"/>
          </a:xfrm>
        </p:grpSpPr>
        <p:sp>
          <p:nvSpPr>
            <p:cNvPr id="417" name="Freeform 179">
              <a:extLst>
                <a:ext uri="{FF2B5EF4-FFF2-40B4-BE49-F238E27FC236}">
                  <a16:creationId xmlns:a16="http://schemas.microsoft.com/office/drawing/2014/main" id="{B109350B-0F90-F4D7-C1EC-3783710B8676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18" name="TextBox 180">
              <a:extLst>
                <a:ext uri="{FF2B5EF4-FFF2-40B4-BE49-F238E27FC236}">
                  <a16:creationId xmlns:a16="http://schemas.microsoft.com/office/drawing/2014/main" id="{1504A2C9-F046-76F2-8560-9163AE35FD8F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0.42</a:t>
              </a:r>
            </a:p>
          </p:txBody>
        </p:sp>
      </p:grpSp>
      <p:grpSp>
        <p:nvGrpSpPr>
          <p:cNvPr id="419" name="Group 181">
            <a:extLst>
              <a:ext uri="{FF2B5EF4-FFF2-40B4-BE49-F238E27FC236}">
                <a16:creationId xmlns:a16="http://schemas.microsoft.com/office/drawing/2014/main" id="{E312E712-12C6-4A88-8DF0-474D521428FA}"/>
              </a:ext>
            </a:extLst>
          </p:cNvPr>
          <p:cNvGrpSpPr/>
          <p:nvPr/>
        </p:nvGrpSpPr>
        <p:grpSpPr>
          <a:xfrm>
            <a:off x="2737210" y="2997991"/>
            <a:ext cx="497128" cy="497128"/>
            <a:chOff x="0" y="0"/>
            <a:chExt cx="1738719" cy="1738719"/>
          </a:xfrm>
        </p:grpSpPr>
        <p:sp>
          <p:nvSpPr>
            <p:cNvPr id="420" name="Freeform 182">
              <a:extLst>
                <a:ext uri="{FF2B5EF4-FFF2-40B4-BE49-F238E27FC236}">
                  <a16:creationId xmlns:a16="http://schemas.microsoft.com/office/drawing/2014/main" id="{53C2BCB8-7A7B-3851-81DC-4506F51ED201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A6E3A"/>
            </a:solidFill>
          </p:spPr>
        </p:sp>
      </p:grpSp>
      <p:grpSp>
        <p:nvGrpSpPr>
          <p:cNvPr id="421" name="Group 183">
            <a:extLst>
              <a:ext uri="{FF2B5EF4-FFF2-40B4-BE49-F238E27FC236}">
                <a16:creationId xmlns:a16="http://schemas.microsoft.com/office/drawing/2014/main" id="{1C38737F-6DFE-5CD4-F92F-3E65B894DC0A}"/>
              </a:ext>
            </a:extLst>
          </p:cNvPr>
          <p:cNvGrpSpPr/>
          <p:nvPr/>
        </p:nvGrpSpPr>
        <p:grpSpPr>
          <a:xfrm>
            <a:off x="2737210" y="2997991"/>
            <a:ext cx="497128" cy="497128"/>
            <a:chOff x="0" y="0"/>
            <a:chExt cx="1738719" cy="1738719"/>
          </a:xfrm>
        </p:grpSpPr>
        <p:sp>
          <p:nvSpPr>
            <p:cNvPr id="422" name="Freeform 184">
              <a:extLst>
                <a:ext uri="{FF2B5EF4-FFF2-40B4-BE49-F238E27FC236}">
                  <a16:creationId xmlns:a16="http://schemas.microsoft.com/office/drawing/2014/main" id="{5EA7F125-7B9C-6609-AFD3-3958E3912726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3" name="TextBox 185">
              <a:extLst>
                <a:ext uri="{FF2B5EF4-FFF2-40B4-BE49-F238E27FC236}">
                  <a16:creationId xmlns:a16="http://schemas.microsoft.com/office/drawing/2014/main" id="{AA62A7C3-786C-7990-FD64-82EB1E8D7F11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1.00</a:t>
              </a:r>
            </a:p>
          </p:txBody>
        </p:sp>
      </p:grpSp>
      <p:grpSp>
        <p:nvGrpSpPr>
          <p:cNvPr id="424" name="Group 186">
            <a:extLst>
              <a:ext uri="{FF2B5EF4-FFF2-40B4-BE49-F238E27FC236}">
                <a16:creationId xmlns:a16="http://schemas.microsoft.com/office/drawing/2014/main" id="{757D800C-1695-B475-A617-B6CB86750AFD}"/>
              </a:ext>
            </a:extLst>
          </p:cNvPr>
          <p:cNvGrpSpPr/>
          <p:nvPr/>
        </p:nvGrpSpPr>
        <p:grpSpPr>
          <a:xfrm>
            <a:off x="3297131" y="2997991"/>
            <a:ext cx="497128" cy="497128"/>
            <a:chOff x="0" y="0"/>
            <a:chExt cx="1738719" cy="1738719"/>
          </a:xfrm>
        </p:grpSpPr>
        <p:sp>
          <p:nvSpPr>
            <p:cNvPr id="425" name="Freeform 187">
              <a:extLst>
                <a:ext uri="{FF2B5EF4-FFF2-40B4-BE49-F238E27FC236}">
                  <a16:creationId xmlns:a16="http://schemas.microsoft.com/office/drawing/2014/main" id="{5A3C4B78-CE36-99AD-9274-03353F15B812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426" name="Group 188">
            <a:extLst>
              <a:ext uri="{FF2B5EF4-FFF2-40B4-BE49-F238E27FC236}">
                <a16:creationId xmlns:a16="http://schemas.microsoft.com/office/drawing/2014/main" id="{F3368B60-46B6-9E6C-5A70-0EB8550FF57A}"/>
              </a:ext>
            </a:extLst>
          </p:cNvPr>
          <p:cNvGrpSpPr/>
          <p:nvPr/>
        </p:nvGrpSpPr>
        <p:grpSpPr>
          <a:xfrm>
            <a:off x="3297131" y="2997991"/>
            <a:ext cx="497128" cy="497128"/>
            <a:chOff x="0" y="0"/>
            <a:chExt cx="1738719" cy="1738719"/>
          </a:xfrm>
        </p:grpSpPr>
        <p:sp>
          <p:nvSpPr>
            <p:cNvPr id="427" name="Freeform 189">
              <a:extLst>
                <a:ext uri="{FF2B5EF4-FFF2-40B4-BE49-F238E27FC236}">
                  <a16:creationId xmlns:a16="http://schemas.microsoft.com/office/drawing/2014/main" id="{06EDBC8E-A7F7-0899-14F8-50E6AD9DCA2D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28" name="TextBox 190">
              <a:extLst>
                <a:ext uri="{FF2B5EF4-FFF2-40B4-BE49-F238E27FC236}">
                  <a16:creationId xmlns:a16="http://schemas.microsoft.com/office/drawing/2014/main" id="{D35C46DA-B348-3F36-6093-270FDD099662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-0.11</a:t>
              </a:r>
            </a:p>
          </p:txBody>
        </p:sp>
      </p:grpSp>
      <p:grpSp>
        <p:nvGrpSpPr>
          <p:cNvPr id="429" name="Group 191">
            <a:extLst>
              <a:ext uri="{FF2B5EF4-FFF2-40B4-BE49-F238E27FC236}">
                <a16:creationId xmlns:a16="http://schemas.microsoft.com/office/drawing/2014/main" id="{81C91152-E7AD-1C17-BAC7-424DD77BD4A8}"/>
              </a:ext>
            </a:extLst>
          </p:cNvPr>
          <p:cNvGrpSpPr/>
          <p:nvPr/>
        </p:nvGrpSpPr>
        <p:grpSpPr>
          <a:xfrm>
            <a:off x="560318" y="3557911"/>
            <a:ext cx="444799" cy="497128"/>
            <a:chOff x="0" y="0"/>
            <a:chExt cx="1555699" cy="1738719"/>
          </a:xfrm>
        </p:grpSpPr>
        <p:sp>
          <p:nvSpPr>
            <p:cNvPr id="430" name="Freeform 192">
              <a:extLst>
                <a:ext uri="{FF2B5EF4-FFF2-40B4-BE49-F238E27FC236}">
                  <a16:creationId xmlns:a16="http://schemas.microsoft.com/office/drawing/2014/main" id="{10A4BB5A-2DDD-3D38-941E-A0C710DA0133}"/>
                </a:ext>
              </a:extLst>
            </p:cNvPr>
            <p:cNvSpPr/>
            <p:nvPr/>
          </p:nvSpPr>
          <p:spPr>
            <a:xfrm>
              <a:off x="0" y="0"/>
              <a:ext cx="1555695" cy="1738718"/>
            </a:xfrm>
            <a:custGeom>
              <a:avLst/>
              <a:gdLst/>
              <a:ahLst/>
              <a:cxnLst/>
              <a:rect l="l" t="t" r="r" b="b"/>
              <a:pathLst>
                <a:path w="1555695" h="1738718">
                  <a:moveTo>
                    <a:pt x="0" y="0"/>
                  </a:moveTo>
                  <a:lnTo>
                    <a:pt x="1555695" y="0"/>
                  </a:lnTo>
                  <a:lnTo>
                    <a:pt x="1555695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93398" r="-93398"/>
              </a:stretch>
            </a:blipFill>
          </p:spPr>
        </p:sp>
        <p:sp>
          <p:nvSpPr>
            <p:cNvPr id="431" name="TextBox 193">
              <a:extLst>
                <a:ext uri="{FF2B5EF4-FFF2-40B4-BE49-F238E27FC236}">
                  <a16:creationId xmlns:a16="http://schemas.microsoft.com/office/drawing/2014/main" id="{68798A09-3C25-6548-A2C0-7F854118CCAD}"/>
                </a:ext>
              </a:extLst>
            </p:cNvPr>
            <p:cNvSpPr txBox="1"/>
            <p:nvPr/>
          </p:nvSpPr>
          <p:spPr>
            <a:xfrm>
              <a:off x="0" y="-47625"/>
              <a:ext cx="1555699" cy="1786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261"/>
                </a:lnSpc>
              </a:pPr>
              <a:r>
                <a:rPr lang="en-US" sz="1051" b="1">
                  <a:solidFill>
                    <a:srgbClr val="5A6E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 Bold"/>
                </a:rPr>
                <a:t>불량</a:t>
              </a:r>
            </a:p>
          </p:txBody>
        </p:sp>
      </p:grpSp>
      <p:grpSp>
        <p:nvGrpSpPr>
          <p:cNvPr id="432" name="Group 194">
            <a:extLst>
              <a:ext uri="{FF2B5EF4-FFF2-40B4-BE49-F238E27FC236}">
                <a16:creationId xmlns:a16="http://schemas.microsoft.com/office/drawing/2014/main" id="{BB594D78-CFC4-3812-3612-660D419BDD19}"/>
              </a:ext>
            </a:extLst>
          </p:cNvPr>
          <p:cNvGrpSpPr/>
          <p:nvPr/>
        </p:nvGrpSpPr>
        <p:grpSpPr>
          <a:xfrm>
            <a:off x="1057445" y="3557911"/>
            <a:ext cx="497128" cy="497128"/>
            <a:chOff x="0" y="0"/>
            <a:chExt cx="1738719" cy="1738719"/>
          </a:xfrm>
        </p:grpSpPr>
        <p:sp>
          <p:nvSpPr>
            <p:cNvPr id="433" name="Freeform 195">
              <a:extLst>
                <a:ext uri="{FF2B5EF4-FFF2-40B4-BE49-F238E27FC236}">
                  <a16:creationId xmlns:a16="http://schemas.microsoft.com/office/drawing/2014/main" id="{EA54508A-0DD9-068D-9760-EED38D315F02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434" name="Group 196">
            <a:extLst>
              <a:ext uri="{FF2B5EF4-FFF2-40B4-BE49-F238E27FC236}">
                <a16:creationId xmlns:a16="http://schemas.microsoft.com/office/drawing/2014/main" id="{1C4A8753-A54F-75F2-05A2-327D67AEACD0}"/>
              </a:ext>
            </a:extLst>
          </p:cNvPr>
          <p:cNvGrpSpPr/>
          <p:nvPr/>
        </p:nvGrpSpPr>
        <p:grpSpPr>
          <a:xfrm>
            <a:off x="1057445" y="3557911"/>
            <a:ext cx="497128" cy="497128"/>
            <a:chOff x="0" y="0"/>
            <a:chExt cx="1738719" cy="1738719"/>
          </a:xfrm>
        </p:grpSpPr>
        <p:sp>
          <p:nvSpPr>
            <p:cNvPr id="435" name="Freeform 197">
              <a:extLst>
                <a:ext uri="{FF2B5EF4-FFF2-40B4-BE49-F238E27FC236}">
                  <a16:creationId xmlns:a16="http://schemas.microsoft.com/office/drawing/2014/main" id="{922F5883-847B-377C-C353-BDB3F41D8A9F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36" name="TextBox 198">
              <a:extLst>
                <a:ext uri="{FF2B5EF4-FFF2-40B4-BE49-F238E27FC236}">
                  <a16:creationId xmlns:a16="http://schemas.microsoft.com/office/drawing/2014/main" id="{F38989AC-FB4D-7D1E-937B-A007268B6552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-0.02</a:t>
              </a:r>
            </a:p>
          </p:txBody>
        </p:sp>
      </p:grpSp>
      <p:grpSp>
        <p:nvGrpSpPr>
          <p:cNvPr id="437" name="Group 199">
            <a:extLst>
              <a:ext uri="{FF2B5EF4-FFF2-40B4-BE49-F238E27FC236}">
                <a16:creationId xmlns:a16="http://schemas.microsoft.com/office/drawing/2014/main" id="{D335947E-6340-7389-1CCC-3B827E8221A0}"/>
              </a:ext>
            </a:extLst>
          </p:cNvPr>
          <p:cNvGrpSpPr/>
          <p:nvPr/>
        </p:nvGrpSpPr>
        <p:grpSpPr>
          <a:xfrm>
            <a:off x="1617365" y="3557911"/>
            <a:ext cx="497128" cy="497128"/>
            <a:chOff x="0" y="0"/>
            <a:chExt cx="1738719" cy="1738719"/>
          </a:xfrm>
        </p:grpSpPr>
        <p:sp>
          <p:nvSpPr>
            <p:cNvPr id="438" name="Freeform 200">
              <a:extLst>
                <a:ext uri="{FF2B5EF4-FFF2-40B4-BE49-F238E27FC236}">
                  <a16:creationId xmlns:a16="http://schemas.microsoft.com/office/drawing/2014/main" id="{10EB44FD-6260-487B-5AC4-8F53B99DFA13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439" name="Group 201">
            <a:extLst>
              <a:ext uri="{FF2B5EF4-FFF2-40B4-BE49-F238E27FC236}">
                <a16:creationId xmlns:a16="http://schemas.microsoft.com/office/drawing/2014/main" id="{189703E3-4B21-97F4-F375-413387280D16}"/>
              </a:ext>
            </a:extLst>
          </p:cNvPr>
          <p:cNvGrpSpPr/>
          <p:nvPr/>
        </p:nvGrpSpPr>
        <p:grpSpPr>
          <a:xfrm>
            <a:off x="1617365" y="3557911"/>
            <a:ext cx="497128" cy="497128"/>
            <a:chOff x="0" y="0"/>
            <a:chExt cx="1738719" cy="1738719"/>
          </a:xfrm>
        </p:grpSpPr>
        <p:sp>
          <p:nvSpPr>
            <p:cNvPr id="440" name="Freeform 202">
              <a:extLst>
                <a:ext uri="{FF2B5EF4-FFF2-40B4-BE49-F238E27FC236}">
                  <a16:creationId xmlns:a16="http://schemas.microsoft.com/office/drawing/2014/main" id="{C9DEDA05-806C-222C-B076-35E3FB2E686A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1" name="TextBox 203">
              <a:extLst>
                <a:ext uri="{FF2B5EF4-FFF2-40B4-BE49-F238E27FC236}">
                  <a16:creationId xmlns:a16="http://schemas.microsoft.com/office/drawing/2014/main" id="{27A747B8-E91E-EEA0-4FCE-1F77162C98A1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-0.10</a:t>
              </a:r>
            </a:p>
          </p:txBody>
        </p:sp>
      </p:grpSp>
      <p:grpSp>
        <p:nvGrpSpPr>
          <p:cNvPr id="442" name="Group 204">
            <a:extLst>
              <a:ext uri="{FF2B5EF4-FFF2-40B4-BE49-F238E27FC236}">
                <a16:creationId xmlns:a16="http://schemas.microsoft.com/office/drawing/2014/main" id="{CD1752D7-C86E-410B-B4EB-58DE3F60AEF4}"/>
              </a:ext>
            </a:extLst>
          </p:cNvPr>
          <p:cNvGrpSpPr/>
          <p:nvPr/>
        </p:nvGrpSpPr>
        <p:grpSpPr>
          <a:xfrm>
            <a:off x="2177290" y="3557911"/>
            <a:ext cx="497128" cy="497128"/>
            <a:chOff x="0" y="0"/>
            <a:chExt cx="1738719" cy="1738719"/>
          </a:xfrm>
        </p:grpSpPr>
        <p:sp>
          <p:nvSpPr>
            <p:cNvPr id="443" name="Freeform 205">
              <a:extLst>
                <a:ext uri="{FF2B5EF4-FFF2-40B4-BE49-F238E27FC236}">
                  <a16:creationId xmlns:a16="http://schemas.microsoft.com/office/drawing/2014/main" id="{AE6BD280-7BE8-7F90-E252-C8BEE9B337E5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444" name="Group 206">
            <a:extLst>
              <a:ext uri="{FF2B5EF4-FFF2-40B4-BE49-F238E27FC236}">
                <a16:creationId xmlns:a16="http://schemas.microsoft.com/office/drawing/2014/main" id="{9A5474DA-21F6-A71D-7D37-C9EEC3CBA0BD}"/>
              </a:ext>
            </a:extLst>
          </p:cNvPr>
          <p:cNvGrpSpPr/>
          <p:nvPr/>
        </p:nvGrpSpPr>
        <p:grpSpPr>
          <a:xfrm>
            <a:off x="2177290" y="3557911"/>
            <a:ext cx="497128" cy="497128"/>
            <a:chOff x="0" y="0"/>
            <a:chExt cx="1738719" cy="1738719"/>
          </a:xfrm>
        </p:grpSpPr>
        <p:sp>
          <p:nvSpPr>
            <p:cNvPr id="445" name="Freeform 207">
              <a:extLst>
                <a:ext uri="{FF2B5EF4-FFF2-40B4-BE49-F238E27FC236}">
                  <a16:creationId xmlns:a16="http://schemas.microsoft.com/office/drawing/2014/main" id="{37C2221C-4510-7091-0FEB-CAF0046C0AD5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46" name="TextBox 208">
              <a:extLst>
                <a:ext uri="{FF2B5EF4-FFF2-40B4-BE49-F238E27FC236}">
                  <a16:creationId xmlns:a16="http://schemas.microsoft.com/office/drawing/2014/main" id="{A177EDF1-C53B-EFFA-2FCC-3FD03211D41F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-0.28</a:t>
              </a:r>
            </a:p>
          </p:txBody>
        </p:sp>
      </p:grpSp>
      <p:grpSp>
        <p:nvGrpSpPr>
          <p:cNvPr id="447" name="Group 209">
            <a:extLst>
              <a:ext uri="{FF2B5EF4-FFF2-40B4-BE49-F238E27FC236}">
                <a16:creationId xmlns:a16="http://schemas.microsoft.com/office/drawing/2014/main" id="{BE91BA2B-1172-9959-352F-FE0231990F84}"/>
              </a:ext>
            </a:extLst>
          </p:cNvPr>
          <p:cNvGrpSpPr/>
          <p:nvPr/>
        </p:nvGrpSpPr>
        <p:grpSpPr>
          <a:xfrm>
            <a:off x="2737210" y="3557911"/>
            <a:ext cx="497128" cy="497128"/>
            <a:chOff x="0" y="0"/>
            <a:chExt cx="1738719" cy="1738719"/>
          </a:xfrm>
        </p:grpSpPr>
        <p:sp>
          <p:nvSpPr>
            <p:cNvPr id="448" name="Freeform 210">
              <a:extLst>
                <a:ext uri="{FF2B5EF4-FFF2-40B4-BE49-F238E27FC236}">
                  <a16:creationId xmlns:a16="http://schemas.microsoft.com/office/drawing/2014/main" id="{720A5F5C-8096-675F-71A9-DCE2D83E4E75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EDD9D6"/>
            </a:solidFill>
          </p:spPr>
        </p:sp>
      </p:grpSp>
      <p:grpSp>
        <p:nvGrpSpPr>
          <p:cNvPr id="449" name="Group 211">
            <a:extLst>
              <a:ext uri="{FF2B5EF4-FFF2-40B4-BE49-F238E27FC236}">
                <a16:creationId xmlns:a16="http://schemas.microsoft.com/office/drawing/2014/main" id="{48534CE1-1BD0-885C-F48D-4506C6AECA59}"/>
              </a:ext>
            </a:extLst>
          </p:cNvPr>
          <p:cNvGrpSpPr/>
          <p:nvPr/>
        </p:nvGrpSpPr>
        <p:grpSpPr>
          <a:xfrm>
            <a:off x="2737210" y="3557911"/>
            <a:ext cx="497128" cy="497128"/>
            <a:chOff x="0" y="0"/>
            <a:chExt cx="1738719" cy="1738719"/>
          </a:xfrm>
        </p:grpSpPr>
        <p:sp>
          <p:nvSpPr>
            <p:cNvPr id="450" name="Freeform 212">
              <a:extLst>
                <a:ext uri="{FF2B5EF4-FFF2-40B4-BE49-F238E27FC236}">
                  <a16:creationId xmlns:a16="http://schemas.microsoft.com/office/drawing/2014/main" id="{9D8E0661-5877-928C-F1CC-FA36CB2DC4BD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51" name="TextBox 213">
              <a:extLst>
                <a:ext uri="{FF2B5EF4-FFF2-40B4-BE49-F238E27FC236}">
                  <a16:creationId xmlns:a16="http://schemas.microsoft.com/office/drawing/2014/main" id="{88A4DE5B-8F67-8CA4-8917-A46B786231F3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3A3A3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-0.11</a:t>
              </a:r>
            </a:p>
          </p:txBody>
        </p:sp>
      </p:grpSp>
      <p:grpSp>
        <p:nvGrpSpPr>
          <p:cNvPr id="452" name="Group 214">
            <a:extLst>
              <a:ext uri="{FF2B5EF4-FFF2-40B4-BE49-F238E27FC236}">
                <a16:creationId xmlns:a16="http://schemas.microsoft.com/office/drawing/2014/main" id="{1AE41A06-4215-F1EF-47A1-E05D112A9E23}"/>
              </a:ext>
            </a:extLst>
          </p:cNvPr>
          <p:cNvGrpSpPr/>
          <p:nvPr/>
        </p:nvGrpSpPr>
        <p:grpSpPr>
          <a:xfrm>
            <a:off x="3297131" y="3557911"/>
            <a:ext cx="497128" cy="497128"/>
            <a:chOff x="0" y="0"/>
            <a:chExt cx="1738719" cy="1738719"/>
          </a:xfrm>
        </p:grpSpPr>
        <p:sp>
          <p:nvSpPr>
            <p:cNvPr id="453" name="Freeform 215">
              <a:extLst>
                <a:ext uri="{FF2B5EF4-FFF2-40B4-BE49-F238E27FC236}">
                  <a16:creationId xmlns:a16="http://schemas.microsoft.com/office/drawing/2014/main" id="{9AAC56D1-9184-D696-6051-411C8FE2B7C7}"/>
                </a:ext>
              </a:extLst>
            </p:cNvPr>
            <p:cNvSpPr/>
            <p:nvPr/>
          </p:nvSpPr>
          <p:spPr>
            <a:xfrm>
              <a:off x="0" y="0"/>
              <a:ext cx="1738757" cy="1738757"/>
            </a:xfrm>
            <a:custGeom>
              <a:avLst/>
              <a:gdLst/>
              <a:ahLst/>
              <a:cxnLst/>
              <a:rect l="l" t="t" r="r" b="b"/>
              <a:pathLst>
                <a:path w="1738757" h="1738757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592326" y="0"/>
                  </a:lnTo>
                  <a:cubicBezTo>
                    <a:pt x="1673225" y="0"/>
                    <a:pt x="1738757" y="65532"/>
                    <a:pt x="1738757" y="146431"/>
                  </a:cubicBezTo>
                  <a:lnTo>
                    <a:pt x="1738757" y="1592326"/>
                  </a:lnTo>
                  <a:cubicBezTo>
                    <a:pt x="1738757" y="1673225"/>
                    <a:pt x="1673225" y="1738757"/>
                    <a:pt x="1592326" y="1738757"/>
                  </a:cubicBezTo>
                  <a:lnTo>
                    <a:pt x="146431" y="1738757"/>
                  </a:lnTo>
                  <a:cubicBezTo>
                    <a:pt x="65532" y="1738757"/>
                    <a:pt x="0" y="1673225"/>
                    <a:pt x="0" y="1592326"/>
                  </a:cubicBezTo>
                  <a:close/>
                </a:path>
              </a:pathLst>
            </a:custGeom>
            <a:solidFill>
              <a:srgbClr val="5A6E3A"/>
            </a:solidFill>
          </p:spPr>
        </p:sp>
      </p:grpSp>
      <p:grpSp>
        <p:nvGrpSpPr>
          <p:cNvPr id="454" name="Group 216">
            <a:extLst>
              <a:ext uri="{FF2B5EF4-FFF2-40B4-BE49-F238E27FC236}">
                <a16:creationId xmlns:a16="http://schemas.microsoft.com/office/drawing/2014/main" id="{96D3414C-D777-AF0E-AF19-439DA055B86E}"/>
              </a:ext>
            </a:extLst>
          </p:cNvPr>
          <p:cNvGrpSpPr/>
          <p:nvPr/>
        </p:nvGrpSpPr>
        <p:grpSpPr>
          <a:xfrm>
            <a:off x="3297131" y="3557911"/>
            <a:ext cx="497128" cy="497128"/>
            <a:chOff x="0" y="0"/>
            <a:chExt cx="1738719" cy="1738719"/>
          </a:xfrm>
        </p:grpSpPr>
        <p:sp>
          <p:nvSpPr>
            <p:cNvPr id="455" name="Freeform 217">
              <a:extLst>
                <a:ext uri="{FF2B5EF4-FFF2-40B4-BE49-F238E27FC236}">
                  <a16:creationId xmlns:a16="http://schemas.microsoft.com/office/drawing/2014/main" id="{43590E10-F6CE-3EF7-A411-03C72CD7A674}"/>
                </a:ext>
              </a:extLst>
            </p:cNvPr>
            <p:cNvSpPr/>
            <p:nvPr/>
          </p:nvSpPr>
          <p:spPr>
            <a:xfrm>
              <a:off x="0" y="0"/>
              <a:ext cx="1738718" cy="1738718"/>
            </a:xfrm>
            <a:custGeom>
              <a:avLst/>
              <a:gdLst/>
              <a:ahLst/>
              <a:cxnLst/>
              <a:rect l="l" t="t" r="r" b="b"/>
              <a:pathLst>
                <a:path w="1738718" h="1738718">
                  <a:moveTo>
                    <a:pt x="0" y="0"/>
                  </a:moveTo>
                  <a:lnTo>
                    <a:pt x="1738718" y="0"/>
                  </a:lnTo>
                  <a:lnTo>
                    <a:pt x="173871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56" name="TextBox 218">
              <a:extLst>
                <a:ext uri="{FF2B5EF4-FFF2-40B4-BE49-F238E27FC236}">
                  <a16:creationId xmlns:a16="http://schemas.microsoft.com/office/drawing/2014/main" id="{B7A1F831-4EE9-361E-C965-88D24308EE8A}"/>
                </a:ext>
              </a:extLst>
            </p:cNvPr>
            <p:cNvSpPr txBox="1"/>
            <p:nvPr/>
          </p:nvSpPr>
          <p:spPr>
            <a:xfrm>
              <a:off x="0" y="0"/>
              <a:ext cx="1738719" cy="17387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71"/>
                </a:lnSpc>
              </a:pPr>
              <a:r>
                <a:rPr lang="en-US" sz="97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1.00</a:t>
              </a:r>
            </a:p>
          </p:txBody>
        </p:sp>
      </p:grpSp>
      <p:pic>
        <p:nvPicPr>
          <p:cNvPr id="460" name="Image 1" descr="preencoded.png">
            <a:extLst>
              <a:ext uri="{FF2B5EF4-FFF2-40B4-BE49-F238E27FC236}">
                <a16:creationId xmlns:a16="http://schemas.microsoft.com/office/drawing/2014/main" id="{07CC68C9-7A0F-85BD-2E1D-B41F170B1D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461" name="Text 2">
            <a:extLst>
              <a:ext uri="{FF2B5EF4-FFF2-40B4-BE49-F238E27FC236}">
                <a16:creationId xmlns:a16="http://schemas.microsoft.com/office/drawing/2014/main" id="{40CBC9BC-6225-E590-46D3-8AE600E89699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462" name="Text 9">
            <a:extLst>
              <a:ext uri="{FF2B5EF4-FFF2-40B4-BE49-F238E27FC236}">
                <a16:creationId xmlns:a16="http://schemas.microsoft.com/office/drawing/2014/main" id="{9E4BE1F3-0F69-CB5C-1CCE-E98A44346493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180900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3D56-4C05-B61D-5B8C-973E07C2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CD19F3E-8303-3148-6555-85B81736E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3448B69-3332-6A39-F236-90C77EE86C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67CDD401-4C6B-EF5B-2F07-4F750F938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2465C84-F3FF-BB72-477B-7EE134B06E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4371294-F0FE-4DAE-173B-90BF1067AD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6230EF0B-445F-8139-6421-5A011D931736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분할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5C3EA6B3-13B9-70CA-FBB2-90D704E6C95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264D5F61-8122-3A9D-31EC-E62E5D3D742E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47C9C661-BBDE-264F-E0A7-44D0E0144B1C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1152539C-4064-CD44-38A1-6CE9057C6678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E7D6CC83-3BED-D516-E8B8-FA412675EB3B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2FFEBA5E-DEA5-A6DA-4B2D-7DE137D8AB36}"/>
              </a:ext>
            </a:extLst>
          </p:cNvPr>
          <p:cNvGrpSpPr/>
          <p:nvPr/>
        </p:nvGrpSpPr>
        <p:grpSpPr>
          <a:xfrm>
            <a:off x="346391" y="4307134"/>
            <a:ext cx="8424987" cy="497220"/>
            <a:chOff x="0" y="0"/>
            <a:chExt cx="22466630" cy="1325918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0AA1613F-56E3-BA1B-97F1-28A03C2ED84D}"/>
                </a:ext>
              </a:extLst>
            </p:cNvPr>
            <p:cNvSpPr/>
            <p:nvPr/>
          </p:nvSpPr>
          <p:spPr>
            <a:xfrm>
              <a:off x="0" y="0"/>
              <a:ext cx="22466667" cy="1325918"/>
            </a:xfrm>
            <a:custGeom>
              <a:avLst/>
              <a:gdLst/>
              <a:ahLst/>
              <a:cxnLst/>
              <a:rect l="l" t="t" r="r" b="b"/>
              <a:pathLst>
                <a:path w="22466667" h="1325918">
                  <a:moveTo>
                    <a:pt x="0" y="159133"/>
                  </a:moveTo>
                  <a:cubicBezTo>
                    <a:pt x="0" y="71258"/>
                    <a:pt x="96750" y="0"/>
                    <a:pt x="216062" y="0"/>
                  </a:cubicBezTo>
                  <a:lnTo>
                    <a:pt x="22250605" y="0"/>
                  </a:lnTo>
                  <a:cubicBezTo>
                    <a:pt x="22369918" y="0"/>
                    <a:pt x="22466667" y="71258"/>
                    <a:pt x="22466667" y="159133"/>
                  </a:cubicBezTo>
                  <a:lnTo>
                    <a:pt x="22466667" y="1166785"/>
                  </a:lnTo>
                  <a:cubicBezTo>
                    <a:pt x="22466667" y="1254660"/>
                    <a:pt x="22369918" y="1325918"/>
                    <a:pt x="22250605" y="1325918"/>
                  </a:cubicBezTo>
                  <a:lnTo>
                    <a:pt x="216062" y="1325918"/>
                  </a:lnTo>
                  <a:cubicBezTo>
                    <a:pt x="96750" y="1325918"/>
                    <a:pt x="0" y="1254660"/>
                    <a:pt x="0" y="1166785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F53D6B43-D7D1-8A8D-5935-A37C90EC999A}"/>
              </a:ext>
            </a:extLst>
          </p:cNvPr>
          <p:cNvGrpSpPr/>
          <p:nvPr/>
        </p:nvGrpSpPr>
        <p:grpSpPr>
          <a:xfrm>
            <a:off x="504335" y="4432256"/>
            <a:ext cx="5625639" cy="246976"/>
            <a:chOff x="0" y="0"/>
            <a:chExt cx="15001703" cy="65860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3C82975D-F4BF-8B37-D9FA-FB03B947740A}"/>
                </a:ext>
              </a:extLst>
            </p:cNvPr>
            <p:cNvSpPr/>
            <p:nvPr/>
          </p:nvSpPr>
          <p:spPr>
            <a:xfrm>
              <a:off x="0" y="0"/>
              <a:ext cx="15001708" cy="658606"/>
            </a:xfrm>
            <a:custGeom>
              <a:avLst/>
              <a:gdLst/>
              <a:ahLst/>
              <a:cxnLst/>
              <a:rect l="l" t="t" r="r" b="b"/>
              <a:pathLst>
                <a:path w="15001708" h="658606">
                  <a:moveTo>
                    <a:pt x="0" y="0"/>
                  </a:moveTo>
                  <a:lnTo>
                    <a:pt x="15001708" y="0"/>
                  </a:lnTo>
                  <a:lnTo>
                    <a:pt x="15001708" y="658606"/>
                  </a:lnTo>
                  <a:lnTo>
                    <a:pt x="0" y="6586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03287" r="8498" b="-408929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E6BF3535-3BA4-FB40-0769-5FCF487A9C80}"/>
                </a:ext>
              </a:extLst>
            </p:cNvPr>
            <p:cNvSpPr txBox="1"/>
            <p:nvPr/>
          </p:nvSpPr>
          <p:spPr>
            <a:xfrm>
              <a:off x="0" y="-9525"/>
              <a:ext cx="15001703" cy="6681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501"/>
                </a:lnSpc>
              </a:pPr>
              <a:r>
                <a:rPr lang="en-US" sz="1251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 전 시퀀스를 진행도 0–100%로 정규화 → 4구간 분할 (예외 0건)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207A8871-1FF0-85B8-5C2D-FCF02A4B9A6F}"/>
              </a:ext>
            </a:extLst>
          </p:cNvPr>
          <p:cNvGrpSpPr/>
          <p:nvPr/>
        </p:nvGrpSpPr>
        <p:grpSpPr>
          <a:xfrm>
            <a:off x="5749290" y="4327143"/>
            <a:ext cx="2880360" cy="457200"/>
            <a:chOff x="0" y="0"/>
            <a:chExt cx="7680960" cy="121920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5C8E893B-9D5B-509B-7F03-CF1B519DEE06}"/>
                </a:ext>
              </a:extLst>
            </p:cNvPr>
            <p:cNvSpPr/>
            <p:nvPr/>
          </p:nvSpPr>
          <p:spPr>
            <a:xfrm>
              <a:off x="0" y="0"/>
              <a:ext cx="7680960" cy="1219200"/>
            </a:xfrm>
            <a:custGeom>
              <a:avLst/>
              <a:gdLst/>
              <a:ahLst/>
              <a:cxnLst/>
              <a:rect l="l" t="t" r="r" b="b"/>
              <a:pathLst>
                <a:path w="7680960" h="1219200">
                  <a:moveTo>
                    <a:pt x="0" y="0"/>
                  </a:moveTo>
                  <a:lnTo>
                    <a:pt x="7680960" y="0"/>
                  </a:lnTo>
                  <a:lnTo>
                    <a:pt x="7680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2755" b="-72755"/>
              </a:stretch>
            </a:blipFill>
          </p:spPr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3319D8DB-BD4B-374E-A8CC-370026AAB399}"/>
                </a:ext>
              </a:extLst>
            </p:cNvPr>
            <p:cNvSpPr txBox="1"/>
            <p:nvPr/>
          </p:nvSpPr>
          <p:spPr>
            <a:xfrm>
              <a:off x="0" y="-9525"/>
              <a:ext cx="768096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960"/>
                </a:lnSpc>
              </a:pPr>
              <a:r>
                <a:rPr lang="en-US" sz="800" b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구간 단위 비교 · 집계 기반 확보</a:t>
              </a:r>
            </a:p>
          </p:txBody>
        </p:sp>
      </p:grpSp>
      <p:grpSp>
        <p:nvGrpSpPr>
          <p:cNvPr id="20" name="Group 34">
            <a:extLst>
              <a:ext uri="{FF2B5EF4-FFF2-40B4-BE49-F238E27FC236}">
                <a16:creationId xmlns:a16="http://schemas.microsoft.com/office/drawing/2014/main" id="{12F6924F-D649-CD9F-6E70-E290A28F12A1}"/>
              </a:ext>
            </a:extLst>
          </p:cNvPr>
          <p:cNvGrpSpPr/>
          <p:nvPr/>
        </p:nvGrpSpPr>
        <p:grpSpPr>
          <a:xfrm>
            <a:off x="274320" y="4855464"/>
            <a:ext cx="5943600" cy="182880"/>
            <a:chOff x="0" y="0"/>
            <a:chExt cx="15849600" cy="487680"/>
          </a:xfrm>
        </p:grpSpPr>
        <p:sp>
          <p:nvSpPr>
            <p:cNvPr id="21" name="Freeform 35">
              <a:extLst>
                <a:ext uri="{FF2B5EF4-FFF2-40B4-BE49-F238E27FC236}">
                  <a16:creationId xmlns:a16="http://schemas.microsoft.com/office/drawing/2014/main" id="{A127C1FA-7FE8-79EB-D72E-69A15A7F1816}"/>
                </a:ext>
              </a:extLst>
            </p:cNvPr>
            <p:cNvSpPr/>
            <p:nvPr/>
          </p:nvSpPr>
          <p:spPr>
            <a:xfrm>
              <a:off x="0" y="0"/>
              <a:ext cx="15849600" cy="487680"/>
            </a:xfrm>
            <a:custGeom>
              <a:avLst/>
              <a:gdLst/>
              <a:ahLst/>
              <a:cxnLst/>
              <a:rect l="l" t="t" r="r" b="b"/>
              <a:pathLst>
                <a:path w="15849600" h="487680">
                  <a:moveTo>
                    <a:pt x="0" y="0"/>
                  </a:moveTo>
                  <a:lnTo>
                    <a:pt x="15849600" y="0"/>
                  </a:lnTo>
                  <a:lnTo>
                    <a:pt x="15849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583263" b="-583263"/>
              </a:stretch>
            </a:blipFill>
          </p:spPr>
        </p:sp>
        <p:sp>
          <p:nvSpPr>
            <p:cNvPr id="22" name="TextBox 36">
              <a:extLst>
                <a:ext uri="{FF2B5EF4-FFF2-40B4-BE49-F238E27FC236}">
                  <a16:creationId xmlns:a16="http://schemas.microsoft.com/office/drawing/2014/main" id="{9696DD9B-E088-DFC6-DE31-C8066B70DFFE}"/>
                </a:ext>
              </a:extLst>
            </p:cNvPr>
            <p:cNvSpPr txBox="1"/>
            <p:nvPr/>
          </p:nvSpPr>
          <p:spPr>
            <a:xfrm>
              <a:off x="0" y="-9525"/>
              <a:ext cx="15849600" cy="497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60"/>
                </a:lnSpc>
              </a:pPr>
              <a:r>
                <a:rPr lang="en-US" sz="550">
                  <a:solidFill>
                    <a:srgbClr val="8A8F7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Pearson 상관계수 · 정상 전체 구간 기준</a:t>
              </a:r>
            </a:p>
          </p:txBody>
        </p:sp>
      </p:grpSp>
      <p:grpSp>
        <p:nvGrpSpPr>
          <p:cNvPr id="23" name="Group 37">
            <a:extLst>
              <a:ext uri="{FF2B5EF4-FFF2-40B4-BE49-F238E27FC236}">
                <a16:creationId xmlns:a16="http://schemas.microsoft.com/office/drawing/2014/main" id="{30082843-7856-C23E-493B-60864762DF05}"/>
              </a:ext>
            </a:extLst>
          </p:cNvPr>
          <p:cNvGrpSpPr/>
          <p:nvPr/>
        </p:nvGrpSpPr>
        <p:grpSpPr>
          <a:xfrm>
            <a:off x="386128" y="942454"/>
            <a:ext cx="2838607" cy="288260"/>
            <a:chOff x="0" y="0"/>
            <a:chExt cx="7569619" cy="768693"/>
          </a:xfrm>
        </p:grpSpPr>
        <p:sp>
          <p:nvSpPr>
            <p:cNvPr id="24" name="Freeform 38">
              <a:extLst>
                <a:ext uri="{FF2B5EF4-FFF2-40B4-BE49-F238E27FC236}">
                  <a16:creationId xmlns:a16="http://schemas.microsoft.com/office/drawing/2014/main" id="{449BD967-35F7-8EA6-9979-1FFD0F28D076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5" name="Group 39">
            <a:extLst>
              <a:ext uri="{FF2B5EF4-FFF2-40B4-BE49-F238E27FC236}">
                <a16:creationId xmlns:a16="http://schemas.microsoft.com/office/drawing/2014/main" id="{C03EC68E-C43C-D234-F66A-31399EB62CB5}"/>
              </a:ext>
            </a:extLst>
          </p:cNvPr>
          <p:cNvGrpSpPr/>
          <p:nvPr/>
        </p:nvGrpSpPr>
        <p:grpSpPr>
          <a:xfrm>
            <a:off x="468486" y="942454"/>
            <a:ext cx="2756250" cy="288261"/>
            <a:chOff x="0" y="0"/>
            <a:chExt cx="7349998" cy="768697"/>
          </a:xfrm>
        </p:grpSpPr>
        <p:sp>
          <p:nvSpPr>
            <p:cNvPr id="26" name="Freeform 40">
              <a:extLst>
                <a:ext uri="{FF2B5EF4-FFF2-40B4-BE49-F238E27FC236}">
                  <a16:creationId xmlns:a16="http://schemas.microsoft.com/office/drawing/2014/main" id="{9302E3EE-D060-3653-FF00-9889F54499C4}"/>
                </a:ext>
              </a:extLst>
            </p:cNvPr>
            <p:cNvSpPr/>
            <p:nvPr/>
          </p:nvSpPr>
          <p:spPr>
            <a:xfrm>
              <a:off x="0" y="0"/>
              <a:ext cx="7349998" cy="768700"/>
            </a:xfrm>
            <a:custGeom>
              <a:avLst/>
              <a:gdLst/>
              <a:ahLst/>
              <a:cxnLst/>
              <a:rect l="l" t="t" r="r" b="b"/>
              <a:pathLst>
                <a:path w="7349998" h="768700">
                  <a:moveTo>
                    <a:pt x="0" y="0"/>
                  </a:moveTo>
                  <a:lnTo>
                    <a:pt x="7349998" y="0"/>
                  </a:lnTo>
                  <a:lnTo>
                    <a:pt x="7349998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34465" b="-200520"/>
              </a:stretch>
            </a:blipFill>
          </p:spPr>
        </p:sp>
        <p:sp>
          <p:nvSpPr>
            <p:cNvPr id="27" name="TextBox 41">
              <a:extLst>
                <a:ext uri="{FF2B5EF4-FFF2-40B4-BE49-F238E27FC236}">
                  <a16:creationId xmlns:a16="http://schemas.microsoft.com/office/drawing/2014/main" id="{899D73EB-DA9D-40E1-B6D1-8E054C7AF622}"/>
                </a:ext>
              </a:extLst>
            </p:cNvPr>
            <p:cNvSpPr txBox="1"/>
            <p:nvPr/>
          </p:nvSpPr>
          <p:spPr>
            <a:xfrm>
              <a:off x="0" y="-28575"/>
              <a:ext cx="7349998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진행도별 평균 전류</a:t>
              </a:r>
            </a:p>
          </p:txBody>
        </p:sp>
      </p:grpSp>
      <p:pic>
        <p:nvPicPr>
          <p:cNvPr id="28" name="Picture 42">
            <a:extLst>
              <a:ext uri="{FF2B5EF4-FFF2-40B4-BE49-F238E27FC236}">
                <a16:creationId xmlns:a16="http://schemas.microsoft.com/office/drawing/2014/main" id="{ABAB952F-A77E-9D20-1887-E65673E9B3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39089" y="524562"/>
            <a:ext cx="9902598" cy="3310641"/>
          </a:xfrm>
          <a:prstGeom prst="rect">
            <a:avLst/>
          </a:prstGeom>
        </p:spPr>
      </p:pic>
      <p:grpSp>
        <p:nvGrpSpPr>
          <p:cNvPr id="29" name="Group 43">
            <a:extLst>
              <a:ext uri="{FF2B5EF4-FFF2-40B4-BE49-F238E27FC236}">
                <a16:creationId xmlns:a16="http://schemas.microsoft.com/office/drawing/2014/main" id="{278846F6-BFA0-F6E0-CDFF-8EA05EB89DBC}"/>
              </a:ext>
            </a:extLst>
          </p:cNvPr>
          <p:cNvGrpSpPr/>
          <p:nvPr/>
        </p:nvGrpSpPr>
        <p:grpSpPr>
          <a:xfrm>
            <a:off x="381453" y="3042845"/>
            <a:ext cx="1828800" cy="596083"/>
            <a:chOff x="0" y="0"/>
            <a:chExt cx="4876800" cy="1589553"/>
          </a:xfrm>
        </p:grpSpPr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EBBB962C-6C1C-5845-E3BC-5F91FB283A54}"/>
                </a:ext>
              </a:extLst>
            </p:cNvPr>
            <p:cNvSpPr/>
            <p:nvPr/>
          </p:nvSpPr>
          <p:spPr>
            <a:xfrm>
              <a:off x="0" y="0"/>
              <a:ext cx="4876800" cy="1589553"/>
            </a:xfrm>
            <a:custGeom>
              <a:avLst/>
              <a:gdLst/>
              <a:ahLst/>
              <a:cxnLst/>
              <a:rect l="l" t="t" r="r" b="b"/>
              <a:pathLst>
                <a:path w="4876800" h="1589553">
                  <a:moveTo>
                    <a:pt x="0" y="0"/>
                  </a:moveTo>
                  <a:lnTo>
                    <a:pt x="3870960" y="0"/>
                  </a:lnTo>
                  <a:lnTo>
                    <a:pt x="4876800" y="794777"/>
                  </a:lnTo>
                  <a:lnTo>
                    <a:pt x="3870960" y="1589553"/>
                  </a:lnTo>
                  <a:lnTo>
                    <a:pt x="0" y="1589553"/>
                  </a:lnTo>
                  <a:lnTo>
                    <a:pt x="1005840" y="794777"/>
                  </a:ln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31" name="Group 45">
            <a:extLst>
              <a:ext uri="{FF2B5EF4-FFF2-40B4-BE49-F238E27FC236}">
                <a16:creationId xmlns:a16="http://schemas.microsoft.com/office/drawing/2014/main" id="{7FD5F80D-C54B-D4EA-E560-0E8ED5AA1BC0}"/>
              </a:ext>
            </a:extLst>
          </p:cNvPr>
          <p:cNvGrpSpPr/>
          <p:nvPr/>
        </p:nvGrpSpPr>
        <p:grpSpPr>
          <a:xfrm>
            <a:off x="472893" y="3042845"/>
            <a:ext cx="1508760" cy="596083"/>
            <a:chOff x="0" y="0"/>
            <a:chExt cx="4023360" cy="1589553"/>
          </a:xfrm>
        </p:grpSpPr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348F69E9-47F3-C694-D2FF-C28FEF6A884D}"/>
                </a:ext>
              </a:extLst>
            </p:cNvPr>
            <p:cNvSpPr/>
            <p:nvPr/>
          </p:nvSpPr>
          <p:spPr>
            <a:xfrm>
              <a:off x="0" y="0"/>
              <a:ext cx="4023360" cy="1589553"/>
            </a:xfrm>
            <a:custGeom>
              <a:avLst/>
              <a:gdLst/>
              <a:ahLst/>
              <a:cxnLst/>
              <a:rect l="l" t="t" r="r" b="b"/>
              <a:pathLst>
                <a:path w="4023360" h="1589553">
                  <a:moveTo>
                    <a:pt x="0" y="0"/>
                  </a:moveTo>
                  <a:lnTo>
                    <a:pt x="4023360" y="0"/>
                  </a:lnTo>
                  <a:lnTo>
                    <a:pt x="4023360" y="1589553"/>
                  </a:lnTo>
                  <a:lnTo>
                    <a:pt x="0" y="15895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1" r="-14151" b="-26556"/>
              </a:stretch>
            </a:blipFill>
          </p:spPr>
        </p:sp>
        <p:sp>
          <p:nvSpPr>
            <p:cNvPr id="65" name="TextBox 47">
              <a:extLst>
                <a:ext uri="{FF2B5EF4-FFF2-40B4-BE49-F238E27FC236}">
                  <a16:creationId xmlns:a16="http://schemas.microsoft.com/office/drawing/2014/main" id="{A1FF84A0-5220-043D-AB56-0CB7F633AB1B}"/>
                </a:ext>
              </a:extLst>
            </p:cNvPr>
            <p:cNvSpPr txBox="1"/>
            <p:nvPr/>
          </p:nvSpPr>
          <p:spPr>
            <a:xfrm>
              <a:off x="0" y="-28575"/>
              <a:ext cx="4023360" cy="1618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22"/>
                </a:lnSpc>
              </a:pPr>
              <a:r>
                <a:rPr lang="en-US" sz="8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0 – 20</a:t>
              </a:r>
            </a:p>
            <a:p>
              <a:pPr algn="ctr">
                <a:lnSpc>
                  <a:spcPts val="1056"/>
                </a:lnSpc>
              </a:pPr>
              <a:r>
                <a:rPr lang="en-US" sz="8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공정 시작</a:t>
              </a:r>
            </a:p>
          </p:txBody>
        </p:sp>
      </p:grpSp>
      <p:grpSp>
        <p:nvGrpSpPr>
          <p:cNvPr id="66" name="Group 48">
            <a:extLst>
              <a:ext uri="{FF2B5EF4-FFF2-40B4-BE49-F238E27FC236}">
                <a16:creationId xmlns:a16="http://schemas.microsoft.com/office/drawing/2014/main" id="{25859ECE-5B96-A749-EFEA-390531640243}"/>
              </a:ext>
            </a:extLst>
          </p:cNvPr>
          <p:cNvGrpSpPr/>
          <p:nvPr/>
        </p:nvGrpSpPr>
        <p:grpSpPr>
          <a:xfrm>
            <a:off x="2063949" y="3042845"/>
            <a:ext cx="1828800" cy="596083"/>
            <a:chOff x="0" y="0"/>
            <a:chExt cx="4876800" cy="1589553"/>
          </a:xfrm>
        </p:grpSpPr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D9F471AD-9B5A-4550-9E8E-F5E36822AB78}"/>
                </a:ext>
              </a:extLst>
            </p:cNvPr>
            <p:cNvSpPr/>
            <p:nvPr/>
          </p:nvSpPr>
          <p:spPr>
            <a:xfrm>
              <a:off x="0" y="0"/>
              <a:ext cx="4876800" cy="1589553"/>
            </a:xfrm>
            <a:custGeom>
              <a:avLst/>
              <a:gdLst/>
              <a:ahLst/>
              <a:cxnLst/>
              <a:rect l="l" t="t" r="r" b="b"/>
              <a:pathLst>
                <a:path w="4876800" h="1589553">
                  <a:moveTo>
                    <a:pt x="0" y="0"/>
                  </a:moveTo>
                  <a:lnTo>
                    <a:pt x="3870960" y="0"/>
                  </a:lnTo>
                  <a:lnTo>
                    <a:pt x="4876800" y="794777"/>
                  </a:lnTo>
                  <a:lnTo>
                    <a:pt x="3870960" y="1589553"/>
                  </a:lnTo>
                  <a:lnTo>
                    <a:pt x="0" y="1589553"/>
                  </a:lnTo>
                  <a:lnTo>
                    <a:pt x="1005840" y="794777"/>
                  </a:lnTo>
                  <a:close/>
                </a:path>
              </a:pathLst>
            </a:custGeom>
            <a:solidFill>
              <a:srgbClr val="8B9462"/>
            </a:solidFill>
          </p:spPr>
        </p:sp>
      </p:grpSp>
      <p:grpSp>
        <p:nvGrpSpPr>
          <p:cNvPr id="68" name="Group 50">
            <a:extLst>
              <a:ext uri="{FF2B5EF4-FFF2-40B4-BE49-F238E27FC236}">
                <a16:creationId xmlns:a16="http://schemas.microsoft.com/office/drawing/2014/main" id="{352D4EB2-8A33-9EFF-615A-8D9D26B15CDC}"/>
              </a:ext>
            </a:extLst>
          </p:cNvPr>
          <p:cNvGrpSpPr/>
          <p:nvPr/>
        </p:nvGrpSpPr>
        <p:grpSpPr>
          <a:xfrm>
            <a:off x="2315409" y="3042845"/>
            <a:ext cx="1508760" cy="596083"/>
            <a:chOff x="0" y="0"/>
            <a:chExt cx="4023360" cy="1589553"/>
          </a:xfrm>
        </p:grpSpPr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1D42891A-CFB9-5BBB-F0CC-AB5ED8CA1224}"/>
                </a:ext>
              </a:extLst>
            </p:cNvPr>
            <p:cNvSpPr/>
            <p:nvPr/>
          </p:nvSpPr>
          <p:spPr>
            <a:xfrm>
              <a:off x="0" y="0"/>
              <a:ext cx="4023360" cy="1589553"/>
            </a:xfrm>
            <a:custGeom>
              <a:avLst/>
              <a:gdLst/>
              <a:ahLst/>
              <a:cxnLst/>
              <a:rect l="l" t="t" r="r" b="b"/>
              <a:pathLst>
                <a:path w="4023360" h="1589553">
                  <a:moveTo>
                    <a:pt x="0" y="0"/>
                  </a:moveTo>
                  <a:lnTo>
                    <a:pt x="4023360" y="0"/>
                  </a:lnTo>
                  <a:lnTo>
                    <a:pt x="4023360" y="1589553"/>
                  </a:lnTo>
                  <a:lnTo>
                    <a:pt x="0" y="15895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1" r="-14151" b="-26556"/>
              </a:stretch>
            </a:blipFill>
          </p:spPr>
        </p:sp>
        <p:sp>
          <p:nvSpPr>
            <p:cNvPr id="70" name="TextBox 52">
              <a:extLst>
                <a:ext uri="{FF2B5EF4-FFF2-40B4-BE49-F238E27FC236}">
                  <a16:creationId xmlns:a16="http://schemas.microsoft.com/office/drawing/2014/main" id="{3A4DC3FA-56E5-3BB0-9F06-EAB8BBD13D10}"/>
                </a:ext>
              </a:extLst>
            </p:cNvPr>
            <p:cNvSpPr txBox="1"/>
            <p:nvPr/>
          </p:nvSpPr>
          <p:spPr>
            <a:xfrm>
              <a:off x="0" y="-28575"/>
              <a:ext cx="4023360" cy="1618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22"/>
                </a:lnSpc>
              </a:pPr>
              <a:r>
                <a:rPr lang="en-US" sz="8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20 – 40</a:t>
              </a:r>
            </a:p>
            <a:p>
              <a:pPr algn="ctr">
                <a:lnSpc>
                  <a:spcPts val="1056"/>
                </a:lnSpc>
              </a:pPr>
              <a:r>
                <a:rPr lang="en-US" sz="8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변화 집중</a:t>
              </a:r>
            </a:p>
          </p:txBody>
        </p:sp>
      </p:grpSp>
      <p:grpSp>
        <p:nvGrpSpPr>
          <p:cNvPr id="71" name="Group 53">
            <a:extLst>
              <a:ext uri="{FF2B5EF4-FFF2-40B4-BE49-F238E27FC236}">
                <a16:creationId xmlns:a16="http://schemas.microsoft.com/office/drawing/2014/main" id="{36326C3B-008D-F517-D8BC-2E9DCF8F3C85}"/>
              </a:ext>
            </a:extLst>
          </p:cNvPr>
          <p:cNvGrpSpPr/>
          <p:nvPr/>
        </p:nvGrpSpPr>
        <p:grpSpPr>
          <a:xfrm>
            <a:off x="3746445" y="3042845"/>
            <a:ext cx="3291840" cy="596083"/>
            <a:chOff x="0" y="0"/>
            <a:chExt cx="8778240" cy="1589553"/>
          </a:xfrm>
        </p:grpSpPr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62F16741-7AD2-3BC5-C050-421F2A535B49}"/>
                </a:ext>
              </a:extLst>
            </p:cNvPr>
            <p:cNvSpPr/>
            <p:nvPr/>
          </p:nvSpPr>
          <p:spPr>
            <a:xfrm>
              <a:off x="0" y="0"/>
              <a:ext cx="8778240" cy="1589553"/>
            </a:xfrm>
            <a:custGeom>
              <a:avLst/>
              <a:gdLst/>
              <a:ahLst/>
              <a:cxnLst/>
              <a:rect l="l" t="t" r="r" b="b"/>
              <a:pathLst>
                <a:path w="8778240" h="1589553">
                  <a:moveTo>
                    <a:pt x="0" y="0"/>
                  </a:moveTo>
                  <a:lnTo>
                    <a:pt x="7772400" y="0"/>
                  </a:lnTo>
                  <a:lnTo>
                    <a:pt x="8778240" y="794777"/>
                  </a:lnTo>
                  <a:lnTo>
                    <a:pt x="7772400" y="1589553"/>
                  </a:lnTo>
                  <a:lnTo>
                    <a:pt x="0" y="1589553"/>
                  </a:lnTo>
                  <a:lnTo>
                    <a:pt x="1005840" y="794777"/>
                  </a:lnTo>
                  <a:close/>
                </a:path>
              </a:pathLst>
            </a:custGeom>
            <a:solidFill>
              <a:srgbClr val="626F47"/>
            </a:solidFill>
          </p:spPr>
        </p:sp>
      </p:grpSp>
      <p:grpSp>
        <p:nvGrpSpPr>
          <p:cNvPr id="73" name="Group 55">
            <a:extLst>
              <a:ext uri="{FF2B5EF4-FFF2-40B4-BE49-F238E27FC236}">
                <a16:creationId xmlns:a16="http://schemas.microsoft.com/office/drawing/2014/main" id="{6925B2D1-7D13-555C-1F5B-3F263EA07B27}"/>
              </a:ext>
            </a:extLst>
          </p:cNvPr>
          <p:cNvGrpSpPr/>
          <p:nvPr/>
        </p:nvGrpSpPr>
        <p:grpSpPr>
          <a:xfrm>
            <a:off x="3997905" y="3042845"/>
            <a:ext cx="2971800" cy="596083"/>
            <a:chOff x="0" y="0"/>
            <a:chExt cx="7924800" cy="1589553"/>
          </a:xfrm>
        </p:grpSpPr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C4F1A32E-C567-AD5D-C892-5B53E7D7A52A}"/>
                </a:ext>
              </a:extLst>
            </p:cNvPr>
            <p:cNvSpPr/>
            <p:nvPr/>
          </p:nvSpPr>
          <p:spPr>
            <a:xfrm>
              <a:off x="0" y="0"/>
              <a:ext cx="7924800" cy="1589553"/>
            </a:xfrm>
            <a:custGeom>
              <a:avLst/>
              <a:gdLst/>
              <a:ahLst/>
              <a:cxnLst/>
              <a:rect l="l" t="t" r="r" b="b"/>
              <a:pathLst>
                <a:path w="7924800" h="1589553">
                  <a:moveTo>
                    <a:pt x="0" y="0"/>
                  </a:moveTo>
                  <a:lnTo>
                    <a:pt x="7924800" y="0"/>
                  </a:lnTo>
                  <a:lnTo>
                    <a:pt x="7924800" y="1589553"/>
                  </a:lnTo>
                  <a:lnTo>
                    <a:pt x="0" y="15895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3865" b="-60421"/>
              </a:stretch>
            </a:blipFill>
          </p:spPr>
        </p:sp>
        <p:sp>
          <p:nvSpPr>
            <p:cNvPr id="75" name="TextBox 57">
              <a:extLst>
                <a:ext uri="{FF2B5EF4-FFF2-40B4-BE49-F238E27FC236}">
                  <a16:creationId xmlns:a16="http://schemas.microsoft.com/office/drawing/2014/main" id="{C445FAD7-2D82-36A6-06ED-CA033B6D62D0}"/>
                </a:ext>
              </a:extLst>
            </p:cNvPr>
            <p:cNvSpPr txBox="1"/>
            <p:nvPr/>
          </p:nvSpPr>
          <p:spPr>
            <a:xfrm>
              <a:off x="0" y="-28575"/>
              <a:ext cx="7924800" cy="1618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22"/>
                </a:lnSpc>
              </a:pPr>
              <a:r>
                <a:rPr lang="en-US" sz="8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40 – 80</a:t>
              </a:r>
            </a:p>
            <a:p>
              <a:pPr algn="ctr">
                <a:lnSpc>
                  <a:spcPts val="1056"/>
                </a:lnSpc>
              </a:pPr>
              <a:r>
                <a:rPr lang="en-US" sz="8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안정 운전</a:t>
              </a:r>
            </a:p>
          </p:txBody>
        </p:sp>
      </p:grpSp>
      <p:grpSp>
        <p:nvGrpSpPr>
          <p:cNvPr id="76" name="Group 58">
            <a:extLst>
              <a:ext uri="{FF2B5EF4-FFF2-40B4-BE49-F238E27FC236}">
                <a16:creationId xmlns:a16="http://schemas.microsoft.com/office/drawing/2014/main" id="{38DC0C8C-391A-19D8-648B-A17E82CE5956}"/>
              </a:ext>
            </a:extLst>
          </p:cNvPr>
          <p:cNvGrpSpPr/>
          <p:nvPr/>
        </p:nvGrpSpPr>
        <p:grpSpPr>
          <a:xfrm>
            <a:off x="6891981" y="3042845"/>
            <a:ext cx="1828800" cy="596083"/>
            <a:chOff x="0" y="0"/>
            <a:chExt cx="4876800" cy="1589553"/>
          </a:xfrm>
        </p:grpSpPr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2654EC08-619B-35DA-85FC-DDFB71DC7683}"/>
                </a:ext>
              </a:extLst>
            </p:cNvPr>
            <p:cNvSpPr/>
            <p:nvPr/>
          </p:nvSpPr>
          <p:spPr>
            <a:xfrm>
              <a:off x="0" y="0"/>
              <a:ext cx="4876800" cy="1589553"/>
            </a:xfrm>
            <a:custGeom>
              <a:avLst/>
              <a:gdLst/>
              <a:ahLst/>
              <a:cxnLst/>
              <a:rect l="l" t="t" r="r" b="b"/>
              <a:pathLst>
                <a:path w="4876800" h="1589553">
                  <a:moveTo>
                    <a:pt x="0" y="0"/>
                  </a:moveTo>
                  <a:lnTo>
                    <a:pt x="3870960" y="0"/>
                  </a:lnTo>
                  <a:lnTo>
                    <a:pt x="4876800" y="794777"/>
                  </a:lnTo>
                  <a:lnTo>
                    <a:pt x="3870960" y="1589553"/>
                  </a:lnTo>
                  <a:lnTo>
                    <a:pt x="0" y="1589553"/>
                  </a:lnTo>
                  <a:lnTo>
                    <a:pt x="1005840" y="794777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8" name="Group 60">
            <a:extLst>
              <a:ext uri="{FF2B5EF4-FFF2-40B4-BE49-F238E27FC236}">
                <a16:creationId xmlns:a16="http://schemas.microsoft.com/office/drawing/2014/main" id="{EA3D6C1A-C274-81EC-0373-754CD6A7BD37}"/>
              </a:ext>
            </a:extLst>
          </p:cNvPr>
          <p:cNvGrpSpPr/>
          <p:nvPr/>
        </p:nvGrpSpPr>
        <p:grpSpPr>
          <a:xfrm>
            <a:off x="7143441" y="3042845"/>
            <a:ext cx="1508760" cy="596083"/>
            <a:chOff x="0" y="0"/>
            <a:chExt cx="4023360" cy="1589553"/>
          </a:xfrm>
        </p:grpSpPr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70AF48C2-DA72-AAC4-5AD5-4C4E08FD2FBA}"/>
                </a:ext>
              </a:extLst>
            </p:cNvPr>
            <p:cNvSpPr/>
            <p:nvPr/>
          </p:nvSpPr>
          <p:spPr>
            <a:xfrm>
              <a:off x="0" y="0"/>
              <a:ext cx="4023360" cy="1589553"/>
            </a:xfrm>
            <a:custGeom>
              <a:avLst/>
              <a:gdLst/>
              <a:ahLst/>
              <a:cxnLst/>
              <a:rect l="l" t="t" r="r" b="b"/>
              <a:pathLst>
                <a:path w="4023360" h="1589553">
                  <a:moveTo>
                    <a:pt x="0" y="0"/>
                  </a:moveTo>
                  <a:lnTo>
                    <a:pt x="4023360" y="0"/>
                  </a:lnTo>
                  <a:lnTo>
                    <a:pt x="4023360" y="1589553"/>
                  </a:lnTo>
                  <a:lnTo>
                    <a:pt x="0" y="15895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51" r="-14151" b="-26556"/>
              </a:stretch>
            </a:blipFill>
          </p:spPr>
        </p:sp>
        <p:sp>
          <p:nvSpPr>
            <p:cNvPr id="80" name="TextBox 62">
              <a:extLst>
                <a:ext uri="{FF2B5EF4-FFF2-40B4-BE49-F238E27FC236}">
                  <a16:creationId xmlns:a16="http://schemas.microsoft.com/office/drawing/2014/main" id="{9C4184AB-17DF-2EA2-F86E-4A0DBF0B2372}"/>
                </a:ext>
              </a:extLst>
            </p:cNvPr>
            <p:cNvSpPr txBox="1"/>
            <p:nvPr/>
          </p:nvSpPr>
          <p:spPr>
            <a:xfrm>
              <a:off x="0" y="-28575"/>
              <a:ext cx="4023360" cy="16181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22"/>
                </a:lnSpc>
              </a:pPr>
              <a:r>
                <a:rPr lang="en-US" sz="8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80 – 100</a:t>
              </a:r>
            </a:p>
            <a:p>
              <a:pPr algn="ctr">
                <a:lnSpc>
                  <a:spcPts val="1056"/>
                </a:lnSpc>
              </a:pPr>
              <a:r>
                <a:rPr lang="en-US" sz="8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공정 마무리</a:t>
              </a:r>
            </a:p>
          </p:txBody>
        </p:sp>
      </p:grpSp>
      <p:grpSp>
        <p:nvGrpSpPr>
          <p:cNvPr id="81" name="Group 63">
            <a:extLst>
              <a:ext uri="{FF2B5EF4-FFF2-40B4-BE49-F238E27FC236}">
                <a16:creationId xmlns:a16="http://schemas.microsoft.com/office/drawing/2014/main" id="{C3762679-ED76-6E15-0373-416F2C8C7AF6}"/>
              </a:ext>
            </a:extLst>
          </p:cNvPr>
          <p:cNvGrpSpPr/>
          <p:nvPr/>
        </p:nvGrpSpPr>
        <p:grpSpPr>
          <a:xfrm>
            <a:off x="377486" y="3744171"/>
            <a:ext cx="2654618" cy="439138"/>
            <a:chOff x="0" y="0"/>
            <a:chExt cx="7078980" cy="1171033"/>
          </a:xfrm>
        </p:grpSpPr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7873E994-3888-1FCF-02A1-3E49DEE2D00A}"/>
                </a:ext>
              </a:extLst>
            </p:cNvPr>
            <p:cNvSpPr/>
            <p:nvPr/>
          </p:nvSpPr>
          <p:spPr>
            <a:xfrm>
              <a:off x="0" y="0"/>
              <a:ext cx="7079018" cy="1171072"/>
            </a:xfrm>
            <a:custGeom>
              <a:avLst/>
              <a:gdLst/>
              <a:ahLst/>
              <a:cxnLst/>
              <a:rect l="l" t="t" r="r" b="b"/>
              <a:pathLst>
                <a:path w="7079018" h="1171072">
                  <a:moveTo>
                    <a:pt x="0" y="56529"/>
                  </a:moveTo>
                  <a:cubicBezTo>
                    <a:pt x="0" y="25272"/>
                    <a:pt x="37253" y="0"/>
                    <a:pt x="83330" y="0"/>
                  </a:cubicBezTo>
                  <a:lnTo>
                    <a:pt x="6995687" y="0"/>
                  </a:lnTo>
                  <a:cubicBezTo>
                    <a:pt x="7041763" y="0"/>
                    <a:pt x="7079018" y="25272"/>
                    <a:pt x="7079018" y="56529"/>
                  </a:cubicBezTo>
                  <a:lnTo>
                    <a:pt x="7079018" y="1114530"/>
                  </a:lnTo>
                  <a:cubicBezTo>
                    <a:pt x="7079018" y="1145787"/>
                    <a:pt x="7041763" y="1171072"/>
                    <a:pt x="6995687" y="1171072"/>
                  </a:cubicBezTo>
                  <a:lnTo>
                    <a:pt x="83330" y="1171072"/>
                  </a:lnTo>
                  <a:cubicBezTo>
                    <a:pt x="37253" y="1171072"/>
                    <a:pt x="0" y="1145787"/>
                    <a:pt x="0" y="1114530"/>
                  </a:cubicBezTo>
                  <a:close/>
                </a:path>
              </a:pathLst>
            </a:custGeom>
            <a:solidFill>
              <a:srgbClr val="E8F0D8"/>
            </a:solidFill>
            <a:ln w="15875" cap="sq">
              <a:solidFill>
                <a:srgbClr val="C9D2A6"/>
              </a:solidFill>
              <a:prstDash val="solid"/>
              <a:miter/>
            </a:ln>
          </p:spPr>
        </p:sp>
      </p:grpSp>
      <p:grpSp>
        <p:nvGrpSpPr>
          <p:cNvPr id="83" name="Group 65">
            <a:extLst>
              <a:ext uri="{FF2B5EF4-FFF2-40B4-BE49-F238E27FC236}">
                <a16:creationId xmlns:a16="http://schemas.microsoft.com/office/drawing/2014/main" id="{620E9525-219E-1251-03A5-15CED2347E49}"/>
              </a:ext>
            </a:extLst>
          </p:cNvPr>
          <p:cNvGrpSpPr/>
          <p:nvPr/>
        </p:nvGrpSpPr>
        <p:grpSpPr>
          <a:xfrm>
            <a:off x="514350" y="3700525"/>
            <a:ext cx="914400" cy="523830"/>
            <a:chOff x="0" y="0"/>
            <a:chExt cx="2438400" cy="1396880"/>
          </a:xfrm>
        </p:grpSpPr>
        <p:sp>
          <p:nvSpPr>
            <p:cNvPr id="85" name="Freeform 66">
              <a:extLst>
                <a:ext uri="{FF2B5EF4-FFF2-40B4-BE49-F238E27FC236}">
                  <a16:creationId xmlns:a16="http://schemas.microsoft.com/office/drawing/2014/main" id="{03F90EDD-65D7-A793-8155-6111CDE04137}"/>
                </a:ext>
              </a:extLst>
            </p:cNvPr>
            <p:cNvSpPr/>
            <p:nvPr/>
          </p:nvSpPr>
          <p:spPr>
            <a:xfrm>
              <a:off x="0" y="0"/>
              <a:ext cx="2438400" cy="1396880"/>
            </a:xfrm>
            <a:custGeom>
              <a:avLst/>
              <a:gdLst/>
              <a:ahLst/>
              <a:cxnLst/>
              <a:rect l="l" t="t" r="r" b="b"/>
              <a:pathLst>
                <a:path w="2438400" h="1396880">
                  <a:moveTo>
                    <a:pt x="0" y="0"/>
                  </a:moveTo>
                  <a:lnTo>
                    <a:pt x="2438400" y="0"/>
                  </a:lnTo>
                  <a:lnTo>
                    <a:pt x="2438400" y="1396880"/>
                  </a:lnTo>
                  <a:lnTo>
                    <a:pt x="0" y="139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3020" r="-43020" b="-26556"/>
              </a:stretch>
            </a:blipFill>
          </p:spPr>
        </p:sp>
        <p:sp>
          <p:nvSpPr>
            <p:cNvPr id="86" name="TextBox 67">
              <a:extLst>
                <a:ext uri="{FF2B5EF4-FFF2-40B4-BE49-F238E27FC236}">
                  <a16:creationId xmlns:a16="http://schemas.microsoft.com/office/drawing/2014/main" id="{83E08ABE-3347-F491-62A2-151D217BE6F1}"/>
                </a:ext>
              </a:extLst>
            </p:cNvPr>
            <p:cNvSpPr txBox="1"/>
            <p:nvPr/>
          </p:nvSpPr>
          <p:spPr>
            <a:xfrm>
              <a:off x="0" y="0"/>
              <a:ext cx="2438400" cy="139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0개</a:t>
              </a:r>
            </a:p>
          </p:txBody>
        </p:sp>
      </p:grpSp>
      <p:grpSp>
        <p:nvGrpSpPr>
          <p:cNvPr id="87" name="Group 68">
            <a:extLst>
              <a:ext uri="{FF2B5EF4-FFF2-40B4-BE49-F238E27FC236}">
                <a16:creationId xmlns:a16="http://schemas.microsoft.com/office/drawing/2014/main" id="{6A4A47FC-2316-0D88-78F6-4777ABD3DB3F}"/>
              </a:ext>
            </a:extLst>
          </p:cNvPr>
          <p:cNvGrpSpPr/>
          <p:nvPr/>
        </p:nvGrpSpPr>
        <p:grpSpPr>
          <a:xfrm>
            <a:off x="1691640" y="3711116"/>
            <a:ext cx="1340463" cy="523830"/>
            <a:chOff x="0" y="0"/>
            <a:chExt cx="3574567" cy="1396880"/>
          </a:xfrm>
        </p:grpSpPr>
        <p:sp>
          <p:nvSpPr>
            <p:cNvPr id="88" name="Freeform 69">
              <a:extLst>
                <a:ext uri="{FF2B5EF4-FFF2-40B4-BE49-F238E27FC236}">
                  <a16:creationId xmlns:a16="http://schemas.microsoft.com/office/drawing/2014/main" id="{CDF2B05F-C49F-905E-F118-2EF167291547}"/>
                </a:ext>
              </a:extLst>
            </p:cNvPr>
            <p:cNvSpPr/>
            <p:nvPr/>
          </p:nvSpPr>
          <p:spPr>
            <a:xfrm>
              <a:off x="0" y="0"/>
              <a:ext cx="3574567" cy="1396880"/>
            </a:xfrm>
            <a:custGeom>
              <a:avLst/>
              <a:gdLst/>
              <a:ahLst/>
              <a:cxnLst/>
              <a:rect l="l" t="t" r="r" b="b"/>
              <a:pathLst>
                <a:path w="3574567" h="1396880">
                  <a:moveTo>
                    <a:pt x="0" y="0"/>
                  </a:moveTo>
                  <a:lnTo>
                    <a:pt x="3574567" y="0"/>
                  </a:lnTo>
                  <a:lnTo>
                    <a:pt x="3574567" y="1396880"/>
                  </a:lnTo>
                  <a:lnTo>
                    <a:pt x="0" y="139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470" r="-21436" b="-26556"/>
              </a:stretch>
            </a:blipFill>
          </p:spPr>
        </p:sp>
        <p:sp>
          <p:nvSpPr>
            <p:cNvPr id="89" name="TextBox 70">
              <a:extLst>
                <a:ext uri="{FF2B5EF4-FFF2-40B4-BE49-F238E27FC236}">
                  <a16:creationId xmlns:a16="http://schemas.microsoft.com/office/drawing/2014/main" id="{FB08FA83-2066-2D02-CAE1-9678E95ABBF3}"/>
                </a:ext>
              </a:extLst>
            </p:cNvPr>
            <p:cNvSpPr txBox="1"/>
            <p:nvPr/>
          </p:nvSpPr>
          <p:spPr>
            <a:xfrm>
              <a:off x="0" y="-57150"/>
              <a:ext cx="3574567" cy="1454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75"/>
                </a:lnSpc>
              </a:pPr>
              <a:r>
                <a:rPr lang="en-US" sz="850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분할 예외</a:t>
              </a:r>
            </a:p>
            <a:p>
              <a:pPr>
                <a:lnSpc>
                  <a:spcPts val="900"/>
                </a:lnSpc>
              </a:pPr>
              <a:r>
                <a:rPr lang="en-US" sz="60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네 구간 미분할 시퀀스</a:t>
              </a:r>
            </a:p>
          </p:txBody>
        </p:sp>
      </p:grpSp>
      <p:grpSp>
        <p:nvGrpSpPr>
          <p:cNvPr id="90" name="Group 71">
            <a:extLst>
              <a:ext uri="{FF2B5EF4-FFF2-40B4-BE49-F238E27FC236}">
                <a16:creationId xmlns:a16="http://schemas.microsoft.com/office/drawing/2014/main" id="{F4197EF8-8C52-E8A3-AA15-0AB0499BCF52}"/>
              </a:ext>
            </a:extLst>
          </p:cNvPr>
          <p:cNvGrpSpPr/>
          <p:nvPr/>
        </p:nvGrpSpPr>
        <p:grpSpPr>
          <a:xfrm>
            <a:off x="3303566" y="3744171"/>
            <a:ext cx="2631650" cy="439138"/>
            <a:chOff x="0" y="0"/>
            <a:chExt cx="7017734" cy="1171033"/>
          </a:xfrm>
        </p:grpSpPr>
        <p:sp>
          <p:nvSpPr>
            <p:cNvPr id="91" name="Freeform 72">
              <a:extLst>
                <a:ext uri="{FF2B5EF4-FFF2-40B4-BE49-F238E27FC236}">
                  <a16:creationId xmlns:a16="http://schemas.microsoft.com/office/drawing/2014/main" id="{97123F21-81EB-51B2-53BB-D0267C9AF306}"/>
                </a:ext>
              </a:extLst>
            </p:cNvPr>
            <p:cNvSpPr/>
            <p:nvPr/>
          </p:nvSpPr>
          <p:spPr>
            <a:xfrm>
              <a:off x="0" y="0"/>
              <a:ext cx="7017772" cy="1171072"/>
            </a:xfrm>
            <a:custGeom>
              <a:avLst/>
              <a:gdLst/>
              <a:ahLst/>
              <a:cxnLst/>
              <a:rect l="l" t="t" r="r" b="b"/>
              <a:pathLst>
                <a:path w="7017772" h="1171072">
                  <a:moveTo>
                    <a:pt x="0" y="56529"/>
                  </a:moveTo>
                  <a:cubicBezTo>
                    <a:pt x="0" y="25272"/>
                    <a:pt x="36931" y="0"/>
                    <a:pt x="82609" y="0"/>
                  </a:cubicBezTo>
                  <a:lnTo>
                    <a:pt x="6935161" y="0"/>
                  </a:lnTo>
                  <a:cubicBezTo>
                    <a:pt x="6980839" y="0"/>
                    <a:pt x="7017772" y="25272"/>
                    <a:pt x="7017772" y="56529"/>
                  </a:cubicBezTo>
                  <a:lnTo>
                    <a:pt x="7017772" y="1114530"/>
                  </a:lnTo>
                  <a:cubicBezTo>
                    <a:pt x="7017772" y="1145787"/>
                    <a:pt x="6980839" y="1171072"/>
                    <a:pt x="6935161" y="1171072"/>
                  </a:cubicBezTo>
                  <a:lnTo>
                    <a:pt x="82609" y="1171072"/>
                  </a:lnTo>
                  <a:cubicBezTo>
                    <a:pt x="36931" y="1171072"/>
                    <a:pt x="0" y="1145787"/>
                    <a:pt x="0" y="1114530"/>
                  </a:cubicBezTo>
                  <a:close/>
                </a:path>
              </a:pathLst>
            </a:custGeom>
            <a:solidFill>
              <a:srgbClr val="E8F0D8"/>
            </a:solidFill>
            <a:ln w="15875" cap="sq">
              <a:solidFill>
                <a:srgbClr val="C9D2A6"/>
              </a:solidFill>
              <a:prstDash val="solid"/>
              <a:miter/>
            </a:ln>
          </p:spPr>
        </p:sp>
      </p:grpSp>
      <p:grpSp>
        <p:nvGrpSpPr>
          <p:cNvPr id="92" name="Group 73">
            <a:extLst>
              <a:ext uri="{FF2B5EF4-FFF2-40B4-BE49-F238E27FC236}">
                <a16:creationId xmlns:a16="http://schemas.microsoft.com/office/drawing/2014/main" id="{2278B38B-9E78-66F1-341C-75F46E0C71D4}"/>
              </a:ext>
            </a:extLst>
          </p:cNvPr>
          <p:cNvGrpSpPr/>
          <p:nvPr/>
        </p:nvGrpSpPr>
        <p:grpSpPr>
          <a:xfrm>
            <a:off x="3371998" y="3700525"/>
            <a:ext cx="914400" cy="523830"/>
            <a:chOff x="0" y="0"/>
            <a:chExt cx="2438400" cy="1396880"/>
          </a:xfrm>
        </p:grpSpPr>
        <p:sp>
          <p:nvSpPr>
            <p:cNvPr id="93" name="Freeform 74">
              <a:extLst>
                <a:ext uri="{FF2B5EF4-FFF2-40B4-BE49-F238E27FC236}">
                  <a16:creationId xmlns:a16="http://schemas.microsoft.com/office/drawing/2014/main" id="{A8BDE7F3-D8B1-63A4-04C2-D61890CC50FE}"/>
                </a:ext>
              </a:extLst>
            </p:cNvPr>
            <p:cNvSpPr/>
            <p:nvPr/>
          </p:nvSpPr>
          <p:spPr>
            <a:xfrm>
              <a:off x="0" y="0"/>
              <a:ext cx="2438400" cy="1396880"/>
            </a:xfrm>
            <a:custGeom>
              <a:avLst/>
              <a:gdLst/>
              <a:ahLst/>
              <a:cxnLst/>
              <a:rect l="l" t="t" r="r" b="b"/>
              <a:pathLst>
                <a:path w="2438400" h="1396880">
                  <a:moveTo>
                    <a:pt x="0" y="0"/>
                  </a:moveTo>
                  <a:lnTo>
                    <a:pt x="2438400" y="0"/>
                  </a:lnTo>
                  <a:lnTo>
                    <a:pt x="2438400" y="1396880"/>
                  </a:lnTo>
                  <a:lnTo>
                    <a:pt x="0" y="139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3020" r="-43020" b="-26556"/>
              </a:stretch>
            </a:blipFill>
          </p:spPr>
        </p:sp>
        <p:sp>
          <p:nvSpPr>
            <p:cNvPr id="94" name="TextBox 75">
              <a:extLst>
                <a:ext uri="{FF2B5EF4-FFF2-40B4-BE49-F238E27FC236}">
                  <a16:creationId xmlns:a16="http://schemas.microsoft.com/office/drawing/2014/main" id="{43E59CBD-E1CC-3CB2-AEBD-AFA439A05054}"/>
                </a:ext>
              </a:extLst>
            </p:cNvPr>
            <p:cNvSpPr txBox="1"/>
            <p:nvPr/>
          </p:nvSpPr>
          <p:spPr>
            <a:xfrm>
              <a:off x="0" y="0"/>
              <a:ext cx="2438400" cy="1396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0건</a:t>
              </a:r>
            </a:p>
          </p:txBody>
        </p:sp>
      </p:grpSp>
      <p:grpSp>
        <p:nvGrpSpPr>
          <p:cNvPr id="95" name="Group 76">
            <a:extLst>
              <a:ext uri="{FF2B5EF4-FFF2-40B4-BE49-F238E27FC236}">
                <a16:creationId xmlns:a16="http://schemas.microsoft.com/office/drawing/2014/main" id="{F5813A60-3FB8-6720-F625-28CE127B602C}"/>
              </a:ext>
            </a:extLst>
          </p:cNvPr>
          <p:cNvGrpSpPr/>
          <p:nvPr/>
        </p:nvGrpSpPr>
        <p:grpSpPr>
          <a:xfrm>
            <a:off x="4548335" y="3701825"/>
            <a:ext cx="1139414" cy="523830"/>
            <a:chOff x="0" y="0"/>
            <a:chExt cx="3038436" cy="1396880"/>
          </a:xfrm>
        </p:grpSpPr>
        <p:sp>
          <p:nvSpPr>
            <p:cNvPr id="96" name="Freeform 77">
              <a:extLst>
                <a:ext uri="{FF2B5EF4-FFF2-40B4-BE49-F238E27FC236}">
                  <a16:creationId xmlns:a16="http://schemas.microsoft.com/office/drawing/2014/main" id="{FA3C5B9D-F4DF-07B4-8E10-555B00FBBCFC}"/>
                </a:ext>
              </a:extLst>
            </p:cNvPr>
            <p:cNvSpPr/>
            <p:nvPr/>
          </p:nvSpPr>
          <p:spPr>
            <a:xfrm>
              <a:off x="0" y="0"/>
              <a:ext cx="3038436" cy="1396880"/>
            </a:xfrm>
            <a:custGeom>
              <a:avLst/>
              <a:gdLst/>
              <a:ahLst/>
              <a:cxnLst/>
              <a:rect l="l" t="t" r="r" b="b"/>
              <a:pathLst>
                <a:path w="3038436" h="1396880">
                  <a:moveTo>
                    <a:pt x="0" y="0"/>
                  </a:moveTo>
                  <a:lnTo>
                    <a:pt x="3038436" y="0"/>
                  </a:lnTo>
                  <a:lnTo>
                    <a:pt x="3038436" y="1396880"/>
                  </a:lnTo>
                  <a:lnTo>
                    <a:pt x="0" y="139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6436" r="-42864" b="-26556"/>
              </a:stretch>
            </a:blipFill>
          </p:spPr>
        </p:sp>
        <p:sp>
          <p:nvSpPr>
            <p:cNvPr id="97" name="TextBox 78">
              <a:extLst>
                <a:ext uri="{FF2B5EF4-FFF2-40B4-BE49-F238E27FC236}">
                  <a16:creationId xmlns:a16="http://schemas.microsoft.com/office/drawing/2014/main" id="{2F2B8524-1060-F9E0-3E36-086E2434A35B}"/>
                </a:ext>
              </a:extLst>
            </p:cNvPr>
            <p:cNvSpPr txBox="1"/>
            <p:nvPr/>
          </p:nvSpPr>
          <p:spPr>
            <a:xfrm>
              <a:off x="0" y="-57150"/>
              <a:ext cx="3038436" cy="14540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75"/>
                </a:lnSpc>
              </a:pPr>
              <a:r>
                <a:rPr lang="en-US" sz="850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라벨 불일치</a:t>
              </a:r>
            </a:p>
            <a:p>
              <a:pPr>
                <a:lnSpc>
                  <a:spcPts val="900"/>
                </a:lnSpc>
              </a:pPr>
              <a:r>
                <a:rPr lang="en-US" sz="60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구간 내 라벨 충돌</a:t>
              </a:r>
            </a:p>
          </p:txBody>
        </p:sp>
      </p:grpSp>
      <p:grpSp>
        <p:nvGrpSpPr>
          <p:cNvPr id="100" name="Group 79">
            <a:extLst>
              <a:ext uri="{FF2B5EF4-FFF2-40B4-BE49-F238E27FC236}">
                <a16:creationId xmlns:a16="http://schemas.microsoft.com/office/drawing/2014/main" id="{10232B44-950C-51D0-0435-F0053601D762}"/>
              </a:ext>
            </a:extLst>
          </p:cNvPr>
          <p:cNvGrpSpPr/>
          <p:nvPr/>
        </p:nvGrpSpPr>
        <p:grpSpPr>
          <a:xfrm>
            <a:off x="6229646" y="3744171"/>
            <a:ext cx="2422555" cy="436538"/>
            <a:chOff x="0" y="0"/>
            <a:chExt cx="6460147" cy="1164100"/>
          </a:xfrm>
        </p:grpSpPr>
        <p:sp>
          <p:nvSpPr>
            <p:cNvPr id="101" name="Freeform 80">
              <a:extLst>
                <a:ext uri="{FF2B5EF4-FFF2-40B4-BE49-F238E27FC236}">
                  <a16:creationId xmlns:a16="http://schemas.microsoft.com/office/drawing/2014/main" id="{8BD15F0A-22BF-C084-33BE-2B1D0F4BDF04}"/>
                </a:ext>
              </a:extLst>
            </p:cNvPr>
            <p:cNvSpPr/>
            <p:nvPr/>
          </p:nvSpPr>
          <p:spPr>
            <a:xfrm>
              <a:off x="0" y="0"/>
              <a:ext cx="6460185" cy="1164139"/>
            </a:xfrm>
            <a:custGeom>
              <a:avLst/>
              <a:gdLst/>
              <a:ahLst/>
              <a:cxnLst/>
              <a:rect l="l" t="t" r="r" b="b"/>
              <a:pathLst>
                <a:path w="6460185" h="1164139">
                  <a:moveTo>
                    <a:pt x="0" y="56194"/>
                  </a:moveTo>
                  <a:cubicBezTo>
                    <a:pt x="0" y="25122"/>
                    <a:pt x="33997" y="0"/>
                    <a:pt x="76046" y="0"/>
                  </a:cubicBezTo>
                  <a:lnTo>
                    <a:pt x="6384135" y="0"/>
                  </a:lnTo>
                  <a:cubicBezTo>
                    <a:pt x="6426184" y="0"/>
                    <a:pt x="6460185" y="25122"/>
                    <a:pt x="6460185" y="56194"/>
                  </a:cubicBezTo>
                  <a:lnTo>
                    <a:pt x="6460185" y="1107931"/>
                  </a:lnTo>
                  <a:cubicBezTo>
                    <a:pt x="6460185" y="1139003"/>
                    <a:pt x="6426184" y="1164139"/>
                    <a:pt x="6384135" y="1164139"/>
                  </a:cubicBezTo>
                  <a:lnTo>
                    <a:pt x="76046" y="1164139"/>
                  </a:lnTo>
                  <a:cubicBezTo>
                    <a:pt x="33997" y="1164139"/>
                    <a:pt x="0" y="1139003"/>
                    <a:pt x="0" y="1107931"/>
                  </a:cubicBezTo>
                  <a:close/>
                </a:path>
              </a:pathLst>
            </a:custGeom>
            <a:solidFill>
              <a:srgbClr val="F4F6EC"/>
            </a:solidFill>
            <a:ln w="15875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102" name="Group 81">
            <a:extLst>
              <a:ext uri="{FF2B5EF4-FFF2-40B4-BE49-F238E27FC236}">
                <a16:creationId xmlns:a16="http://schemas.microsoft.com/office/drawing/2014/main" id="{895C87C3-1998-32EF-7123-9E9714EB65EC}"/>
              </a:ext>
            </a:extLst>
          </p:cNvPr>
          <p:cNvGrpSpPr/>
          <p:nvPr/>
        </p:nvGrpSpPr>
        <p:grpSpPr>
          <a:xfrm>
            <a:off x="6709101" y="3756060"/>
            <a:ext cx="2377440" cy="433941"/>
            <a:chOff x="0" y="0"/>
            <a:chExt cx="6339840" cy="1157176"/>
          </a:xfrm>
        </p:grpSpPr>
        <p:sp>
          <p:nvSpPr>
            <p:cNvPr id="103" name="Freeform 82">
              <a:extLst>
                <a:ext uri="{FF2B5EF4-FFF2-40B4-BE49-F238E27FC236}">
                  <a16:creationId xmlns:a16="http://schemas.microsoft.com/office/drawing/2014/main" id="{2DFE670B-2CE7-3822-7592-F0D96ED07C3E}"/>
                </a:ext>
              </a:extLst>
            </p:cNvPr>
            <p:cNvSpPr/>
            <p:nvPr/>
          </p:nvSpPr>
          <p:spPr>
            <a:xfrm>
              <a:off x="0" y="0"/>
              <a:ext cx="6339840" cy="1157175"/>
            </a:xfrm>
            <a:custGeom>
              <a:avLst/>
              <a:gdLst/>
              <a:ahLst/>
              <a:cxnLst/>
              <a:rect l="l" t="t" r="r" b="b"/>
              <a:pathLst>
                <a:path w="6339840" h="1157175">
                  <a:moveTo>
                    <a:pt x="0" y="0"/>
                  </a:moveTo>
                  <a:lnTo>
                    <a:pt x="6339840" y="0"/>
                  </a:lnTo>
                  <a:lnTo>
                    <a:pt x="6339840" y="1157175"/>
                  </a:lnTo>
                  <a:lnTo>
                    <a:pt x="0" y="115717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30367" b="-83139"/>
              </a:stretch>
            </a:blipFill>
          </p:spPr>
        </p:sp>
        <p:sp>
          <p:nvSpPr>
            <p:cNvPr id="104" name="TextBox 83">
              <a:extLst>
                <a:ext uri="{FF2B5EF4-FFF2-40B4-BE49-F238E27FC236}">
                  <a16:creationId xmlns:a16="http://schemas.microsoft.com/office/drawing/2014/main" id="{0DFAD810-DDBB-BD53-DEA2-21EBBEE9B222}"/>
                </a:ext>
              </a:extLst>
            </p:cNvPr>
            <p:cNvSpPr txBox="1"/>
            <p:nvPr/>
          </p:nvSpPr>
          <p:spPr>
            <a:xfrm>
              <a:off x="0" y="-66675"/>
              <a:ext cx="6339840" cy="1223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26"/>
                </a:lnSpc>
              </a:pPr>
              <a:r>
                <a:rPr lang="en-US" sz="850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4 구간 × 100 시퀀스</a:t>
              </a:r>
            </a:p>
            <a:p>
              <a:pPr>
                <a:lnSpc>
                  <a:spcPts val="974"/>
                </a:lnSpc>
              </a:pPr>
              <a:r>
                <a:rPr lang="en-US" sz="625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진행도 0–100% 정규화 후 분할</a:t>
              </a:r>
            </a:p>
          </p:txBody>
        </p:sp>
      </p:grpSp>
      <p:pic>
        <p:nvPicPr>
          <p:cNvPr id="105" name="Image 1" descr="preencoded.png">
            <a:extLst>
              <a:ext uri="{FF2B5EF4-FFF2-40B4-BE49-F238E27FC236}">
                <a16:creationId xmlns:a16="http://schemas.microsoft.com/office/drawing/2014/main" id="{D3D6D784-0C86-3DB4-CA03-CFC338F2FF5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06" name="Text 2">
            <a:extLst>
              <a:ext uri="{FF2B5EF4-FFF2-40B4-BE49-F238E27FC236}">
                <a16:creationId xmlns:a16="http://schemas.microsoft.com/office/drawing/2014/main" id="{E95EA89E-4C34-DDEF-9187-8D6A4BC72825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07" name="Text 9">
            <a:extLst>
              <a:ext uri="{FF2B5EF4-FFF2-40B4-BE49-F238E27FC236}">
                <a16:creationId xmlns:a16="http://schemas.microsoft.com/office/drawing/2014/main" id="{3C981C8B-27A9-A3AD-0AB1-D14597772264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5231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FD14-28C5-DB21-052A-F40DD602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C0409D5-31B1-8834-7896-F7E27BEC3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1689BAC-E49A-6E77-5A6D-1957AA1DE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B3E867E-23D6-1E24-DB6F-1A43F777F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593D1D0-200F-7F73-1743-9CDE841A6E8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CBCAFEE-05D6-88CC-FD11-7D3F0F8C33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91F1EAA1-5316-62F0-869E-32498F6F355C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모델링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학습용 피처 선택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77E74B06-B299-EF09-E559-C3483AF8CD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B09D11F4-1351-D1BC-A95E-20D2610E1B4A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DBF02486-2BE4-06EE-E7B3-FC1BCE796497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C37A4EF2-729E-DD85-30E1-3BCE0FF74A15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00476DCD-071D-103D-5F69-72715EEAB785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9018F40E-CB48-AC71-4665-324FAE92342B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75FC0EF6-50A5-A5B7-C6E0-90A27CF5E84A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A0F7F523-5725-011C-3963-0EA80C0C90BE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ECE37354-E9DC-6B05-E1DF-C7C1F6759D9A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B4B68AD3-4E07-5483-2E1A-75280F3AD1CF}"/>
                </a:ext>
              </a:extLst>
            </p:cNvPr>
            <p:cNvSpPr txBox="1"/>
            <p:nvPr/>
          </p:nvSpPr>
          <p:spPr>
            <a:xfrm>
              <a:off x="0" y="-9525"/>
              <a:ext cx="13360679" cy="1382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06"/>
                </a:lnSpc>
              </a:pPr>
              <a:r>
                <a:rPr lang="en-US" sz="108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108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노이즈 변수 제거 → 적은 피처로 더 강한 분리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B0FCA6CD-8F6A-6E32-C063-C81AE1E204D4}"/>
              </a:ext>
            </a:extLst>
          </p:cNvPr>
          <p:cNvGrpSpPr/>
          <p:nvPr/>
        </p:nvGrpSpPr>
        <p:grpSpPr>
          <a:xfrm>
            <a:off x="586817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14BE308B-1D37-8E2A-7774-E31C59636638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195B152C-63FD-F811-AFE0-58C5514FC8CB}"/>
              </a:ext>
            </a:extLst>
          </p:cNvPr>
          <p:cNvGrpSpPr/>
          <p:nvPr/>
        </p:nvGrpSpPr>
        <p:grpSpPr>
          <a:xfrm>
            <a:off x="6717924" y="4131744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52F59EE4-4B1F-C837-06E5-844D82011B22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3B5FE675-13D7-0BCC-DEBE-7BB103B392E7}"/>
                </a:ext>
              </a:extLst>
            </p:cNvPr>
            <p:cNvSpPr txBox="1"/>
            <p:nvPr/>
          </p:nvSpPr>
          <p:spPr>
            <a:xfrm>
              <a:off x="0" y="-28575"/>
              <a:ext cx="5948248" cy="17672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KIMM_Bold Bold"/>
                </a:rPr>
                <a:t>컴팩트 피처 채택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13346779-54E1-6017-09E7-CE0455B62956}"/>
              </a:ext>
            </a:extLst>
          </p:cNvPr>
          <p:cNvGrpSpPr/>
          <p:nvPr/>
        </p:nvGrpSpPr>
        <p:grpSpPr>
          <a:xfrm>
            <a:off x="371528" y="1160812"/>
            <a:ext cx="4037276" cy="2661176"/>
            <a:chOff x="0" y="0"/>
            <a:chExt cx="10766069" cy="7096468"/>
          </a:xfrm>
        </p:grpSpPr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5EF22C09-D6BD-BA98-77B3-DE308E5DE8D8}"/>
                </a:ext>
              </a:extLst>
            </p:cNvPr>
            <p:cNvSpPr/>
            <p:nvPr/>
          </p:nvSpPr>
          <p:spPr>
            <a:xfrm>
              <a:off x="0" y="0"/>
              <a:ext cx="10766044" cy="7096506"/>
            </a:xfrm>
            <a:custGeom>
              <a:avLst/>
              <a:gdLst/>
              <a:ahLst/>
              <a:cxnLst/>
              <a:rect l="l" t="t" r="r" b="b"/>
              <a:pathLst>
                <a:path w="10766044" h="7096506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10482199" y="0"/>
                  </a:lnTo>
                  <a:cubicBezTo>
                    <a:pt x="10638917" y="0"/>
                    <a:pt x="10766044" y="127127"/>
                    <a:pt x="10766044" y="283845"/>
                  </a:cubicBezTo>
                  <a:lnTo>
                    <a:pt x="10766044" y="6812661"/>
                  </a:lnTo>
                  <a:cubicBezTo>
                    <a:pt x="10766044" y="6969379"/>
                    <a:pt x="10638917" y="7096506"/>
                    <a:pt x="10482199" y="7096506"/>
                  </a:cubicBezTo>
                  <a:lnTo>
                    <a:pt x="283845" y="7096506"/>
                  </a:lnTo>
                  <a:cubicBezTo>
                    <a:pt x="127127" y="7096506"/>
                    <a:pt x="0" y="6969379"/>
                    <a:pt x="0" y="6812661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4" name="Group 38">
            <a:extLst>
              <a:ext uri="{FF2B5EF4-FFF2-40B4-BE49-F238E27FC236}">
                <a16:creationId xmlns:a16="http://schemas.microsoft.com/office/drawing/2014/main" id="{B5D5D68B-23AE-D0EE-7CE0-011EC1EA0397}"/>
              </a:ext>
            </a:extLst>
          </p:cNvPr>
          <p:cNvGrpSpPr/>
          <p:nvPr/>
        </p:nvGrpSpPr>
        <p:grpSpPr>
          <a:xfrm>
            <a:off x="431774" y="1297877"/>
            <a:ext cx="1730185" cy="274535"/>
            <a:chOff x="0" y="0"/>
            <a:chExt cx="4613826" cy="732092"/>
          </a:xfrm>
        </p:grpSpPr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A4123780-337D-E03B-D7B5-1FB10BEFE7CA}"/>
                </a:ext>
              </a:extLst>
            </p:cNvPr>
            <p:cNvSpPr/>
            <p:nvPr/>
          </p:nvSpPr>
          <p:spPr>
            <a:xfrm>
              <a:off x="0" y="0"/>
              <a:ext cx="4613890" cy="732155"/>
            </a:xfrm>
            <a:custGeom>
              <a:avLst/>
              <a:gdLst/>
              <a:ahLst/>
              <a:cxnLst/>
              <a:rect l="l" t="t" r="r" b="b"/>
              <a:pathLst>
                <a:path w="4613890" h="732155">
                  <a:moveTo>
                    <a:pt x="0" y="131826"/>
                  </a:moveTo>
                  <a:cubicBezTo>
                    <a:pt x="0" y="59055"/>
                    <a:pt x="96046" y="0"/>
                    <a:pt x="214400" y="0"/>
                  </a:cubicBezTo>
                  <a:lnTo>
                    <a:pt x="4399530" y="0"/>
                  </a:lnTo>
                  <a:cubicBezTo>
                    <a:pt x="4517883" y="0"/>
                    <a:pt x="4613890" y="59055"/>
                    <a:pt x="4613890" y="131826"/>
                  </a:cubicBezTo>
                  <a:lnTo>
                    <a:pt x="4613890" y="600329"/>
                  </a:lnTo>
                  <a:cubicBezTo>
                    <a:pt x="4613890" y="673100"/>
                    <a:pt x="4517883" y="732155"/>
                    <a:pt x="4399530" y="732155"/>
                  </a:cubicBezTo>
                  <a:lnTo>
                    <a:pt x="214400" y="732155"/>
                  </a:lnTo>
                  <a:cubicBezTo>
                    <a:pt x="96046" y="732155"/>
                    <a:pt x="0" y="673100"/>
                    <a:pt x="0" y="600329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26" name="TextBox 40">
              <a:extLst>
                <a:ext uri="{FF2B5EF4-FFF2-40B4-BE49-F238E27FC236}">
                  <a16:creationId xmlns:a16="http://schemas.microsoft.com/office/drawing/2014/main" id="{08ACD5E6-B0F6-022B-8439-BE64F0405519}"/>
                </a:ext>
              </a:extLst>
            </p:cNvPr>
            <p:cNvSpPr txBox="1"/>
            <p:nvPr/>
          </p:nvSpPr>
          <p:spPr>
            <a:xfrm>
              <a:off x="0" y="-19050"/>
              <a:ext cx="4613826" cy="751142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081"/>
                </a:lnSpc>
              </a:pPr>
              <a:r>
                <a:rPr lang="en-US" sz="90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1" dirty="0" err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전체</a:t>
              </a:r>
              <a:r>
                <a:rPr lang="en-US" sz="90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vs </a:t>
              </a:r>
              <a:r>
                <a:rPr lang="en-US" sz="901" dirty="0" err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컴팩트</a:t>
              </a:r>
              <a:r>
                <a:rPr lang="en-US" sz="90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1" dirty="0" err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피처</a:t>
              </a:r>
              <a:r>
                <a:rPr lang="en-US" sz="90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(LOO - CV)</a:t>
              </a:r>
            </a:p>
          </p:txBody>
        </p:sp>
      </p:grpSp>
      <p:sp>
        <p:nvSpPr>
          <p:cNvPr id="27" name="Freeform 41">
            <a:extLst>
              <a:ext uri="{FF2B5EF4-FFF2-40B4-BE49-F238E27FC236}">
                <a16:creationId xmlns:a16="http://schemas.microsoft.com/office/drawing/2014/main" id="{17F1EB6F-32AD-BC51-CB22-96E760D59BB9}"/>
              </a:ext>
            </a:extLst>
          </p:cNvPr>
          <p:cNvSpPr/>
          <p:nvPr/>
        </p:nvSpPr>
        <p:spPr>
          <a:xfrm>
            <a:off x="793093" y="1580659"/>
            <a:ext cx="3089704" cy="1963133"/>
          </a:xfrm>
          <a:custGeom>
            <a:avLst/>
            <a:gdLst/>
            <a:ahLst/>
            <a:cxnLst/>
            <a:rect l="l" t="t" r="r" b="b"/>
            <a:pathLst>
              <a:path w="6179407" h="3926265">
                <a:moveTo>
                  <a:pt x="0" y="0"/>
                </a:moveTo>
                <a:lnTo>
                  <a:pt x="6179407" y="0"/>
                </a:lnTo>
                <a:lnTo>
                  <a:pt x="6179407" y="3926266"/>
                </a:lnTo>
                <a:lnTo>
                  <a:pt x="0" y="3926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429" b="-12144"/>
            </a:stretch>
          </a:blipFill>
        </p:spPr>
      </p:sp>
      <p:grpSp>
        <p:nvGrpSpPr>
          <p:cNvPr id="28" name="Group 42">
            <a:extLst>
              <a:ext uri="{FF2B5EF4-FFF2-40B4-BE49-F238E27FC236}">
                <a16:creationId xmlns:a16="http://schemas.microsoft.com/office/drawing/2014/main" id="{E50B1B0C-AD26-9D95-CDC7-AAA55912CF10}"/>
              </a:ext>
            </a:extLst>
          </p:cNvPr>
          <p:cNvGrpSpPr/>
          <p:nvPr/>
        </p:nvGrpSpPr>
        <p:grpSpPr>
          <a:xfrm>
            <a:off x="3619968" y="1259313"/>
            <a:ext cx="634815" cy="397622"/>
            <a:chOff x="0" y="0"/>
            <a:chExt cx="1692838" cy="1060324"/>
          </a:xfrm>
        </p:grpSpPr>
        <p:grpSp>
          <p:nvGrpSpPr>
            <p:cNvPr id="29" name="Group 43">
              <a:extLst>
                <a:ext uri="{FF2B5EF4-FFF2-40B4-BE49-F238E27FC236}">
                  <a16:creationId xmlns:a16="http://schemas.microsoft.com/office/drawing/2014/main" id="{3211EBCF-417C-01A0-85D0-06A24C835739}"/>
                </a:ext>
              </a:extLst>
            </p:cNvPr>
            <p:cNvGrpSpPr/>
            <p:nvPr/>
          </p:nvGrpSpPr>
          <p:grpSpPr>
            <a:xfrm>
              <a:off x="0" y="64262"/>
              <a:ext cx="364152" cy="364152"/>
              <a:chOff x="0" y="0"/>
              <a:chExt cx="414528" cy="414528"/>
            </a:xfrm>
          </p:grpSpPr>
          <p:sp>
            <p:nvSpPr>
              <p:cNvPr id="70" name="Freeform 44">
                <a:extLst>
                  <a:ext uri="{FF2B5EF4-FFF2-40B4-BE49-F238E27FC236}">
                    <a16:creationId xmlns:a16="http://schemas.microsoft.com/office/drawing/2014/main" id="{0CA18EF0-6A45-E9CB-2FBA-FD1D6EBEA564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8B9462"/>
              </a:solidFill>
            </p:spPr>
          </p:sp>
        </p:grpSp>
        <p:grpSp>
          <p:nvGrpSpPr>
            <p:cNvPr id="30" name="Group 45">
              <a:extLst>
                <a:ext uri="{FF2B5EF4-FFF2-40B4-BE49-F238E27FC236}">
                  <a16:creationId xmlns:a16="http://schemas.microsoft.com/office/drawing/2014/main" id="{053A93AB-406D-AE5E-E5F9-5E8C541355FF}"/>
                </a:ext>
              </a:extLst>
            </p:cNvPr>
            <p:cNvGrpSpPr/>
            <p:nvPr/>
          </p:nvGrpSpPr>
          <p:grpSpPr>
            <a:xfrm>
              <a:off x="481966" y="0"/>
              <a:ext cx="1210873" cy="492676"/>
              <a:chOff x="0" y="0"/>
              <a:chExt cx="1378383" cy="560832"/>
            </a:xfrm>
          </p:grpSpPr>
          <p:sp>
            <p:nvSpPr>
              <p:cNvPr id="68" name="Freeform 46">
                <a:extLst>
                  <a:ext uri="{FF2B5EF4-FFF2-40B4-BE49-F238E27FC236}">
                    <a16:creationId xmlns:a16="http://schemas.microsoft.com/office/drawing/2014/main" id="{2FDE5325-4580-E973-55F4-67745C8EBF33}"/>
                  </a:ext>
                </a:extLst>
              </p:cNvPr>
              <p:cNvSpPr/>
              <p:nvPr/>
            </p:nvSpPr>
            <p:spPr>
              <a:xfrm>
                <a:off x="0" y="0"/>
                <a:ext cx="1378383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378383" h="560832">
                    <a:moveTo>
                      <a:pt x="0" y="0"/>
                    </a:moveTo>
                    <a:lnTo>
                      <a:pt x="1378383" y="0"/>
                    </a:lnTo>
                    <a:lnTo>
                      <a:pt x="1378383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165354" b="-77076"/>
                </a:stretch>
              </a:blipFill>
            </p:spPr>
          </p:sp>
          <p:sp>
            <p:nvSpPr>
              <p:cNvPr id="69" name="TextBox 47">
                <a:extLst>
                  <a:ext uri="{FF2B5EF4-FFF2-40B4-BE49-F238E27FC236}">
                    <a16:creationId xmlns:a16="http://schemas.microsoft.com/office/drawing/2014/main" id="{573CD4E5-6E8B-AE82-47A2-CC39602DA11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378383" cy="58940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ROC-AUC</a:t>
                </a:r>
              </a:p>
            </p:txBody>
          </p:sp>
        </p:grpSp>
        <p:grpSp>
          <p:nvGrpSpPr>
            <p:cNvPr id="31" name="Group 48">
              <a:extLst>
                <a:ext uri="{FF2B5EF4-FFF2-40B4-BE49-F238E27FC236}">
                  <a16:creationId xmlns:a16="http://schemas.microsoft.com/office/drawing/2014/main" id="{19CADF3D-6CC4-764B-4B27-9FDD33DE8319}"/>
                </a:ext>
              </a:extLst>
            </p:cNvPr>
            <p:cNvGrpSpPr/>
            <p:nvPr/>
          </p:nvGrpSpPr>
          <p:grpSpPr>
            <a:xfrm>
              <a:off x="0" y="631910"/>
              <a:ext cx="364152" cy="364152"/>
              <a:chOff x="0" y="0"/>
              <a:chExt cx="414528" cy="414528"/>
            </a:xfrm>
          </p:grpSpPr>
          <p:sp>
            <p:nvSpPr>
              <p:cNvPr id="67" name="Freeform 49">
                <a:extLst>
                  <a:ext uri="{FF2B5EF4-FFF2-40B4-BE49-F238E27FC236}">
                    <a16:creationId xmlns:a16="http://schemas.microsoft.com/office/drawing/2014/main" id="{D361AC69-D55A-3896-3626-F0EE8E9632CC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64" name="Group 50">
              <a:extLst>
                <a:ext uri="{FF2B5EF4-FFF2-40B4-BE49-F238E27FC236}">
                  <a16:creationId xmlns:a16="http://schemas.microsoft.com/office/drawing/2014/main" id="{1D28050E-9BDF-70C4-07FF-31A468506079}"/>
                </a:ext>
              </a:extLst>
            </p:cNvPr>
            <p:cNvGrpSpPr/>
            <p:nvPr/>
          </p:nvGrpSpPr>
          <p:grpSpPr>
            <a:xfrm>
              <a:off x="481966" y="567648"/>
              <a:ext cx="1054670" cy="492676"/>
              <a:chOff x="0" y="0"/>
              <a:chExt cx="1200572" cy="560832"/>
            </a:xfrm>
          </p:grpSpPr>
          <p:sp>
            <p:nvSpPr>
              <p:cNvPr id="65" name="Freeform 51">
                <a:extLst>
                  <a:ext uri="{FF2B5EF4-FFF2-40B4-BE49-F238E27FC236}">
                    <a16:creationId xmlns:a16="http://schemas.microsoft.com/office/drawing/2014/main" id="{71322A8B-0748-9081-0879-6F7238442EA2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66" name="TextBox 52">
                <a:extLst>
                  <a:ext uri="{FF2B5EF4-FFF2-40B4-BE49-F238E27FC236}">
                    <a16:creationId xmlns:a16="http://schemas.microsoft.com/office/drawing/2014/main" id="{DC06351B-C2D6-5964-4496-D888F6443C3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00572" cy="58940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PR-AUC</a:t>
                </a:r>
              </a:p>
            </p:txBody>
          </p:sp>
        </p:grpSp>
      </p:grpSp>
      <p:grpSp>
        <p:nvGrpSpPr>
          <p:cNvPr id="71" name="Group 53">
            <a:extLst>
              <a:ext uri="{FF2B5EF4-FFF2-40B4-BE49-F238E27FC236}">
                <a16:creationId xmlns:a16="http://schemas.microsoft.com/office/drawing/2014/main" id="{2C4B5232-7846-C8F2-CDE1-74D1046123BC}"/>
              </a:ext>
            </a:extLst>
          </p:cNvPr>
          <p:cNvGrpSpPr/>
          <p:nvPr/>
        </p:nvGrpSpPr>
        <p:grpSpPr>
          <a:xfrm>
            <a:off x="4653358" y="3047252"/>
            <a:ext cx="129388" cy="129388"/>
            <a:chOff x="0" y="0"/>
            <a:chExt cx="812800" cy="812800"/>
          </a:xfrm>
        </p:grpSpPr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5BE7C6CB-BEFE-FFF0-84A5-CD3ADC3896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73" name="TextBox 55">
              <a:extLst>
                <a:ext uri="{FF2B5EF4-FFF2-40B4-BE49-F238E27FC236}">
                  <a16:creationId xmlns:a16="http://schemas.microsoft.com/office/drawing/2014/main" id="{3703AA58-FBD3-22BD-C19D-196CA428F5B6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74" name="TextBox 56">
            <a:extLst>
              <a:ext uri="{FF2B5EF4-FFF2-40B4-BE49-F238E27FC236}">
                <a16:creationId xmlns:a16="http://schemas.microsoft.com/office/drawing/2014/main" id="{05BEA536-AA26-483A-C841-2C67C90B3B4D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다중공선성(VIF) 제거 후 유의 변수만 · LOO 교차검증 · PR-AUC 우선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75" name="TextBox 57">
            <a:extLst>
              <a:ext uri="{FF2B5EF4-FFF2-40B4-BE49-F238E27FC236}">
                <a16:creationId xmlns:a16="http://schemas.microsoft.com/office/drawing/2014/main" id="{6A34AA28-C8A2-0E80-D3DA-79059ED1E7AB}"/>
              </a:ext>
            </a:extLst>
          </p:cNvPr>
          <p:cNvSpPr txBox="1"/>
          <p:nvPr/>
        </p:nvSpPr>
        <p:spPr>
          <a:xfrm>
            <a:off x="1415866" y="3519979"/>
            <a:ext cx="471353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전체 피쳐</a:t>
            </a:r>
          </a:p>
        </p:txBody>
      </p:sp>
      <p:sp>
        <p:nvSpPr>
          <p:cNvPr id="76" name="TextBox 58">
            <a:extLst>
              <a:ext uri="{FF2B5EF4-FFF2-40B4-BE49-F238E27FC236}">
                <a16:creationId xmlns:a16="http://schemas.microsoft.com/office/drawing/2014/main" id="{B2E4C6DA-0308-6547-F442-CD15AEB1418A}"/>
              </a:ext>
            </a:extLst>
          </p:cNvPr>
          <p:cNvSpPr txBox="1"/>
          <p:nvPr/>
        </p:nvSpPr>
        <p:spPr>
          <a:xfrm>
            <a:off x="2884884" y="3519979"/>
            <a:ext cx="544527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컴팩트 피쳐</a:t>
            </a:r>
          </a:p>
        </p:txBody>
      </p:sp>
      <p:sp>
        <p:nvSpPr>
          <p:cNvPr id="77" name="TextBox 59">
            <a:extLst>
              <a:ext uri="{FF2B5EF4-FFF2-40B4-BE49-F238E27FC236}">
                <a16:creationId xmlns:a16="http://schemas.microsoft.com/office/drawing/2014/main" id="{D447064D-3323-901A-B338-139C2530F1E8}"/>
              </a:ext>
            </a:extLst>
          </p:cNvPr>
          <p:cNvSpPr txBox="1"/>
          <p:nvPr/>
        </p:nvSpPr>
        <p:spPr>
          <a:xfrm>
            <a:off x="2827734" y="3648567"/>
            <a:ext cx="544527" cy="12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>
                <a:solidFill>
                  <a:srgbClr val="E1BC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⭐채택</a:t>
            </a:r>
          </a:p>
        </p:txBody>
      </p:sp>
      <p:grpSp>
        <p:nvGrpSpPr>
          <p:cNvPr id="78" name="Group 60">
            <a:extLst>
              <a:ext uri="{FF2B5EF4-FFF2-40B4-BE49-F238E27FC236}">
                <a16:creationId xmlns:a16="http://schemas.microsoft.com/office/drawing/2014/main" id="{C4D6BFA4-0F13-4FC7-DF4F-676BB5308CBA}"/>
              </a:ext>
            </a:extLst>
          </p:cNvPr>
          <p:cNvGrpSpPr/>
          <p:nvPr/>
        </p:nvGrpSpPr>
        <p:grpSpPr>
          <a:xfrm>
            <a:off x="4426873" y="1182088"/>
            <a:ext cx="4077643" cy="2894397"/>
            <a:chOff x="0" y="0"/>
            <a:chExt cx="10873715" cy="7718391"/>
          </a:xfrm>
        </p:grpSpPr>
        <p:grpSp>
          <p:nvGrpSpPr>
            <p:cNvPr id="79" name="Group 61">
              <a:extLst>
                <a:ext uri="{FF2B5EF4-FFF2-40B4-BE49-F238E27FC236}">
                  <a16:creationId xmlns:a16="http://schemas.microsoft.com/office/drawing/2014/main" id="{30531312-9294-E100-D2E1-FC025D6B465B}"/>
                </a:ext>
              </a:extLst>
            </p:cNvPr>
            <p:cNvGrpSpPr/>
            <p:nvPr/>
          </p:nvGrpSpPr>
          <p:grpSpPr>
            <a:xfrm>
              <a:off x="107645" y="0"/>
              <a:ext cx="10766069" cy="3491497"/>
              <a:chOff x="0" y="0"/>
              <a:chExt cx="10766069" cy="3491497"/>
            </a:xfrm>
          </p:grpSpPr>
          <p:sp>
            <p:nvSpPr>
              <p:cNvPr id="114" name="Freeform 62">
                <a:extLst>
                  <a:ext uri="{FF2B5EF4-FFF2-40B4-BE49-F238E27FC236}">
                    <a16:creationId xmlns:a16="http://schemas.microsoft.com/office/drawing/2014/main" id="{EF66B160-E0FD-85B2-F672-54A4C885E754}"/>
                  </a:ext>
                </a:extLst>
              </p:cNvPr>
              <p:cNvSpPr/>
              <p:nvPr/>
            </p:nvSpPr>
            <p:spPr>
              <a:xfrm>
                <a:off x="0" y="0"/>
                <a:ext cx="10766044" cy="3491535"/>
              </a:xfrm>
              <a:custGeom>
                <a:avLst/>
                <a:gdLst/>
                <a:ahLst/>
                <a:cxnLst/>
                <a:rect l="l" t="t" r="r" b="b"/>
                <a:pathLst>
                  <a:path w="10766044" h="3491535">
                    <a:moveTo>
                      <a:pt x="0" y="139653"/>
                    </a:moveTo>
                    <a:cubicBezTo>
                      <a:pt x="0" y="62547"/>
                      <a:pt x="127127" y="0"/>
                      <a:pt x="283845" y="0"/>
                    </a:cubicBezTo>
                    <a:lnTo>
                      <a:pt x="10482199" y="0"/>
                    </a:lnTo>
                    <a:cubicBezTo>
                      <a:pt x="10638917" y="0"/>
                      <a:pt x="10766044" y="62547"/>
                      <a:pt x="10766044" y="139653"/>
                    </a:cubicBezTo>
                    <a:lnTo>
                      <a:pt x="10766044" y="3351862"/>
                    </a:lnTo>
                    <a:cubicBezTo>
                      <a:pt x="10766044" y="3428969"/>
                      <a:pt x="10638917" y="3491535"/>
                      <a:pt x="10482199" y="3491535"/>
                    </a:cubicBezTo>
                    <a:lnTo>
                      <a:pt x="283845" y="3491535"/>
                    </a:lnTo>
                    <a:cubicBezTo>
                      <a:pt x="127127" y="3491535"/>
                      <a:pt x="0" y="3428969"/>
                      <a:pt x="0" y="3351862"/>
                    </a:cubicBezTo>
                    <a:close/>
                  </a:path>
                </a:pathLst>
              </a:custGeom>
              <a:solidFill>
                <a:srgbClr val="626F47"/>
              </a:solidFill>
              <a:ln w="23831" cap="sq">
                <a:solidFill>
                  <a:srgbClr val="DDE0CE"/>
                </a:solidFill>
                <a:prstDash val="solid"/>
                <a:miter/>
              </a:ln>
            </p:spPr>
          </p:sp>
        </p:grpSp>
        <p:grpSp>
          <p:nvGrpSpPr>
            <p:cNvPr id="80" name="Group 63">
              <a:extLst>
                <a:ext uri="{FF2B5EF4-FFF2-40B4-BE49-F238E27FC236}">
                  <a16:creationId xmlns:a16="http://schemas.microsoft.com/office/drawing/2014/main" id="{315AC18F-B352-C558-0277-F3C0AED54AAF}"/>
                </a:ext>
              </a:extLst>
            </p:cNvPr>
            <p:cNvGrpSpPr/>
            <p:nvPr/>
          </p:nvGrpSpPr>
          <p:grpSpPr>
            <a:xfrm>
              <a:off x="289518" y="4681217"/>
              <a:ext cx="4996224" cy="917315"/>
              <a:chOff x="0" y="0"/>
              <a:chExt cx="771022" cy="141561"/>
            </a:xfrm>
          </p:grpSpPr>
          <p:sp>
            <p:nvSpPr>
              <p:cNvPr id="112" name="Freeform 64">
                <a:extLst>
                  <a:ext uri="{FF2B5EF4-FFF2-40B4-BE49-F238E27FC236}">
                    <a16:creationId xmlns:a16="http://schemas.microsoft.com/office/drawing/2014/main" id="{DFA2B75A-8DF2-D393-831F-F014E13AFEF0}"/>
                  </a:ext>
                </a:extLst>
              </p:cNvPr>
              <p:cNvSpPr/>
              <p:nvPr/>
            </p:nvSpPr>
            <p:spPr>
              <a:xfrm>
                <a:off x="0" y="0"/>
                <a:ext cx="771022" cy="141561"/>
              </a:xfrm>
              <a:custGeom>
                <a:avLst/>
                <a:gdLst/>
                <a:ahLst/>
                <a:cxnLst/>
                <a:rect l="l" t="t" r="r" b="b"/>
                <a:pathLst>
                  <a:path w="771022" h="141561">
                    <a:moveTo>
                      <a:pt x="9685" y="0"/>
                    </a:moveTo>
                    <a:lnTo>
                      <a:pt x="761337" y="0"/>
                    </a:lnTo>
                    <a:cubicBezTo>
                      <a:pt x="766686" y="0"/>
                      <a:pt x="771022" y="4336"/>
                      <a:pt x="771022" y="9685"/>
                    </a:cubicBezTo>
                    <a:lnTo>
                      <a:pt x="771022" y="131876"/>
                    </a:lnTo>
                    <a:cubicBezTo>
                      <a:pt x="771022" y="137225"/>
                      <a:pt x="766686" y="141561"/>
                      <a:pt x="761337" y="141561"/>
                    </a:cubicBezTo>
                    <a:lnTo>
                      <a:pt x="9685" y="141561"/>
                    </a:lnTo>
                    <a:cubicBezTo>
                      <a:pt x="4336" y="141561"/>
                      <a:pt x="0" y="137225"/>
                      <a:pt x="0" y="131876"/>
                    </a:cubicBezTo>
                    <a:lnTo>
                      <a:pt x="0" y="9685"/>
                    </a:lnTo>
                    <a:cubicBezTo>
                      <a:pt x="0" y="4336"/>
                      <a:pt x="4336" y="0"/>
                      <a:pt x="9685" y="0"/>
                    </a:cubicBezTo>
                    <a:close/>
                  </a:path>
                </a:pathLst>
              </a:custGeom>
              <a:solidFill>
                <a:srgbClr val="F4F6EC"/>
              </a:solidFill>
              <a:ln w="19050" cap="sq">
                <a:solidFill>
                  <a:srgbClr val="C9D2A6"/>
                </a:solidFill>
                <a:prstDash val="solid"/>
                <a:miter/>
              </a:ln>
            </p:spPr>
          </p:sp>
          <p:sp>
            <p:nvSpPr>
              <p:cNvPr id="113" name="TextBox 65">
                <a:extLst>
                  <a:ext uri="{FF2B5EF4-FFF2-40B4-BE49-F238E27FC236}">
                    <a16:creationId xmlns:a16="http://schemas.microsoft.com/office/drawing/2014/main" id="{3D40DF6D-BD3E-5929-7B1E-EFC3F8057F71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71022" cy="160611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1" name="Group 66">
              <a:extLst>
                <a:ext uri="{FF2B5EF4-FFF2-40B4-BE49-F238E27FC236}">
                  <a16:creationId xmlns:a16="http://schemas.microsoft.com/office/drawing/2014/main" id="{EED618E1-CFD7-3272-04B0-110F9DBC3D89}"/>
                </a:ext>
              </a:extLst>
            </p:cNvPr>
            <p:cNvGrpSpPr/>
            <p:nvPr/>
          </p:nvGrpSpPr>
          <p:grpSpPr>
            <a:xfrm>
              <a:off x="289518" y="5744061"/>
              <a:ext cx="4996224" cy="917315"/>
              <a:chOff x="0" y="0"/>
              <a:chExt cx="771022" cy="141561"/>
            </a:xfrm>
          </p:grpSpPr>
          <p:sp>
            <p:nvSpPr>
              <p:cNvPr id="110" name="Freeform 67">
                <a:extLst>
                  <a:ext uri="{FF2B5EF4-FFF2-40B4-BE49-F238E27FC236}">
                    <a16:creationId xmlns:a16="http://schemas.microsoft.com/office/drawing/2014/main" id="{59CEC78B-4DEC-0F7D-04A8-F2E2A79A8AEA}"/>
                  </a:ext>
                </a:extLst>
              </p:cNvPr>
              <p:cNvSpPr/>
              <p:nvPr/>
            </p:nvSpPr>
            <p:spPr>
              <a:xfrm>
                <a:off x="0" y="0"/>
                <a:ext cx="771022" cy="141561"/>
              </a:xfrm>
              <a:custGeom>
                <a:avLst/>
                <a:gdLst/>
                <a:ahLst/>
                <a:cxnLst/>
                <a:rect l="l" t="t" r="r" b="b"/>
                <a:pathLst>
                  <a:path w="771022" h="141561">
                    <a:moveTo>
                      <a:pt x="9685" y="0"/>
                    </a:moveTo>
                    <a:lnTo>
                      <a:pt x="761337" y="0"/>
                    </a:lnTo>
                    <a:cubicBezTo>
                      <a:pt x="766686" y="0"/>
                      <a:pt x="771022" y="4336"/>
                      <a:pt x="771022" y="9685"/>
                    </a:cubicBezTo>
                    <a:lnTo>
                      <a:pt x="771022" y="131876"/>
                    </a:lnTo>
                    <a:cubicBezTo>
                      <a:pt x="771022" y="137225"/>
                      <a:pt x="766686" y="141561"/>
                      <a:pt x="761337" y="141561"/>
                    </a:cubicBezTo>
                    <a:lnTo>
                      <a:pt x="9685" y="141561"/>
                    </a:lnTo>
                    <a:cubicBezTo>
                      <a:pt x="4336" y="141561"/>
                      <a:pt x="0" y="137225"/>
                      <a:pt x="0" y="131876"/>
                    </a:cubicBezTo>
                    <a:lnTo>
                      <a:pt x="0" y="9685"/>
                    </a:lnTo>
                    <a:cubicBezTo>
                      <a:pt x="0" y="4336"/>
                      <a:pt x="4336" y="0"/>
                      <a:pt x="9685" y="0"/>
                    </a:cubicBezTo>
                    <a:close/>
                  </a:path>
                </a:pathLst>
              </a:custGeom>
              <a:solidFill>
                <a:srgbClr val="F4F6EC"/>
              </a:solidFill>
              <a:ln w="19050" cap="sq">
                <a:solidFill>
                  <a:srgbClr val="C9D2A6"/>
                </a:solidFill>
                <a:prstDash val="solid"/>
                <a:miter/>
              </a:ln>
            </p:spPr>
          </p:sp>
          <p:sp>
            <p:nvSpPr>
              <p:cNvPr id="111" name="TextBox 68">
                <a:extLst>
                  <a:ext uri="{FF2B5EF4-FFF2-40B4-BE49-F238E27FC236}">
                    <a16:creationId xmlns:a16="http://schemas.microsoft.com/office/drawing/2014/main" id="{2C59E76F-1F76-FA68-44AF-68E9148E9CC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71022" cy="160611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2" name="Group 69">
              <a:extLst>
                <a:ext uri="{FF2B5EF4-FFF2-40B4-BE49-F238E27FC236}">
                  <a16:creationId xmlns:a16="http://schemas.microsoft.com/office/drawing/2014/main" id="{E8554AEB-1ED9-5C6A-E317-33F6586E76F9}"/>
                </a:ext>
              </a:extLst>
            </p:cNvPr>
            <p:cNvGrpSpPr/>
            <p:nvPr/>
          </p:nvGrpSpPr>
          <p:grpSpPr>
            <a:xfrm>
              <a:off x="5877491" y="4681217"/>
              <a:ext cx="4996224" cy="917315"/>
              <a:chOff x="0" y="0"/>
              <a:chExt cx="771022" cy="141561"/>
            </a:xfrm>
          </p:grpSpPr>
          <p:sp>
            <p:nvSpPr>
              <p:cNvPr id="108" name="Freeform 70">
                <a:extLst>
                  <a:ext uri="{FF2B5EF4-FFF2-40B4-BE49-F238E27FC236}">
                    <a16:creationId xmlns:a16="http://schemas.microsoft.com/office/drawing/2014/main" id="{F4A15DC5-B1CF-866B-2C05-F6B2485180FE}"/>
                  </a:ext>
                </a:extLst>
              </p:cNvPr>
              <p:cNvSpPr/>
              <p:nvPr/>
            </p:nvSpPr>
            <p:spPr>
              <a:xfrm>
                <a:off x="0" y="0"/>
                <a:ext cx="771022" cy="141561"/>
              </a:xfrm>
              <a:custGeom>
                <a:avLst/>
                <a:gdLst/>
                <a:ahLst/>
                <a:cxnLst/>
                <a:rect l="l" t="t" r="r" b="b"/>
                <a:pathLst>
                  <a:path w="771022" h="141561">
                    <a:moveTo>
                      <a:pt x="9685" y="0"/>
                    </a:moveTo>
                    <a:lnTo>
                      <a:pt x="761337" y="0"/>
                    </a:lnTo>
                    <a:cubicBezTo>
                      <a:pt x="766686" y="0"/>
                      <a:pt x="771022" y="4336"/>
                      <a:pt x="771022" y="9685"/>
                    </a:cubicBezTo>
                    <a:lnTo>
                      <a:pt x="771022" y="131876"/>
                    </a:lnTo>
                    <a:cubicBezTo>
                      <a:pt x="771022" y="137225"/>
                      <a:pt x="766686" y="141561"/>
                      <a:pt x="761337" y="141561"/>
                    </a:cubicBezTo>
                    <a:lnTo>
                      <a:pt x="9685" y="141561"/>
                    </a:lnTo>
                    <a:cubicBezTo>
                      <a:pt x="4336" y="141561"/>
                      <a:pt x="0" y="137225"/>
                      <a:pt x="0" y="131876"/>
                    </a:cubicBezTo>
                    <a:lnTo>
                      <a:pt x="0" y="9685"/>
                    </a:lnTo>
                    <a:cubicBezTo>
                      <a:pt x="0" y="4336"/>
                      <a:pt x="4336" y="0"/>
                      <a:pt x="9685" y="0"/>
                    </a:cubicBezTo>
                    <a:close/>
                  </a:path>
                </a:pathLst>
              </a:custGeom>
              <a:solidFill>
                <a:srgbClr val="F4F6EC"/>
              </a:solidFill>
              <a:ln w="19050" cap="sq">
                <a:solidFill>
                  <a:srgbClr val="C9D2A6"/>
                </a:solidFill>
                <a:prstDash val="solid"/>
                <a:miter/>
              </a:ln>
            </p:spPr>
          </p:sp>
          <p:sp>
            <p:nvSpPr>
              <p:cNvPr id="109" name="TextBox 71">
                <a:extLst>
                  <a:ext uri="{FF2B5EF4-FFF2-40B4-BE49-F238E27FC236}">
                    <a16:creationId xmlns:a16="http://schemas.microsoft.com/office/drawing/2014/main" id="{B554C2F9-661A-7970-F575-F57BFBD6E8CA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71022" cy="160611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3" name="Group 72">
              <a:extLst>
                <a:ext uri="{FF2B5EF4-FFF2-40B4-BE49-F238E27FC236}">
                  <a16:creationId xmlns:a16="http://schemas.microsoft.com/office/drawing/2014/main" id="{ED5731EE-FC25-E35B-43B7-8FC48E7FD1CD}"/>
                </a:ext>
              </a:extLst>
            </p:cNvPr>
            <p:cNvGrpSpPr/>
            <p:nvPr/>
          </p:nvGrpSpPr>
          <p:grpSpPr>
            <a:xfrm>
              <a:off x="5877491" y="5744061"/>
              <a:ext cx="4996224" cy="917315"/>
              <a:chOff x="0" y="0"/>
              <a:chExt cx="771022" cy="141561"/>
            </a:xfrm>
          </p:grpSpPr>
          <p:sp>
            <p:nvSpPr>
              <p:cNvPr id="106" name="Freeform 73">
                <a:extLst>
                  <a:ext uri="{FF2B5EF4-FFF2-40B4-BE49-F238E27FC236}">
                    <a16:creationId xmlns:a16="http://schemas.microsoft.com/office/drawing/2014/main" id="{EDE5356A-5A45-6320-1067-9EDB76BD45BA}"/>
                  </a:ext>
                </a:extLst>
              </p:cNvPr>
              <p:cNvSpPr/>
              <p:nvPr/>
            </p:nvSpPr>
            <p:spPr>
              <a:xfrm>
                <a:off x="0" y="0"/>
                <a:ext cx="771022" cy="141561"/>
              </a:xfrm>
              <a:custGeom>
                <a:avLst/>
                <a:gdLst/>
                <a:ahLst/>
                <a:cxnLst/>
                <a:rect l="l" t="t" r="r" b="b"/>
                <a:pathLst>
                  <a:path w="771022" h="141561">
                    <a:moveTo>
                      <a:pt x="9685" y="0"/>
                    </a:moveTo>
                    <a:lnTo>
                      <a:pt x="761337" y="0"/>
                    </a:lnTo>
                    <a:cubicBezTo>
                      <a:pt x="766686" y="0"/>
                      <a:pt x="771022" y="4336"/>
                      <a:pt x="771022" y="9685"/>
                    </a:cubicBezTo>
                    <a:lnTo>
                      <a:pt x="771022" y="131876"/>
                    </a:lnTo>
                    <a:cubicBezTo>
                      <a:pt x="771022" y="137225"/>
                      <a:pt x="766686" y="141561"/>
                      <a:pt x="761337" y="141561"/>
                    </a:cubicBezTo>
                    <a:lnTo>
                      <a:pt x="9685" y="141561"/>
                    </a:lnTo>
                    <a:cubicBezTo>
                      <a:pt x="4336" y="141561"/>
                      <a:pt x="0" y="137225"/>
                      <a:pt x="0" y="131876"/>
                    </a:cubicBezTo>
                    <a:lnTo>
                      <a:pt x="0" y="9685"/>
                    </a:lnTo>
                    <a:cubicBezTo>
                      <a:pt x="0" y="4336"/>
                      <a:pt x="4336" y="0"/>
                      <a:pt x="9685" y="0"/>
                    </a:cubicBezTo>
                    <a:close/>
                  </a:path>
                </a:pathLst>
              </a:custGeom>
              <a:solidFill>
                <a:srgbClr val="F4F6EC"/>
              </a:solidFill>
              <a:ln w="19050" cap="sq">
                <a:solidFill>
                  <a:srgbClr val="C9D2A6"/>
                </a:solidFill>
                <a:prstDash val="solid"/>
                <a:miter/>
              </a:ln>
            </p:spPr>
          </p:sp>
          <p:sp>
            <p:nvSpPr>
              <p:cNvPr id="107" name="TextBox 74">
                <a:extLst>
                  <a:ext uri="{FF2B5EF4-FFF2-40B4-BE49-F238E27FC236}">
                    <a16:creationId xmlns:a16="http://schemas.microsoft.com/office/drawing/2014/main" id="{129F6612-2C32-01D9-5074-7DFA65D0671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71022" cy="160611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5" name="Group 75">
              <a:extLst>
                <a:ext uri="{FF2B5EF4-FFF2-40B4-BE49-F238E27FC236}">
                  <a16:creationId xmlns:a16="http://schemas.microsoft.com/office/drawing/2014/main" id="{19F45D52-3E05-75DC-2B81-4CC6241F87F2}"/>
                </a:ext>
              </a:extLst>
            </p:cNvPr>
            <p:cNvGrpSpPr/>
            <p:nvPr/>
          </p:nvGrpSpPr>
          <p:grpSpPr>
            <a:xfrm>
              <a:off x="289518" y="6801076"/>
              <a:ext cx="4996224" cy="917315"/>
              <a:chOff x="0" y="0"/>
              <a:chExt cx="771022" cy="141561"/>
            </a:xfrm>
          </p:grpSpPr>
          <p:sp>
            <p:nvSpPr>
              <p:cNvPr id="104" name="Freeform 76">
                <a:extLst>
                  <a:ext uri="{FF2B5EF4-FFF2-40B4-BE49-F238E27FC236}">
                    <a16:creationId xmlns:a16="http://schemas.microsoft.com/office/drawing/2014/main" id="{00E7C00B-F03A-8472-97C7-3147FBE945CD}"/>
                  </a:ext>
                </a:extLst>
              </p:cNvPr>
              <p:cNvSpPr/>
              <p:nvPr/>
            </p:nvSpPr>
            <p:spPr>
              <a:xfrm>
                <a:off x="0" y="0"/>
                <a:ext cx="771022" cy="141561"/>
              </a:xfrm>
              <a:custGeom>
                <a:avLst/>
                <a:gdLst/>
                <a:ahLst/>
                <a:cxnLst/>
                <a:rect l="l" t="t" r="r" b="b"/>
                <a:pathLst>
                  <a:path w="771022" h="141561">
                    <a:moveTo>
                      <a:pt x="9685" y="0"/>
                    </a:moveTo>
                    <a:lnTo>
                      <a:pt x="761337" y="0"/>
                    </a:lnTo>
                    <a:cubicBezTo>
                      <a:pt x="766686" y="0"/>
                      <a:pt x="771022" y="4336"/>
                      <a:pt x="771022" y="9685"/>
                    </a:cubicBezTo>
                    <a:lnTo>
                      <a:pt x="771022" y="131876"/>
                    </a:lnTo>
                    <a:cubicBezTo>
                      <a:pt x="771022" y="137225"/>
                      <a:pt x="766686" y="141561"/>
                      <a:pt x="761337" y="141561"/>
                    </a:cubicBezTo>
                    <a:lnTo>
                      <a:pt x="9685" y="141561"/>
                    </a:lnTo>
                    <a:cubicBezTo>
                      <a:pt x="4336" y="141561"/>
                      <a:pt x="0" y="137225"/>
                      <a:pt x="0" y="131876"/>
                    </a:cubicBezTo>
                    <a:lnTo>
                      <a:pt x="0" y="9685"/>
                    </a:lnTo>
                    <a:cubicBezTo>
                      <a:pt x="0" y="4336"/>
                      <a:pt x="4336" y="0"/>
                      <a:pt x="9685" y="0"/>
                    </a:cubicBezTo>
                    <a:close/>
                  </a:path>
                </a:pathLst>
              </a:custGeom>
              <a:solidFill>
                <a:srgbClr val="F4F6EC"/>
              </a:solidFill>
              <a:ln w="19050" cap="sq">
                <a:solidFill>
                  <a:srgbClr val="C9D2A6"/>
                </a:solidFill>
                <a:prstDash val="solid"/>
                <a:miter/>
              </a:ln>
            </p:spPr>
          </p:sp>
          <p:sp>
            <p:nvSpPr>
              <p:cNvPr id="105" name="TextBox 77">
                <a:extLst>
                  <a:ext uri="{FF2B5EF4-FFF2-40B4-BE49-F238E27FC236}">
                    <a16:creationId xmlns:a16="http://schemas.microsoft.com/office/drawing/2014/main" id="{F46AB32F-9D3E-BC3D-1C2E-E8DE10C7069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71022" cy="160611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86" name="TextBox 78">
              <a:extLst>
                <a:ext uri="{FF2B5EF4-FFF2-40B4-BE49-F238E27FC236}">
                  <a16:creationId xmlns:a16="http://schemas.microsoft.com/office/drawing/2014/main" id="{402DE093-30FD-393E-7112-590BC356864C}"/>
                </a:ext>
              </a:extLst>
            </p:cNvPr>
            <p:cNvSpPr txBox="1"/>
            <p:nvPr/>
          </p:nvSpPr>
          <p:spPr>
            <a:xfrm>
              <a:off x="779011" y="356352"/>
              <a:ext cx="3907432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0"/>
                </a:lnSpc>
                <a:spcBef>
                  <a:spcPct val="0"/>
                </a:spcBef>
              </a:pPr>
              <a:r>
                <a:rPr lang="en-US" sz="82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PR-AUC 핵심 지표 (불균형 11%)</a:t>
              </a:r>
            </a:p>
          </p:txBody>
        </p:sp>
        <p:sp>
          <p:nvSpPr>
            <p:cNvPr id="87" name="TextBox 79">
              <a:extLst>
                <a:ext uri="{FF2B5EF4-FFF2-40B4-BE49-F238E27FC236}">
                  <a16:creationId xmlns:a16="http://schemas.microsoft.com/office/drawing/2014/main" id="{D1FA33CB-2DCC-787A-BC44-2BC5B3F99B2C}"/>
                </a:ext>
              </a:extLst>
            </p:cNvPr>
            <p:cNvSpPr txBox="1"/>
            <p:nvPr/>
          </p:nvSpPr>
          <p:spPr>
            <a:xfrm>
              <a:off x="768693" y="1601909"/>
              <a:ext cx="1793627" cy="8207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 dirty="0">
                  <a:solidFill>
                    <a:srgbClr val="EADAB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0.41</a:t>
              </a:r>
            </a:p>
          </p:txBody>
        </p:sp>
        <p:sp>
          <p:nvSpPr>
            <p:cNvPr id="88" name="TextBox 80">
              <a:extLst>
                <a:ext uri="{FF2B5EF4-FFF2-40B4-BE49-F238E27FC236}">
                  <a16:creationId xmlns:a16="http://schemas.microsoft.com/office/drawing/2014/main" id="{7C688909-69EB-39D2-E74B-258802C3B94C}"/>
                </a:ext>
              </a:extLst>
            </p:cNvPr>
            <p:cNvSpPr txBox="1"/>
            <p:nvPr/>
          </p:nvSpPr>
          <p:spPr>
            <a:xfrm>
              <a:off x="2518712" y="1706685"/>
              <a:ext cx="508000" cy="820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EADAB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KIMM_Bold Bold"/>
                </a:rPr>
                <a:t>→</a:t>
              </a:r>
            </a:p>
          </p:txBody>
        </p:sp>
        <p:sp>
          <p:nvSpPr>
            <p:cNvPr id="89" name="TextBox 81">
              <a:extLst>
                <a:ext uri="{FF2B5EF4-FFF2-40B4-BE49-F238E27FC236}">
                  <a16:creationId xmlns:a16="http://schemas.microsoft.com/office/drawing/2014/main" id="{10B4D51F-A71B-9C94-C944-A8F12B1B07AA}"/>
                </a:ext>
              </a:extLst>
            </p:cNvPr>
            <p:cNvSpPr txBox="1"/>
            <p:nvPr/>
          </p:nvSpPr>
          <p:spPr>
            <a:xfrm>
              <a:off x="3458512" y="1465384"/>
              <a:ext cx="2215189" cy="10601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0.91</a:t>
              </a:r>
            </a:p>
          </p:txBody>
        </p:sp>
        <p:sp>
          <p:nvSpPr>
            <p:cNvPr id="90" name="TextBox 82">
              <a:extLst>
                <a:ext uri="{FF2B5EF4-FFF2-40B4-BE49-F238E27FC236}">
                  <a16:creationId xmlns:a16="http://schemas.microsoft.com/office/drawing/2014/main" id="{0A4ED16F-A4C8-ACD1-08C6-8D21E05A41AF}"/>
                </a:ext>
              </a:extLst>
            </p:cNvPr>
            <p:cNvSpPr txBox="1"/>
            <p:nvPr/>
          </p:nvSpPr>
          <p:spPr>
            <a:xfrm>
              <a:off x="549059" y="2733890"/>
              <a:ext cx="5587584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전체 → 컴팩트 피처 전환 시 분리도 급상승</a:t>
              </a:r>
            </a:p>
          </p:txBody>
        </p:sp>
        <p:sp>
          <p:nvSpPr>
            <p:cNvPr id="91" name="TextBox 83">
              <a:extLst>
                <a:ext uri="{FF2B5EF4-FFF2-40B4-BE49-F238E27FC236}">
                  <a16:creationId xmlns:a16="http://schemas.microsoft.com/office/drawing/2014/main" id="{439E01CC-5A0A-0FFC-92AB-A13E3993C5F4}"/>
                </a:ext>
              </a:extLst>
            </p:cNvPr>
            <p:cNvSpPr txBox="1"/>
            <p:nvPr/>
          </p:nvSpPr>
          <p:spPr>
            <a:xfrm>
              <a:off x="0" y="3882021"/>
              <a:ext cx="5124640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채택 - 5개 유의 변수 (절대이탈 |z| )</a:t>
              </a:r>
            </a:p>
          </p:txBody>
        </p:sp>
        <p:grpSp>
          <p:nvGrpSpPr>
            <p:cNvPr id="92" name="Group 84">
              <a:extLst>
                <a:ext uri="{FF2B5EF4-FFF2-40B4-BE49-F238E27FC236}">
                  <a16:creationId xmlns:a16="http://schemas.microsoft.com/office/drawing/2014/main" id="{669D9F6B-381A-D096-C88A-16B3461A786B}"/>
                </a:ext>
              </a:extLst>
            </p:cNvPr>
            <p:cNvGrpSpPr/>
            <p:nvPr/>
          </p:nvGrpSpPr>
          <p:grpSpPr>
            <a:xfrm>
              <a:off x="6136642" y="6030201"/>
              <a:ext cx="345034" cy="345034"/>
              <a:chOff x="0" y="0"/>
              <a:chExt cx="812800" cy="812800"/>
            </a:xfrm>
          </p:grpSpPr>
          <p:sp>
            <p:nvSpPr>
              <p:cNvPr id="102" name="Freeform 85">
                <a:extLst>
                  <a:ext uri="{FF2B5EF4-FFF2-40B4-BE49-F238E27FC236}">
                    <a16:creationId xmlns:a16="http://schemas.microsoft.com/office/drawing/2014/main" id="{1A34DD81-B13C-991B-70A3-2FF301FD373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  <p:sp>
            <p:nvSpPr>
              <p:cNvPr id="103" name="TextBox 86">
                <a:extLst>
                  <a:ext uri="{FF2B5EF4-FFF2-40B4-BE49-F238E27FC236}">
                    <a16:creationId xmlns:a16="http://schemas.microsoft.com/office/drawing/2014/main" id="{8BB0BDD4-8585-8E97-3A94-7B029892D155}"/>
                  </a:ext>
                </a:extLst>
              </p:cNvPr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93" name="Group 87">
              <a:extLst>
                <a:ext uri="{FF2B5EF4-FFF2-40B4-BE49-F238E27FC236}">
                  <a16:creationId xmlns:a16="http://schemas.microsoft.com/office/drawing/2014/main" id="{D1D4659A-9027-8AEB-2BDE-D021FBC09413}"/>
                </a:ext>
              </a:extLst>
            </p:cNvPr>
            <p:cNvGrpSpPr/>
            <p:nvPr/>
          </p:nvGrpSpPr>
          <p:grpSpPr>
            <a:xfrm>
              <a:off x="6136642" y="4967357"/>
              <a:ext cx="345034" cy="345034"/>
              <a:chOff x="0" y="0"/>
              <a:chExt cx="812800" cy="812800"/>
            </a:xfrm>
          </p:grpSpPr>
          <p:sp>
            <p:nvSpPr>
              <p:cNvPr id="100" name="Freeform 88">
                <a:extLst>
                  <a:ext uri="{FF2B5EF4-FFF2-40B4-BE49-F238E27FC236}">
                    <a16:creationId xmlns:a16="http://schemas.microsoft.com/office/drawing/2014/main" id="{CA109F39-7334-A9A5-DF1F-AC3164E1310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  <p:sp>
            <p:nvSpPr>
              <p:cNvPr id="101" name="TextBox 89">
                <a:extLst>
                  <a:ext uri="{FF2B5EF4-FFF2-40B4-BE49-F238E27FC236}">
                    <a16:creationId xmlns:a16="http://schemas.microsoft.com/office/drawing/2014/main" id="{8F07F23B-E179-8330-62B4-CF04AF0051E9}"/>
                  </a:ext>
                </a:extLst>
              </p:cNvPr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94" name="TextBox 90">
              <a:extLst>
                <a:ext uri="{FF2B5EF4-FFF2-40B4-BE49-F238E27FC236}">
                  <a16:creationId xmlns:a16="http://schemas.microsoft.com/office/drawing/2014/main" id="{300E250E-97EE-56E1-C322-F83C0324AC21}"/>
                </a:ext>
              </a:extLst>
            </p:cNvPr>
            <p:cNvSpPr txBox="1"/>
            <p:nvPr/>
          </p:nvSpPr>
          <p:spPr>
            <a:xfrm>
              <a:off x="1175416" y="4927149"/>
              <a:ext cx="1386904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평균 전압</a:t>
              </a:r>
            </a:p>
          </p:txBody>
        </p:sp>
        <p:sp>
          <p:nvSpPr>
            <p:cNvPr id="95" name="TextBox 91">
              <a:extLst>
                <a:ext uri="{FF2B5EF4-FFF2-40B4-BE49-F238E27FC236}">
                  <a16:creationId xmlns:a16="http://schemas.microsoft.com/office/drawing/2014/main" id="{F6CB1B31-5F48-2C39-520B-B443CDD431FF}"/>
                </a:ext>
              </a:extLst>
            </p:cNvPr>
            <p:cNvSpPr txBox="1"/>
            <p:nvPr/>
          </p:nvSpPr>
          <p:spPr>
            <a:xfrm>
              <a:off x="1175416" y="6001626"/>
              <a:ext cx="1386904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평균 온도</a:t>
              </a:r>
            </a:p>
          </p:txBody>
        </p:sp>
        <p:sp>
          <p:nvSpPr>
            <p:cNvPr id="96" name="TextBox 92">
              <a:extLst>
                <a:ext uri="{FF2B5EF4-FFF2-40B4-BE49-F238E27FC236}">
                  <a16:creationId xmlns:a16="http://schemas.microsoft.com/office/drawing/2014/main" id="{3F1C6A66-1B13-1E63-8749-D2DA0DBBAB8D}"/>
                </a:ext>
              </a:extLst>
            </p:cNvPr>
            <p:cNvSpPr txBox="1"/>
            <p:nvPr/>
          </p:nvSpPr>
          <p:spPr>
            <a:xfrm>
              <a:off x="6710275" y="6001626"/>
              <a:ext cx="1946704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고온구간 전류</a:t>
              </a:r>
            </a:p>
          </p:txBody>
        </p:sp>
        <p:sp>
          <p:nvSpPr>
            <p:cNvPr id="97" name="TextBox 93">
              <a:extLst>
                <a:ext uri="{FF2B5EF4-FFF2-40B4-BE49-F238E27FC236}">
                  <a16:creationId xmlns:a16="http://schemas.microsoft.com/office/drawing/2014/main" id="{ADA45532-4FB5-4508-2940-1AD9D82B91A9}"/>
                </a:ext>
              </a:extLst>
            </p:cNvPr>
            <p:cNvSpPr txBox="1"/>
            <p:nvPr/>
          </p:nvSpPr>
          <p:spPr>
            <a:xfrm>
              <a:off x="6710275" y="4945194"/>
              <a:ext cx="1386904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평균 전력</a:t>
              </a:r>
            </a:p>
          </p:txBody>
        </p:sp>
      </p:grpSp>
      <p:grpSp>
        <p:nvGrpSpPr>
          <p:cNvPr id="115" name="Group 94">
            <a:extLst>
              <a:ext uri="{FF2B5EF4-FFF2-40B4-BE49-F238E27FC236}">
                <a16:creationId xmlns:a16="http://schemas.microsoft.com/office/drawing/2014/main" id="{FEF7CB6B-1F64-FED1-21D8-63DF288388EC}"/>
              </a:ext>
            </a:extLst>
          </p:cNvPr>
          <p:cNvGrpSpPr/>
          <p:nvPr/>
        </p:nvGrpSpPr>
        <p:grpSpPr>
          <a:xfrm>
            <a:off x="4653358" y="3839795"/>
            <a:ext cx="129388" cy="129388"/>
            <a:chOff x="0" y="0"/>
            <a:chExt cx="812800" cy="812800"/>
          </a:xfrm>
        </p:grpSpPr>
        <p:sp>
          <p:nvSpPr>
            <p:cNvPr id="116" name="Freeform 95">
              <a:extLst>
                <a:ext uri="{FF2B5EF4-FFF2-40B4-BE49-F238E27FC236}">
                  <a16:creationId xmlns:a16="http://schemas.microsoft.com/office/drawing/2014/main" id="{4ED881DB-29F7-D30C-DBFF-85A5C530081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117" name="TextBox 96">
              <a:extLst>
                <a:ext uri="{FF2B5EF4-FFF2-40B4-BE49-F238E27FC236}">
                  <a16:creationId xmlns:a16="http://schemas.microsoft.com/office/drawing/2014/main" id="{F2C502D7-EB64-907D-1BDC-53B28335F34B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18" name="Group 97">
            <a:extLst>
              <a:ext uri="{FF2B5EF4-FFF2-40B4-BE49-F238E27FC236}">
                <a16:creationId xmlns:a16="http://schemas.microsoft.com/office/drawing/2014/main" id="{1131C111-1DFA-D859-2504-951FA156B087}"/>
              </a:ext>
            </a:extLst>
          </p:cNvPr>
          <p:cNvGrpSpPr/>
          <p:nvPr/>
        </p:nvGrpSpPr>
        <p:grpSpPr>
          <a:xfrm>
            <a:off x="4653358" y="3443414"/>
            <a:ext cx="129388" cy="129388"/>
            <a:chOff x="0" y="0"/>
            <a:chExt cx="812800" cy="812800"/>
          </a:xfrm>
        </p:grpSpPr>
        <p:sp>
          <p:nvSpPr>
            <p:cNvPr id="119" name="Freeform 98">
              <a:extLst>
                <a:ext uri="{FF2B5EF4-FFF2-40B4-BE49-F238E27FC236}">
                  <a16:creationId xmlns:a16="http://schemas.microsoft.com/office/drawing/2014/main" id="{082B122E-6305-E9FC-D377-71B8BD25EA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120" name="TextBox 99">
              <a:extLst>
                <a:ext uri="{FF2B5EF4-FFF2-40B4-BE49-F238E27FC236}">
                  <a16:creationId xmlns:a16="http://schemas.microsoft.com/office/drawing/2014/main" id="{518774DE-35C2-2463-0B6F-96DE9FD46A97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21" name="TextBox 100">
            <a:extLst>
              <a:ext uri="{FF2B5EF4-FFF2-40B4-BE49-F238E27FC236}">
                <a16:creationId xmlns:a16="http://schemas.microsoft.com/office/drawing/2014/main" id="{3A2925A0-8D4B-E7A2-6FB1-C9FFE028A267}"/>
              </a:ext>
            </a:extLst>
          </p:cNvPr>
          <p:cNvSpPr txBox="1"/>
          <p:nvPr/>
        </p:nvSpPr>
        <p:spPr>
          <a:xfrm>
            <a:off x="4867653" y="3827742"/>
            <a:ext cx="71482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고온구간 전압</a:t>
            </a:r>
          </a:p>
        </p:txBody>
      </p:sp>
      <p:grpSp>
        <p:nvGrpSpPr>
          <p:cNvPr id="122" name="Group 101">
            <a:extLst>
              <a:ext uri="{FF2B5EF4-FFF2-40B4-BE49-F238E27FC236}">
                <a16:creationId xmlns:a16="http://schemas.microsoft.com/office/drawing/2014/main" id="{85D268F5-6444-2A81-4935-EEC1E0D51362}"/>
              </a:ext>
            </a:extLst>
          </p:cNvPr>
          <p:cNvGrpSpPr/>
          <p:nvPr/>
        </p:nvGrpSpPr>
        <p:grpSpPr>
          <a:xfrm>
            <a:off x="4653358" y="3047326"/>
            <a:ext cx="129388" cy="129388"/>
            <a:chOff x="0" y="0"/>
            <a:chExt cx="812800" cy="812800"/>
          </a:xfrm>
        </p:grpSpPr>
        <p:sp>
          <p:nvSpPr>
            <p:cNvPr id="123" name="Freeform 102">
              <a:extLst>
                <a:ext uri="{FF2B5EF4-FFF2-40B4-BE49-F238E27FC236}">
                  <a16:creationId xmlns:a16="http://schemas.microsoft.com/office/drawing/2014/main" id="{9275A9AD-EF6A-F24A-0182-647A87AFEA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124" name="TextBox 103">
              <a:extLst>
                <a:ext uri="{FF2B5EF4-FFF2-40B4-BE49-F238E27FC236}">
                  <a16:creationId xmlns:a16="http://schemas.microsoft.com/office/drawing/2014/main" id="{A934C696-BD4A-76DD-F83C-15759945DE81}"/>
                </a:ext>
              </a:extLst>
            </p:cNvPr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125" name="Image 1" descr="preencoded.png">
            <a:extLst>
              <a:ext uri="{FF2B5EF4-FFF2-40B4-BE49-F238E27FC236}">
                <a16:creationId xmlns:a16="http://schemas.microsoft.com/office/drawing/2014/main" id="{21852989-2467-D799-03D6-842E03D3B5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26" name="Text 2">
            <a:extLst>
              <a:ext uri="{FF2B5EF4-FFF2-40B4-BE49-F238E27FC236}">
                <a16:creationId xmlns:a16="http://schemas.microsoft.com/office/drawing/2014/main" id="{0F04B6DB-14B5-0005-6877-DBCBA3C43EFB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27" name="Text 9">
            <a:extLst>
              <a:ext uri="{FF2B5EF4-FFF2-40B4-BE49-F238E27FC236}">
                <a16:creationId xmlns:a16="http://schemas.microsoft.com/office/drawing/2014/main" id="{21568C41-ACFE-DF7F-4032-BAB67D0A5F04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958782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5DBE4-63BF-8B18-0213-BD07261F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2AD94BF-D59D-19B5-208C-FD50B907C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892BE09-96E8-1A2D-B84A-5A978C728C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54D84470-AB2A-22EF-8748-CC21DC3E3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EFC5DCD-502E-1FC5-B2E9-FC58844763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B1C4527-B78F-544B-9C98-B8AB5C9899A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563C28F2-F642-7B69-4D03-561837473708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비교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선택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B63261EA-479F-5084-DED4-6AD897962E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DA153FD-5E2A-A0C6-1480-927D77CB3310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176FAFF7-A1CD-68F8-D9C8-9A0992B5D74D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D3CDB7A8-6682-3BF8-ABB1-4485F5D6169A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8BD28DFA-6F57-6E56-460E-EF7FB616473D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DF4774FB-0E7D-D88E-5CD6-5C69E3D9F903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6426A785-B0EA-1CD5-54BD-133EB14B6F55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1F328DF0-9E12-FC62-8325-D27AE8FA2773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DF6EB344-F140-F2C3-D5F0-DA8C4B31AA42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8091C948-D11E-EDAF-C73E-944E1D69D21B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246"/>
                </a:lnSpc>
              </a:pPr>
              <a:r>
                <a:rPr lang="en-US" sz="10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RF·XGBoost 대비 로지스틱 두 지표 성능 최고 </a:t>
              </a:r>
              <a:r>
                <a:rPr lang="en-US" sz="10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→ 단순·해석가능 선형 모델 우위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CFD5015F-3490-1C4E-8AA5-E8B9F563512E}"/>
              </a:ext>
            </a:extLst>
          </p:cNvPr>
          <p:cNvGrpSpPr/>
          <p:nvPr/>
        </p:nvGrpSpPr>
        <p:grpSpPr>
          <a:xfrm>
            <a:off x="586817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D46EB813-2FD2-2B7D-1330-ED60A5B81A17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9FF3E05F-3289-5E2D-2639-2EA826AE4A34}"/>
              </a:ext>
            </a:extLst>
          </p:cNvPr>
          <p:cNvGrpSpPr/>
          <p:nvPr/>
        </p:nvGrpSpPr>
        <p:grpSpPr>
          <a:xfrm>
            <a:off x="6485878" y="4118020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711839F3-1988-97F4-87D5-26F31D46AD4F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5F8760DD-E863-EE38-2456-DD2D086633DF}"/>
                </a:ext>
              </a:extLst>
            </p:cNvPr>
            <p:cNvSpPr txBox="1"/>
            <p:nvPr/>
          </p:nvSpPr>
          <p:spPr>
            <a:xfrm>
              <a:off x="0" y="-28575"/>
              <a:ext cx="5948248" cy="17672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KIMM_Bold Bold"/>
                </a:rPr>
                <a:t>로지스틱 회귀 채택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BB9F4D13-3E62-6ABD-E798-D20D1870C9B1}"/>
              </a:ext>
            </a:extLst>
          </p:cNvPr>
          <p:cNvGrpSpPr/>
          <p:nvPr/>
        </p:nvGrpSpPr>
        <p:grpSpPr>
          <a:xfrm>
            <a:off x="371528" y="1160812"/>
            <a:ext cx="4202904" cy="2770350"/>
            <a:chOff x="0" y="0"/>
            <a:chExt cx="10766069" cy="7096468"/>
          </a:xfrm>
        </p:grpSpPr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57F77762-4D0C-AE58-883C-1AEE19007AFA}"/>
                </a:ext>
              </a:extLst>
            </p:cNvPr>
            <p:cNvSpPr/>
            <p:nvPr/>
          </p:nvSpPr>
          <p:spPr>
            <a:xfrm>
              <a:off x="0" y="0"/>
              <a:ext cx="10766044" cy="7096506"/>
            </a:xfrm>
            <a:custGeom>
              <a:avLst/>
              <a:gdLst/>
              <a:ahLst/>
              <a:cxnLst/>
              <a:rect l="l" t="t" r="r" b="b"/>
              <a:pathLst>
                <a:path w="10766044" h="7096506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10482199" y="0"/>
                  </a:lnTo>
                  <a:cubicBezTo>
                    <a:pt x="10638917" y="0"/>
                    <a:pt x="10766044" y="127127"/>
                    <a:pt x="10766044" y="283845"/>
                  </a:cubicBezTo>
                  <a:lnTo>
                    <a:pt x="10766044" y="6812661"/>
                  </a:lnTo>
                  <a:cubicBezTo>
                    <a:pt x="10766044" y="6969379"/>
                    <a:pt x="10638917" y="7096506"/>
                    <a:pt x="10482199" y="7096506"/>
                  </a:cubicBezTo>
                  <a:lnTo>
                    <a:pt x="283845" y="7096506"/>
                  </a:lnTo>
                  <a:cubicBezTo>
                    <a:pt x="127127" y="7096506"/>
                    <a:pt x="0" y="6969379"/>
                    <a:pt x="0" y="6812661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4" name="Group 38">
            <a:extLst>
              <a:ext uri="{FF2B5EF4-FFF2-40B4-BE49-F238E27FC236}">
                <a16:creationId xmlns:a16="http://schemas.microsoft.com/office/drawing/2014/main" id="{F4F44ACF-553C-8551-C02E-15773E25A2DB}"/>
              </a:ext>
            </a:extLst>
          </p:cNvPr>
          <p:cNvGrpSpPr/>
          <p:nvPr/>
        </p:nvGrpSpPr>
        <p:grpSpPr>
          <a:xfrm>
            <a:off x="431774" y="1297877"/>
            <a:ext cx="1730185" cy="274535"/>
            <a:chOff x="0" y="0"/>
            <a:chExt cx="4613826" cy="732092"/>
          </a:xfrm>
        </p:grpSpPr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6B816711-350D-0864-6891-6F6C88D04365}"/>
                </a:ext>
              </a:extLst>
            </p:cNvPr>
            <p:cNvSpPr/>
            <p:nvPr/>
          </p:nvSpPr>
          <p:spPr>
            <a:xfrm>
              <a:off x="0" y="0"/>
              <a:ext cx="4613890" cy="732155"/>
            </a:xfrm>
            <a:custGeom>
              <a:avLst/>
              <a:gdLst/>
              <a:ahLst/>
              <a:cxnLst/>
              <a:rect l="l" t="t" r="r" b="b"/>
              <a:pathLst>
                <a:path w="4613890" h="732155">
                  <a:moveTo>
                    <a:pt x="0" y="131826"/>
                  </a:moveTo>
                  <a:cubicBezTo>
                    <a:pt x="0" y="59055"/>
                    <a:pt x="96046" y="0"/>
                    <a:pt x="214400" y="0"/>
                  </a:cubicBezTo>
                  <a:lnTo>
                    <a:pt x="4399530" y="0"/>
                  </a:lnTo>
                  <a:cubicBezTo>
                    <a:pt x="4517883" y="0"/>
                    <a:pt x="4613890" y="59055"/>
                    <a:pt x="4613890" y="131826"/>
                  </a:cubicBezTo>
                  <a:lnTo>
                    <a:pt x="4613890" y="600329"/>
                  </a:lnTo>
                  <a:cubicBezTo>
                    <a:pt x="4613890" y="673100"/>
                    <a:pt x="4517883" y="732155"/>
                    <a:pt x="4399530" y="732155"/>
                  </a:cubicBezTo>
                  <a:lnTo>
                    <a:pt x="214400" y="732155"/>
                  </a:lnTo>
                  <a:cubicBezTo>
                    <a:pt x="96046" y="732155"/>
                    <a:pt x="0" y="673100"/>
                    <a:pt x="0" y="600329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26" name="TextBox 40">
              <a:extLst>
                <a:ext uri="{FF2B5EF4-FFF2-40B4-BE49-F238E27FC236}">
                  <a16:creationId xmlns:a16="http://schemas.microsoft.com/office/drawing/2014/main" id="{66FC21E1-8885-24E9-1288-C5743B8AFDC8}"/>
                </a:ext>
              </a:extLst>
            </p:cNvPr>
            <p:cNvSpPr txBox="1"/>
            <p:nvPr/>
          </p:nvSpPr>
          <p:spPr>
            <a:xfrm>
              <a:off x="0" y="-19050"/>
              <a:ext cx="4613826" cy="751142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081"/>
                </a:lnSpc>
              </a:pPr>
              <a:r>
                <a:rPr lang="en-US" sz="90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 모델 성능 비교 ( PR-AUC 우선 )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8D66F25B-57B9-C521-100F-DE76F8A4F835}"/>
              </a:ext>
            </a:extLst>
          </p:cNvPr>
          <p:cNvGrpSpPr/>
          <p:nvPr/>
        </p:nvGrpSpPr>
        <p:grpSpPr>
          <a:xfrm>
            <a:off x="3823299" y="1236333"/>
            <a:ext cx="634815" cy="397622"/>
            <a:chOff x="0" y="0"/>
            <a:chExt cx="1692838" cy="1060324"/>
          </a:xfrm>
        </p:grpSpPr>
        <p:grpSp>
          <p:nvGrpSpPr>
            <p:cNvPr id="28" name="Group 42">
              <a:extLst>
                <a:ext uri="{FF2B5EF4-FFF2-40B4-BE49-F238E27FC236}">
                  <a16:creationId xmlns:a16="http://schemas.microsoft.com/office/drawing/2014/main" id="{7107C8AA-A90B-05B5-D61A-B1348ACEFE86}"/>
                </a:ext>
              </a:extLst>
            </p:cNvPr>
            <p:cNvGrpSpPr/>
            <p:nvPr/>
          </p:nvGrpSpPr>
          <p:grpSpPr>
            <a:xfrm>
              <a:off x="0" y="64262"/>
              <a:ext cx="364152" cy="364152"/>
              <a:chOff x="0" y="0"/>
              <a:chExt cx="414528" cy="414528"/>
            </a:xfrm>
          </p:grpSpPr>
          <p:sp>
            <p:nvSpPr>
              <p:cNvPr id="69" name="Freeform 43">
                <a:extLst>
                  <a:ext uri="{FF2B5EF4-FFF2-40B4-BE49-F238E27FC236}">
                    <a16:creationId xmlns:a16="http://schemas.microsoft.com/office/drawing/2014/main" id="{98B70DFD-126A-5F4F-EEBE-C3CB80A00B24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8B9462"/>
              </a:solidFill>
            </p:spPr>
          </p:sp>
        </p:grpSp>
        <p:grpSp>
          <p:nvGrpSpPr>
            <p:cNvPr id="29" name="Group 44">
              <a:extLst>
                <a:ext uri="{FF2B5EF4-FFF2-40B4-BE49-F238E27FC236}">
                  <a16:creationId xmlns:a16="http://schemas.microsoft.com/office/drawing/2014/main" id="{98FB8BB8-D82F-D9F9-BB40-956015FC27A2}"/>
                </a:ext>
              </a:extLst>
            </p:cNvPr>
            <p:cNvGrpSpPr/>
            <p:nvPr/>
          </p:nvGrpSpPr>
          <p:grpSpPr>
            <a:xfrm>
              <a:off x="481966" y="0"/>
              <a:ext cx="1210873" cy="492676"/>
              <a:chOff x="0" y="0"/>
              <a:chExt cx="1378383" cy="560832"/>
            </a:xfrm>
          </p:grpSpPr>
          <p:sp>
            <p:nvSpPr>
              <p:cNvPr id="67" name="Freeform 45">
                <a:extLst>
                  <a:ext uri="{FF2B5EF4-FFF2-40B4-BE49-F238E27FC236}">
                    <a16:creationId xmlns:a16="http://schemas.microsoft.com/office/drawing/2014/main" id="{4202A1C7-F99C-D09D-E309-185F82CBA835}"/>
                  </a:ext>
                </a:extLst>
              </p:cNvPr>
              <p:cNvSpPr/>
              <p:nvPr/>
            </p:nvSpPr>
            <p:spPr>
              <a:xfrm>
                <a:off x="0" y="0"/>
                <a:ext cx="1378383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378383" h="560832">
                    <a:moveTo>
                      <a:pt x="0" y="0"/>
                    </a:moveTo>
                    <a:lnTo>
                      <a:pt x="1378383" y="0"/>
                    </a:lnTo>
                    <a:lnTo>
                      <a:pt x="1378383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165354" b="-77076"/>
                </a:stretch>
              </a:blipFill>
            </p:spPr>
          </p:sp>
          <p:sp>
            <p:nvSpPr>
              <p:cNvPr id="68" name="TextBox 46">
                <a:extLst>
                  <a:ext uri="{FF2B5EF4-FFF2-40B4-BE49-F238E27FC236}">
                    <a16:creationId xmlns:a16="http://schemas.microsoft.com/office/drawing/2014/main" id="{80C92433-04D8-77CB-91FB-8888725D0A3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378383" cy="58940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ROC-AUC</a:t>
                </a:r>
              </a:p>
            </p:txBody>
          </p:sp>
        </p:grpSp>
        <p:grpSp>
          <p:nvGrpSpPr>
            <p:cNvPr id="30" name="Group 47">
              <a:extLst>
                <a:ext uri="{FF2B5EF4-FFF2-40B4-BE49-F238E27FC236}">
                  <a16:creationId xmlns:a16="http://schemas.microsoft.com/office/drawing/2014/main" id="{9728014E-88B6-1D29-E0B3-C985157895B4}"/>
                </a:ext>
              </a:extLst>
            </p:cNvPr>
            <p:cNvGrpSpPr/>
            <p:nvPr/>
          </p:nvGrpSpPr>
          <p:grpSpPr>
            <a:xfrm>
              <a:off x="0" y="631910"/>
              <a:ext cx="364152" cy="364152"/>
              <a:chOff x="0" y="0"/>
              <a:chExt cx="414528" cy="414528"/>
            </a:xfrm>
          </p:grpSpPr>
          <p:sp>
            <p:nvSpPr>
              <p:cNvPr id="66" name="Freeform 48">
                <a:extLst>
                  <a:ext uri="{FF2B5EF4-FFF2-40B4-BE49-F238E27FC236}">
                    <a16:creationId xmlns:a16="http://schemas.microsoft.com/office/drawing/2014/main" id="{C4B28ED8-A196-DB7A-42A3-12EFAAA84F43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31" name="Group 49">
              <a:extLst>
                <a:ext uri="{FF2B5EF4-FFF2-40B4-BE49-F238E27FC236}">
                  <a16:creationId xmlns:a16="http://schemas.microsoft.com/office/drawing/2014/main" id="{F3D466A6-53A6-7A79-EBD4-6CD3A4C458EE}"/>
                </a:ext>
              </a:extLst>
            </p:cNvPr>
            <p:cNvGrpSpPr/>
            <p:nvPr/>
          </p:nvGrpSpPr>
          <p:grpSpPr>
            <a:xfrm>
              <a:off x="481966" y="567648"/>
              <a:ext cx="1054670" cy="492676"/>
              <a:chOff x="0" y="0"/>
              <a:chExt cx="1200572" cy="560832"/>
            </a:xfrm>
          </p:grpSpPr>
          <p:sp>
            <p:nvSpPr>
              <p:cNvPr id="64" name="Freeform 50">
                <a:extLst>
                  <a:ext uri="{FF2B5EF4-FFF2-40B4-BE49-F238E27FC236}">
                    <a16:creationId xmlns:a16="http://schemas.microsoft.com/office/drawing/2014/main" id="{895276C4-3914-C53B-BC9D-692225785821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65" name="TextBox 51">
                <a:extLst>
                  <a:ext uri="{FF2B5EF4-FFF2-40B4-BE49-F238E27FC236}">
                    <a16:creationId xmlns:a16="http://schemas.microsoft.com/office/drawing/2014/main" id="{57DDFC58-8AEB-9102-FDDA-E82FE3E01E5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200572" cy="58940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PR-AUC</a:t>
                </a:r>
              </a:p>
            </p:txBody>
          </p:sp>
        </p:grpSp>
      </p:grpSp>
      <p:sp>
        <p:nvSpPr>
          <p:cNvPr id="70" name="Freeform 52">
            <a:extLst>
              <a:ext uri="{FF2B5EF4-FFF2-40B4-BE49-F238E27FC236}">
                <a16:creationId xmlns:a16="http://schemas.microsoft.com/office/drawing/2014/main" id="{1D02593A-377E-BAA6-3B58-AC7BAD5437C8}"/>
              </a:ext>
            </a:extLst>
          </p:cNvPr>
          <p:cNvSpPr/>
          <p:nvPr/>
        </p:nvSpPr>
        <p:spPr>
          <a:xfrm>
            <a:off x="548388" y="1591919"/>
            <a:ext cx="3665420" cy="2066172"/>
          </a:xfrm>
          <a:custGeom>
            <a:avLst/>
            <a:gdLst/>
            <a:ahLst/>
            <a:cxnLst/>
            <a:rect l="l" t="t" r="r" b="b"/>
            <a:pathLst>
              <a:path w="7330840" h="4132344">
                <a:moveTo>
                  <a:pt x="0" y="0"/>
                </a:moveTo>
                <a:lnTo>
                  <a:pt x="7330840" y="0"/>
                </a:lnTo>
                <a:lnTo>
                  <a:pt x="7330840" y="4132345"/>
                </a:lnTo>
                <a:lnTo>
                  <a:pt x="0" y="41323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2649"/>
            </a:stretch>
          </a:blipFill>
        </p:spPr>
      </p:sp>
      <p:sp>
        <p:nvSpPr>
          <p:cNvPr id="71" name="TextBox 53">
            <a:extLst>
              <a:ext uri="{FF2B5EF4-FFF2-40B4-BE49-F238E27FC236}">
                <a16:creationId xmlns:a16="http://schemas.microsoft.com/office/drawing/2014/main" id="{D03C53EA-B07B-E08E-F401-7DEB216CA083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층화 LOO-CV · 불균형 데이터로 PR-AUC 우선 평가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72" name="TextBox 54">
            <a:extLst>
              <a:ext uri="{FF2B5EF4-FFF2-40B4-BE49-F238E27FC236}">
                <a16:creationId xmlns:a16="http://schemas.microsoft.com/office/drawing/2014/main" id="{86815F46-4DDD-F2AC-5DE7-BF7052FD8B4B}"/>
              </a:ext>
            </a:extLst>
          </p:cNvPr>
          <p:cNvSpPr txBox="1"/>
          <p:nvPr/>
        </p:nvSpPr>
        <p:spPr>
          <a:xfrm>
            <a:off x="3278772" y="3648567"/>
            <a:ext cx="544527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XGBoost</a:t>
            </a:r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70072E75-C3A8-544A-1852-11B673CA6E44}"/>
              </a:ext>
            </a:extLst>
          </p:cNvPr>
          <p:cNvSpPr txBox="1"/>
          <p:nvPr/>
        </p:nvSpPr>
        <p:spPr>
          <a:xfrm>
            <a:off x="1944670" y="3648567"/>
            <a:ext cx="1056619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Logistic Regression</a:t>
            </a:r>
          </a:p>
        </p:txBody>
      </p:sp>
      <p:sp>
        <p:nvSpPr>
          <p:cNvPr id="74" name="TextBox 56">
            <a:extLst>
              <a:ext uri="{FF2B5EF4-FFF2-40B4-BE49-F238E27FC236}">
                <a16:creationId xmlns:a16="http://schemas.microsoft.com/office/drawing/2014/main" id="{B670B946-7983-847C-35E0-06D94A0AD024}"/>
              </a:ext>
            </a:extLst>
          </p:cNvPr>
          <p:cNvSpPr txBox="1"/>
          <p:nvPr/>
        </p:nvSpPr>
        <p:spPr>
          <a:xfrm>
            <a:off x="905526" y="3648567"/>
            <a:ext cx="762919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RandomForest</a:t>
            </a:r>
          </a:p>
        </p:txBody>
      </p:sp>
      <p:sp>
        <p:nvSpPr>
          <p:cNvPr id="75" name="TextBox 57">
            <a:extLst>
              <a:ext uri="{FF2B5EF4-FFF2-40B4-BE49-F238E27FC236}">
                <a16:creationId xmlns:a16="http://schemas.microsoft.com/office/drawing/2014/main" id="{26C6E3AF-77C2-ECE4-B4CC-29376791D328}"/>
              </a:ext>
            </a:extLst>
          </p:cNvPr>
          <p:cNvSpPr txBox="1"/>
          <p:nvPr/>
        </p:nvSpPr>
        <p:spPr>
          <a:xfrm>
            <a:off x="2108835" y="3783524"/>
            <a:ext cx="544527" cy="12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>
                <a:solidFill>
                  <a:srgbClr val="E1BC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⭐채택</a:t>
            </a:r>
          </a:p>
        </p:txBody>
      </p:sp>
      <p:grpSp>
        <p:nvGrpSpPr>
          <p:cNvPr id="76" name="Group 58">
            <a:extLst>
              <a:ext uri="{FF2B5EF4-FFF2-40B4-BE49-F238E27FC236}">
                <a16:creationId xmlns:a16="http://schemas.microsoft.com/office/drawing/2014/main" id="{8998F295-9142-32D9-F578-95A8D6DA9F63}"/>
              </a:ext>
            </a:extLst>
          </p:cNvPr>
          <p:cNvGrpSpPr/>
          <p:nvPr/>
        </p:nvGrpSpPr>
        <p:grpSpPr>
          <a:xfrm>
            <a:off x="4734101" y="1087204"/>
            <a:ext cx="4037276" cy="1309312"/>
            <a:chOff x="0" y="0"/>
            <a:chExt cx="10766069" cy="3491497"/>
          </a:xfrm>
        </p:grpSpPr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9F50632E-FBF2-4D6F-1625-85C24C0F3A28}"/>
                </a:ext>
              </a:extLst>
            </p:cNvPr>
            <p:cNvSpPr/>
            <p:nvPr/>
          </p:nvSpPr>
          <p:spPr>
            <a:xfrm>
              <a:off x="0" y="0"/>
              <a:ext cx="10766044" cy="3491535"/>
            </a:xfrm>
            <a:custGeom>
              <a:avLst/>
              <a:gdLst/>
              <a:ahLst/>
              <a:cxnLst/>
              <a:rect l="l" t="t" r="r" b="b"/>
              <a:pathLst>
                <a:path w="10766044" h="3491535">
                  <a:moveTo>
                    <a:pt x="0" y="139653"/>
                  </a:moveTo>
                  <a:cubicBezTo>
                    <a:pt x="0" y="62547"/>
                    <a:pt x="127127" y="0"/>
                    <a:pt x="283845" y="0"/>
                  </a:cubicBezTo>
                  <a:lnTo>
                    <a:pt x="10482199" y="0"/>
                  </a:lnTo>
                  <a:cubicBezTo>
                    <a:pt x="10638917" y="0"/>
                    <a:pt x="10766044" y="62547"/>
                    <a:pt x="10766044" y="139653"/>
                  </a:cubicBezTo>
                  <a:lnTo>
                    <a:pt x="10766044" y="3351862"/>
                  </a:lnTo>
                  <a:cubicBezTo>
                    <a:pt x="10766044" y="3428969"/>
                    <a:pt x="10638917" y="3491535"/>
                    <a:pt x="10482199" y="3491535"/>
                  </a:cubicBezTo>
                  <a:lnTo>
                    <a:pt x="283845" y="3491535"/>
                  </a:lnTo>
                  <a:cubicBezTo>
                    <a:pt x="127127" y="3491535"/>
                    <a:pt x="0" y="3428969"/>
                    <a:pt x="0" y="3351862"/>
                  </a:cubicBezTo>
                  <a:close/>
                </a:path>
              </a:pathLst>
            </a:custGeom>
            <a:solidFill>
              <a:srgbClr val="626F47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78" name="Group 60">
            <a:extLst>
              <a:ext uri="{FF2B5EF4-FFF2-40B4-BE49-F238E27FC236}">
                <a16:creationId xmlns:a16="http://schemas.microsoft.com/office/drawing/2014/main" id="{EFA54FCD-A96F-BE7A-E485-8F1658B72B42}"/>
              </a:ext>
            </a:extLst>
          </p:cNvPr>
          <p:cNvGrpSpPr/>
          <p:nvPr/>
        </p:nvGrpSpPr>
        <p:grpSpPr>
          <a:xfrm>
            <a:off x="4738575" y="2848953"/>
            <a:ext cx="4032803" cy="343993"/>
            <a:chOff x="0" y="0"/>
            <a:chExt cx="1659590" cy="141561"/>
          </a:xfrm>
        </p:grpSpPr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F40A2A1E-6F3C-90D9-0B46-AC5998D57CC5}"/>
                </a:ext>
              </a:extLst>
            </p:cNvPr>
            <p:cNvSpPr/>
            <p:nvPr/>
          </p:nvSpPr>
          <p:spPr>
            <a:xfrm>
              <a:off x="0" y="0"/>
              <a:ext cx="1659590" cy="141561"/>
            </a:xfrm>
            <a:custGeom>
              <a:avLst/>
              <a:gdLst/>
              <a:ahLst/>
              <a:cxnLst/>
              <a:rect l="l" t="t" r="r" b="b"/>
              <a:pathLst>
                <a:path w="1659590" h="141561">
                  <a:moveTo>
                    <a:pt x="4499" y="0"/>
                  </a:moveTo>
                  <a:lnTo>
                    <a:pt x="1655090" y="0"/>
                  </a:lnTo>
                  <a:cubicBezTo>
                    <a:pt x="1656284" y="0"/>
                    <a:pt x="1657428" y="474"/>
                    <a:pt x="1658272" y="1318"/>
                  </a:cubicBezTo>
                  <a:cubicBezTo>
                    <a:pt x="1659116" y="2162"/>
                    <a:pt x="1659590" y="3306"/>
                    <a:pt x="1659590" y="4499"/>
                  </a:cubicBezTo>
                  <a:lnTo>
                    <a:pt x="1659590" y="137062"/>
                  </a:lnTo>
                  <a:cubicBezTo>
                    <a:pt x="1659590" y="139546"/>
                    <a:pt x="1657575" y="141561"/>
                    <a:pt x="1655090" y="141561"/>
                  </a:cubicBezTo>
                  <a:lnTo>
                    <a:pt x="4499" y="141561"/>
                  </a:lnTo>
                  <a:cubicBezTo>
                    <a:pt x="2014" y="141561"/>
                    <a:pt x="0" y="139546"/>
                    <a:pt x="0" y="137062"/>
                  </a:cubicBezTo>
                  <a:lnTo>
                    <a:pt x="0" y="4499"/>
                  </a:lnTo>
                  <a:cubicBezTo>
                    <a:pt x="0" y="2014"/>
                    <a:pt x="2014" y="0"/>
                    <a:pt x="4499" y="0"/>
                  </a:cubicBezTo>
                  <a:close/>
                </a:path>
              </a:pathLst>
            </a:custGeom>
            <a:solidFill>
              <a:srgbClr val="F4F6EC"/>
            </a:solidFill>
            <a:ln w="19050" cap="sq">
              <a:solidFill>
                <a:srgbClr val="C9D2A6"/>
              </a:solidFill>
              <a:prstDash val="solid"/>
              <a:miter/>
            </a:ln>
          </p:spPr>
        </p:sp>
        <p:sp>
          <p:nvSpPr>
            <p:cNvPr id="80" name="TextBox 62">
              <a:extLst>
                <a:ext uri="{FF2B5EF4-FFF2-40B4-BE49-F238E27FC236}">
                  <a16:creationId xmlns:a16="http://schemas.microsoft.com/office/drawing/2014/main" id="{301C4AA8-3A1B-8612-72E3-9F2B61B699ED}"/>
                </a:ext>
              </a:extLst>
            </p:cNvPr>
            <p:cNvSpPr txBox="1"/>
            <p:nvPr/>
          </p:nvSpPr>
          <p:spPr>
            <a:xfrm>
              <a:off x="0" y="0"/>
              <a:ext cx="1659590" cy="14156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81" name="Group 63">
            <a:extLst>
              <a:ext uri="{FF2B5EF4-FFF2-40B4-BE49-F238E27FC236}">
                <a16:creationId xmlns:a16="http://schemas.microsoft.com/office/drawing/2014/main" id="{A11F1C1E-0831-F26D-2DCF-17827CC60E03}"/>
              </a:ext>
            </a:extLst>
          </p:cNvPr>
          <p:cNvGrpSpPr/>
          <p:nvPr/>
        </p:nvGrpSpPr>
        <p:grpSpPr>
          <a:xfrm>
            <a:off x="4738575" y="3247520"/>
            <a:ext cx="4032803" cy="343993"/>
            <a:chOff x="0" y="0"/>
            <a:chExt cx="1659590" cy="141561"/>
          </a:xfrm>
        </p:grpSpPr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9C6183F2-B80F-22C9-3392-AD07752D30D5}"/>
                </a:ext>
              </a:extLst>
            </p:cNvPr>
            <p:cNvSpPr/>
            <p:nvPr/>
          </p:nvSpPr>
          <p:spPr>
            <a:xfrm>
              <a:off x="0" y="0"/>
              <a:ext cx="1659590" cy="141561"/>
            </a:xfrm>
            <a:custGeom>
              <a:avLst/>
              <a:gdLst/>
              <a:ahLst/>
              <a:cxnLst/>
              <a:rect l="l" t="t" r="r" b="b"/>
              <a:pathLst>
                <a:path w="1659590" h="141561">
                  <a:moveTo>
                    <a:pt x="4499" y="0"/>
                  </a:moveTo>
                  <a:lnTo>
                    <a:pt x="1655090" y="0"/>
                  </a:lnTo>
                  <a:cubicBezTo>
                    <a:pt x="1656284" y="0"/>
                    <a:pt x="1657428" y="474"/>
                    <a:pt x="1658272" y="1318"/>
                  </a:cubicBezTo>
                  <a:cubicBezTo>
                    <a:pt x="1659116" y="2162"/>
                    <a:pt x="1659590" y="3306"/>
                    <a:pt x="1659590" y="4499"/>
                  </a:cubicBezTo>
                  <a:lnTo>
                    <a:pt x="1659590" y="137062"/>
                  </a:lnTo>
                  <a:cubicBezTo>
                    <a:pt x="1659590" y="139546"/>
                    <a:pt x="1657575" y="141561"/>
                    <a:pt x="1655090" y="141561"/>
                  </a:cubicBezTo>
                  <a:lnTo>
                    <a:pt x="4499" y="141561"/>
                  </a:lnTo>
                  <a:cubicBezTo>
                    <a:pt x="2014" y="141561"/>
                    <a:pt x="0" y="139546"/>
                    <a:pt x="0" y="137062"/>
                  </a:cubicBezTo>
                  <a:lnTo>
                    <a:pt x="0" y="4499"/>
                  </a:lnTo>
                  <a:cubicBezTo>
                    <a:pt x="0" y="2014"/>
                    <a:pt x="2014" y="0"/>
                    <a:pt x="4499" y="0"/>
                  </a:cubicBezTo>
                  <a:close/>
                </a:path>
              </a:pathLst>
            </a:custGeom>
            <a:solidFill>
              <a:srgbClr val="F4F6EC"/>
            </a:solidFill>
            <a:ln w="19050" cap="sq">
              <a:solidFill>
                <a:srgbClr val="C9D2A6"/>
              </a:solidFill>
              <a:prstDash val="solid"/>
              <a:miter/>
            </a:ln>
          </p:spPr>
        </p:sp>
        <p:sp>
          <p:nvSpPr>
            <p:cNvPr id="83" name="TextBox 65">
              <a:extLst>
                <a:ext uri="{FF2B5EF4-FFF2-40B4-BE49-F238E27FC236}">
                  <a16:creationId xmlns:a16="http://schemas.microsoft.com/office/drawing/2014/main" id="{4B273194-FC0C-3CFB-3B09-8AC27232DE64}"/>
                </a:ext>
              </a:extLst>
            </p:cNvPr>
            <p:cNvSpPr txBox="1"/>
            <p:nvPr/>
          </p:nvSpPr>
          <p:spPr>
            <a:xfrm>
              <a:off x="0" y="0"/>
              <a:ext cx="1659590" cy="14156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85" name="TextBox 66">
            <a:extLst>
              <a:ext uri="{FF2B5EF4-FFF2-40B4-BE49-F238E27FC236}">
                <a16:creationId xmlns:a16="http://schemas.microsoft.com/office/drawing/2014/main" id="{3793F05D-A2E8-5EE2-7791-FD29DDD514F4}"/>
              </a:ext>
            </a:extLst>
          </p:cNvPr>
          <p:cNvSpPr txBox="1"/>
          <p:nvPr/>
        </p:nvSpPr>
        <p:spPr>
          <a:xfrm>
            <a:off x="4985864" y="1218455"/>
            <a:ext cx="1465288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주 모델 - 로지스틱 회귀</a:t>
            </a:r>
          </a:p>
        </p:txBody>
      </p:sp>
      <p:sp>
        <p:nvSpPr>
          <p:cNvPr id="86" name="TextBox 67">
            <a:extLst>
              <a:ext uri="{FF2B5EF4-FFF2-40B4-BE49-F238E27FC236}">
                <a16:creationId xmlns:a16="http://schemas.microsoft.com/office/drawing/2014/main" id="{EC64CD6A-525D-88F1-0042-F7D91B03B14B}"/>
              </a:ext>
            </a:extLst>
          </p:cNvPr>
          <p:cNvSpPr txBox="1"/>
          <p:nvPr/>
        </p:nvSpPr>
        <p:spPr>
          <a:xfrm>
            <a:off x="4985864" y="1534691"/>
            <a:ext cx="811282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0.91</a:t>
            </a:r>
          </a:p>
        </p:txBody>
      </p:sp>
      <p:sp>
        <p:nvSpPr>
          <p:cNvPr id="87" name="TextBox 68">
            <a:extLst>
              <a:ext uri="{FF2B5EF4-FFF2-40B4-BE49-F238E27FC236}">
                <a16:creationId xmlns:a16="http://schemas.microsoft.com/office/drawing/2014/main" id="{F2A5A14F-AAA4-A331-8CC5-1A9B33DBE08E}"/>
              </a:ext>
            </a:extLst>
          </p:cNvPr>
          <p:cNvSpPr txBox="1"/>
          <p:nvPr/>
        </p:nvSpPr>
        <p:spPr>
          <a:xfrm>
            <a:off x="4953437" y="2035320"/>
            <a:ext cx="1530140" cy="11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1"/>
              </a:lnSpc>
              <a:spcBef>
                <a:spcPct val="0"/>
              </a:spcBef>
            </a:pPr>
            <a:r>
              <a:rPr lang="en-US" sz="776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ROC-AUC 0.991 · 두 지표 모두 1위</a:t>
            </a:r>
          </a:p>
        </p:txBody>
      </p:sp>
      <p:sp>
        <p:nvSpPr>
          <p:cNvPr id="88" name="TextBox 69">
            <a:extLst>
              <a:ext uri="{FF2B5EF4-FFF2-40B4-BE49-F238E27FC236}">
                <a16:creationId xmlns:a16="http://schemas.microsoft.com/office/drawing/2014/main" id="{88961211-C854-2F1A-FA96-CA9600B23246}"/>
              </a:ext>
            </a:extLst>
          </p:cNvPr>
          <p:cNvSpPr txBox="1"/>
          <p:nvPr/>
        </p:nvSpPr>
        <p:spPr>
          <a:xfrm>
            <a:off x="4693735" y="2553678"/>
            <a:ext cx="61345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채택 이유</a:t>
            </a:r>
          </a:p>
        </p:txBody>
      </p:sp>
      <p:grpSp>
        <p:nvGrpSpPr>
          <p:cNvPr id="89" name="Group 70">
            <a:extLst>
              <a:ext uri="{FF2B5EF4-FFF2-40B4-BE49-F238E27FC236}">
                <a16:creationId xmlns:a16="http://schemas.microsoft.com/office/drawing/2014/main" id="{08E60A8E-0CDD-00F2-D57B-5221844DA489}"/>
              </a:ext>
            </a:extLst>
          </p:cNvPr>
          <p:cNvGrpSpPr/>
          <p:nvPr/>
        </p:nvGrpSpPr>
        <p:grpSpPr>
          <a:xfrm>
            <a:off x="4877617" y="3345748"/>
            <a:ext cx="145351" cy="145351"/>
            <a:chOff x="0" y="0"/>
            <a:chExt cx="812800" cy="812800"/>
          </a:xfrm>
        </p:grpSpPr>
        <p:sp>
          <p:nvSpPr>
            <p:cNvPr id="90" name="Freeform 71">
              <a:extLst>
                <a:ext uri="{FF2B5EF4-FFF2-40B4-BE49-F238E27FC236}">
                  <a16:creationId xmlns:a16="http://schemas.microsoft.com/office/drawing/2014/main" id="{F953B547-CFEA-E6C7-B239-903DD5DB40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465"/>
            </a:solidFill>
          </p:spPr>
        </p:sp>
        <p:sp>
          <p:nvSpPr>
            <p:cNvPr id="91" name="TextBox 72">
              <a:extLst>
                <a:ext uri="{FF2B5EF4-FFF2-40B4-BE49-F238E27FC236}">
                  <a16:creationId xmlns:a16="http://schemas.microsoft.com/office/drawing/2014/main" id="{D4A78BDE-4B33-DE2F-839E-B1EB9777D5A7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92" name="Group 73">
            <a:extLst>
              <a:ext uri="{FF2B5EF4-FFF2-40B4-BE49-F238E27FC236}">
                <a16:creationId xmlns:a16="http://schemas.microsoft.com/office/drawing/2014/main" id="{F7B06743-57F6-0465-0B31-6DC845B2C138}"/>
              </a:ext>
            </a:extLst>
          </p:cNvPr>
          <p:cNvGrpSpPr/>
          <p:nvPr/>
        </p:nvGrpSpPr>
        <p:grpSpPr>
          <a:xfrm>
            <a:off x="4880762" y="2946490"/>
            <a:ext cx="145351" cy="145351"/>
            <a:chOff x="0" y="0"/>
            <a:chExt cx="812800" cy="812800"/>
          </a:xfrm>
        </p:grpSpPr>
        <p:sp>
          <p:nvSpPr>
            <p:cNvPr id="93" name="Freeform 74">
              <a:extLst>
                <a:ext uri="{FF2B5EF4-FFF2-40B4-BE49-F238E27FC236}">
                  <a16:creationId xmlns:a16="http://schemas.microsoft.com/office/drawing/2014/main" id="{C3520416-622A-2418-A664-F59DB32354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465"/>
            </a:solidFill>
          </p:spPr>
        </p:sp>
        <p:sp>
          <p:nvSpPr>
            <p:cNvPr id="94" name="TextBox 75">
              <a:extLst>
                <a:ext uri="{FF2B5EF4-FFF2-40B4-BE49-F238E27FC236}">
                  <a16:creationId xmlns:a16="http://schemas.microsoft.com/office/drawing/2014/main" id="{E67791B2-CD2B-F2EA-180B-091276AE8EC1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95" name="TextBox 76">
            <a:extLst>
              <a:ext uri="{FF2B5EF4-FFF2-40B4-BE49-F238E27FC236}">
                <a16:creationId xmlns:a16="http://schemas.microsoft.com/office/drawing/2014/main" id="{960EA9A9-C551-FDE1-84E2-690145436BF0}"/>
              </a:ext>
            </a:extLst>
          </p:cNvPr>
          <p:cNvSpPr txBox="1"/>
          <p:nvPr/>
        </p:nvSpPr>
        <p:spPr>
          <a:xfrm>
            <a:off x="5108414" y="2953728"/>
            <a:ext cx="1377463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소표본·저차원 과적합 적음 </a:t>
            </a:r>
          </a:p>
        </p:txBody>
      </p:sp>
      <p:sp>
        <p:nvSpPr>
          <p:cNvPr id="96" name="TextBox 77">
            <a:extLst>
              <a:ext uri="{FF2B5EF4-FFF2-40B4-BE49-F238E27FC236}">
                <a16:creationId xmlns:a16="http://schemas.microsoft.com/office/drawing/2014/main" id="{3F2727D6-9AD6-5D44-4FCD-EC57FF9BFFE0}"/>
              </a:ext>
            </a:extLst>
          </p:cNvPr>
          <p:cNvSpPr txBox="1"/>
          <p:nvPr/>
        </p:nvSpPr>
        <p:spPr>
          <a:xfrm>
            <a:off x="5732949" y="1751099"/>
            <a:ext cx="501027" cy="11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"/>
              </a:lnSpc>
              <a:spcBef>
                <a:spcPct val="0"/>
              </a:spcBef>
            </a:pPr>
            <a:r>
              <a:rPr lang="en-US" sz="75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PR-AUC</a:t>
            </a:r>
          </a:p>
        </p:txBody>
      </p:sp>
      <p:grpSp>
        <p:nvGrpSpPr>
          <p:cNvPr id="97" name="Group 78">
            <a:extLst>
              <a:ext uri="{FF2B5EF4-FFF2-40B4-BE49-F238E27FC236}">
                <a16:creationId xmlns:a16="http://schemas.microsoft.com/office/drawing/2014/main" id="{067811F0-4F5D-BE45-911C-2F0F94460FA5}"/>
              </a:ext>
            </a:extLst>
          </p:cNvPr>
          <p:cNvGrpSpPr/>
          <p:nvPr/>
        </p:nvGrpSpPr>
        <p:grpSpPr>
          <a:xfrm>
            <a:off x="4735721" y="3643900"/>
            <a:ext cx="4032803" cy="343993"/>
            <a:chOff x="0" y="0"/>
            <a:chExt cx="1659590" cy="141561"/>
          </a:xfrm>
        </p:grpSpPr>
        <p:sp>
          <p:nvSpPr>
            <p:cNvPr id="100" name="Freeform 79">
              <a:extLst>
                <a:ext uri="{FF2B5EF4-FFF2-40B4-BE49-F238E27FC236}">
                  <a16:creationId xmlns:a16="http://schemas.microsoft.com/office/drawing/2014/main" id="{6D6DAD91-8831-EB21-EE73-1F5CAA34C3B9}"/>
                </a:ext>
              </a:extLst>
            </p:cNvPr>
            <p:cNvSpPr/>
            <p:nvPr/>
          </p:nvSpPr>
          <p:spPr>
            <a:xfrm>
              <a:off x="0" y="0"/>
              <a:ext cx="1659590" cy="141561"/>
            </a:xfrm>
            <a:custGeom>
              <a:avLst/>
              <a:gdLst/>
              <a:ahLst/>
              <a:cxnLst/>
              <a:rect l="l" t="t" r="r" b="b"/>
              <a:pathLst>
                <a:path w="1659590" h="141561">
                  <a:moveTo>
                    <a:pt x="4499" y="0"/>
                  </a:moveTo>
                  <a:lnTo>
                    <a:pt x="1655090" y="0"/>
                  </a:lnTo>
                  <a:cubicBezTo>
                    <a:pt x="1656284" y="0"/>
                    <a:pt x="1657428" y="474"/>
                    <a:pt x="1658272" y="1318"/>
                  </a:cubicBezTo>
                  <a:cubicBezTo>
                    <a:pt x="1659116" y="2162"/>
                    <a:pt x="1659590" y="3306"/>
                    <a:pt x="1659590" y="4499"/>
                  </a:cubicBezTo>
                  <a:lnTo>
                    <a:pt x="1659590" y="137062"/>
                  </a:lnTo>
                  <a:cubicBezTo>
                    <a:pt x="1659590" y="139546"/>
                    <a:pt x="1657575" y="141561"/>
                    <a:pt x="1655090" y="141561"/>
                  </a:cubicBezTo>
                  <a:lnTo>
                    <a:pt x="4499" y="141561"/>
                  </a:lnTo>
                  <a:cubicBezTo>
                    <a:pt x="2014" y="141561"/>
                    <a:pt x="0" y="139546"/>
                    <a:pt x="0" y="137062"/>
                  </a:cubicBezTo>
                  <a:lnTo>
                    <a:pt x="0" y="4499"/>
                  </a:lnTo>
                  <a:cubicBezTo>
                    <a:pt x="0" y="2014"/>
                    <a:pt x="2014" y="0"/>
                    <a:pt x="4499" y="0"/>
                  </a:cubicBezTo>
                  <a:close/>
                </a:path>
              </a:pathLst>
            </a:custGeom>
            <a:solidFill>
              <a:srgbClr val="F4F6EC"/>
            </a:solidFill>
            <a:ln w="19050" cap="sq">
              <a:solidFill>
                <a:srgbClr val="C9D2A6"/>
              </a:solidFill>
              <a:prstDash val="solid"/>
              <a:miter/>
            </a:ln>
          </p:spPr>
        </p:sp>
        <p:sp>
          <p:nvSpPr>
            <p:cNvPr id="101" name="TextBox 80">
              <a:extLst>
                <a:ext uri="{FF2B5EF4-FFF2-40B4-BE49-F238E27FC236}">
                  <a16:creationId xmlns:a16="http://schemas.microsoft.com/office/drawing/2014/main" id="{F9A1602D-4780-70C4-C78D-D9BD5B16E5C1}"/>
                </a:ext>
              </a:extLst>
            </p:cNvPr>
            <p:cNvSpPr txBox="1"/>
            <p:nvPr/>
          </p:nvSpPr>
          <p:spPr>
            <a:xfrm>
              <a:off x="0" y="0"/>
              <a:ext cx="1659590" cy="141561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02" name="Group 81">
            <a:extLst>
              <a:ext uri="{FF2B5EF4-FFF2-40B4-BE49-F238E27FC236}">
                <a16:creationId xmlns:a16="http://schemas.microsoft.com/office/drawing/2014/main" id="{B8EC76C1-0F80-0655-5C66-E1672ED23D2C}"/>
              </a:ext>
            </a:extLst>
          </p:cNvPr>
          <p:cNvGrpSpPr/>
          <p:nvPr/>
        </p:nvGrpSpPr>
        <p:grpSpPr>
          <a:xfrm>
            <a:off x="4877617" y="3737075"/>
            <a:ext cx="145351" cy="145351"/>
            <a:chOff x="0" y="0"/>
            <a:chExt cx="812800" cy="812800"/>
          </a:xfrm>
        </p:grpSpPr>
        <p:sp>
          <p:nvSpPr>
            <p:cNvPr id="103" name="Freeform 82">
              <a:extLst>
                <a:ext uri="{FF2B5EF4-FFF2-40B4-BE49-F238E27FC236}">
                  <a16:creationId xmlns:a16="http://schemas.microsoft.com/office/drawing/2014/main" id="{56F5EA29-FA11-AFF9-4BE9-8A04A42563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B465"/>
            </a:solidFill>
          </p:spPr>
        </p:sp>
        <p:sp>
          <p:nvSpPr>
            <p:cNvPr id="104" name="TextBox 83">
              <a:extLst>
                <a:ext uri="{FF2B5EF4-FFF2-40B4-BE49-F238E27FC236}">
                  <a16:creationId xmlns:a16="http://schemas.microsoft.com/office/drawing/2014/main" id="{C43BC03C-DBB5-FD3D-4478-9029E6387FFE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05" name="TextBox 84">
            <a:extLst>
              <a:ext uri="{FF2B5EF4-FFF2-40B4-BE49-F238E27FC236}">
                <a16:creationId xmlns:a16="http://schemas.microsoft.com/office/drawing/2014/main" id="{5DC99A12-58CC-7A12-749D-8911E4BBE1B0}"/>
              </a:ext>
            </a:extLst>
          </p:cNvPr>
          <p:cNvSpPr txBox="1"/>
          <p:nvPr/>
        </p:nvSpPr>
        <p:spPr>
          <a:xfrm>
            <a:off x="5107088" y="3753038"/>
            <a:ext cx="1056213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재현율 = 1 임계 확보</a:t>
            </a:r>
          </a:p>
        </p:txBody>
      </p:sp>
      <p:sp>
        <p:nvSpPr>
          <p:cNvPr id="106" name="TextBox 85">
            <a:extLst>
              <a:ext uri="{FF2B5EF4-FFF2-40B4-BE49-F238E27FC236}">
                <a16:creationId xmlns:a16="http://schemas.microsoft.com/office/drawing/2014/main" id="{EEBF138C-D059-607A-53E3-B9015A458A6C}"/>
              </a:ext>
            </a:extLst>
          </p:cNvPr>
          <p:cNvSpPr txBox="1"/>
          <p:nvPr/>
        </p:nvSpPr>
        <p:spPr>
          <a:xfrm>
            <a:off x="4897741" y="2966382"/>
            <a:ext cx="105102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6"/>
              </a:lnSpc>
              <a:spcBef>
                <a:spcPct val="0"/>
              </a:spcBef>
            </a:pPr>
            <a:r>
              <a:rPr lang="en-US" sz="697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1</a:t>
            </a:r>
          </a:p>
        </p:txBody>
      </p:sp>
      <p:sp>
        <p:nvSpPr>
          <p:cNvPr id="107" name="TextBox 86">
            <a:extLst>
              <a:ext uri="{FF2B5EF4-FFF2-40B4-BE49-F238E27FC236}">
                <a16:creationId xmlns:a16="http://schemas.microsoft.com/office/drawing/2014/main" id="{C2DC1E8E-7EC5-3E7E-77D2-EEB7671A2C36}"/>
              </a:ext>
            </a:extLst>
          </p:cNvPr>
          <p:cNvSpPr txBox="1"/>
          <p:nvPr/>
        </p:nvSpPr>
        <p:spPr>
          <a:xfrm>
            <a:off x="4895357" y="3366036"/>
            <a:ext cx="105102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6"/>
              </a:lnSpc>
              <a:spcBef>
                <a:spcPct val="0"/>
              </a:spcBef>
            </a:pPr>
            <a:r>
              <a:rPr lang="en-US" sz="697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2</a:t>
            </a:r>
          </a:p>
        </p:txBody>
      </p:sp>
      <p:sp>
        <p:nvSpPr>
          <p:cNvPr id="108" name="TextBox 87">
            <a:extLst>
              <a:ext uri="{FF2B5EF4-FFF2-40B4-BE49-F238E27FC236}">
                <a16:creationId xmlns:a16="http://schemas.microsoft.com/office/drawing/2014/main" id="{5CB314BB-9C60-9AD1-5F46-83B892D99B0E}"/>
              </a:ext>
            </a:extLst>
          </p:cNvPr>
          <p:cNvSpPr txBox="1"/>
          <p:nvPr/>
        </p:nvSpPr>
        <p:spPr>
          <a:xfrm>
            <a:off x="4897741" y="3757362"/>
            <a:ext cx="105102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6"/>
              </a:lnSpc>
              <a:spcBef>
                <a:spcPct val="0"/>
              </a:spcBef>
            </a:pPr>
            <a:r>
              <a:rPr lang="en-US" sz="697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3</a:t>
            </a:r>
          </a:p>
        </p:txBody>
      </p:sp>
      <p:sp>
        <p:nvSpPr>
          <p:cNvPr id="109" name="TextBox 88">
            <a:extLst>
              <a:ext uri="{FF2B5EF4-FFF2-40B4-BE49-F238E27FC236}">
                <a16:creationId xmlns:a16="http://schemas.microsoft.com/office/drawing/2014/main" id="{0082F269-2BC1-0A2C-E31E-E4B60620C5DB}"/>
              </a:ext>
            </a:extLst>
          </p:cNvPr>
          <p:cNvSpPr txBox="1"/>
          <p:nvPr/>
        </p:nvSpPr>
        <p:spPr>
          <a:xfrm>
            <a:off x="6348613" y="2971144"/>
            <a:ext cx="1085622" cy="9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"/>
              </a:lnSpc>
              <a:spcBef>
                <a:spcPct val="0"/>
              </a:spcBef>
            </a:pPr>
            <a:r>
              <a:rPr lang="en-US" sz="626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100개 부품 단위 데이터</a:t>
            </a:r>
          </a:p>
        </p:txBody>
      </p:sp>
      <p:sp>
        <p:nvSpPr>
          <p:cNvPr id="110" name="TextBox 89">
            <a:extLst>
              <a:ext uri="{FF2B5EF4-FFF2-40B4-BE49-F238E27FC236}">
                <a16:creationId xmlns:a16="http://schemas.microsoft.com/office/drawing/2014/main" id="{C487A4CD-F626-061D-51EA-767674D538FD}"/>
              </a:ext>
            </a:extLst>
          </p:cNvPr>
          <p:cNvSpPr txBox="1"/>
          <p:nvPr/>
        </p:nvSpPr>
        <p:spPr>
          <a:xfrm>
            <a:off x="5108414" y="3345748"/>
            <a:ext cx="759762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계수 해석 용이</a:t>
            </a:r>
          </a:p>
        </p:txBody>
      </p:sp>
      <p:sp>
        <p:nvSpPr>
          <p:cNvPr id="111" name="TextBox 90">
            <a:extLst>
              <a:ext uri="{FF2B5EF4-FFF2-40B4-BE49-F238E27FC236}">
                <a16:creationId xmlns:a16="http://schemas.microsoft.com/office/drawing/2014/main" id="{9E4C53E5-AD3D-7ED3-A3AC-348178A7F297}"/>
              </a:ext>
            </a:extLst>
          </p:cNvPr>
          <p:cNvSpPr txBox="1"/>
          <p:nvPr/>
        </p:nvSpPr>
        <p:spPr>
          <a:xfrm>
            <a:off x="5797146" y="3366036"/>
            <a:ext cx="1085622" cy="9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"/>
              </a:lnSpc>
              <a:spcBef>
                <a:spcPct val="0"/>
              </a:spcBef>
            </a:pPr>
            <a:r>
              <a:rPr lang="en-US" sz="626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트리 계열 대비 설명 가능</a:t>
            </a:r>
          </a:p>
        </p:txBody>
      </p:sp>
      <p:sp>
        <p:nvSpPr>
          <p:cNvPr id="112" name="TextBox 91">
            <a:extLst>
              <a:ext uri="{FF2B5EF4-FFF2-40B4-BE49-F238E27FC236}">
                <a16:creationId xmlns:a16="http://schemas.microsoft.com/office/drawing/2014/main" id="{2F95BF1C-2F25-EA1F-1793-4C863A7B3307}"/>
              </a:ext>
            </a:extLst>
          </p:cNvPr>
          <p:cNvSpPr txBox="1"/>
          <p:nvPr/>
        </p:nvSpPr>
        <p:spPr>
          <a:xfrm>
            <a:off x="6075480" y="3757362"/>
            <a:ext cx="1085622" cy="9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"/>
              </a:lnSpc>
              <a:spcBef>
                <a:spcPct val="0"/>
              </a:spcBef>
            </a:pPr>
            <a:r>
              <a:rPr lang="en-US" sz="626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불량 미탐 0 운영점 가능</a:t>
            </a:r>
          </a:p>
        </p:txBody>
      </p:sp>
      <p:pic>
        <p:nvPicPr>
          <p:cNvPr id="113" name="Image 1" descr="preencoded.png">
            <a:extLst>
              <a:ext uri="{FF2B5EF4-FFF2-40B4-BE49-F238E27FC236}">
                <a16:creationId xmlns:a16="http://schemas.microsoft.com/office/drawing/2014/main" id="{16ACFA81-AF00-02AD-A313-A2617B5E08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14" name="Text 2">
            <a:extLst>
              <a:ext uri="{FF2B5EF4-FFF2-40B4-BE49-F238E27FC236}">
                <a16:creationId xmlns:a16="http://schemas.microsoft.com/office/drawing/2014/main" id="{FD78EA3A-47F7-6C15-04AB-B745E5A573D8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15" name="Text 9">
            <a:extLst>
              <a:ext uri="{FF2B5EF4-FFF2-40B4-BE49-F238E27FC236}">
                <a16:creationId xmlns:a16="http://schemas.microsoft.com/office/drawing/2014/main" id="{B69AAF33-B896-2A33-AEB7-A67CBFFCE639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860420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1CD51-CE35-53A3-07DF-8888B04C3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2B60CF8-31B0-B1AD-3C74-933C9CBB4B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37D079C-25EF-3469-8640-578A91C929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6AD4D86-66E6-B93F-5234-E02C5B22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20AB4AC-6640-9347-C508-FC34F9D2ED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CC149B3-CC06-F0AC-6982-FBA5DF92D6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65765E0B-D305-6B74-F57C-662A61C95F2C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 모델 임계치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CDE6E553-77BD-6AFE-7390-EA06EA4298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D1CDC68E-1629-CE11-6307-6F10669F01B7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6A4D4C3B-58F9-EE28-C985-103AD4F28E05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16566B78-E440-0369-9479-3D01A523AFF2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6A7C4028-6F6F-D8D8-8DBA-3604B13749D3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56C9F6A9-2535-4ADA-BA6D-CE823BB62B0C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17A58CA0-076C-2562-A07D-A6E96EE7FC98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D6DFE2BB-F871-AE2D-D3EC-3FD83D397AE0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E86DE885-20DE-058B-5501-3E4F66E19043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9A9A1114-031D-185D-793E-C25CCBEBFD8A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재현율 1을 유지하면서 오탐을 최소화하는 임계 선택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B3992DCF-255C-A029-82ED-1662E0C3E1D8}"/>
              </a:ext>
            </a:extLst>
          </p:cNvPr>
          <p:cNvGrpSpPr/>
          <p:nvPr/>
        </p:nvGrpSpPr>
        <p:grpSpPr>
          <a:xfrm>
            <a:off x="586817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ED96783B-52DD-5D6E-2527-E708C891F038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8B2946FE-6E05-172F-6664-711789A4A24F}"/>
              </a:ext>
            </a:extLst>
          </p:cNvPr>
          <p:cNvGrpSpPr/>
          <p:nvPr/>
        </p:nvGrpSpPr>
        <p:grpSpPr>
          <a:xfrm>
            <a:off x="6485878" y="4118020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4D47D010-7087-14D4-84AC-F1C268A93403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D16D2AD4-390A-0ACF-F5C7-7A98185A76A2}"/>
                </a:ext>
              </a:extLst>
            </p:cNvPr>
            <p:cNvSpPr txBox="1"/>
            <p:nvPr/>
          </p:nvSpPr>
          <p:spPr>
            <a:xfrm>
              <a:off x="0" y="-28575"/>
              <a:ext cx="5948248" cy="17672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19"/>
                </a:lnSpc>
              </a:pPr>
              <a:r>
                <a:rPr lang="en-US" sz="112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임계 0.44 · 미탐 0 · 오탐 0.07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C5D39D7B-E3FF-B137-EEBE-20CFBB0E6304}"/>
              </a:ext>
            </a:extLst>
          </p:cNvPr>
          <p:cNvGrpSpPr/>
          <p:nvPr/>
        </p:nvGrpSpPr>
        <p:grpSpPr>
          <a:xfrm>
            <a:off x="371528" y="1160812"/>
            <a:ext cx="4202904" cy="2770350"/>
            <a:chOff x="0" y="0"/>
            <a:chExt cx="10766069" cy="7096468"/>
          </a:xfrm>
        </p:grpSpPr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D50E570D-CF02-152A-2754-91D2190C84B3}"/>
                </a:ext>
              </a:extLst>
            </p:cNvPr>
            <p:cNvSpPr/>
            <p:nvPr/>
          </p:nvSpPr>
          <p:spPr>
            <a:xfrm>
              <a:off x="0" y="0"/>
              <a:ext cx="10766044" cy="7096506"/>
            </a:xfrm>
            <a:custGeom>
              <a:avLst/>
              <a:gdLst/>
              <a:ahLst/>
              <a:cxnLst/>
              <a:rect l="l" t="t" r="r" b="b"/>
              <a:pathLst>
                <a:path w="10766044" h="7096506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10482199" y="0"/>
                  </a:lnTo>
                  <a:cubicBezTo>
                    <a:pt x="10638917" y="0"/>
                    <a:pt x="10766044" y="127127"/>
                    <a:pt x="10766044" y="283845"/>
                  </a:cubicBezTo>
                  <a:lnTo>
                    <a:pt x="10766044" y="6812661"/>
                  </a:lnTo>
                  <a:cubicBezTo>
                    <a:pt x="10766044" y="6969379"/>
                    <a:pt x="10638917" y="7096506"/>
                    <a:pt x="10482199" y="7096506"/>
                  </a:cubicBezTo>
                  <a:lnTo>
                    <a:pt x="283845" y="7096506"/>
                  </a:lnTo>
                  <a:cubicBezTo>
                    <a:pt x="127127" y="7096506"/>
                    <a:pt x="0" y="6969379"/>
                    <a:pt x="0" y="6812661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24" name="Group 38">
            <a:extLst>
              <a:ext uri="{FF2B5EF4-FFF2-40B4-BE49-F238E27FC236}">
                <a16:creationId xmlns:a16="http://schemas.microsoft.com/office/drawing/2014/main" id="{67BBA8A3-2A8A-3A16-AF41-17381C4F2F51}"/>
              </a:ext>
            </a:extLst>
          </p:cNvPr>
          <p:cNvGrpSpPr/>
          <p:nvPr/>
        </p:nvGrpSpPr>
        <p:grpSpPr>
          <a:xfrm>
            <a:off x="431774" y="1297877"/>
            <a:ext cx="1730185" cy="274535"/>
            <a:chOff x="0" y="0"/>
            <a:chExt cx="4613826" cy="732092"/>
          </a:xfrm>
        </p:grpSpPr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04A9D491-3E80-DB2C-A3F3-1E147A96AF5B}"/>
                </a:ext>
              </a:extLst>
            </p:cNvPr>
            <p:cNvSpPr/>
            <p:nvPr/>
          </p:nvSpPr>
          <p:spPr>
            <a:xfrm>
              <a:off x="0" y="0"/>
              <a:ext cx="4613890" cy="732155"/>
            </a:xfrm>
            <a:custGeom>
              <a:avLst/>
              <a:gdLst/>
              <a:ahLst/>
              <a:cxnLst/>
              <a:rect l="l" t="t" r="r" b="b"/>
              <a:pathLst>
                <a:path w="4613890" h="732155">
                  <a:moveTo>
                    <a:pt x="0" y="131826"/>
                  </a:moveTo>
                  <a:cubicBezTo>
                    <a:pt x="0" y="59055"/>
                    <a:pt x="96046" y="0"/>
                    <a:pt x="214400" y="0"/>
                  </a:cubicBezTo>
                  <a:lnTo>
                    <a:pt x="4399530" y="0"/>
                  </a:lnTo>
                  <a:cubicBezTo>
                    <a:pt x="4517883" y="0"/>
                    <a:pt x="4613890" y="59055"/>
                    <a:pt x="4613890" y="131826"/>
                  </a:cubicBezTo>
                  <a:lnTo>
                    <a:pt x="4613890" y="600329"/>
                  </a:lnTo>
                  <a:cubicBezTo>
                    <a:pt x="4613890" y="673100"/>
                    <a:pt x="4517883" y="732155"/>
                    <a:pt x="4399530" y="732155"/>
                  </a:cubicBezTo>
                  <a:lnTo>
                    <a:pt x="214400" y="732155"/>
                  </a:lnTo>
                  <a:cubicBezTo>
                    <a:pt x="96046" y="732155"/>
                    <a:pt x="0" y="673100"/>
                    <a:pt x="0" y="600329"/>
                  </a:cubicBezTo>
                  <a:close/>
                </a:path>
              </a:pathLst>
            </a:custGeom>
            <a:solidFill>
              <a:srgbClr val="626F47"/>
            </a:solidFill>
          </p:spPr>
        </p:sp>
        <p:sp>
          <p:nvSpPr>
            <p:cNvPr id="26" name="TextBox 40">
              <a:extLst>
                <a:ext uri="{FF2B5EF4-FFF2-40B4-BE49-F238E27FC236}">
                  <a16:creationId xmlns:a16="http://schemas.microsoft.com/office/drawing/2014/main" id="{67618714-F09E-7321-A882-BF3872A6B0D6}"/>
                </a:ext>
              </a:extLst>
            </p:cNvPr>
            <p:cNvSpPr txBox="1"/>
            <p:nvPr/>
          </p:nvSpPr>
          <p:spPr>
            <a:xfrm>
              <a:off x="0" y="-9525"/>
              <a:ext cx="4613826" cy="74161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>
                <a:lnSpc>
                  <a:spcPts val="1141"/>
                </a:lnSpc>
              </a:pPr>
              <a:r>
                <a:rPr lang="en-US" sz="95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 임계별 재현율 · 오탐률</a:t>
              </a:r>
            </a:p>
          </p:txBody>
        </p:sp>
      </p:grpSp>
      <p:sp>
        <p:nvSpPr>
          <p:cNvPr id="27" name="Freeform 41">
            <a:extLst>
              <a:ext uri="{FF2B5EF4-FFF2-40B4-BE49-F238E27FC236}">
                <a16:creationId xmlns:a16="http://schemas.microsoft.com/office/drawing/2014/main" id="{211850BF-F5CE-BA11-15A1-B3B20AF25EF5}"/>
              </a:ext>
            </a:extLst>
          </p:cNvPr>
          <p:cNvSpPr/>
          <p:nvPr/>
        </p:nvSpPr>
        <p:spPr>
          <a:xfrm>
            <a:off x="661545" y="1613383"/>
            <a:ext cx="3788672" cy="2014869"/>
          </a:xfrm>
          <a:custGeom>
            <a:avLst/>
            <a:gdLst/>
            <a:ahLst/>
            <a:cxnLst/>
            <a:rect l="l" t="t" r="r" b="b"/>
            <a:pathLst>
              <a:path w="7577344" h="4029738">
                <a:moveTo>
                  <a:pt x="0" y="0"/>
                </a:moveTo>
                <a:lnTo>
                  <a:pt x="7577344" y="0"/>
                </a:lnTo>
                <a:lnTo>
                  <a:pt x="7577344" y="4029737"/>
                </a:lnTo>
                <a:lnTo>
                  <a:pt x="0" y="40297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4636" t="-7687" b="-8711"/>
            </a:stretch>
          </a:blipFill>
        </p:spPr>
      </p:sp>
      <p:grpSp>
        <p:nvGrpSpPr>
          <p:cNvPr id="28" name="Group 42">
            <a:extLst>
              <a:ext uri="{FF2B5EF4-FFF2-40B4-BE49-F238E27FC236}">
                <a16:creationId xmlns:a16="http://schemas.microsoft.com/office/drawing/2014/main" id="{097A580E-337A-5975-3BBD-EA080D9A25ED}"/>
              </a:ext>
            </a:extLst>
          </p:cNvPr>
          <p:cNvGrpSpPr/>
          <p:nvPr/>
        </p:nvGrpSpPr>
        <p:grpSpPr>
          <a:xfrm>
            <a:off x="3786170" y="1236333"/>
            <a:ext cx="766781" cy="533160"/>
            <a:chOff x="0" y="0"/>
            <a:chExt cx="2044748" cy="1421759"/>
          </a:xfrm>
        </p:grpSpPr>
        <p:grpSp>
          <p:nvGrpSpPr>
            <p:cNvPr id="29" name="Group 43">
              <a:extLst>
                <a:ext uri="{FF2B5EF4-FFF2-40B4-BE49-F238E27FC236}">
                  <a16:creationId xmlns:a16="http://schemas.microsoft.com/office/drawing/2014/main" id="{02504118-C13D-0F8A-233E-B22A842FDEBE}"/>
                </a:ext>
              </a:extLst>
            </p:cNvPr>
            <p:cNvGrpSpPr/>
            <p:nvPr/>
          </p:nvGrpSpPr>
          <p:grpSpPr>
            <a:xfrm>
              <a:off x="48212" y="64262"/>
              <a:ext cx="364152" cy="364152"/>
              <a:chOff x="0" y="0"/>
              <a:chExt cx="414528" cy="414528"/>
            </a:xfrm>
          </p:grpSpPr>
          <p:sp>
            <p:nvSpPr>
              <p:cNvPr id="71" name="Freeform 44">
                <a:extLst>
                  <a:ext uri="{FF2B5EF4-FFF2-40B4-BE49-F238E27FC236}">
                    <a16:creationId xmlns:a16="http://schemas.microsoft.com/office/drawing/2014/main" id="{438D6A0A-C31C-2770-AED3-D9ACC4F41E63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8B9462"/>
              </a:solidFill>
            </p:spPr>
          </p:sp>
        </p:grpSp>
        <p:grpSp>
          <p:nvGrpSpPr>
            <p:cNvPr id="30" name="Group 45">
              <a:extLst>
                <a:ext uri="{FF2B5EF4-FFF2-40B4-BE49-F238E27FC236}">
                  <a16:creationId xmlns:a16="http://schemas.microsoft.com/office/drawing/2014/main" id="{F23F4146-F6BC-E948-751C-AD07FEDB44C3}"/>
                </a:ext>
              </a:extLst>
            </p:cNvPr>
            <p:cNvGrpSpPr/>
            <p:nvPr/>
          </p:nvGrpSpPr>
          <p:grpSpPr>
            <a:xfrm>
              <a:off x="530178" y="0"/>
              <a:ext cx="1210873" cy="492676"/>
              <a:chOff x="0" y="0"/>
              <a:chExt cx="1378383" cy="560832"/>
            </a:xfrm>
          </p:grpSpPr>
          <p:sp>
            <p:nvSpPr>
              <p:cNvPr id="69" name="Freeform 46">
                <a:extLst>
                  <a:ext uri="{FF2B5EF4-FFF2-40B4-BE49-F238E27FC236}">
                    <a16:creationId xmlns:a16="http://schemas.microsoft.com/office/drawing/2014/main" id="{E8F84786-2212-DA8A-C1D0-E20D9BEBA7CC}"/>
                  </a:ext>
                </a:extLst>
              </p:cNvPr>
              <p:cNvSpPr/>
              <p:nvPr/>
            </p:nvSpPr>
            <p:spPr>
              <a:xfrm>
                <a:off x="0" y="0"/>
                <a:ext cx="1378383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378383" h="560832">
                    <a:moveTo>
                      <a:pt x="0" y="0"/>
                    </a:moveTo>
                    <a:lnTo>
                      <a:pt x="1378383" y="0"/>
                    </a:lnTo>
                    <a:lnTo>
                      <a:pt x="1378383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165354" b="-77076"/>
                </a:stretch>
              </a:blipFill>
            </p:spPr>
          </p:sp>
          <p:sp>
            <p:nvSpPr>
              <p:cNvPr id="70" name="TextBox 47">
                <a:extLst>
                  <a:ext uri="{FF2B5EF4-FFF2-40B4-BE49-F238E27FC236}">
                    <a16:creationId xmlns:a16="http://schemas.microsoft.com/office/drawing/2014/main" id="{AE64A59F-9DAF-1DCD-93A4-7C152DE4A08B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378383" cy="5703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2Z Medium"/>
                  </a:rPr>
                  <a:t>재현율</a:t>
                </a:r>
              </a:p>
            </p:txBody>
          </p:sp>
        </p:grpSp>
        <p:grpSp>
          <p:nvGrpSpPr>
            <p:cNvPr id="31" name="Group 48">
              <a:extLst>
                <a:ext uri="{FF2B5EF4-FFF2-40B4-BE49-F238E27FC236}">
                  <a16:creationId xmlns:a16="http://schemas.microsoft.com/office/drawing/2014/main" id="{71694D5B-272C-9A8A-B106-5A55C559EF30}"/>
                </a:ext>
              </a:extLst>
            </p:cNvPr>
            <p:cNvGrpSpPr/>
            <p:nvPr/>
          </p:nvGrpSpPr>
          <p:grpSpPr>
            <a:xfrm>
              <a:off x="48212" y="631910"/>
              <a:ext cx="364152" cy="364152"/>
              <a:chOff x="0" y="0"/>
              <a:chExt cx="414528" cy="414528"/>
            </a:xfrm>
          </p:grpSpPr>
          <p:sp>
            <p:nvSpPr>
              <p:cNvPr id="68" name="Freeform 49">
                <a:extLst>
                  <a:ext uri="{FF2B5EF4-FFF2-40B4-BE49-F238E27FC236}">
                    <a16:creationId xmlns:a16="http://schemas.microsoft.com/office/drawing/2014/main" id="{CAC955ED-F659-412C-9332-CD6BE54B4E97}"/>
                  </a:ext>
                </a:extLst>
              </p:cNvPr>
              <p:cNvSpPr/>
              <p:nvPr/>
            </p:nvSpPr>
            <p:spPr>
              <a:xfrm>
                <a:off x="0" y="0"/>
                <a:ext cx="414528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414528" h="414528">
                    <a:moveTo>
                      <a:pt x="0" y="60960"/>
                    </a:moveTo>
                    <a:cubicBezTo>
                      <a:pt x="0" y="27305"/>
                      <a:pt x="27305" y="0"/>
                      <a:pt x="60960" y="0"/>
                    </a:cubicBezTo>
                    <a:lnTo>
                      <a:pt x="353568" y="0"/>
                    </a:lnTo>
                    <a:cubicBezTo>
                      <a:pt x="387223" y="0"/>
                      <a:pt x="414528" y="27305"/>
                      <a:pt x="414528" y="60960"/>
                    </a:cubicBezTo>
                    <a:lnTo>
                      <a:pt x="414528" y="353568"/>
                    </a:lnTo>
                    <a:cubicBezTo>
                      <a:pt x="414528" y="387223"/>
                      <a:pt x="387223" y="414528"/>
                      <a:pt x="353568" y="414528"/>
                    </a:cubicBezTo>
                    <a:lnTo>
                      <a:pt x="60960" y="414528"/>
                    </a:lnTo>
                    <a:cubicBezTo>
                      <a:pt x="27305" y="414528"/>
                      <a:pt x="0" y="387223"/>
                      <a:pt x="0" y="353568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64" name="Group 50">
              <a:extLst>
                <a:ext uri="{FF2B5EF4-FFF2-40B4-BE49-F238E27FC236}">
                  <a16:creationId xmlns:a16="http://schemas.microsoft.com/office/drawing/2014/main" id="{70FD72E7-8732-72A6-2E34-DA742024E3AC}"/>
                </a:ext>
              </a:extLst>
            </p:cNvPr>
            <p:cNvGrpSpPr/>
            <p:nvPr/>
          </p:nvGrpSpPr>
          <p:grpSpPr>
            <a:xfrm>
              <a:off x="530178" y="567648"/>
              <a:ext cx="1054670" cy="492676"/>
              <a:chOff x="0" y="0"/>
              <a:chExt cx="1200572" cy="560832"/>
            </a:xfrm>
          </p:grpSpPr>
          <p:sp>
            <p:nvSpPr>
              <p:cNvPr id="66" name="Freeform 51">
                <a:extLst>
                  <a:ext uri="{FF2B5EF4-FFF2-40B4-BE49-F238E27FC236}">
                    <a16:creationId xmlns:a16="http://schemas.microsoft.com/office/drawing/2014/main" id="{88F514D4-8341-A652-4652-2344F7377448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67" name="TextBox 52">
                <a:extLst>
                  <a:ext uri="{FF2B5EF4-FFF2-40B4-BE49-F238E27FC236}">
                    <a16:creationId xmlns:a16="http://schemas.microsoft.com/office/drawing/2014/main" id="{E5B8A368-BDEA-12DE-B722-184E17E5FA9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200572" cy="5703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900"/>
                  </a:lnSpc>
                </a:pPr>
                <a:r>
                  <a:rPr lang="en-US" sz="7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2Z Medium"/>
                  </a:rPr>
                  <a:t>오탐률</a:t>
                </a:r>
              </a:p>
            </p:txBody>
          </p:sp>
        </p:grpSp>
        <p:sp>
          <p:nvSpPr>
            <p:cNvPr id="65" name="TextBox 53">
              <a:extLst>
                <a:ext uri="{FF2B5EF4-FFF2-40B4-BE49-F238E27FC236}">
                  <a16:creationId xmlns:a16="http://schemas.microsoft.com/office/drawing/2014/main" id="{7953EA93-0D1E-6D45-DA37-E33C38A4B448}"/>
                </a:ext>
              </a:extLst>
            </p:cNvPr>
            <p:cNvSpPr txBox="1"/>
            <p:nvPr/>
          </p:nvSpPr>
          <p:spPr>
            <a:xfrm>
              <a:off x="0" y="1113983"/>
              <a:ext cx="2044748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0"/>
                </a:lnSpc>
                <a:spcBef>
                  <a:spcPct val="0"/>
                </a:spcBef>
              </a:pPr>
              <a:r>
                <a:rPr lang="en-US" sz="750" b="1">
                  <a:solidFill>
                    <a:srgbClr val="E719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--- 임계선 (0.44)</a:t>
              </a:r>
            </a:p>
          </p:txBody>
        </p:sp>
      </p:grpSp>
      <p:sp>
        <p:nvSpPr>
          <p:cNvPr id="72" name="TextBox 54">
            <a:extLst>
              <a:ext uri="{FF2B5EF4-FFF2-40B4-BE49-F238E27FC236}">
                <a16:creationId xmlns:a16="http://schemas.microsoft.com/office/drawing/2014/main" id="{B8DA6864-D087-BC71-C484-833FA5BD952D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임계 = min(불량 예측확률) → 재현율 1.0 수학적 보장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4A28AD60-38C0-1453-F222-9010787E220E}"/>
              </a:ext>
            </a:extLst>
          </p:cNvPr>
          <p:cNvSpPr txBox="1"/>
          <p:nvPr/>
        </p:nvSpPr>
        <p:spPr>
          <a:xfrm>
            <a:off x="1894919" y="3659699"/>
            <a:ext cx="1056619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결정 임계</a:t>
            </a:r>
          </a:p>
        </p:txBody>
      </p:sp>
      <p:grpSp>
        <p:nvGrpSpPr>
          <p:cNvPr id="74" name="Group 56">
            <a:extLst>
              <a:ext uri="{FF2B5EF4-FFF2-40B4-BE49-F238E27FC236}">
                <a16:creationId xmlns:a16="http://schemas.microsoft.com/office/drawing/2014/main" id="{4DAE317D-2C44-9930-68D6-6D92AB81ECF7}"/>
              </a:ext>
            </a:extLst>
          </p:cNvPr>
          <p:cNvGrpSpPr/>
          <p:nvPr/>
        </p:nvGrpSpPr>
        <p:grpSpPr>
          <a:xfrm>
            <a:off x="5089903" y="956165"/>
            <a:ext cx="3681475" cy="1095952"/>
            <a:chOff x="0" y="0"/>
            <a:chExt cx="9817265" cy="2922537"/>
          </a:xfrm>
        </p:grpSpPr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789B41E7-BF57-7AE6-79B4-C8525F753F74}"/>
                </a:ext>
              </a:extLst>
            </p:cNvPr>
            <p:cNvSpPr/>
            <p:nvPr/>
          </p:nvSpPr>
          <p:spPr>
            <a:xfrm>
              <a:off x="0" y="0"/>
              <a:ext cx="9817242" cy="2922574"/>
            </a:xfrm>
            <a:custGeom>
              <a:avLst/>
              <a:gdLst/>
              <a:ahLst/>
              <a:cxnLst/>
              <a:rect l="l" t="t" r="r" b="b"/>
              <a:pathLst>
                <a:path w="9817242" h="2922574">
                  <a:moveTo>
                    <a:pt x="0" y="116896"/>
                  </a:moveTo>
                  <a:cubicBezTo>
                    <a:pt x="0" y="52355"/>
                    <a:pt x="115923" y="0"/>
                    <a:pt x="258830" y="0"/>
                  </a:cubicBezTo>
                  <a:lnTo>
                    <a:pt x="9558412" y="0"/>
                  </a:lnTo>
                  <a:cubicBezTo>
                    <a:pt x="9701319" y="0"/>
                    <a:pt x="9817242" y="52355"/>
                    <a:pt x="9817242" y="116896"/>
                  </a:cubicBezTo>
                  <a:lnTo>
                    <a:pt x="9817242" y="2805656"/>
                  </a:lnTo>
                  <a:cubicBezTo>
                    <a:pt x="9817242" y="2870198"/>
                    <a:pt x="9701319" y="2922574"/>
                    <a:pt x="9558412" y="2922574"/>
                  </a:cubicBezTo>
                  <a:lnTo>
                    <a:pt x="258830" y="2922574"/>
                  </a:lnTo>
                  <a:cubicBezTo>
                    <a:pt x="115923" y="2922575"/>
                    <a:pt x="0" y="2870198"/>
                    <a:pt x="0" y="2805656"/>
                  </a:cubicBezTo>
                  <a:close/>
                </a:path>
              </a:pathLst>
            </a:custGeom>
            <a:solidFill>
              <a:srgbClr val="FFFFFF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grpSp>
        <p:nvGrpSpPr>
          <p:cNvPr id="76" name="Group 58">
            <a:extLst>
              <a:ext uri="{FF2B5EF4-FFF2-40B4-BE49-F238E27FC236}">
                <a16:creationId xmlns:a16="http://schemas.microsoft.com/office/drawing/2014/main" id="{801D6A72-8C3A-9A3E-2030-93AB1F046F06}"/>
              </a:ext>
            </a:extLst>
          </p:cNvPr>
          <p:cNvGrpSpPr/>
          <p:nvPr/>
        </p:nvGrpSpPr>
        <p:grpSpPr>
          <a:xfrm>
            <a:off x="5089903" y="2149761"/>
            <a:ext cx="3681475" cy="1070477"/>
            <a:chOff x="0" y="0"/>
            <a:chExt cx="9817265" cy="2854605"/>
          </a:xfrm>
        </p:grpSpPr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1A56E9A7-01B6-7187-CF83-AD1E14FA42B3}"/>
                </a:ext>
              </a:extLst>
            </p:cNvPr>
            <p:cNvSpPr/>
            <p:nvPr/>
          </p:nvSpPr>
          <p:spPr>
            <a:xfrm>
              <a:off x="0" y="0"/>
              <a:ext cx="9817242" cy="2854642"/>
            </a:xfrm>
            <a:custGeom>
              <a:avLst/>
              <a:gdLst/>
              <a:ahLst/>
              <a:cxnLst/>
              <a:rect l="l" t="t" r="r" b="b"/>
              <a:pathLst>
                <a:path w="9817242" h="2854642">
                  <a:moveTo>
                    <a:pt x="0" y="114179"/>
                  </a:moveTo>
                  <a:cubicBezTo>
                    <a:pt x="0" y="51138"/>
                    <a:pt x="115923" y="0"/>
                    <a:pt x="258830" y="0"/>
                  </a:cubicBezTo>
                  <a:lnTo>
                    <a:pt x="9558412" y="0"/>
                  </a:lnTo>
                  <a:cubicBezTo>
                    <a:pt x="9701319" y="0"/>
                    <a:pt x="9817242" y="51138"/>
                    <a:pt x="9817242" y="114179"/>
                  </a:cubicBezTo>
                  <a:lnTo>
                    <a:pt x="9817242" y="2740441"/>
                  </a:lnTo>
                  <a:cubicBezTo>
                    <a:pt x="9817242" y="2803482"/>
                    <a:pt x="9701319" y="2854642"/>
                    <a:pt x="9558412" y="2854642"/>
                  </a:cubicBezTo>
                  <a:lnTo>
                    <a:pt x="258830" y="2854642"/>
                  </a:lnTo>
                  <a:cubicBezTo>
                    <a:pt x="115923" y="2854643"/>
                    <a:pt x="0" y="2803482"/>
                    <a:pt x="0" y="2740441"/>
                  </a:cubicBezTo>
                  <a:close/>
                </a:path>
              </a:pathLst>
            </a:custGeom>
            <a:solidFill>
              <a:srgbClr val="E8F0D8"/>
            </a:solidFill>
            <a:ln w="23831" cap="sq">
              <a:solidFill>
                <a:srgbClr val="626F47"/>
              </a:solidFill>
              <a:prstDash val="solid"/>
              <a:miter/>
            </a:ln>
          </p:spPr>
        </p:sp>
      </p:grpSp>
      <p:grpSp>
        <p:nvGrpSpPr>
          <p:cNvPr id="78" name="Group 60">
            <a:extLst>
              <a:ext uri="{FF2B5EF4-FFF2-40B4-BE49-F238E27FC236}">
                <a16:creationId xmlns:a16="http://schemas.microsoft.com/office/drawing/2014/main" id="{FBFB837A-761D-4627-AFE5-C4E72D9F9D56}"/>
              </a:ext>
            </a:extLst>
          </p:cNvPr>
          <p:cNvGrpSpPr/>
          <p:nvPr/>
        </p:nvGrpSpPr>
        <p:grpSpPr>
          <a:xfrm>
            <a:off x="5089903" y="3280896"/>
            <a:ext cx="3681475" cy="775212"/>
            <a:chOff x="0" y="0"/>
            <a:chExt cx="9817265" cy="2067230"/>
          </a:xfrm>
        </p:grpSpPr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438058B4-1F95-D2D8-9455-3257D6DB8427}"/>
                </a:ext>
              </a:extLst>
            </p:cNvPr>
            <p:cNvSpPr/>
            <p:nvPr/>
          </p:nvSpPr>
          <p:spPr>
            <a:xfrm>
              <a:off x="0" y="0"/>
              <a:ext cx="9817242" cy="2067268"/>
            </a:xfrm>
            <a:custGeom>
              <a:avLst/>
              <a:gdLst/>
              <a:ahLst/>
              <a:cxnLst/>
              <a:rect l="l" t="t" r="r" b="b"/>
              <a:pathLst>
                <a:path w="9817242" h="2067268">
                  <a:moveTo>
                    <a:pt x="0" y="82685"/>
                  </a:moveTo>
                  <a:cubicBezTo>
                    <a:pt x="0" y="37033"/>
                    <a:pt x="115923" y="0"/>
                    <a:pt x="258830" y="0"/>
                  </a:cubicBezTo>
                  <a:lnTo>
                    <a:pt x="9558412" y="0"/>
                  </a:lnTo>
                  <a:cubicBezTo>
                    <a:pt x="9701319" y="0"/>
                    <a:pt x="9817242" y="37033"/>
                    <a:pt x="9817242" y="82685"/>
                  </a:cubicBezTo>
                  <a:lnTo>
                    <a:pt x="9817242" y="1984556"/>
                  </a:lnTo>
                  <a:cubicBezTo>
                    <a:pt x="9817242" y="2030209"/>
                    <a:pt x="9701319" y="2067268"/>
                    <a:pt x="9558412" y="2067268"/>
                  </a:cubicBezTo>
                  <a:lnTo>
                    <a:pt x="258830" y="2067268"/>
                  </a:lnTo>
                  <a:cubicBezTo>
                    <a:pt x="115923" y="2067269"/>
                    <a:pt x="0" y="2030209"/>
                    <a:pt x="0" y="1984556"/>
                  </a:cubicBezTo>
                  <a:close/>
                </a:path>
              </a:pathLst>
            </a:custGeom>
            <a:solidFill>
              <a:srgbClr val="FBF6E7"/>
            </a:solidFill>
            <a:ln w="23831" cap="sq">
              <a:solidFill>
                <a:srgbClr val="DDE0CE"/>
              </a:solidFill>
              <a:prstDash val="solid"/>
              <a:miter/>
            </a:ln>
          </p:spPr>
        </p:sp>
      </p:grpSp>
      <p:sp>
        <p:nvSpPr>
          <p:cNvPr id="80" name="TextBox 62">
            <a:extLst>
              <a:ext uri="{FF2B5EF4-FFF2-40B4-BE49-F238E27FC236}">
                <a16:creationId xmlns:a16="http://schemas.microsoft.com/office/drawing/2014/main" id="{52C44DCB-1047-48B6-AA43-D7874501A4E8}"/>
              </a:ext>
            </a:extLst>
          </p:cNvPr>
          <p:cNvSpPr txBox="1"/>
          <p:nvPr/>
        </p:nvSpPr>
        <p:spPr>
          <a:xfrm>
            <a:off x="5235710" y="1154076"/>
            <a:ext cx="54892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임계 0.50 </a:t>
            </a:r>
          </a:p>
        </p:txBody>
      </p:sp>
      <p:sp>
        <p:nvSpPr>
          <p:cNvPr id="81" name="TextBox 63">
            <a:extLst>
              <a:ext uri="{FF2B5EF4-FFF2-40B4-BE49-F238E27FC236}">
                <a16:creationId xmlns:a16="http://schemas.microsoft.com/office/drawing/2014/main" id="{1ABBB4EB-8E38-DD34-D086-4F88B0230730}"/>
              </a:ext>
            </a:extLst>
          </p:cNvPr>
          <p:cNvSpPr txBox="1"/>
          <p:nvPr/>
        </p:nvSpPr>
        <p:spPr>
          <a:xfrm>
            <a:off x="5241998" y="1414799"/>
            <a:ext cx="614412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재현율 0.91</a:t>
            </a:r>
          </a:p>
        </p:txBody>
      </p:sp>
      <p:sp>
        <p:nvSpPr>
          <p:cNvPr id="82" name="TextBox 64">
            <a:extLst>
              <a:ext uri="{FF2B5EF4-FFF2-40B4-BE49-F238E27FC236}">
                <a16:creationId xmlns:a16="http://schemas.microsoft.com/office/drawing/2014/main" id="{89D748B9-4FD8-3389-9F72-DC24A9B997F3}"/>
              </a:ext>
            </a:extLst>
          </p:cNvPr>
          <p:cNvSpPr txBox="1"/>
          <p:nvPr/>
        </p:nvSpPr>
        <p:spPr>
          <a:xfrm>
            <a:off x="6749501" y="1429087"/>
            <a:ext cx="5570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오탐률 0.03</a:t>
            </a:r>
          </a:p>
        </p:txBody>
      </p:sp>
      <p:sp>
        <p:nvSpPr>
          <p:cNvPr id="83" name="TextBox 65">
            <a:extLst>
              <a:ext uri="{FF2B5EF4-FFF2-40B4-BE49-F238E27FC236}">
                <a16:creationId xmlns:a16="http://schemas.microsoft.com/office/drawing/2014/main" id="{D0F75016-853E-3745-D99E-7B151AAD0C96}"/>
              </a:ext>
            </a:extLst>
          </p:cNvPr>
          <p:cNvSpPr txBox="1"/>
          <p:nvPr/>
        </p:nvSpPr>
        <p:spPr>
          <a:xfrm>
            <a:off x="6012728" y="1429087"/>
            <a:ext cx="5570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A8F7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정밀도 0.77</a:t>
            </a:r>
          </a:p>
        </p:txBody>
      </p:sp>
      <p:sp>
        <p:nvSpPr>
          <p:cNvPr id="85" name="TextBox 66">
            <a:extLst>
              <a:ext uri="{FF2B5EF4-FFF2-40B4-BE49-F238E27FC236}">
                <a16:creationId xmlns:a16="http://schemas.microsoft.com/office/drawing/2014/main" id="{E1358749-893F-BC58-4158-C33CAE4BD82A}"/>
              </a:ext>
            </a:extLst>
          </p:cNvPr>
          <p:cNvSpPr txBox="1"/>
          <p:nvPr/>
        </p:nvSpPr>
        <p:spPr>
          <a:xfrm>
            <a:off x="5242656" y="1682547"/>
            <a:ext cx="149423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E719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⚠ 미탐 발생 — 불량 1개 누락</a:t>
            </a:r>
          </a:p>
        </p:txBody>
      </p:sp>
      <p:sp>
        <p:nvSpPr>
          <p:cNvPr id="86" name="TextBox 67">
            <a:extLst>
              <a:ext uri="{FF2B5EF4-FFF2-40B4-BE49-F238E27FC236}">
                <a16:creationId xmlns:a16="http://schemas.microsoft.com/office/drawing/2014/main" id="{495BFAD6-8207-95A5-BF45-02B19DB7E94E}"/>
              </a:ext>
            </a:extLst>
          </p:cNvPr>
          <p:cNvSpPr txBox="1"/>
          <p:nvPr/>
        </p:nvSpPr>
        <p:spPr>
          <a:xfrm>
            <a:off x="5236313" y="2283287"/>
            <a:ext cx="508662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임계 0.44</a:t>
            </a:r>
          </a:p>
        </p:txBody>
      </p:sp>
      <p:sp>
        <p:nvSpPr>
          <p:cNvPr id="87" name="TextBox 68">
            <a:extLst>
              <a:ext uri="{FF2B5EF4-FFF2-40B4-BE49-F238E27FC236}">
                <a16:creationId xmlns:a16="http://schemas.microsoft.com/office/drawing/2014/main" id="{2128B159-8C1A-733F-083B-EB13C9BE7A77}"/>
              </a:ext>
            </a:extLst>
          </p:cNvPr>
          <p:cNvSpPr txBox="1"/>
          <p:nvPr/>
        </p:nvSpPr>
        <p:spPr>
          <a:xfrm>
            <a:off x="5219119" y="2544010"/>
            <a:ext cx="62111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재현율 1.00</a:t>
            </a:r>
          </a:p>
        </p:txBody>
      </p:sp>
      <p:sp>
        <p:nvSpPr>
          <p:cNvPr id="88" name="TextBox 69">
            <a:extLst>
              <a:ext uri="{FF2B5EF4-FFF2-40B4-BE49-F238E27FC236}">
                <a16:creationId xmlns:a16="http://schemas.microsoft.com/office/drawing/2014/main" id="{C8CC133F-21AC-1809-530E-4F964FF352F4}"/>
              </a:ext>
            </a:extLst>
          </p:cNvPr>
          <p:cNvSpPr txBox="1"/>
          <p:nvPr/>
        </p:nvSpPr>
        <p:spPr>
          <a:xfrm>
            <a:off x="6729971" y="2558298"/>
            <a:ext cx="5570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오탐률 0.07</a:t>
            </a:r>
          </a:p>
        </p:txBody>
      </p:sp>
      <p:sp>
        <p:nvSpPr>
          <p:cNvPr id="89" name="TextBox 70">
            <a:extLst>
              <a:ext uri="{FF2B5EF4-FFF2-40B4-BE49-F238E27FC236}">
                <a16:creationId xmlns:a16="http://schemas.microsoft.com/office/drawing/2014/main" id="{E228FDAC-D413-AADD-65D8-48608788394A}"/>
              </a:ext>
            </a:extLst>
          </p:cNvPr>
          <p:cNvSpPr txBox="1"/>
          <p:nvPr/>
        </p:nvSpPr>
        <p:spPr>
          <a:xfrm>
            <a:off x="5993197" y="2558298"/>
            <a:ext cx="5570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정밀도 0.65</a:t>
            </a:r>
          </a:p>
        </p:txBody>
      </p:sp>
      <p:sp>
        <p:nvSpPr>
          <p:cNvPr id="90" name="TextBox 71">
            <a:extLst>
              <a:ext uri="{FF2B5EF4-FFF2-40B4-BE49-F238E27FC236}">
                <a16:creationId xmlns:a16="http://schemas.microsoft.com/office/drawing/2014/main" id="{D35E222B-9F81-932B-4557-50FF8378C624}"/>
              </a:ext>
            </a:extLst>
          </p:cNvPr>
          <p:cNvSpPr txBox="1"/>
          <p:nvPr/>
        </p:nvSpPr>
        <p:spPr>
          <a:xfrm>
            <a:off x="5216603" y="2820235"/>
            <a:ext cx="1670761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✓ 미탐 0 — 불량 11개 전수 검출</a:t>
            </a:r>
          </a:p>
        </p:txBody>
      </p:sp>
      <p:sp>
        <p:nvSpPr>
          <p:cNvPr id="91" name="TextBox 72">
            <a:extLst>
              <a:ext uri="{FF2B5EF4-FFF2-40B4-BE49-F238E27FC236}">
                <a16:creationId xmlns:a16="http://schemas.microsoft.com/office/drawing/2014/main" id="{A278E060-F7E8-F57F-C4A0-B4BC0EAC582C}"/>
              </a:ext>
            </a:extLst>
          </p:cNvPr>
          <p:cNvSpPr txBox="1"/>
          <p:nvPr/>
        </p:nvSpPr>
        <p:spPr>
          <a:xfrm>
            <a:off x="5838828" y="2283287"/>
            <a:ext cx="3705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★ 채택</a:t>
            </a:r>
          </a:p>
        </p:txBody>
      </p:sp>
      <p:sp>
        <p:nvSpPr>
          <p:cNvPr id="92" name="TextBox 73">
            <a:extLst>
              <a:ext uri="{FF2B5EF4-FFF2-40B4-BE49-F238E27FC236}">
                <a16:creationId xmlns:a16="http://schemas.microsoft.com/office/drawing/2014/main" id="{9D0167B8-1173-08F7-99DA-FA498CEB94DB}"/>
              </a:ext>
            </a:extLst>
          </p:cNvPr>
          <p:cNvSpPr txBox="1"/>
          <p:nvPr/>
        </p:nvSpPr>
        <p:spPr>
          <a:xfrm>
            <a:off x="5284953" y="3453600"/>
            <a:ext cx="79490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도메인 우선순위</a:t>
            </a:r>
          </a:p>
        </p:txBody>
      </p:sp>
      <p:sp>
        <p:nvSpPr>
          <p:cNvPr id="93" name="TextBox 74">
            <a:extLst>
              <a:ext uri="{FF2B5EF4-FFF2-40B4-BE49-F238E27FC236}">
                <a16:creationId xmlns:a16="http://schemas.microsoft.com/office/drawing/2014/main" id="{8599CAFA-A666-6532-FD94-4BF1CEE2F922}"/>
              </a:ext>
            </a:extLst>
          </p:cNvPr>
          <p:cNvSpPr txBox="1"/>
          <p:nvPr/>
        </p:nvSpPr>
        <p:spPr>
          <a:xfrm>
            <a:off x="6191716" y="3453600"/>
            <a:ext cx="1196909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 미탐 비용 &gt;&gt; 오탐 비용</a:t>
            </a:r>
          </a:p>
        </p:txBody>
      </p:sp>
      <p:sp>
        <p:nvSpPr>
          <p:cNvPr id="94" name="TextBox 75">
            <a:extLst>
              <a:ext uri="{FF2B5EF4-FFF2-40B4-BE49-F238E27FC236}">
                <a16:creationId xmlns:a16="http://schemas.microsoft.com/office/drawing/2014/main" id="{84E96F91-A441-C684-0E67-8EE9CBB6969E}"/>
              </a:ext>
            </a:extLst>
          </p:cNvPr>
          <p:cNvSpPr txBox="1"/>
          <p:nvPr/>
        </p:nvSpPr>
        <p:spPr>
          <a:xfrm>
            <a:off x="5287603" y="3723993"/>
            <a:ext cx="2693075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626F4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→ 오탐 일부 감수하고 재현율 1.0 보장하는 0.44 채택</a:t>
            </a:r>
          </a:p>
        </p:txBody>
      </p:sp>
      <p:pic>
        <p:nvPicPr>
          <p:cNvPr id="95" name="Image 1" descr="preencoded.png">
            <a:extLst>
              <a:ext uri="{FF2B5EF4-FFF2-40B4-BE49-F238E27FC236}">
                <a16:creationId xmlns:a16="http://schemas.microsoft.com/office/drawing/2014/main" id="{F0D985E8-D216-38C3-859D-49EE835B17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96" name="Text 2">
            <a:extLst>
              <a:ext uri="{FF2B5EF4-FFF2-40B4-BE49-F238E27FC236}">
                <a16:creationId xmlns:a16="http://schemas.microsoft.com/office/drawing/2014/main" id="{8754D98E-3F2E-9218-31F7-3B241CC70787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74CBD1FE-1C16-0888-4D46-9573D2EA4686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305862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DAC1-E686-62EC-2873-D5CC7582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0973E66-2736-F191-5A1A-7C381D015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10707C8-F950-91BF-421D-430AB3EB43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FD87D75C-DA10-4F79-4151-1137FFC9EF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C8D1E4BE-F79D-C0CA-E2F1-0F3BAE1512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4797F05-FEB3-B708-D7DD-E4134E2A21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1A0E0CBF-6FA5-34F8-2558-6AE5E3CF00BA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평가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성능 유의성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0796DA15-7B09-5D4D-10F7-526C7E626B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BF4433DD-1EA4-EEBF-9433-02B77AEA4C5A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99787ACE-EC37-D374-9B50-DBB13C760DFE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6E5B31E7-F3DC-AB39-3211-2D5728097491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49DDE154-A1A4-BAC5-7B1A-33A490EA9252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39DE8CDC-240C-CF74-564F-BA3095646E33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DE9A11C8-F368-5012-07D6-9FD5B9DF1486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6D8F265B-00A4-99CE-D9E7-64E89F638AA4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B7FDCE0C-0643-14E6-617F-53ABC7945397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52AE8323-7043-A7F3-F759-9F2A5E0B50DB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미탐 0건 + 순열검정 p = 0.005 → 성능이 우연이 아님이 통계적으로 유의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0AA5F954-7C14-AE45-904B-1236F2BA4740}"/>
              </a:ext>
            </a:extLst>
          </p:cNvPr>
          <p:cNvGrpSpPr/>
          <p:nvPr/>
        </p:nvGrpSpPr>
        <p:grpSpPr>
          <a:xfrm>
            <a:off x="586817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8AD9F08F-95DA-E537-DA54-50041CEB56B8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A258B72F-75F1-9DA5-5176-2A15CD7C1308}"/>
              </a:ext>
            </a:extLst>
          </p:cNvPr>
          <p:cNvGrpSpPr/>
          <p:nvPr/>
        </p:nvGrpSpPr>
        <p:grpSpPr>
          <a:xfrm>
            <a:off x="6640302" y="4131744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7BF32A5F-8784-8634-0416-E9D109D68932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B7B82CA0-65A8-64E1-304D-FAE709FE699B}"/>
                </a:ext>
              </a:extLst>
            </p:cNvPr>
            <p:cNvSpPr txBox="1"/>
            <p:nvPr/>
          </p:nvSpPr>
          <p:spPr>
            <a:xfrm>
              <a:off x="0" y="-38100"/>
              <a:ext cx="5948248" cy="1776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미탐 0 · 성능 유의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B9682DD5-4518-29BF-8D8E-43C8B49AC31E}"/>
              </a:ext>
            </a:extLst>
          </p:cNvPr>
          <p:cNvGrpSpPr/>
          <p:nvPr/>
        </p:nvGrpSpPr>
        <p:grpSpPr>
          <a:xfrm>
            <a:off x="377486" y="967610"/>
            <a:ext cx="2859993" cy="288261"/>
            <a:chOff x="0" y="0"/>
            <a:chExt cx="7626646" cy="768697"/>
          </a:xfrm>
        </p:grpSpPr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333C7CA1-48EF-DDF9-0332-FF8E4C5B8CF7}"/>
                </a:ext>
              </a:extLst>
            </p:cNvPr>
            <p:cNvGrpSpPr/>
            <p:nvPr/>
          </p:nvGrpSpPr>
          <p:grpSpPr>
            <a:xfrm>
              <a:off x="0" y="0"/>
              <a:ext cx="7569619" cy="768693"/>
              <a:chOff x="0" y="0"/>
              <a:chExt cx="7569619" cy="768693"/>
            </a:xfrm>
          </p:grpSpPr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FEA04BFD-8DBC-228B-660A-B3B72BFB9F95}"/>
                  </a:ext>
                </a:extLst>
              </p:cNvPr>
              <p:cNvSpPr/>
              <p:nvPr/>
            </p:nvSpPr>
            <p:spPr>
              <a:xfrm>
                <a:off x="0" y="0"/>
                <a:ext cx="7569619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7569619" h="768731">
                    <a:moveTo>
                      <a:pt x="0" y="128143"/>
                    </a:moveTo>
                    <a:cubicBezTo>
                      <a:pt x="0" y="57404"/>
                      <a:pt x="42396" y="0"/>
                      <a:pt x="94640" y="0"/>
                    </a:cubicBezTo>
                    <a:lnTo>
                      <a:pt x="7474979" y="0"/>
                    </a:lnTo>
                    <a:cubicBezTo>
                      <a:pt x="7527223" y="0"/>
                      <a:pt x="7569619" y="57404"/>
                      <a:pt x="7569619" y="128143"/>
                    </a:cubicBezTo>
                    <a:lnTo>
                      <a:pt x="7569619" y="640588"/>
                    </a:lnTo>
                    <a:cubicBezTo>
                      <a:pt x="7569619" y="711327"/>
                      <a:pt x="7527223" y="768731"/>
                      <a:pt x="7474979" y="768731"/>
                    </a:cubicBezTo>
                    <a:lnTo>
                      <a:pt x="94640" y="768731"/>
                    </a:lnTo>
                    <a:cubicBezTo>
                      <a:pt x="42396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4" name="Group 39">
              <a:extLst>
                <a:ext uri="{FF2B5EF4-FFF2-40B4-BE49-F238E27FC236}">
                  <a16:creationId xmlns:a16="http://schemas.microsoft.com/office/drawing/2014/main" id="{7BFB6C72-7C6F-2E2C-A2A9-F2EB4C019F96}"/>
                </a:ext>
              </a:extLst>
            </p:cNvPr>
            <p:cNvGrpSpPr/>
            <p:nvPr/>
          </p:nvGrpSpPr>
          <p:grpSpPr>
            <a:xfrm>
              <a:off x="276648" y="0"/>
              <a:ext cx="7349998" cy="768697"/>
              <a:chOff x="0" y="0"/>
              <a:chExt cx="7349998" cy="768697"/>
            </a:xfrm>
          </p:grpSpPr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A2DC8E8-5420-9099-49B8-75062710B50F}"/>
                  </a:ext>
                </a:extLst>
              </p:cNvPr>
              <p:cNvSpPr/>
              <p:nvPr/>
            </p:nvSpPr>
            <p:spPr>
              <a:xfrm>
                <a:off x="0" y="0"/>
                <a:ext cx="7349998" cy="768700"/>
              </a:xfrm>
              <a:custGeom>
                <a:avLst/>
                <a:gdLst/>
                <a:ahLst/>
                <a:cxnLst/>
                <a:rect l="l" t="t" r="r" b="b"/>
                <a:pathLst>
                  <a:path w="7349998" h="768700">
                    <a:moveTo>
                      <a:pt x="0" y="0"/>
                    </a:moveTo>
                    <a:lnTo>
                      <a:pt x="7349998" y="0"/>
                    </a:lnTo>
                    <a:lnTo>
                      <a:pt x="7349998" y="768700"/>
                    </a:lnTo>
                    <a:lnTo>
                      <a:pt x="0" y="7687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200521" r="-34465" b="-200520"/>
                </a:stretch>
              </a:blipFill>
            </p:spPr>
          </p:sp>
          <p:sp>
            <p:nvSpPr>
              <p:cNvPr id="26" name="TextBox 41">
                <a:extLst>
                  <a:ext uri="{FF2B5EF4-FFF2-40B4-BE49-F238E27FC236}">
                    <a16:creationId xmlns:a16="http://schemas.microsoft.com/office/drawing/2014/main" id="{C5CC50B7-BC39-6511-8AA9-04BBD85A462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349998" cy="797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평가 결과 ( LOO-CV )</a:t>
                </a:r>
              </a:p>
            </p:txBody>
          </p:sp>
        </p:grpSp>
      </p:grpSp>
      <p:sp>
        <p:nvSpPr>
          <p:cNvPr id="28" name="Freeform 42">
            <a:extLst>
              <a:ext uri="{FF2B5EF4-FFF2-40B4-BE49-F238E27FC236}">
                <a16:creationId xmlns:a16="http://schemas.microsoft.com/office/drawing/2014/main" id="{65C6F44E-26FF-EA9E-546F-38C86021BD18}"/>
              </a:ext>
            </a:extLst>
          </p:cNvPr>
          <p:cNvSpPr/>
          <p:nvPr/>
        </p:nvSpPr>
        <p:spPr>
          <a:xfrm>
            <a:off x="377486" y="1543996"/>
            <a:ext cx="3941204" cy="2285898"/>
          </a:xfrm>
          <a:custGeom>
            <a:avLst/>
            <a:gdLst/>
            <a:ahLst/>
            <a:cxnLst/>
            <a:rect l="l" t="t" r="r" b="b"/>
            <a:pathLst>
              <a:path w="7882407" h="4571796">
                <a:moveTo>
                  <a:pt x="0" y="0"/>
                </a:moveTo>
                <a:lnTo>
                  <a:pt x="7882407" y="0"/>
                </a:lnTo>
                <a:lnTo>
                  <a:pt x="7882407" y="4571797"/>
                </a:lnTo>
                <a:lnTo>
                  <a:pt x="0" y="45717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29" name="Group 43">
            <a:extLst>
              <a:ext uri="{FF2B5EF4-FFF2-40B4-BE49-F238E27FC236}">
                <a16:creationId xmlns:a16="http://schemas.microsoft.com/office/drawing/2014/main" id="{17CD6CEA-D623-C0D9-3C52-9E0A1D3F1B3E}"/>
              </a:ext>
            </a:extLst>
          </p:cNvPr>
          <p:cNvGrpSpPr/>
          <p:nvPr/>
        </p:nvGrpSpPr>
        <p:grpSpPr>
          <a:xfrm>
            <a:off x="4712007" y="967611"/>
            <a:ext cx="2838607" cy="288260"/>
            <a:chOff x="0" y="0"/>
            <a:chExt cx="7569619" cy="768693"/>
          </a:xfrm>
        </p:grpSpPr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03A4AE90-F95D-5C11-0C5E-9F052025DD46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31" name="Group 45">
            <a:extLst>
              <a:ext uri="{FF2B5EF4-FFF2-40B4-BE49-F238E27FC236}">
                <a16:creationId xmlns:a16="http://schemas.microsoft.com/office/drawing/2014/main" id="{171E6694-597D-49A2-6B92-BB0C8828CEB8}"/>
              </a:ext>
            </a:extLst>
          </p:cNvPr>
          <p:cNvGrpSpPr/>
          <p:nvPr/>
        </p:nvGrpSpPr>
        <p:grpSpPr>
          <a:xfrm>
            <a:off x="4794365" y="967610"/>
            <a:ext cx="2756250" cy="288261"/>
            <a:chOff x="0" y="0"/>
            <a:chExt cx="7349998" cy="768697"/>
          </a:xfrm>
        </p:grpSpPr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08734BD7-1AA5-1B23-3E09-0E22332872B3}"/>
                </a:ext>
              </a:extLst>
            </p:cNvPr>
            <p:cNvSpPr/>
            <p:nvPr/>
          </p:nvSpPr>
          <p:spPr>
            <a:xfrm>
              <a:off x="0" y="0"/>
              <a:ext cx="7349998" cy="768700"/>
            </a:xfrm>
            <a:custGeom>
              <a:avLst/>
              <a:gdLst/>
              <a:ahLst/>
              <a:cxnLst/>
              <a:rect l="l" t="t" r="r" b="b"/>
              <a:pathLst>
                <a:path w="7349998" h="768700">
                  <a:moveTo>
                    <a:pt x="0" y="0"/>
                  </a:moveTo>
                  <a:lnTo>
                    <a:pt x="7349998" y="0"/>
                  </a:lnTo>
                  <a:lnTo>
                    <a:pt x="7349998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34465" b="-200520"/>
              </a:stretch>
            </a:blipFill>
          </p:spPr>
        </p:sp>
        <p:sp>
          <p:nvSpPr>
            <p:cNvPr id="65" name="TextBox 47">
              <a:extLst>
                <a:ext uri="{FF2B5EF4-FFF2-40B4-BE49-F238E27FC236}">
                  <a16:creationId xmlns:a16="http://schemas.microsoft.com/office/drawing/2014/main" id="{2699BE3E-B6F0-F24E-5A8B-A2E54B34677A}"/>
                </a:ext>
              </a:extLst>
            </p:cNvPr>
            <p:cNvSpPr txBox="1"/>
            <p:nvPr/>
          </p:nvSpPr>
          <p:spPr>
            <a:xfrm>
              <a:off x="0" y="-28575"/>
              <a:ext cx="7349998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순열검정 (p=0.005) - 모델 성능의 유의성</a:t>
              </a:r>
            </a:p>
          </p:txBody>
        </p:sp>
      </p:grpSp>
      <p:grpSp>
        <p:nvGrpSpPr>
          <p:cNvPr id="66" name="Group 48">
            <a:extLst>
              <a:ext uri="{FF2B5EF4-FFF2-40B4-BE49-F238E27FC236}">
                <a16:creationId xmlns:a16="http://schemas.microsoft.com/office/drawing/2014/main" id="{344D6307-3337-B943-928D-AA293754E8B0}"/>
              </a:ext>
            </a:extLst>
          </p:cNvPr>
          <p:cNvGrpSpPr/>
          <p:nvPr/>
        </p:nvGrpSpPr>
        <p:grpSpPr>
          <a:xfrm>
            <a:off x="5089903" y="3362519"/>
            <a:ext cx="3681475" cy="693589"/>
            <a:chOff x="0" y="0"/>
            <a:chExt cx="9817265" cy="1849570"/>
          </a:xfrm>
        </p:grpSpPr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DED40A03-C84A-142D-004C-542C34ECFB45}"/>
                </a:ext>
              </a:extLst>
            </p:cNvPr>
            <p:cNvSpPr/>
            <p:nvPr/>
          </p:nvSpPr>
          <p:spPr>
            <a:xfrm>
              <a:off x="0" y="0"/>
              <a:ext cx="9817242" cy="1849607"/>
            </a:xfrm>
            <a:custGeom>
              <a:avLst/>
              <a:gdLst/>
              <a:ahLst/>
              <a:cxnLst/>
              <a:rect l="l" t="t" r="r" b="b"/>
              <a:pathLst>
                <a:path w="9817242" h="1849607">
                  <a:moveTo>
                    <a:pt x="0" y="73979"/>
                  </a:moveTo>
                  <a:cubicBezTo>
                    <a:pt x="0" y="33133"/>
                    <a:pt x="115923" y="0"/>
                    <a:pt x="258830" y="0"/>
                  </a:cubicBezTo>
                  <a:lnTo>
                    <a:pt x="9558412" y="0"/>
                  </a:lnTo>
                  <a:cubicBezTo>
                    <a:pt x="9701319" y="0"/>
                    <a:pt x="9817242" y="33133"/>
                    <a:pt x="9817242" y="73979"/>
                  </a:cubicBezTo>
                  <a:lnTo>
                    <a:pt x="9817242" y="1775600"/>
                  </a:lnTo>
                  <a:cubicBezTo>
                    <a:pt x="9817242" y="1816446"/>
                    <a:pt x="9701319" y="1849607"/>
                    <a:pt x="9558412" y="1849607"/>
                  </a:cubicBezTo>
                  <a:lnTo>
                    <a:pt x="258830" y="1849607"/>
                  </a:lnTo>
                  <a:cubicBezTo>
                    <a:pt x="115923" y="1849608"/>
                    <a:pt x="0" y="1816446"/>
                    <a:pt x="0" y="1775600"/>
                  </a:cubicBezTo>
                  <a:close/>
                </a:path>
              </a:pathLst>
            </a:custGeom>
            <a:solidFill>
              <a:srgbClr val="626F47"/>
            </a:solidFill>
            <a:ln w="23831" cap="sq">
              <a:solidFill>
                <a:srgbClr val="626F46"/>
              </a:solidFill>
              <a:prstDash val="solid"/>
              <a:miter/>
            </a:ln>
          </p:spPr>
        </p:sp>
      </p:grpSp>
      <p:sp>
        <p:nvSpPr>
          <p:cNvPr id="68" name="Freeform 50">
            <a:extLst>
              <a:ext uri="{FF2B5EF4-FFF2-40B4-BE49-F238E27FC236}">
                <a16:creationId xmlns:a16="http://schemas.microsoft.com/office/drawing/2014/main" id="{56BE7C1E-8E59-57B7-B484-4861D45C07B0}"/>
              </a:ext>
            </a:extLst>
          </p:cNvPr>
          <p:cNvSpPr/>
          <p:nvPr/>
        </p:nvSpPr>
        <p:spPr>
          <a:xfrm>
            <a:off x="4735204" y="1415039"/>
            <a:ext cx="4211079" cy="1753952"/>
          </a:xfrm>
          <a:custGeom>
            <a:avLst/>
            <a:gdLst/>
            <a:ahLst/>
            <a:cxnLst/>
            <a:rect l="l" t="t" r="r" b="b"/>
            <a:pathLst>
              <a:path w="8422158" h="3507903">
                <a:moveTo>
                  <a:pt x="0" y="0"/>
                </a:moveTo>
                <a:lnTo>
                  <a:pt x="8422157" y="0"/>
                </a:lnTo>
                <a:lnTo>
                  <a:pt x="8422157" y="3507903"/>
                </a:lnTo>
                <a:lnTo>
                  <a:pt x="0" y="3507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9622" b="-8903"/>
            </a:stretch>
          </a:blipFill>
        </p:spPr>
      </p:sp>
      <p:sp>
        <p:nvSpPr>
          <p:cNvPr id="69" name="TextBox 51">
            <a:extLst>
              <a:ext uri="{FF2B5EF4-FFF2-40B4-BE49-F238E27FC236}">
                <a16:creationId xmlns:a16="http://schemas.microsoft.com/office/drawing/2014/main" id="{08FF8201-2CB2-444D-1DFE-7A26714AA4E4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Leave-One-Out CV · 라벨 무작위 셔플 반복 학습으로 귀무분포 생성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70" name="TextBox 52">
            <a:extLst>
              <a:ext uri="{FF2B5EF4-FFF2-40B4-BE49-F238E27FC236}">
                <a16:creationId xmlns:a16="http://schemas.microsoft.com/office/drawing/2014/main" id="{C40A2A7A-EA43-F0E8-87FE-8909E019487A}"/>
              </a:ext>
            </a:extLst>
          </p:cNvPr>
          <p:cNvSpPr txBox="1"/>
          <p:nvPr/>
        </p:nvSpPr>
        <p:spPr>
          <a:xfrm>
            <a:off x="6212143" y="3221378"/>
            <a:ext cx="1130945" cy="9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1"/>
              </a:lnSpc>
              <a:spcBef>
                <a:spcPct val="0"/>
              </a:spcBef>
            </a:pPr>
            <a:r>
              <a:rPr lang="en-US" sz="6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셔플 모델 ROC-AUC (중심 ≈ 0.5)</a:t>
            </a:r>
          </a:p>
        </p:txBody>
      </p:sp>
      <p:sp>
        <p:nvSpPr>
          <p:cNvPr id="71" name="TextBox 53">
            <a:extLst>
              <a:ext uri="{FF2B5EF4-FFF2-40B4-BE49-F238E27FC236}">
                <a16:creationId xmlns:a16="http://schemas.microsoft.com/office/drawing/2014/main" id="{CE462DC1-D9E4-B2FE-262F-85067D012102}"/>
              </a:ext>
            </a:extLst>
          </p:cNvPr>
          <p:cNvSpPr txBox="1"/>
          <p:nvPr/>
        </p:nvSpPr>
        <p:spPr>
          <a:xfrm>
            <a:off x="5159445" y="3497923"/>
            <a:ext cx="811411" cy="18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71"/>
              </a:lnSpc>
              <a:spcBef>
                <a:spcPct val="0"/>
              </a:spcBef>
            </a:pPr>
            <a:r>
              <a:rPr lang="en-US" sz="1226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p = 0.005</a:t>
            </a:r>
          </a:p>
        </p:txBody>
      </p:sp>
      <p:sp>
        <p:nvSpPr>
          <p:cNvPr id="72" name="TextBox 54">
            <a:extLst>
              <a:ext uri="{FF2B5EF4-FFF2-40B4-BE49-F238E27FC236}">
                <a16:creationId xmlns:a16="http://schemas.microsoft.com/office/drawing/2014/main" id="{2B30F1F1-1D59-F1E7-8866-19F37CF71087}"/>
              </a:ext>
            </a:extLst>
          </p:cNvPr>
          <p:cNvSpPr txBox="1"/>
          <p:nvPr/>
        </p:nvSpPr>
        <p:spPr>
          <a:xfrm>
            <a:off x="6029332" y="3550311"/>
            <a:ext cx="981068" cy="1154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1"/>
              </a:lnSpc>
              <a:spcBef>
                <a:spcPct val="0"/>
              </a:spcBef>
            </a:pPr>
            <a:r>
              <a:rPr lang="en-US" sz="776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유의수준</a:t>
            </a:r>
            <a:r>
              <a:rPr lang="en-US" sz="776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0.05 &gt;&gt; p</a:t>
            </a:r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D6AF901C-68E8-685A-73DA-FF1CEF09A21B}"/>
              </a:ext>
            </a:extLst>
          </p:cNvPr>
          <p:cNvSpPr txBox="1"/>
          <p:nvPr/>
        </p:nvSpPr>
        <p:spPr>
          <a:xfrm>
            <a:off x="5281141" y="3796878"/>
            <a:ext cx="2392100" cy="115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1"/>
              </a:lnSpc>
              <a:spcBef>
                <a:spcPct val="0"/>
              </a:spcBef>
            </a:pPr>
            <a:r>
              <a:rPr lang="en-US" sz="776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실제 성능이 우연 분포에서 완전히 벗어남 → 우연이 아님</a:t>
            </a:r>
          </a:p>
        </p:txBody>
      </p:sp>
      <p:sp>
        <p:nvSpPr>
          <p:cNvPr id="74" name="TextBox 56">
            <a:extLst>
              <a:ext uri="{FF2B5EF4-FFF2-40B4-BE49-F238E27FC236}">
                <a16:creationId xmlns:a16="http://schemas.microsoft.com/office/drawing/2014/main" id="{7F8A7E47-6228-1665-9F0B-E6B404AC7170}"/>
              </a:ext>
            </a:extLst>
          </p:cNvPr>
          <p:cNvSpPr txBox="1"/>
          <p:nvPr/>
        </p:nvSpPr>
        <p:spPr>
          <a:xfrm>
            <a:off x="8458200" y="1372176"/>
            <a:ext cx="395560" cy="96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1"/>
              </a:lnSpc>
              <a:spcBef>
                <a:spcPct val="0"/>
              </a:spcBef>
            </a:pPr>
            <a:r>
              <a:rPr lang="en-US" sz="626" b="1" dirty="0">
                <a:solidFill>
                  <a:srgbClr val="FF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0.99</a:t>
            </a:r>
          </a:p>
        </p:txBody>
      </p:sp>
      <p:pic>
        <p:nvPicPr>
          <p:cNvPr id="75" name="Image 1" descr="preencoded.png">
            <a:extLst>
              <a:ext uri="{FF2B5EF4-FFF2-40B4-BE49-F238E27FC236}">
                <a16:creationId xmlns:a16="http://schemas.microsoft.com/office/drawing/2014/main" id="{16361D94-0352-AA90-9A2C-DA8921BB4BC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6" name="Text 2">
            <a:extLst>
              <a:ext uri="{FF2B5EF4-FFF2-40B4-BE49-F238E27FC236}">
                <a16:creationId xmlns:a16="http://schemas.microsoft.com/office/drawing/2014/main" id="{27B18B52-AAF8-6756-ADD2-91AB7413C3C9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EA2336D2-8340-262E-B80C-68385F57DADB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557715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37B2-2BDC-E723-0550-4FFA757C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B59010A-9A2D-2335-D14C-297EF0376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6F66ECD-3096-2050-A169-9057F94A3A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7B5E128C-B185-2E35-9EB9-5006C80A6D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A53F915F-6DE3-6BCC-EF0D-DFCB9A40D7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2E53C21F-8B92-43A7-E607-C28B617698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57253B74-BA1B-05F5-4364-ED4790226488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변수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공정변수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기여도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83982794-E8C9-08A6-68F2-DB9173AF61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FAFB5F0A-C810-B57C-4B5A-8E1AA38B348A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96AE8671-208B-71E8-DA68-5E5CDC510118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C1799ECA-212A-155F-5C07-D28D5D378551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35F6D605-949A-7AF0-0FB1-F023AEFFDDC2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90FFF391-E072-5C2B-CDC4-7AD86A1F6E9B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5A03FC93-FD22-4A02-B62A-177ACAA56632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203CEB72-2189-CF79-8B68-C8081153373A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124B5228-8741-E8F5-3714-6B2754C48766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BB850112-14E7-EB77-D548-F1E70EEEEF81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개별 피처 · 공정변수 관점 모두 전압 이탈이 지배적 신호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CEA64285-5F73-B946-BF66-F20CE5CF9E2F}"/>
              </a:ext>
            </a:extLst>
          </p:cNvPr>
          <p:cNvGrpSpPr/>
          <p:nvPr/>
        </p:nvGrpSpPr>
        <p:grpSpPr>
          <a:xfrm>
            <a:off x="5692053" y="4345381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470A3B9C-A939-2404-AD39-A3158D003E1F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C6C569AC-E4B2-82F6-D2D1-8091365E768D}"/>
              </a:ext>
            </a:extLst>
          </p:cNvPr>
          <p:cNvGrpSpPr/>
          <p:nvPr/>
        </p:nvGrpSpPr>
        <p:grpSpPr>
          <a:xfrm>
            <a:off x="6485878" y="4118020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17766C70-40D5-9C8C-8BBE-9C18C649D73B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1BC56831-7250-D933-2E27-92F8F125A7EC}"/>
                </a:ext>
              </a:extLst>
            </p:cNvPr>
            <p:cNvSpPr txBox="1"/>
            <p:nvPr/>
          </p:nvSpPr>
          <p:spPr>
            <a:xfrm>
              <a:off x="0" y="-38100"/>
              <a:ext cx="5948248" cy="1776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전압 이탈 = 핵심 판별자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B53E3BE4-9A2E-FD44-4587-A311C4671B53}"/>
              </a:ext>
            </a:extLst>
          </p:cNvPr>
          <p:cNvGrpSpPr/>
          <p:nvPr/>
        </p:nvGrpSpPr>
        <p:grpSpPr>
          <a:xfrm>
            <a:off x="377486" y="967610"/>
            <a:ext cx="2859993" cy="288261"/>
            <a:chOff x="0" y="0"/>
            <a:chExt cx="7626646" cy="768697"/>
          </a:xfrm>
        </p:grpSpPr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44FB641B-ABAD-6F8D-E239-99B7E55B3EF5}"/>
                </a:ext>
              </a:extLst>
            </p:cNvPr>
            <p:cNvGrpSpPr/>
            <p:nvPr/>
          </p:nvGrpSpPr>
          <p:grpSpPr>
            <a:xfrm>
              <a:off x="0" y="0"/>
              <a:ext cx="7569619" cy="768693"/>
              <a:chOff x="0" y="0"/>
              <a:chExt cx="7569619" cy="768693"/>
            </a:xfrm>
          </p:grpSpPr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8F5E9CC3-3A8F-AF83-4EEE-B2F5564BDC46}"/>
                  </a:ext>
                </a:extLst>
              </p:cNvPr>
              <p:cNvSpPr/>
              <p:nvPr/>
            </p:nvSpPr>
            <p:spPr>
              <a:xfrm>
                <a:off x="0" y="0"/>
                <a:ext cx="7569619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7569619" h="768731">
                    <a:moveTo>
                      <a:pt x="0" y="128143"/>
                    </a:moveTo>
                    <a:cubicBezTo>
                      <a:pt x="0" y="57404"/>
                      <a:pt x="42396" y="0"/>
                      <a:pt x="94640" y="0"/>
                    </a:cubicBezTo>
                    <a:lnTo>
                      <a:pt x="7474979" y="0"/>
                    </a:lnTo>
                    <a:cubicBezTo>
                      <a:pt x="7527223" y="0"/>
                      <a:pt x="7569619" y="57404"/>
                      <a:pt x="7569619" y="128143"/>
                    </a:cubicBezTo>
                    <a:lnTo>
                      <a:pt x="7569619" y="640588"/>
                    </a:lnTo>
                    <a:cubicBezTo>
                      <a:pt x="7569619" y="711327"/>
                      <a:pt x="7527223" y="768731"/>
                      <a:pt x="7474979" y="768731"/>
                    </a:cubicBezTo>
                    <a:lnTo>
                      <a:pt x="94640" y="768731"/>
                    </a:lnTo>
                    <a:cubicBezTo>
                      <a:pt x="42396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4" name="Group 39">
              <a:extLst>
                <a:ext uri="{FF2B5EF4-FFF2-40B4-BE49-F238E27FC236}">
                  <a16:creationId xmlns:a16="http://schemas.microsoft.com/office/drawing/2014/main" id="{DE2B8BCB-F4B6-EDAB-7589-1673E3E1D539}"/>
                </a:ext>
              </a:extLst>
            </p:cNvPr>
            <p:cNvGrpSpPr/>
            <p:nvPr/>
          </p:nvGrpSpPr>
          <p:grpSpPr>
            <a:xfrm>
              <a:off x="276648" y="0"/>
              <a:ext cx="7349998" cy="768697"/>
              <a:chOff x="0" y="0"/>
              <a:chExt cx="7349998" cy="768697"/>
            </a:xfrm>
          </p:grpSpPr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183C5A38-D08D-6197-56C9-B22105755932}"/>
                  </a:ext>
                </a:extLst>
              </p:cNvPr>
              <p:cNvSpPr/>
              <p:nvPr/>
            </p:nvSpPr>
            <p:spPr>
              <a:xfrm>
                <a:off x="0" y="0"/>
                <a:ext cx="7349998" cy="768700"/>
              </a:xfrm>
              <a:custGeom>
                <a:avLst/>
                <a:gdLst/>
                <a:ahLst/>
                <a:cxnLst/>
                <a:rect l="l" t="t" r="r" b="b"/>
                <a:pathLst>
                  <a:path w="7349998" h="768700">
                    <a:moveTo>
                      <a:pt x="0" y="0"/>
                    </a:moveTo>
                    <a:lnTo>
                      <a:pt x="7349998" y="0"/>
                    </a:lnTo>
                    <a:lnTo>
                      <a:pt x="7349998" y="768700"/>
                    </a:lnTo>
                    <a:lnTo>
                      <a:pt x="0" y="7687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200521" r="-34465" b="-200520"/>
                </a:stretch>
              </a:blipFill>
            </p:spPr>
          </p:sp>
          <p:sp>
            <p:nvSpPr>
              <p:cNvPr id="26" name="TextBox 41">
                <a:extLst>
                  <a:ext uri="{FF2B5EF4-FFF2-40B4-BE49-F238E27FC236}">
                    <a16:creationId xmlns:a16="http://schemas.microsoft.com/office/drawing/2014/main" id="{DE092ADB-A362-4306-4A1D-B9FD1C1BFDA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349998" cy="797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개별 피처 중요도 ( 절대 이탈 기준 )</a:t>
                </a:r>
              </a:p>
            </p:txBody>
          </p:sp>
        </p:grpSp>
      </p:grpSp>
      <p:grpSp>
        <p:nvGrpSpPr>
          <p:cNvPr id="28" name="Group 42">
            <a:extLst>
              <a:ext uri="{FF2B5EF4-FFF2-40B4-BE49-F238E27FC236}">
                <a16:creationId xmlns:a16="http://schemas.microsoft.com/office/drawing/2014/main" id="{56099ECA-EF13-1E76-0EFE-EBE26576E4DE}"/>
              </a:ext>
            </a:extLst>
          </p:cNvPr>
          <p:cNvGrpSpPr/>
          <p:nvPr/>
        </p:nvGrpSpPr>
        <p:grpSpPr>
          <a:xfrm>
            <a:off x="4712007" y="967611"/>
            <a:ext cx="2838607" cy="288260"/>
            <a:chOff x="0" y="0"/>
            <a:chExt cx="7569619" cy="768693"/>
          </a:xfrm>
        </p:grpSpPr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8FED04E8-2B00-9EC6-CF32-EC25421161BF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30" name="Group 44">
            <a:extLst>
              <a:ext uri="{FF2B5EF4-FFF2-40B4-BE49-F238E27FC236}">
                <a16:creationId xmlns:a16="http://schemas.microsoft.com/office/drawing/2014/main" id="{0204B5E7-F990-5EC1-4F58-EBD78EA5456C}"/>
              </a:ext>
            </a:extLst>
          </p:cNvPr>
          <p:cNvGrpSpPr/>
          <p:nvPr/>
        </p:nvGrpSpPr>
        <p:grpSpPr>
          <a:xfrm>
            <a:off x="4794365" y="967610"/>
            <a:ext cx="2756250" cy="288261"/>
            <a:chOff x="0" y="0"/>
            <a:chExt cx="7349998" cy="768697"/>
          </a:xfrm>
        </p:grpSpPr>
        <p:sp>
          <p:nvSpPr>
            <p:cNvPr id="31" name="Freeform 45">
              <a:extLst>
                <a:ext uri="{FF2B5EF4-FFF2-40B4-BE49-F238E27FC236}">
                  <a16:creationId xmlns:a16="http://schemas.microsoft.com/office/drawing/2014/main" id="{4C0E36F9-68AB-CE53-D3AD-21FFF95BE773}"/>
                </a:ext>
              </a:extLst>
            </p:cNvPr>
            <p:cNvSpPr/>
            <p:nvPr/>
          </p:nvSpPr>
          <p:spPr>
            <a:xfrm>
              <a:off x="0" y="0"/>
              <a:ext cx="7349998" cy="768700"/>
            </a:xfrm>
            <a:custGeom>
              <a:avLst/>
              <a:gdLst/>
              <a:ahLst/>
              <a:cxnLst/>
              <a:rect l="l" t="t" r="r" b="b"/>
              <a:pathLst>
                <a:path w="7349998" h="768700">
                  <a:moveTo>
                    <a:pt x="0" y="0"/>
                  </a:moveTo>
                  <a:lnTo>
                    <a:pt x="7349998" y="0"/>
                  </a:lnTo>
                  <a:lnTo>
                    <a:pt x="7349998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34465" b="-200520"/>
              </a:stretch>
            </a:blipFill>
          </p:spPr>
        </p:sp>
        <p:sp>
          <p:nvSpPr>
            <p:cNvPr id="64" name="TextBox 46">
              <a:extLst>
                <a:ext uri="{FF2B5EF4-FFF2-40B4-BE49-F238E27FC236}">
                  <a16:creationId xmlns:a16="http://schemas.microsoft.com/office/drawing/2014/main" id="{A0486870-A934-9A9E-28CF-C3CBF07EDE49}"/>
                </a:ext>
              </a:extLst>
            </p:cNvPr>
            <p:cNvSpPr txBox="1"/>
            <p:nvPr/>
          </p:nvSpPr>
          <p:spPr>
            <a:xfrm>
              <a:off x="0" y="-28575"/>
              <a:ext cx="7349998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공정변수 기여도 합산</a:t>
              </a:r>
            </a:p>
          </p:txBody>
        </p:sp>
      </p:grpSp>
      <p:sp>
        <p:nvSpPr>
          <p:cNvPr id="65" name="Freeform 47">
            <a:extLst>
              <a:ext uri="{FF2B5EF4-FFF2-40B4-BE49-F238E27FC236}">
                <a16:creationId xmlns:a16="http://schemas.microsoft.com/office/drawing/2014/main" id="{C64BBC87-D15B-1B1C-24E1-B5A770301984}"/>
              </a:ext>
            </a:extLst>
          </p:cNvPr>
          <p:cNvSpPr/>
          <p:nvPr/>
        </p:nvSpPr>
        <p:spPr>
          <a:xfrm>
            <a:off x="1168216" y="1363284"/>
            <a:ext cx="2686588" cy="2216426"/>
          </a:xfrm>
          <a:custGeom>
            <a:avLst/>
            <a:gdLst/>
            <a:ahLst/>
            <a:cxnLst/>
            <a:rect l="l" t="t" r="r" b="b"/>
            <a:pathLst>
              <a:path w="5373175" h="4432851">
                <a:moveTo>
                  <a:pt x="0" y="0"/>
                </a:moveTo>
                <a:lnTo>
                  <a:pt x="5373175" y="0"/>
                </a:lnTo>
                <a:lnTo>
                  <a:pt x="5373175" y="4432852"/>
                </a:lnTo>
                <a:lnTo>
                  <a:pt x="0" y="4432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1662" r="-119287"/>
            </a:stretch>
          </a:blipFill>
        </p:spPr>
      </p:sp>
      <p:sp>
        <p:nvSpPr>
          <p:cNvPr id="66" name="Freeform 48">
            <a:extLst>
              <a:ext uri="{FF2B5EF4-FFF2-40B4-BE49-F238E27FC236}">
                <a16:creationId xmlns:a16="http://schemas.microsoft.com/office/drawing/2014/main" id="{50D3CDD2-CA1B-5274-1107-F36111C1DE20}"/>
              </a:ext>
            </a:extLst>
          </p:cNvPr>
          <p:cNvSpPr/>
          <p:nvPr/>
        </p:nvSpPr>
        <p:spPr>
          <a:xfrm>
            <a:off x="5236743" y="1306583"/>
            <a:ext cx="2286865" cy="1857645"/>
          </a:xfrm>
          <a:custGeom>
            <a:avLst/>
            <a:gdLst/>
            <a:ahLst/>
            <a:cxnLst/>
            <a:rect l="l" t="t" r="r" b="b"/>
            <a:pathLst>
              <a:path w="4573730" h="3715289">
                <a:moveTo>
                  <a:pt x="0" y="0"/>
                </a:moveTo>
                <a:lnTo>
                  <a:pt x="4573730" y="0"/>
                </a:lnTo>
                <a:lnTo>
                  <a:pt x="4573730" y="3715289"/>
                </a:lnTo>
                <a:lnTo>
                  <a:pt x="0" y="37152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7090"/>
            </a:stretch>
          </a:blipFill>
        </p:spPr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C8BDAA0D-9644-3B9E-071E-1BCE0E3AA151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로지스틱 계수 절대값 기반 · 절대이탈(|z|) 피처 기준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FD6C88DB-18FC-142E-BF14-782B4089279A}"/>
              </a:ext>
            </a:extLst>
          </p:cNvPr>
          <p:cNvSpPr txBox="1"/>
          <p:nvPr/>
        </p:nvSpPr>
        <p:spPr>
          <a:xfrm>
            <a:off x="603409" y="1582062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평균 전압</a:t>
            </a:r>
          </a:p>
        </p:txBody>
      </p:sp>
      <p:sp>
        <p:nvSpPr>
          <p:cNvPr id="69" name="TextBox 51">
            <a:extLst>
              <a:ext uri="{FF2B5EF4-FFF2-40B4-BE49-F238E27FC236}">
                <a16:creationId xmlns:a16="http://schemas.microsoft.com/office/drawing/2014/main" id="{21F6DABB-97EE-D883-EADC-5721B4DD452B}"/>
              </a:ext>
            </a:extLst>
          </p:cNvPr>
          <p:cNvSpPr txBox="1"/>
          <p:nvPr/>
        </p:nvSpPr>
        <p:spPr>
          <a:xfrm>
            <a:off x="603409" y="1967798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평균 온도</a:t>
            </a:r>
          </a:p>
        </p:txBody>
      </p:sp>
      <p:sp>
        <p:nvSpPr>
          <p:cNvPr id="70" name="TextBox 52">
            <a:extLst>
              <a:ext uri="{FF2B5EF4-FFF2-40B4-BE49-F238E27FC236}">
                <a16:creationId xmlns:a16="http://schemas.microsoft.com/office/drawing/2014/main" id="{57CF3D14-EBB7-982C-9A93-9568DFD5D602}"/>
              </a:ext>
            </a:extLst>
          </p:cNvPr>
          <p:cNvSpPr txBox="1"/>
          <p:nvPr/>
        </p:nvSpPr>
        <p:spPr>
          <a:xfrm>
            <a:off x="603409" y="2739323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평균 전력</a:t>
            </a:r>
          </a:p>
        </p:txBody>
      </p:sp>
      <p:sp>
        <p:nvSpPr>
          <p:cNvPr id="71" name="TextBox 53">
            <a:extLst>
              <a:ext uri="{FF2B5EF4-FFF2-40B4-BE49-F238E27FC236}">
                <a16:creationId xmlns:a16="http://schemas.microsoft.com/office/drawing/2014/main" id="{41CBA8CA-75BD-F77D-8D15-9E2B51912D5F}"/>
              </a:ext>
            </a:extLst>
          </p:cNvPr>
          <p:cNvSpPr txBox="1"/>
          <p:nvPr/>
        </p:nvSpPr>
        <p:spPr>
          <a:xfrm>
            <a:off x="377486" y="2353560"/>
            <a:ext cx="643154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고온 구간 전류</a:t>
            </a:r>
          </a:p>
        </p:txBody>
      </p:sp>
      <p:sp>
        <p:nvSpPr>
          <p:cNvPr id="72" name="TextBox 54">
            <a:extLst>
              <a:ext uri="{FF2B5EF4-FFF2-40B4-BE49-F238E27FC236}">
                <a16:creationId xmlns:a16="http://schemas.microsoft.com/office/drawing/2014/main" id="{C229126E-7E39-C508-D346-4405F48916D1}"/>
              </a:ext>
            </a:extLst>
          </p:cNvPr>
          <p:cNvSpPr txBox="1"/>
          <p:nvPr/>
        </p:nvSpPr>
        <p:spPr>
          <a:xfrm>
            <a:off x="377486" y="3125085"/>
            <a:ext cx="643154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고온 구간 전압</a:t>
            </a:r>
          </a:p>
        </p:txBody>
      </p:sp>
      <p:sp>
        <p:nvSpPr>
          <p:cNvPr id="73" name="TextBox 55">
            <a:extLst>
              <a:ext uri="{FF2B5EF4-FFF2-40B4-BE49-F238E27FC236}">
                <a16:creationId xmlns:a16="http://schemas.microsoft.com/office/drawing/2014/main" id="{9E52C08B-934D-0E86-84CB-78C86660BC2C}"/>
              </a:ext>
            </a:extLst>
          </p:cNvPr>
          <p:cNvSpPr txBox="1"/>
          <p:nvPr/>
        </p:nvSpPr>
        <p:spPr>
          <a:xfrm>
            <a:off x="3737816" y="1582062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1.92</a:t>
            </a:r>
          </a:p>
        </p:txBody>
      </p:sp>
      <p:sp>
        <p:nvSpPr>
          <p:cNvPr id="74" name="TextBox 56">
            <a:extLst>
              <a:ext uri="{FF2B5EF4-FFF2-40B4-BE49-F238E27FC236}">
                <a16:creationId xmlns:a16="http://schemas.microsoft.com/office/drawing/2014/main" id="{F529B62D-F163-F3BA-B313-A2DFA32E152E}"/>
              </a:ext>
            </a:extLst>
          </p:cNvPr>
          <p:cNvSpPr txBox="1"/>
          <p:nvPr/>
        </p:nvSpPr>
        <p:spPr>
          <a:xfrm>
            <a:off x="3737816" y="1967798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1.57</a:t>
            </a:r>
          </a:p>
        </p:txBody>
      </p:sp>
      <p:sp>
        <p:nvSpPr>
          <p:cNvPr id="75" name="TextBox 57">
            <a:extLst>
              <a:ext uri="{FF2B5EF4-FFF2-40B4-BE49-F238E27FC236}">
                <a16:creationId xmlns:a16="http://schemas.microsoft.com/office/drawing/2014/main" id="{10B53738-2C56-12F8-CE94-3A8072817307}"/>
              </a:ext>
            </a:extLst>
          </p:cNvPr>
          <p:cNvSpPr txBox="1"/>
          <p:nvPr/>
        </p:nvSpPr>
        <p:spPr>
          <a:xfrm>
            <a:off x="3737816" y="2353560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1.31</a:t>
            </a:r>
          </a:p>
        </p:txBody>
      </p:sp>
      <p:sp>
        <p:nvSpPr>
          <p:cNvPr id="76" name="TextBox 58">
            <a:extLst>
              <a:ext uri="{FF2B5EF4-FFF2-40B4-BE49-F238E27FC236}">
                <a16:creationId xmlns:a16="http://schemas.microsoft.com/office/drawing/2014/main" id="{D775D7F1-499A-B374-6B2C-0B8517DDD4EB}"/>
              </a:ext>
            </a:extLst>
          </p:cNvPr>
          <p:cNvSpPr txBox="1"/>
          <p:nvPr/>
        </p:nvSpPr>
        <p:spPr>
          <a:xfrm>
            <a:off x="3737816" y="2739323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0.80</a:t>
            </a:r>
          </a:p>
        </p:txBody>
      </p:sp>
      <p:sp>
        <p:nvSpPr>
          <p:cNvPr id="77" name="TextBox 59">
            <a:extLst>
              <a:ext uri="{FF2B5EF4-FFF2-40B4-BE49-F238E27FC236}">
                <a16:creationId xmlns:a16="http://schemas.microsoft.com/office/drawing/2014/main" id="{E1104594-2879-77C2-592D-347254BFB44F}"/>
              </a:ext>
            </a:extLst>
          </p:cNvPr>
          <p:cNvSpPr txBox="1"/>
          <p:nvPr/>
        </p:nvSpPr>
        <p:spPr>
          <a:xfrm>
            <a:off x="3737816" y="3125085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0.30</a:t>
            </a:r>
          </a:p>
        </p:txBody>
      </p:sp>
      <p:sp>
        <p:nvSpPr>
          <p:cNvPr id="78" name="TextBox 60">
            <a:extLst>
              <a:ext uri="{FF2B5EF4-FFF2-40B4-BE49-F238E27FC236}">
                <a16:creationId xmlns:a16="http://schemas.microsoft.com/office/drawing/2014/main" id="{4A0A09DB-D835-3134-9BF1-DFB6544496E2}"/>
              </a:ext>
            </a:extLst>
          </p:cNvPr>
          <p:cNvSpPr txBox="1"/>
          <p:nvPr/>
        </p:nvSpPr>
        <p:spPr>
          <a:xfrm>
            <a:off x="4788207" y="1582062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전압</a:t>
            </a:r>
          </a:p>
        </p:txBody>
      </p:sp>
      <p:sp>
        <p:nvSpPr>
          <p:cNvPr id="79" name="TextBox 61">
            <a:extLst>
              <a:ext uri="{FF2B5EF4-FFF2-40B4-BE49-F238E27FC236}">
                <a16:creationId xmlns:a16="http://schemas.microsoft.com/office/drawing/2014/main" id="{FF1BDA34-A110-B1BA-5021-42A7B9B66191}"/>
              </a:ext>
            </a:extLst>
          </p:cNvPr>
          <p:cNvSpPr txBox="1"/>
          <p:nvPr/>
        </p:nvSpPr>
        <p:spPr>
          <a:xfrm>
            <a:off x="4788207" y="2129736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온도</a:t>
            </a:r>
          </a:p>
        </p:txBody>
      </p:sp>
      <p:sp>
        <p:nvSpPr>
          <p:cNvPr id="80" name="TextBox 62">
            <a:extLst>
              <a:ext uri="{FF2B5EF4-FFF2-40B4-BE49-F238E27FC236}">
                <a16:creationId xmlns:a16="http://schemas.microsoft.com/office/drawing/2014/main" id="{19D3B521-2A2F-F807-EED7-926298A60A4D}"/>
              </a:ext>
            </a:extLst>
          </p:cNvPr>
          <p:cNvSpPr txBox="1"/>
          <p:nvPr/>
        </p:nvSpPr>
        <p:spPr>
          <a:xfrm>
            <a:off x="4788207" y="2677410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전력</a:t>
            </a:r>
          </a:p>
        </p:txBody>
      </p:sp>
      <p:sp>
        <p:nvSpPr>
          <p:cNvPr id="81" name="TextBox 63">
            <a:extLst>
              <a:ext uri="{FF2B5EF4-FFF2-40B4-BE49-F238E27FC236}">
                <a16:creationId xmlns:a16="http://schemas.microsoft.com/office/drawing/2014/main" id="{50FE7EFA-7FF4-8CEA-54B5-5B58293940EF}"/>
              </a:ext>
            </a:extLst>
          </p:cNvPr>
          <p:cNvSpPr txBox="1"/>
          <p:nvPr/>
        </p:nvSpPr>
        <p:spPr>
          <a:xfrm>
            <a:off x="7464625" y="1582062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1.92</a:t>
            </a:r>
          </a:p>
        </p:txBody>
      </p:sp>
      <p:sp>
        <p:nvSpPr>
          <p:cNvPr id="82" name="TextBox 64">
            <a:extLst>
              <a:ext uri="{FF2B5EF4-FFF2-40B4-BE49-F238E27FC236}">
                <a16:creationId xmlns:a16="http://schemas.microsoft.com/office/drawing/2014/main" id="{180C0288-9CDD-BE85-BC76-37921294D298}"/>
              </a:ext>
            </a:extLst>
          </p:cNvPr>
          <p:cNvSpPr txBox="1"/>
          <p:nvPr/>
        </p:nvSpPr>
        <p:spPr>
          <a:xfrm>
            <a:off x="7464625" y="2129736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1.57</a:t>
            </a:r>
          </a:p>
        </p:txBody>
      </p:sp>
      <p:sp>
        <p:nvSpPr>
          <p:cNvPr id="83" name="TextBox 65">
            <a:extLst>
              <a:ext uri="{FF2B5EF4-FFF2-40B4-BE49-F238E27FC236}">
                <a16:creationId xmlns:a16="http://schemas.microsoft.com/office/drawing/2014/main" id="{F73702EC-E494-72FF-D63F-4BE654CF1F92}"/>
              </a:ext>
            </a:extLst>
          </p:cNvPr>
          <p:cNvSpPr txBox="1"/>
          <p:nvPr/>
        </p:nvSpPr>
        <p:spPr>
          <a:xfrm>
            <a:off x="7464625" y="2677410"/>
            <a:ext cx="417231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0.80</a:t>
            </a:r>
          </a:p>
        </p:txBody>
      </p:sp>
      <p:sp>
        <p:nvSpPr>
          <p:cNvPr id="85" name="TextBox 66">
            <a:extLst>
              <a:ext uri="{FF2B5EF4-FFF2-40B4-BE49-F238E27FC236}">
                <a16:creationId xmlns:a16="http://schemas.microsoft.com/office/drawing/2014/main" id="{825BDCEB-7AD4-90BA-4EB0-F100D04B86D5}"/>
              </a:ext>
            </a:extLst>
          </p:cNvPr>
          <p:cNvSpPr txBox="1"/>
          <p:nvPr/>
        </p:nvSpPr>
        <p:spPr>
          <a:xfrm>
            <a:off x="397973" y="3786952"/>
            <a:ext cx="3597149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→ 정상 기준 대비 전압 이탈이 최상위 기여 · 버닝(고온·과전류) 신호가 뒤를 이음</a:t>
            </a:r>
          </a:p>
        </p:txBody>
      </p:sp>
      <p:grpSp>
        <p:nvGrpSpPr>
          <p:cNvPr id="86" name="Group 67">
            <a:extLst>
              <a:ext uri="{FF2B5EF4-FFF2-40B4-BE49-F238E27FC236}">
                <a16:creationId xmlns:a16="http://schemas.microsoft.com/office/drawing/2014/main" id="{BA7AE7FF-9A01-753F-1F83-AE07497C3D5F}"/>
              </a:ext>
            </a:extLst>
          </p:cNvPr>
          <p:cNvGrpSpPr/>
          <p:nvPr/>
        </p:nvGrpSpPr>
        <p:grpSpPr>
          <a:xfrm>
            <a:off x="4574432" y="3231117"/>
            <a:ext cx="5546305" cy="820013"/>
            <a:chOff x="0" y="0"/>
            <a:chExt cx="14790145" cy="2186700"/>
          </a:xfrm>
        </p:grpSpPr>
        <p:grpSp>
          <p:nvGrpSpPr>
            <p:cNvPr id="87" name="Group 68">
              <a:extLst>
                <a:ext uri="{FF2B5EF4-FFF2-40B4-BE49-F238E27FC236}">
                  <a16:creationId xmlns:a16="http://schemas.microsoft.com/office/drawing/2014/main" id="{8114CFA7-117B-DC4F-0F89-038FDE36B89C}"/>
                </a:ext>
              </a:extLst>
            </p:cNvPr>
            <p:cNvGrpSpPr/>
            <p:nvPr/>
          </p:nvGrpSpPr>
          <p:grpSpPr>
            <a:xfrm>
              <a:off x="0" y="0"/>
              <a:ext cx="11112347" cy="2186700"/>
              <a:chOff x="0" y="0"/>
              <a:chExt cx="22688452" cy="4464658"/>
            </a:xfrm>
          </p:grpSpPr>
          <p:sp>
            <p:nvSpPr>
              <p:cNvPr id="94" name="Freeform 69">
                <a:extLst>
                  <a:ext uri="{FF2B5EF4-FFF2-40B4-BE49-F238E27FC236}">
                    <a16:creationId xmlns:a16="http://schemas.microsoft.com/office/drawing/2014/main" id="{73590320-80B5-6543-D8C5-643D04307E31}"/>
                  </a:ext>
                </a:extLst>
              </p:cNvPr>
              <p:cNvSpPr/>
              <p:nvPr/>
            </p:nvSpPr>
            <p:spPr>
              <a:xfrm>
                <a:off x="0" y="0"/>
                <a:ext cx="22688490" cy="4464696"/>
              </a:xfrm>
              <a:custGeom>
                <a:avLst/>
                <a:gdLst/>
                <a:ahLst/>
                <a:cxnLst/>
                <a:rect l="l" t="t" r="r" b="b"/>
                <a:pathLst>
                  <a:path w="22688490" h="4464696">
                    <a:moveTo>
                      <a:pt x="0" y="744180"/>
                    </a:moveTo>
                    <a:cubicBezTo>
                      <a:pt x="0" y="333283"/>
                      <a:pt x="131561" y="0"/>
                      <a:pt x="293760" y="0"/>
                    </a:cubicBezTo>
                    <a:lnTo>
                      <a:pt x="22394731" y="0"/>
                    </a:lnTo>
                    <a:cubicBezTo>
                      <a:pt x="22556930" y="0"/>
                      <a:pt x="22688490" y="333283"/>
                      <a:pt x="22688490" y="744180"/>
                    </a:cubicBezTo>
                    <a:lnTo>
                      <a:pt x="22688490" y="3720576"/>
                    </a:lnTo>
                    <a:cubicBezTo>
                      <a:pt x="22688490" y="4131473"/>
                      <a:pt x="22556930" y="4464696"/>
                      <a:pt x="22394731" y="4464696"/>
                    </a:cubicBezTo>
                    <a:lnTo>
                      <a:pt x="293760" y="4464696"/>
                    </a:lnTo>
                    <a:cubicBezTo>
                      <a:pt x="131561" y="4464696"/>
                      <a:pt x="0" y="4131473"/>
                      <a:pt x="0" y="3720576"/>
                    </a:cubicBezTo>
                    <a:close/>
                  </a:path>
                </a:pathLst>
              </a:custGeom>
              <a:solidFill>
                <a:srgbClr val="EDEFE3"/>
              </a:solidFill>
            </p:spPr>
          </p:sp>
        </p:grpSp>
        <p:grpSp>
          <p:nvGrpSpPr>
            <p:cNvPr id="88" name="Group 70">
              <a:extLst>
                <a:ext uri="{FF2B5EF4-FFF2-40B4-BE49-F238E27FC236}">
                  <a16:creationId xmlns:a16="http://schemas.microsoft.com/office/drawing/2014/main" id="{B3F0F494-ED07-299C-0BE0-CF6A18CF480D}"/>
                </a:ext>
              </a:extLst>
            </p:cNvPr>
            <p:cNvGrpSpPr/>
            <p:nvPr/>
          </p:nvGrpSpPr>
          <p:grpSpPr>
            <a:xfrm>
              <a:off x="779776" y="698946"/>
              <a:ext cx="14010369" cy="494141"/>
              <a:chOff x="0" y="0"/>
              <a:chExt cx="14010369" cy="494141"/>
            </a:xfrm>
          </p:grpSpPr>
          <p:sp>
            <p:nvSpPr>
              <p:cNvPr id="92" name="Freeform 71">
                <a:extLst>
                  <a:ext uri="{FF2B5EF4-FFF2-40B4-BE49-F238E27FC236}">
                    <a16:creationId xmlns:a16="http://schemas.microsoft.com/office/drawing/2014/main" id="{A2780EC3-79C8-80AC-09E5-FB0E06D9E562}"/>
                  </a:ext>
                </a:extLst>
              </p:cNvPr>
              <p:cNvSpPr/>
              <p:nvPr/>
            </p:nvSpPr>
            <p:spPr>
              <a:xfrm>
                <a:off x="0" y="0"/>
                <a:ext cx="14010374" cy="494145"/>
              </a:xfrm>
              <a:custGeom>
                <a:avLst/>
                <a:gdLst/>
                <a:ahLst/>
                <a:cxnLst/>
                <a:rect l="l" t="t" r="r" b="b"/>
                <a:pathLst>
                  <a:path w="14010374" h="494145">
                    <a:moveTo>
                      <a:pt x="0" y="0"/>
                    </a:moveTo>
                    <a:lnTo>
                      <a:pt x="14010374" y="0"/>
                    </a:lnTo>
                    <a:lnTo>
                      <a:pt x="14010374" y="494145"/>
                    </a:lnTo>
                    <a:lnTo>
                      <a:pt x="0" y="494145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404228" r="2024" b="-578310"/>
                </a:stretch>
              </a:blipFill>
            </p:spPr>
          </p:sp>
          <p:sp>
            <p:nvSpPr>
              <p:cNvPr id="93" name="TextBox 72">
                <a:extLst>
                  <a:ext uri="{FF2B5EF4-FFF2-40B4-BE49-F238E27FC236}">
                    <a16:creationId xmlns:a16="http://schemas.microsoft.com/office/drawing/2014/main" id="{93BF9DE0-F07F-CC43-6F1B-3B9B51AD4E1B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4010369" cy="51319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021"/>
                  </a:lnSpc>
                </a:pPr>
                <a:r>
                  <a:rPr lang="en-US" sz="851">
                    <a:solidFill>
                      <a:srgbClr val="626F47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"/>
                  </a:rPr>
                  <a:t> </a:t>
                </a:r>
                <a:r>
                  <a:rPr lang="en-US" sz="851">
                    <a:solidFill>
                      <a:srgbClr val="000000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"/>
                  </a:rPr>
                  <a:t>올바른 해석  전압이 전력보다 중요하다가 아니라 </a:t>
                </a:r>
                <a:r>
                  <a:rPr lang="en-US" sz="851">
                    <a:solidFill>
                      <a:srgbClr val="4C5733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"/>
                  </a:rPr>
                  <a:t>전압 이탈이 가장 강한 신호</a:t>
                </a:r>
              </a:p>
            </p:txBody>
          </p:sp>
        </p:grpSp>
        <p:grpSp>
          <p:nvGrpSpPr>
            <p:cNvPr id="89" name="Group 73">
              <a:extLst>
                <a:ext uri="{FF2B5EF4-FFF2-40B4-BE49-F238E27FC236}">
                  <a16:creationId xmlns:a16="http://schemas.microsoft.com/office/drawing/2014/main" id="{96B8D680-7966-7A1F-09C8-CB16DF6C4980}"/>
                </a:ext>
              </a:extLst>
            </p:cNvPr>
            <p:cNvGrpSpPr/>
            <p:nvPr/>
          </p:nvGrpSpPr>
          <p:grpSpPr>
            <a:xfrm>
              <a:off x="1018144" y="1212933"/>
              <a:ext cx="6041718" cy="405662"/>
              <a:chOff x="0" y="0"/>
              <a:chExt cx="7348227" cy="493386"/>
            </a:xfrm>
          </p:grpSpPr>
          <p:sp>
            <p:nvSpPr>
              <p:cNvPr id="90" name="Freeform 74">
                <a:extLst>
                  <a:ext uri="{FF2B5EF4-FFF2-40B4-BE49-F238E27FC236}">
                    <a16:creationId xmlns:a16="http://schemas.microsoft.com/office/drawing/2014/main" id="{E1901250-B60C-C805-603F-BAE8FADE696F}"/>
                  </a:ext>
                </a:extLst>
              </p:cNvPr>
              <p:cNvSpPr/>
              <p:nvPr/>
            </p:nvSpPr>
            <p:spPr>
              <a:xfrm>
                <a:off x="0" y="0"/>
                <a:ext cx="7348232" cy="493390"/>
              </a:xfrm>
              <a:custGeom>
                <a:avLst/>
                <a:gdLst/>
                <a:ahLst/>
                <a:cxnLst/>
                <a:rect l="l" t="t" r="r" b="b"/>
                <a:pathLst>
                  <a:path w="7348232" h="493390">
                    <a:moveTo>
                      <a:pt x="0" y="0"/>
                    </a:moveTo>
                    <a:lnTo>
                      <a:pt x="7348232" y="0"/>
                    </a:lnTo>
                    <a:lnTo>
                      <a:pt x="7348232" y="493390"/>
                    </a:lnTo>
                    <a:lnTo>
                      <a:pt x="0" y="49339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404846" r="-86803" b="-579348"/>
                </a:stretch>
              </a:blipFill>
            </p:spPr>
          </p:sp>
          <p:sp>
            <p:nvSpPr>
              <p:cNvPr id="91" name="TextBox 75">
                <a:extLst>
                  <a:ext uri="{FF2B5EF4-FFF2-40B4-BE49-F238E27FC236}">
                    <a16:creationId xmlns:a16="http://schemas.microsoft.com/office/drawing/2014/main" id="{712387D5-36B7-5AAB-50F5-6758ED4F6B27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348227" cy="51243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840"/>
                  </a:lnSpc>
                </a:pPr>
                <a:r>
                  <a:rPr lang="en-US" sz="701">
                    <a:solidFill>
                      <a:srgbClr val="626F47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"/>
                  </a:rPr>
                  <a:t> ※ 다중공선성으로 제외된 변수의 기여도는 0이 될 수 있음</a:t>
                </a:r>
              </a:p>
            </p:txBody>
          </p:sp>
        </p:grpSp>
      </p:grpSp>
      <p:pic>
        <p:nvPicPr>
          <p:cNvPr id="95" name="Image 1" descr="preencoded.png">
            <a:extLst>
              <a:ext uri="{FF2B5EF4-FFF2-40B4-BE49-F238E27FC236}">
                <a16:creationId xmlns:a16="http://schemas.microsoft.com/office/drawing/2014/main" id="{EDD5E773-16A6-24B5-125C-56D083B5CC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96" name="Text 2">
            <a:extLst>
              <a:ext uri="{FF2B5EF4-FFF2-40B4-BE49-F238E27FC236}">
                <a16:creationId xmlns:a16="http://schemas.microsoft.com/office/drawing/2014/main" id="{24BDDD03-AC0D-FA65-60F7-380EA2AB8907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63256CFE-B646-0FCB-0E00-75FE66F2E4E0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617346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107F-8DD4-17D7-6146-23F324AF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0619B33-C6AE-28A8-88B5-97E970C36C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BE39356-D65A-A6C8-D276-E8890E723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7657B0B-370C-3B48-6F87-2361599A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E9E43C3D-EF35-E2C9-EEE6-AEDF99D2EB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E89D76B-42BA-E0A7-C973-7C3BAA3367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9B8C7EC3-A473-FB84-ED88-4D43154B5D6A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이상탐지 알고리즘 비교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C8B51101-7A7F-0F77-5222-A96D1B3E34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E4F01DE5-7679-5EE2-85EB-C7E3F2A9E1E1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0D5E340B-0570-9F10-1894-DC4CB02AA6E1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603ECC15-1B2E-80C3-37D2-0B999E387779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60B19572-8C61-E1F2-8E15-3987945228BA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F1FED601-31A5-D91D-4EC6-DE476D51C554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B4295866-4E1B-11F6-EF67-9A34CF9442B6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2A090029-B21D-EDF7-1C43-349DF68C1722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27502201-1012-1E14-D985-6723F53855BE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A2BDAF40-2C91-588E-748F-D4C72B282978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부품 판정엔 이상행 비율 지표 + LOF가 최적 — 불량을 완벽 분리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8D22A7C6-8755-4D12-6E31-C779FD8244EC}"/>
              </a:ext>
            </a:extLst>
          </p:cNvPr>
          <p:cNvGrpSpPr/>
          <p:nvPr/>
        </p:nvGrpSpPr>
        <p:grpSpPr>
          <a:xfrm>
            <a:off x="5675998" y="4361665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2737B1BE-A13B-3E45-5D00-44B02846D12C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1302A1D1-A03B-F203-F1A8-75815A407572}"/>
              </a:ext>
            </a:extLst>
          </p:cNvPr>
          <p:cNvGrpSpPr/>
          <p:nvPr/>
        </p:nvGrpSpPr>
        <p:grpSpPr>
          <a:xfrm>
            <a:off x="6485878" y="4118020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51AB2F75-82F3-EAFC-8B74-3FAFCBF4002C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9743B3A2-AFA2-95FB-592A-CB59FBBFB1B7}"/>
                </a:ext>
              </a:extLst>
            </p:cNvPr>
            <p:cNvSpPr txBox="1"/>
            <p:nvPr/>
          </p:nvSpPr>
          <p:spPr>
            <a:xfrm>
              <a:off x="0" y="-38100"/>
              <a:ext cx="5948248" cy="1776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23"/>
                </a:lnSpc>
              </a:pPr>
              <a:r>
                <a:rPr lang="en-US" sz="152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LOF 채택 (AUC 1.000)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23144B50-CEC1-0785-69A9-01E68AC14B46}"/>
              </a:ext>
            </a:extLst>
          </p:cNvPr>
          <p:cNvGrpSpPr/>
          <p:nvPr/>
        </p:nvGrpSpPr>
        <p:grpSpPr>
          <a:xfrm>
            <a:off x="377486" y="967610"/>
            <a:ext cx="2859993" cy="288261"/>
            <a:chOff x="0" y="0"/>
            <a:chExt cx="7626646" cy="768697"/>
          </a:xfrm>
        </p:grpSpPr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82629D91-4728-E7DC-D719-452957851695}"/>
                </a:ext>
              </a:extLst>
            </p:cNvPr>
            <p:cNvGrpSpPr/>
            <p:nvPr/>
          </p:nvGrpSpPr>
          <p:grpSpPr>
            <a:xfrm>
              <a:off x="0" y="0"/>
              <a:ext cx="7569619" cy="768693"/>
              <a:chOff x="0" y="0"/>
              <a:chExt cx="7569619" cy="768693"/>
            </a:xfrm>
          </p:grpSpPr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78F762C1-323F-BAC7-B5A2-BB688430DFEF}"/>
                  </a:ext>
                </a:extLst>
              </p:cNvPr>
              <p:cNvSpPr/>
              <p:nvPr/>
            </p:nvSpPr>
            <p:spPr>
              <a:xfrm>
                <a:off x="0" y="0"/>
                <a:ext cx="7569619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7569619" h="768731">
                    <a:moveTo>
                      <a:pt x="0" y="128143"/>
                    </a:moveTo>
                    <a:cubicBezTo>
                      <a:pt x="0" y="57404"/>
                      <a:pt x="42396" y="0"/>
                      <a:pt x="94640" y="0"/>
                    </a:cubicBezTo>
                    <a:lnTo>
                      <a:pt x="7474979" y="0"/>
                    </a:lnTo>
                    <a:cubicBezTo>
                      <a:pt x="7527223" y="0"/>
                      <a:pt x="7569619" y="57404"/>
                      <a:pt x="7569619" y="128143"/>
                    </a:cubicBezTo>
                    <a:lnTo>
                      <a:pt x="7569619" y="640588"/>
                    </a:lnTo>
                    <a:cubicBezTo>
                      <a:pt x="7569619" y="711327"/>
                      <a:pt x="7527223" y="768731"/>
                      <a:pt x="7474979" y="768731"/>
                    </a:cubicBezTo>
                    <a:lnTo>
                      <a:pt x="94640" y="768731"/>
                    </a:lnTo>
                    <a:cubicBezTo>
                      <a:pt x="42396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4" name="Group 39">
              <a:extLst>
                <a:ext uri="{FF2B5EF4-FFF2-40B4-BE49-F238E27FC236}">
                  <a16:creationId xmlns:a16="http://schemas.microsoft.com/office/drawing/2014/main" id="{9862214A-E3E8-B94E-CE30-4654D6D3F59E}"/>
                </a:ext>
              </a:extLst>
            </p:cNvPr>
            <p:cNvGrpSpPr/>
            <p:nvPr/>
          </p:nvGrpSpPr>
          <p:grpSpPr>
            <a:xfrm>
              <a:off x="276648" y="0"/>
              <a:ext cx="7349998" cy="768697"/>
              <a:chOff x="0" y="0"/>
              <a:chExt cx="7349998" cy="768697"/>
            </a:xfrm>
          </p:grpSpPr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3F6E8943-FD9E-9892-EFD9-25783A6F6876}"/>
                  </a:ext>
                </a:extLst>
              </p:cNvPr>
              <p:cNvSpPr/>
              <p:nvPr/>
            </p:nvSpPr>
            <p:spPr>
              <a:xfrm>
                <a:off x="0" y="0"/>
                <a:ext cx="7349998" cy="768700"/>
              </a:xfrm>
              <a:custGeom>
                <a:avLst/>
                <a:gdLst/>
                <a:ahLst/>
                <a:cxnLst/>
                <a:rect l="l" t="t" r="r" b="b"/>
                <a:pathLst>
                  <a:path w="7349998" h="768700">
                    <a:moveTo>
                      <a:pt x="0" y="0"/>
                    </a:moveTo>
                    <a:lnTo>
                      <a:pt x="7349998" y="0"/>
                    </a:lnTo>
                    <a:lnTo>
                      <a:pt x="7349998" y="768700"/>
                    </a:lnTo>
                    <a:lnTo>
                      <a:pt x="0" y="7687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200521" r="-34465" b="-200520"/>
                </a:stretch>
              </a:blipFill>
            </p:spPr>
          </p:sp>
          <p:sp>
            <p:nvSpPr>
              <p:cNvPr id="26" name="TextBox 41">
                <a:extLst>
                  <a:ext uri="{FF2B5EF4-FFF2-40B4-BE49-F238E27FC236}">
                    <a16:creationId xmlns:a16="http://schemas.microsoft.com/office/drawing/2014/main" id="{9436B9BE-4B37-C08D-86E9-2DD38C499B4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349998" cy="797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이상행 비율 AUC 비교 </a:t>
                </a:r>
              </a:p>
            </p:txBody>
          </p:sp>
        </p:grpSp>
      </p:grpSp>
      <p:sp>
        <p:nvSpPr>
          <p:cNvPr id="28" name="TextBox 42">
            <a:extLst>
              <a:ext uri="{FF2B5EF4-FFF2-40B4-BE49-F238E27FC236}">
                <a16:creationId xmlns:a16="http://schemas.microsoft.com/office/drawing/2014/main" id="{D596F08F-97DF-3596-8BE5-3A6A04BA12F3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정상 시퀀스만 학습 · 기계별 분리 · 행 단위 이상 점수 집계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grpSp>
        <p:nvGrpSpPr>
          <p:cNvPr id="29" name="Group 43">
            <a:extLst>
              <a:ext uri="{FF2B5EF4-FFF2-40B4-BE49-F238E27FC236}">
                <a16:creationId xmlns:a16="http://schemas.microsoft.com/office/drawing/2014/main" id="{589F6A3C-7672-8CF3-9EF0-E0A46872E1C8}"/>
              </a:ext>
            </a:extLst>
          </p:cNvPr>
          <p:cNvGrpSpPr/>
          <p:nvPr/>
        </p:nvGrpSpPr>
        <p:grpSpPr>
          <a:xfrm>
            <a:off x="377486" y="1322546"/>
            <a:ext cx="4358236" cy="2605421"/>
            <a:chOff x="0" y="0"/>
            <a:chExt cx="11621961" cy="6947790"/>
          </a:xfrm>
        </p:grpSpPr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999EB955-FEBB-D898-57BF-BDD48ED36AB5}"/>
                </a:ext>
              </a:extLst>
            </p:cNvPr>
            <p:cNvSpPr/>
            <p:nvPr/>
          </p:nvSpPr>
          <p:spPr>
            <a:xfrm>
              <a:off x="1833067" y="0"/>
              <a:ext cx="9788894" cy="6947790"/>
            </a:xfrm>
            <a:custGeom>
              <a:avLst/>
              <a:gdLst/>
              <a:ahLst/>
              <a:cxnLst/>
              <a:rect l="l" t="t" r="r" b="b"/>
              <a:pathLst>
                <a:path w="9788894" h="6947790">
                  <a:moveTo>
                    <a:pt x="0" y="0"/>
                  </a:moveTo>
                  <a:lnTo>
                    <a:pt x="9788893" y="0"/>
                  </a:lnTo>
                  <a:lnTo>
                    <a:pt x="9788893" y="6947790"/>
                  </a:lnTo>
                  <a:lnTo>
                    <a:pt x="0" y="6947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31" name="TextBox 45">
              <a:extLst>
                <a:ext uri="{FF2B5EF4-FFF2-40B4-BE49-F238E27FC236}">
                  <a16:creationId xmlns:a16="http://schemas.microsoft.com/office/drawing/2014/main" id="{2E61D442-E3B6-1422-CD95-1B74CD58E659}"/>
                </a:ext>
              </a:extLst>
            </p:cNvPr>
            <p:cNvSpPr txBox="1"/>
            <p:nvPr/>
          </p:nvSpPr>
          <p:spPr>
            <a:xfrm>
              <a:off x="643909" y="802904"/>
              <a:ext cx="1189160" cy="355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9"/>
                </a:lnSpc>
                <a:spcBef>
                  <a:spcPct val="0"/>
                </a:spcBef>
              </a:pPr>
              <a:r>
                <a:rPr lang="en-US" sz="882" b="1">
                  <a:solidFill>
                    <a:srgbClr val="8B94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평균 온도</a:t>
              </a:r>
            </a:p>
          </p:txBody>
        </p:sp>
        <p:sp>
          <p:nvSpPr>
            <p:cNvPr id="64" name="TextBox 46">
              <a:extLst>
                <a:ext uri="{FF2B5EF4-FFF2-40B4-BE49-F238E27FC236}">
                  <a16:creationId xmlns:a16="http://schemas.microsoft.com/office/drawing/2014/main" id="{F657D1F2-BF2A-3485-BEB5-A40E575AD694}"/>
                </a:ext>
              </a:extLst>
            </p:cNvPr>
            <p:cNvSpPr txBox="1"/>
            <p:nvPr/>
          </p:nvSpPr>
          <p:spPr>
            <a:xfrm>
              <a:off x="643909" y="5386358"/>
              <a:ext cx="1189160" cy="355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9"/>
                </a:lnSpc>
                <a:spcBef>
                  <a:spcPct val="0"/>
                </a:spcBef>
              </a:pPr>
              <a:r>
                <a:rPr lang="en-US" sz="882" b="1">
                  <a:solidFill>
                    <a:srgbClr val="8B94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평균 전력</a:t>
              </a:r>
            </a:p>
          </p:txBody>
        </p:sp>
        <p:sp>
          <p:nvSpPr>
            <p:cNvPr id="65" name="TextBox 47">
              <a:extLst>
                <a:ext uri="{FF2B5EF4-FFF2-40B4-BE49-F238E27FC236}">
                  <a16:creationId xmlns:a16="http://schemas.microsoft.com/office/drawing/2014/main" id="{D1777160-4C58-2705-8F5B-B5C8FC953E67}"/>
                </a:ext>
              </a:extLst>
            </p:cNvPr>
            <p:cNvSpPr txBox="1"/>
            <p:nvPr/>
          </p:nvSpPr>
          <p:spPr>
            <a:xfrm>
              <a:off x="0" y="3092403"/>
              <a:ext cx="1833066" cy="3553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9"/>
                </a:lnSpc>
                <a:spcBef>
                  <a:spcPct val="0"/>
                </a:spcBef>
              </a:pPr>
              <a:r>
                <a:rPr lang="en-US" sz="882" b="1">
                  <a:solidFill>
                    <a:srgbClr val="8B946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고온 구간 전류</a:t>
              </a:r>
            </a:p>
          </p:txBody>
        </p:sp>
      </p:grpSp>
      <p:grpSp>
        <p:nvGrpSpPr>
          <p:cNvPr id="66" name="Group 48">
            <a:extLst>
              <a:ext uri="{FF2B5EF4-FFF2-40B4-BE49-F238E27FC236}">
                <a16:creationId xmlns:a16="http://schemas.microsoft.com/office/drawing/2014/main" id="{7E58FE18-0548-0E51-7714-C017047B56FE}"/>
              </a:ext>
            </a:extLst>
          </p:cNvPr>
          <p:cNvGrpSpPr/>
          <p:nvPr/>
        </p:nvGrpSpPr>
        <p:grpSpPr>
          <a:xfrm>
            <a:off x="5307763" y="1001084"/>
            <a:ext cx="3463615" cy="2854999"/>
            <a:chOff x="0" y="0"/>
            <a:chExt cx="9236306" cy="7613329"/>
          </a:xfrm>
        </p:grpSpPr>
        <p:grpSp>
          <p:nvGrpSpPr>
            <p:cNvPr id="67" name="Group 49">
              <a:extLst>
                <a:ext uri="{FF2B5EF4-FFF2-40B4-BE49-F238E27FC236}">
                  <a16:creationId xmlns:a16="http://schemas.microsoft.com/office/drawing/2014/main" id="{E706D421-395E-CC93-D726-13C9A21A4F13}"/>
                </a:ext>
              </a:extLst>
            </p:cNvPr>
            <p:cNvGrpSpPr/>
            <p:nvPr/>
          </p:nvGrpSpPr>
          <p:grpSpPr>
            <a:xfrm>
              <a:off x="0" y="0"/>
              <a:ext cx="9236306" cy="2370334"/>
              <a:chOff x="0" y="0"/>
              <a:chExt cx="9236306" cy="2370334"/>
            </a:xfrm>
          </p:grpSpPr>
          <p:sp>
            <p:nvSpPr>
              <p:cNvPr id="83" name="Freeform 50">
                <a:extLst>
                  <a:ext uri="{FF2B5EF4-FFF2-40B4-BE49-F238E27FC236}">
                    <a16:creationId xmlns:a16="http://schemas.microsoft.com/office/drawing/2014/main" id="{0CC03A72-01CF-26D6-60FA-D1A7D0A6BEA6}"/>
                  </a:ext>
                </a:extLst>
              </p:cNvPr>
              <p:cNvSpPr/>
              <p:nvPr/>
            </p:nvSpPr>
            <p:spPr>
              <a:xfrm>
                <a:off x="0" y="0"/>
                <a:ext cx="9236284" cy="2370372"/>
              </a:xfrm>
              <a:custGeom>
                <a:avLst/>
                <a:gdLst/>
                <a:ahLst/>
                <a:cxnLst/>
                <a:rect l="l" t="t" r="r" b="b"/>
                <a:pathLst>
                  <a:path w="9236284" h="2370372">
                    <a:moveTo>
                      <a:pt x="0" y="94809"/>
                    </a:moveTo>
                    <a:cubicBezTo>
                      <a:pt x="0" y="42462"/>
                      <a:pt x="109063" y="0"/>
                      <a:pt x="243513" y="0"/>
                    </a:cubicBezTo>
                    <a:lnTo>
                      <a:pt x="8992771" y="0"/>
                    </a:lnTo>
                    <a:cubicBezTo>
                      <a:pt x="9127221" y="0"/>
                      <a:pt x="9236284" y="42462"/>
                      <a:pt x="9236284" y="94809"/>
                    </a:cubicBezTo>
                    <a:lnTo>
                      <a:pt x="9236284" y="2275538"/>
                    </a:lnTo>
                    <a:cubicBezTo>
                      <a:pt x="9236284" y="2327884"/>
                      <a:pt x="9127221" y="2370372"/>
                      <a:pt x="8992771" y="2370372"/>
                    </a:cubicBezTo>
                    <a:lnTo>
                      <a:pt x="243513" y="2370372"/>
                    </a:lnTo>
                    <a:cubicBezTo>
                      <a:pt x="109063" y="2370373"/>
                      <a:pt x="0" y="2327884"/>
                      <a:pt x="0" y="2275538"/>
                    </a:cubicBezTo>
                    <a:close/>
                  </a:path>
                </a:pathLst>
              </a:custGeom>
              <a:solidFill>
                <a:srgbClr val="626F47"/>
              </a:solidFill>
              <a:ln w="23831" cap="sq">
                <a:solidFill>
                  <a:srgbClr val="626F47"/>
                </a:solidFill>
                <a:prstDash val="solid"/>
                <a:miter/>
              </a:ln>
            </p:spPr>
          </p:sp>
        </p:grpSp>
        <p:sp>
          <p:nvSpPr>
            <p:cNvPr id="68" name="TextBox 51">
              <a:extLst>
                <a:ext uri="{FF2B5EF4-FFF2-40B4-BE49-F238E27FC236}">
                  <a16:creationId xmlns:a16="http://schemas.microsoft.com/office/drawing/2014/main" id="{73E1CA3B-EC7F-8FD1-D3CD-CCC479A4B76D}"/>
                </a:ext>
              </a:extLst>
            </p:cNvPr>
            <p:cNvSpPr txBox="1"/>
            <p:nvPr/>
          </p:nvSpPr>
          <p:spPr>
            <a:xfrm>
              <a:off x="359245" y="273320"/>
              <a:ext cx="3416101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채택 - LocalOutlierFactor</a:t>
              </a:r>
            </a:p>
          </p:txBody>
        </p:sp>
        <p:sp>
          <p:nvSpPr>
            <p:cNvPr id="69" name="TextBox 52">
              <a:extLst>
                <a:ext uri="{FF2B5EF4-FFF2-40B4-BE49-F238E27FC236}">
                  <a16:creationId xmlns:a16="http://schemas.microsoft.com/office/drawing/2014/main" id="{27F76891-2DF3-897D-0A1B-C48076BA2165}"/>
                </a:ext>
              </a:extLst>
            </p:cNvPr>
            <p:cNvSpPr txBox="1"/>
            <p:nvPr/>
          </p:nvSpPr>
          <p:spPr>
            <a:xfrm>
              <a:off x="359245" y="979232"/>
              <a:ext cx="2480453" cy="923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731"/>
                </a:lnSpc>
                <a:spcBef>
                  <a:spcPct val="0"/>
                </a:spcBef>
              </a:pPr>
              <a:r>
                <a:rPr lang="en-US" sz="2276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1.000</a:t>
              </a:r>
            </a:p>
          </p:txBody>
        </p:sp>
        <p:sp>
          <p:nvSpPr>
            <p:cNvPr id="70" name="TextBox 53">
              <a:extLst>
                <a:ext uri="{FF2B5EF4-FFF2-40B4-BE49-F238E27FC236}">
                  <a16:creationId xmlns:a16="http://schemas.microsoft.com/office/drawing/2014/main" id="{9E619676-F40D-E02F-C91C-9766E7282101}"/>
                </a:ext>
              </a:extLst>
            </p:cNvPr>
            <p:cNvSpPr txBox="1"/>
            <p:nvPr/>
          </p:nvSpPr>
          <p:spPr>
            <a:xfrm>
              <a:off x="2874440" y="1375168"/>
              <a:ext cx="733424" cy="410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1"/>
                </a:lnSpc>
                <a:spcBef>
                  <a:spcPct val="0"/>
                </a:spcBef>
              </a:pPr>
              <a:r>
                <a:rPr lang="en-US" sz="1026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AUC</a:t>
              </a:r>
            </a:p>
          </p:txBody>
        </p:sp>
        <p:grpSp>
          <p:nvGrpSpPr>
            <p:cNvPr id="71" name="Group 54">
              <a:extLst>
                <a:ext uri="{FF2B5EF4-FFF2-40B4-BE49-F238E27FC236}">
                  <a16:creationId xmlns:a16="http://schemas.microsoft.com/office/drawing/2014/main" id="{4828969E-4908-0A16-D153-BE975E3B6702}"/>
                </a:ext>
              </a:extLst>
            </p:cNvPr>
            <p:cNvGrpSpPr/>
            <p:nvPr/>
          </p:nvGrpSpPr>
          <p:grpSpPr>
            <a:xfrm>
              <a:off x="0" y="2569470"/>
              <a:ext cx="9236306" cy="1635135"/>
              <a:chOff x="0" y="0"/>
              <a:chExt cx="9236306" cy="1635135"/>
            </a:xfrm>
          </p:grpSpPr>
          <p:sp>
            <p:nvSpPr>
              <p:cNvPr id="82" name="Freeform 55">
                <a:extLst>
                  <a:ext uri="{FF2B5EF4-FFF2-40B4-BE49-F238E27FC236}">
                    <a16:creationId xmlns:a16="http://schemas.microsoft.com/office/drawing/2014/main" id="{C23E7A83-A010-C797-77E0-3551B526E8A2}"/>
                  </a:ext>
                </a:extLst>
              </p:cNvPr>
              <p:cNvSpPr/>
              <p:nvPr/>
            </p:nvSpPr>
            <p:spPr>
              <a:xfrm>
                <a:off x="0" y="0"/>
                <a:ext cx="9236284" cy="1635173"/>
              </a:xfrm>
              <a:custGeom>
                <a:avLst/>
                <a:gdLst/>
                <a:ahLst/>
                <a:cxnLst/>
                <a:rect l="l" t="t" r="r" b="b"/>
                <a:pathLst>
                  <a:path w="9236284" h="1635173">
                    <a:moveTo>
                      <a:pt x="0" y="65402"/>
                    </a:moveTo>
                    <a:cubicBezTo>
                      <a:pt x="0" y="29292"/>
                      <a:pt x="109063" y="0"/>
                      <a:pt x="243513" y="0"/>
                    </a:cubicBezTo>
                    <a:lnTo>
                      <a:pt x="8992771" y="0"/>
                    </a:lnTo>
                    <a:cubicBezTo>
                      <a:pt x="9127221" y="0"/>
                      <a:pt x="9236284" y="29292"/>
                      <a:pt x="9236284" y="65402"/>
                    </a:cubicBezTo>
                    <a:lnTo>
                      <a:pt x="9236284" y="1569742"/>
                    </a:lnTo>
                    <a:cubicBezTo>
                      <a:pt x="9236284" y="1605852"/>
                      <a:pt x="9127221" y="1635173"/>
                      <a:pt x="8992771" y="1635173"/>
                    </a:cubicBezTo>
                    <a:lnTo>
                      <a:pt x="243513" y="1635173"/>
                    </a:lnTo>
                    <a:cubicBezTo>
                      <a:pt x="109063" y="1635174"/>
                      <a:pt x="0" y="1605852"/>
                      <a:pt x="0" y="15697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31" cap="sq">
                <a:solidFill>
                  <a:srgbClr val="D9DBC8"/>
                </a:solidFill>
                <a:prstDash val="solid"/>
                <a:miter/>
              </a:ln>
            </p:spPr>
          </p:sp>
        </p:grpSp>
        <p:sp>
          <p:nvSpPr>
            <p:cNvPr id="72" name="TextBox 56">
              <a:extLst>
                <a:ext uri="{FF2B5EF4-FFF2-40B4-BE49-F238E27FC236}">
                  <a16:creationId xmlns:a16="http://schemas.microsoft.com/office/drawing/2014/main" id="{C725C75F-452B-77BA-582B-9D3EBFFFE23B}"/>
                </a:ext>
              </a:extLst>
            </p:cNvPr>
            <p:cNvSpPr txBox="1"/>
            <p:nvPr/>
          </p:nvSpPr>
          <p:spPr>
            <a:xfrm>
              <a:off x="290488" y="2822535"/>
              <a:ext cx="3945077" cy="3761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 dirty="0" err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OneClassSVM</a:t>
              </a:r>
              <a:r>
                <a:rPr lang="en-US" sz="926" b="1" dirty="0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 - 0.87</a:t>
              </a:r>
            </a:p>
          </p:txBody>
        </p:sp>
        <p:sp>
          <p:nvSpPr>
            <p:cNvPr id="73" name="TextBox 57">
              <a:extLst>
                <a:ext uri="{FF2B5EF4-FFF2-40B4-BE49-F238E27FC236}">
                  <a16:creationId xmlns:a16="http://schemas.microsoft.com/office/drawing/2014/main" id="{10B45312-B8CA-E700-ADC4-AC79557425EB}"/>
                </a:ext>
              </a:extLst>
            </p:cNvPr>
            <p:cNvSpPr txBox="1"/>
            <p:nvPr/>
          </p:nvSpPr>
          <p:spPr>
            <a:xfrm>
              <a:off x="290488" y="3476551"/>
              <a:ext cx="3553618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두 지표 모두 0.87로 안정적</a:t>
              </a:r>
            </a:p>
          </p:txBody>
        </p: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2603381D-1F0B-E1D9-C801-EDC8E961953F}"/>
                </a:ext>
              </a:extLst>
            </p:cNvPr>
            <p:cNvGrpSpPr/>
            <p:nvPr/>
          </p:nvGrpSpPr>
          <p:grpSpPr>
            <a:xfrm>
              <a:off x="0" y="5971077"/>
              <a:ext cx="9236306" cy="1642252"/>
              <a:chOff x="0" y="0"/>
              <a:chExt cx="9236306" cy="1642252"/>
            </a:xfrm>
          </p:grpSpPr>
          <p:sp>
            <p:nvSpPr>
              <p:cNvPr id="81" name="Freeform 59">
                <a:extLst>
                  <a:ext uri="{FF2B5EF4-FFF2-40B4-BE49-F238E27FC236}">
                    <a16:creationId xmlns:a16="http://schemas.microsoft.com/office/drawing/2014/main" id="{CF092648-4728-C16A-02AB-F7BEA1222D3B}"/>
                  </a:ext>
                </a:extLst>
              </p:cNvPr>
              <p:cNvSpPr/>
              <p:nvPr/>
            </p:nvSpPr>
            <p:spPr>
              <a:xfrm>
                <a:off x="0" y="0"/>
                <a:ext cx="9236284" cy="1642290"/>
              </a:xfrm>
              <a:custGeom>
                <a:avLst/>
                <a:gdLst/>
                <a:ahLst/>
                <a:cxnLst/>
                <a:rect l="l" t="t" r="r" b="b"/>
                <a:pathLst>
                  <a:path w="9236284" h="1642290">
                    <a:moveTo>
                      <a:pt x="0" y="65687"/>
                    </a:moveTo>
                    <a:cubicBezTo>
                      <a:pt x="0" y="29420"/>
                      <a:pt x="109063" y="0"/>
                      <a:pt x="243513" y="0"/>
                    </a:cubicBezTo>
                    <a:lnTo>
                      <a:pt x="8992771" y="0"/>
                    </a:lnTo>
                    <a:cubicBezTo>
                      <a:pt x="9127221" y="0"/>
                      <a:pt x="9236284" y="29420"/>
                      <a:pt x="9236284" y="65687"/>
                    </a:cubicBezTo>
                    <a:lnTo>
                      <a:pt x="9236284" y="1576574"/>
                    </a:lnTo>
                    <a:cubicBezTo>
                      <a:pt x="9236284" y="1612842"/>
                      <a:pt x="9127221" y="1642290"/>
                      <a:pt x="8992771" y="1642290"/>
                    </a:cubicBezTo>
                    <a:lnTo>
                      <a:pt x="243513" y="1642290"/>
                    </a:lnTo>
                    <a:cubicBezTo>
                      <a:pt x="109063" y="1642291"/>
                      <a:pt x="0" y="1612842"/>
                      <a:pt x="0" y="1576574"/>
                    </a:cubicBezTo>
                    <a:close/>
                  </a:path>
                </a:pathLst>
              </a:custGeom>
              <a:solidFill>
                <a:srgbClr val="E8F0D8"/>
              </a:solidFill>
              <a:ln w="23831" cap="sq">
                <a:solidFill>
                  <a:srgbClr val="C9D2A6"/>
                </a:solidFill>
                <a:prstDash val="solid"/>
                <a:miter/>
              </a:ln>
            </p:spPr>
          </p:sp>
        </p:grpSp>
        <p:sp>
          <p:nvSpPr>
            <p:cNvPr id="75" name="TextBox 60">
              <a:extLst>
                <a:ext uri="{FF2B5EF4-FFF2-40B4-BE49-F238E27FC236}">
                  <a16:creationId xmlns:a16="http://schemas.microsoft.com/office/drawing/2014/main" id="{69622911-E141-2AF2-3804-0D85840178A0}"/>
                </a:ext>
              </a:extLst>
            </p:cNvPr>
            <p:cNvSpPr txBox="1"/>
            <p:nvPr/>
          </p:nvSpPr>
          <p:spPr>
            <a:xfrm>
              <a:off x="290488" y="6395329"/>
              <a:ext cx="1240632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지표 선택</a:t>
              </a:r>
            </a:p>
          </p:txBody>
        </p:sp>
        <p:sp>
          <p:nvSpPr>
            <p:cNvPr id="76" name="TextBox 61">
              <a:extLst>
                <a:ext uri="{FF2B5EF4-FFF2-40B4-BE49-F238E27FC236}">
                  <a16:creationId xmlns:a16="http://schemas.microsoft.com/office/drawing/2014/main" id="{3A51CC74-6883-2071-ADD4-567E8EB7089D}"/>
                </a:ext>
              </a:extLst>
            </p:cNvPr>
            <p:cNvSpPr txBox="1"/>
            <p:nvPr/>
          </p:nvSpPr>
          <p:spPr>
            <a:xfrm>
              <a:off x="290488" y="6846177"/>
              <a:ext cx="3728669" cy="3077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31"/>
                </a:lnSpc>
                <a:spcBef>
                  <a:spcPct val="0"/>
                </a:spcBef>
              </a:pPr>
              <a:r>
                <a:rPr lang="en-US" sz="776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최대점수보다 이상행 비율에 비중</a:t>
              </a:r>
            </a:p>
          </p:txBody>
        </p:sp>
        <p:grpSp>
          <p:nvGrpSpPr>
            <p:cNvPr id="77" name="Group 62">
              <a:extLst>
                <a:ext uri="{FF2B5EF4-FFF2-40B4-BE49-F238E27FC236}">
                  <a16:creationId xmlns:a16="http://schemas.microsoft.com/office/drawing/2014/main" id="{07804DF5-9B62-3D7F-A742-7001C6523475}"/>
                </a:ext>
              </a:extLst>
            </p:cNvPr>
            <p:cNvGrpSpPr/>
            <p:nvPr/>
          </p:nvGrpSpPr>
          <p:grpSpPr>
            <a:xfrm>
              <a:off x="0" y="4263203"/>
              <a:ext cx="9236306" cy="1635135"/>
              <a:chOff x="0" y="0"/>
              <a:chExt cx="9236306" cy="1635135"/>
            </a:xfrm>
          </p:grpSpPr>
          <p:sp>
            <p:nvSpPr>
              <p:cNvPr id="80" name="Freeform 63">
                <a:extLst>
                  <a:ext uri="{FF2B5EF4-FFF2-40B4-BE49-F238E27FC236}">
                    <a16:creationId xmlns:a16="http://schemas.microsoft.com/office/drawing/2014/main" id="{73C8C888-9597-791A-A73D-CF239C23D18F}"/>
                  </a:ext>
                </a:extLst>
              </p:cNvPr>
              <p:cNvSpPr/>
              <p:nvPr/>
            </p:nvSpPr>
            <p:spPr>
              <a:xfrm>
                <a:off x="0" y="0"/>
                <a:ext cx="9236284" cy="1635173"/>
              </a:xfrm>
              <a:custGeom>
                <a:avLst/>
                <a:gdLst/>
                <a:ahLst/>
                <a:cxnLst/>
                <a:rect l="l" t="t" r="r" b="b"/>
                <a:pathLst>
                  <a:path w="9236284" h="1635173">
                    <a:moveTo>
                      <a:pt x="0" y="65402"/>
                    </a:moveTo>
                    <a:cubicBezTo>
                      <a:pt x="0" y="29292"/>
                      <a:pt x="109063" y="0"/>
                      <a:pt x="243513" y="0"/>
                    </a:cubicBezTo>
                    <a:lnTo>
                      <a:pt x="8992771" y="0"/>
                    </a:lnTo>
                    <a:cubicBezTo>
                      <a:pt x="9127221" y="0"/>
                      <a:pt x="9236284" y="29292"/>
                      <a:pt x="9236284" y="65402"/>
                    </a:cubicBezTo>
                    <a:lnTo>
                      <a:pt x="9236284" y="1569742"/>
                    </a:lnTo>
                    <a:cubicBezTo>
                      <a:pt x="9236284" y="1605852"/>
                      <a:pt x="9127221" y="1635173"/>
                      <a:pt x="8992771" y="1635173"/>
                    </a:cubicBezTo>
                    <a:lnTo>
                      <a:pt x="243513" y="1635173"/>
                    </a:lnTo>
                    <a:cubicBezTo>
                      <a:pt x="109063" y="1635174"/>
                      <a:pt x="0" y="1605852"/>
                      <a:pt x="0" y="15697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3831" cap="sq">
                <a:solidFill>
                  <a:srgbClr val="D9DBC8"/>
                </a:solidFill>
                <a:prstDash val="solid"/>
                <a:miter/>
              </a:ln>
            </p:spPr>
          </p:sp>
        </p:grpSp>
        <p:sp>
          <p:nvSpPr>
            <p:cNvPr id="78" name="TextBox 64">
              <a:extLst>
                <a:ext uri="{FF2B5EF4-FFF2-40B4-BE49-F238E27FC236}">
                  <a16:creationId xmlns:a16="http://schemas.microsoft.com/office/drawing/2014/main" id="{45AB2C78-689A-14C6-6E79-6F8F1431C29D}"/>
                </a:ext>
              </a:extLst>
            </p:cNvPr>
            <p:cNvSpPr txBox="1"/>
            <p:nvPr/>
          </p:nvSpPr>
          <p:spPr>
            <a:xfrm>
              <a:off x="290488" y="4506231"/>
              <a:ext cx="4087317" cy="3761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 dirty="0" err="1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IsolationForest</a:t>
              </a:r>
              <a:r>
                <a:rPr lang="en-US" sz="926" b="1" dirty="0">
                  <a:solidFill>
                    <a:srgbClr val="626F47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 - 0.507</a:t>
              </a:r>
            </a:p>
          </p:txBody>
        </p:sp>
        <p:sp>
          <p:nvSpPr>
            <p:cNvPr id="79" name="TextBox 65">
              <a:extLst>
                <a:ext uri="{FF2B5EF4-FFF2-40B4-BE49-F238E27FC236}">
                  <a16:creationId xmlns:a16="http://schemas.microsoft.com/office/drawing/2014/main" id="{EEB47B7B-83D0-111E-EED6-53A7662AFAF6}"/>
                </a:ext>
              </a:extLst>
            </p:cNvPr>
            <p:cNvSpPr txBox="1"/>
            <p:nvPr/>
          </p:nvSpPr>
          <p:spPr>
            <a:xfrm>
              <a:off x="290488" y="5153930"/>
              <a:ext cx="4497586" cy="3761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11"/>
                </a:lnSpc>
                <a:spcBef>
                  <a:spcPct val="0"/>
                </a:spcBef>
              </a:pPr>
              <a:r>
                <a:rPr lang="en-US" sz="9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이상행 비율 무작위 수준 → 부적합</a:t>
              </a:r>
            </a:p>
          </p:txBody>
        </p:sp>
      </p:grpSp>
      <p:pic>
        <p:nvPicPr>
          <p:cNvPr id="85" name="Image 1" descr="preencoded.png">
            <a:extLst>
              <a:ext uri="{FF2B5EF4-FFF2-40B4-BE49-F238E27FC236}">
                <a16:creationId xmlns:a16="http://schemas.microsoft.com/office/drawing/2014/main" id="{34A8791F-A35F-CA16-46A6-CE9FADE09D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6" name="Text 2">
            <a:extLst>
              <a:ext uri="{FF2B5EF4-FFF2-40B4-BE49-F238E27FC236}">
                <a16:creationId xmlns:a16="http://schemas.microsoft.com/office/drawing/2014/main" id="{2D5DB2E7-C8E0-670E-AEA2-33B5E1EFB307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87" name="Text 9">
            <a:extLst>
              <a:ext uri="{FF2B5EF4-FFF2-40B4-BE49-F238E27FC236}">
                <a16:creationId xmlns:a16="http://schemas.microsoft.com/office/drawing/2014/main" id="{DF586476-6A62-A933-7C4E-9416DE8F6892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263718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15F3-0631-0CDF-D615-93E9AA5B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C6F54B8-5D4F-571D-61D1-FA417573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227D9C3-EA7F-89F5-62A7-9FC5BB011F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7DEF142-F6ED-1DA8-F5B9-891F703DAA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7191521C-F6E2-1618-8A78-D16D574E37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8CD680B8-EC55-0B7D-7C66-56BDC97FF4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DC47DFB8-FDA0-F598-C51A-2BB3D8B81573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시퀀스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판정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이상행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비율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31CC54B8-FA7F-CBF0-46F2-F608ACB2480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C7C9FA0D-4191-5E23-7457-AD62FA11A90A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20B0E581-8189-84C7-6CC4-A07B3497F3EA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CAAB92E6-9ECD-4EAC-C5BF-27B531AB3AEB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9A1E426B-1A6B-3F18-1627-4D5F509AC004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2459B1E9-AFA1-F3BA-3FED-6CA4B0B1A753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0567B2B3-CA84-AD2F-5FEB-CFE8BAE0EAC3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7717310E-98EE-8EE4-5700-CD23E89FB9E9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8C5AC1A4-74F7-A23B-D2A6-FD43AD6F823B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4573A5FB-8AB0-9600-627C-303E9057CB12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이상행 비율로 불량 11 / 정상 89 완벽 분리 · Recall 우선 임계로 미탐 0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22B5A6AF-EE30-E922-4DA4-F561B2B926A2}"/>
              </a:ext>
            </a:extLst>
          </p:cNvPr>
          <p:cNvGrpSpPr/>
          <p:nvPr/>
        </p:nvGrpSpPr>
        <p:grpSpPr>
          <a:xfrm>
            <a:off x="586817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133D266E-3A54-7F0F-A046-4BE193787411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CDB1E645-8701-993F-578D-6D63BF4F8A05}"/>
              </a:ext>
            </a:extLst>
          </p:cNvPr>
          <p:cNvGrpSpPr/>
          <p:nvPr/>
        </p:nvGrpSpPr>
        <p:grpSpPr>
          <a:xfrm>
            <a:off x="6623142" y="4118020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9EDE63C1-7F3D-385A-8C8A-269E0880A35F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9A54B1E8-9AF4-815D-6C4D-7D895F356E5C}"/>
                </a:ext>
              </a:extLst>
            </p:cNvPr>
            <p:cNvSpPr txBox="1"/>
            <p:nvPr/>
          </p:nvSpPr>
          <p:spPr>
            <a:xfrm>
              <a:off x="0" y="-38100"/>
              <a:ext cx="5948248" cy="1776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부품 단위 판정 확정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7C780642-6EAF-2073-DF07-44302A099C08}"/>
              </a:ext>
            </a:extLst>
          </p:cNvPr>
          <p:cNvGrpSpPr/>
          <p:nvPr/>
        </p:nvGrpSpPr>
        <p:grpSpPr>
          <a:xfrm>
            <a:off x="377486" y="944458"/>
            <a:ext cx="2838607" cy="334564"/>
            <a:chOff x="0" y="0"/>
            <a:chExt cx="7569619" cy="892171"/>
          </a:xfrm>
        </p:grpSpPr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2FB0DF33-680E-1E43-2B32-8E0087481871}"/>
                </a:ext>
              </a:extLst>
            </p:cNvPr>
            <p:cNvGrpSpPr/>
            <p:nvPr/>
          </p:nvGrpSpPr>
          <p:grpSpPr>
            <a:xfrm>
              <a:off x="0" y="61739"/>
              <a:ext cx="7569619" cy="768693"/>
              <a:chOff x="0" y="0"/>
              <a:chExt cx="7569619" cy="768693"/>
            </a:xfrm>
          </p:grpSpPr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16392A10-E807-3268-D9BF-3487940D8027}"/>
                  </a:ext>
                </a:extLst>
              </p:cNvPr>
              <p:cNvSpPr/>
              <p:nvPr/>
            </p:nvSpPr>
            <p:spPr>
              <a:xfrm>
                <a:off x="0" y="0"/>
                <a:ext cx="7569619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7569619" h="768731">
                    <a:moveTo>
                      <a:pt x="0" y="128143"/>
                    </a:moveTo>
                    <a:cubicBezTo>
                      <a:pt x="0" y="57404"/>
                      <a:pt x="42396" y="0"/>
                      <a:pt x="94640" y="0"/>
                    </a:cubicBezTo>
                    <a:lnTo>
                      <a:pt x="7474979" y="0"/>
                    </a:lnTo>
                    <a:cubicBezTo>
                      <a:pt x="7527223" y="0"/>
                      <a:pt x="7569619" y="57404"/>
                      <a:pt x="7569619" y="128143"/>
                    </a:cubicBezTo>
                    <a:lnTo>
                      <a:pt x="7569619" y="640588"/>
                    </a:lnTo>
                    <a:cubicBezTo>
                      <a:pt x="7569619" y="711327"/>
                      <a:pt x="7527223" y="768731"/>
                      <a:pt x="7474979" y="768731"/>
                    </a:cubicBezTo>
                    <a:lnTo>
                      <a:pt x="94640" y="768731"/>
                    </a:lnTo>
                    <a:cubicBezTo>
                      <a:pt x="42396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4" name="Group 39">
              <a:extLst>
                <a:ext uri="{FF2B5EF4-FFF2-40B4-BE49-F238E27FC236}">
                  <a16:creationId xmlns:a16="http://schemas.microsoft.com/office/drawing/2014/main" id="{73E0AC8C-F0AE-6527-2C39-FCEB3163A9D0}"/>
                </a:ext>
              </a:extLst>
            </p:cNvPr>
            <p:cNvGrpSpPr/>
            <p:nvPr/>
          </p:nvGrpSpPr>
          <p:grpSpPr>
            <a:xfrm>
              <a:off x="219621" y="0"/>
              <a:ext cx="7349998" cy="892171"/>
              <a:chOff x="0" y="0"/>
              <a:chExt cx="7349998" cy="892171"/>
            </a:xfrm>
          </p:grpSpPr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BD7EE7B5-75DB-1907-7BA0-2893E1D0A946}"/>
                  </a:ext>
                </a:extLst>
              </p:cNvPr>
              <p:cNvSpPr/>
              <p:nvPr/>
            </p:nvSpPr>
            <p:spPr>
              <a:xfrm>
                <a:off x="0" y="0"/>
                <a:ext cx="7349998" cy="892175"/>
              </a:xfrm>
              <a:custGeom>
                <a:avLst/>
                <a:gdLst/>
                <a:ahLst/>
                <a:cxnLst/>
                <a:rect l="l" t="t" r="r" b="b"/>
                <a:pathLst>
                  <a:path w="7349998" h="892175">
                    <a:moveTo>
                      <a:pt x="0" y="0"/>
                    </a:moveTo>
                    <a:lnTo>
                      <a:pt x="7349998" y="0"/>
                    </a:lnTo>
                    <a:lnTo>
                      <a:pt x="7349998" y="892175"/>
                    </a:lnTo>
                    <a:lnTo>
                      <a:pt x="0" y="892175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172769" r="-34465" b="-158929"/>
                </a:stretch>
              </a:blipFill>
            </p:spPr>
          </p:sp>
          <p:sp>
            <p:nvSpPr>
              <p:cNvPr id="26" name="TextBox 41">
                <a:extLst>
                  <a:ext uri="{FF2B5EF4-FFF2-40B4-BE49-F238E27FC236}">
                    <a16:creationId xmlns:a16="http://schemas.microsoft.com/office/drawing/2014/main" id="{06F7855D-3FB3-3DFE-97AA-95B0E5E6801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349998" cy="9207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시퀀스 100개 이상행 비율 분포</a:t>
                </a:r>
              </a:p>
            </p:txBody>
          </p:sp>
        </p:grpSp>
      </p:grpSp>
      <p:sp>
        <p:nvSpPr>
          <p:cNvPr id="28" name="Freeform 42">
            <a:extLst>
              <a:ext uri="{FF2B5EF4-FFF2-40B4-BE49-F238E27FC236}">
                <a16:creationId xmlns:a16="http://schemas.microsoft.com/office/drawing/2014/main" id="{14249875-0AD2-E23D-4A1D-980C032D0A0B}"/>
              </a:ext>
            </a:extLst>
          </p:cNvPr>
          <p:cNvSpPr/>
          <p:nvPr/>
        </p:nvSpPr>
        <p:spPr>
          <a:xfrm>
            <a:off x="377486" y="1382169"/>
            <a:ext cx="4638128" cy="2621551"/>
          </a:xfrm>
          <a:custGeom>
            <a:avLst/>
            <a:gdLst/>
            <a:ahLst/>
            <a:cxnLst/>
            <a:rect l="l" t="t" r="r" b="b"/>
            <a:pathLst>
              <a:path w="9276256" h="5243101">
                <a:moveTo>
                  <a:pt x="0" y="0"/>
                </a:moveTo>
                <a:lnTo>
                  <a:pt x="9276255" y="0"/>
                </a:lnTo>
                <a:lnTo>
                  <a:pt x="9276255" y="5243101"/>
                </a:lnTo>
                <a:lnTo>
                  <a:pt x="0" y="52431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TextBox 43">
            <a:extLst>
              <a:ext uri="{FF2B5EF4-FFF2-40B4-BE49-F238E27FC236}">
                <a16:creationId xmlns:a16="http://schemas.microsoft.com/office/drawing/2014/main" id="{73F97E4A-2FAF-E412-E049-5C7A8836BA38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시퀀스별 이상행 비율 = 행 단위 이상 판정 비율 · 기계별 LOF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30" name="TextBox 44">
            <a:extLst>
              <a:ext uri="{FF2B5EF4-FFF2-40B4-BE49-F238E27FC236}">
                <a16:creationId xmlns:a16="http://schemas.microsoft.com/office/drawing/2014/main" id="{06D2EC98-AC50-11C0-F9A7-366D6A9812ED}"/>
              </a:ext>
            </a:extLst>
          </p:cNvPr>
          <p:cNvSpPr txBox="1"/>
          <p:nvPr/>
        </p:nvSpPr>
        <p:spPr>
          <a:xfrm>
            <a:off x="2477561" y="3937045"/>
            <a:ext cx="740867" cy="24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시퀀스 ( 0 ~ 99 )</a:t>
            </a:r>
          </a:p>
        </p:txBody>
      </p:sp>
      <p:grpSp>
        <p:nvGrpSpPr>
          <p:cNvPr id="31" name="Group 45">
            <a:extLst>
              <a:ext uri="{FF2B5EF4-FFF2-40B4-BE49-F238E27FC236}">
                <a16:creationId xmlns:a16="http://schemas.microsoft.com/office/drawing/2014/main" id="{33103E7D-0BA9-DC52-6FCB-BAB47E1DB5CE}"/>
              </a:ext>
            </a:extLst>
          </p:cNvPr>
          <p:cNvGrpSpPr/>
          <p:nvPr/>
        </p:nvGrpSpPr>
        <p:grpSpPr>
          <a:xfrm>
            <a:off x="5578750" y="944458"/>
            <a:ext cx="3192628" cy="782919"/>
            <a:chOff x="0" y="0"/>
            <a:chExt cx="8513673" cy="2087783"/>
          </a:xfrm>
        </p:grpSpPr>
        <p:grpSp>
          <p:nvGrpSpPr>
            <p:cNvPr id="64" name="Group 46">
              <a:extLst>
                <a:ext uri="{FF2B5EF4-FFF2-40B4-BE49-F238E27FC236}">
                  <a16:creationId xmlns:a16="http://schemas.microsoft.com/office/drawing/2014/main" id="{968B0ABF-B0C3-9C6F-F30E-377B26EBA3D6}"/>
                </a:ext>
              </a:extLst>
            </p:cNvPr>
            <p:cNvGrpSpPr/>
            <p:nvPr/>
          </p:nvGrpSpPr>
          <p:grpSpPr>
            <a:xfrm>
              <a:off x="0" y="0"/>
              <a:ext cx="8513673" cy="2087783"/>
              <a:chOff x="0" y="0"/>
              <a:chExt cx="1709028" cy="419100"/>
            </a:xfrm>
          </p:grpSpPr>
          <p:sp>
            <p:nvSpPr>
              <p:cNvPr id="70" name="Freeform 47">
                <a:extLst>
                  <a:ext uri="{FF2B5EF4-FFF2-40B4-BE49-F238E27FC236}">
                    <a16:creationId xmlns:a16="http://schemas.microsoft.com/office/drawing/2014/main" id="{68E25268-7352-0E04-935C-6F789D00CDB6}"/>
                  </a:ext>
                </a:extLst>
              </p:cNvPr>
              <p:cNvSpPr/>
              <p:nvPr/>
            </p:nvSpPr>
            <p:spPr>
              <a:xfrm>
                <a:off x="0" y="0"/>
                <a:ext cx="1709028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709028" h="419100">
                    <a:moveTo>
                      <a:pt x="23681" y="0"/>
                    </a:moveTo>
                    <a:lnTo>
                      <a:pt x="1685347" y="0"/>
                    </a:lnTo>
                    <a:cubicBezTo>
                      <a:pt x="1698426" y="0"/>
                      <a:pt x="1709028" y="10602"/>
                      <a:pt x="1709028" y="23681"/>
                    </a:cubicBezTo>
                    <a:lnTo>
                      <a:pt x="1709028" y="395419"/>
                    </a:lnTo>
                    <a:cubicBezTo>
                      <a:pt x="1709028" y="408498"/>
                      <a:pt x="1698426" y="419100"/>
                      <a:pt x="1685347" y="419100"/>
                    </a:cubicBezTo>
                    <a:lnTo>
                      <a:pt x="23681" y="419100"/>
                    </a:lnTo>
                    <a:cubicBezTo>
                      <a:pt x="10602" y="419100"/>
                      <a:pt x="0" y="408498"/>
                      <a:pt x="0" y="395419"/>
                    </a:cubicBezTo>
                    <a:lnTo>
                      <a:pt x="0" y="23681"/>
                    </a:lnTo>
                    <a:cubicBezTo>
                      <a:pt x="0" y="10602"/>
                      <a:pt x="10602" y="0"/>
                      <a:pt x="23681" y="0"/>
                    </a:cubicBezTo>
                    <a:close/>
                  </a:path>
                </a:pathLst>
              </a:custGeom>
              <a:solidFill>
                <a:srgbClr val="F8E2DA"/>
              </a:solidFill>
              <a:ln w="19050" cap="rnd">
                <a:solidFill>
                  <a:srgbClr val="F4D5C9"/>
                </a:solidFill>
                <a:prstDash val="solid"/>
                <a:round/>
              </a:ln>
            </p:spPr>
          </p:sp>
          <p:sp>
            <p:nvSpPr>
              <p:cNvPr id="71" name="TextBox 48">
                <a:extLst>
                  <a:ext uri="{FF2B5EF4-FFF2-40B4-BE49-F238E27FC236}">
                    <a16:creationId xmlns:a16="http://schemas.microsoft.com/office/drawing/2014/main" id="{842A125F-AD40-3ADB-F831-D839BCB6038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709028" cy="4381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65" name="Group 49">
              <a:extLst>
                <a:ext uri="{FF2B5EF4-FFF2-40B4-BE49-F238E27FC236}">
                  <a16:creationId xmlns:a16="http://schemas.microsoft.com/office/drawing/2014/main" id="{10BCFF49-A774-0EED-C82C-CF5091A7D732}"/>
                </a:ext>
              </a:extLst>
            </p:cNvPr>
            <p:cNvGrpSpPr/>
            <p:nvPr/>
          </p:nvGrpSpPr>
          <p:grpSpPr>
            <a:xfrm>
              <a:off x="424052" y="607416"/>
              <a:ext cx="667763" cy="667763"/>
              <a:chOff x="0" y="0"/>
              <a:chExt cx="812800" cy="812800"/>
            </a:xfrm>
          </p:grpSpPr>
          <p:sp>
            <p:nvSpPr>
              <p:cNvPr id="68" name="Freeform 50">
                <a:extLst>
                  <a:ext uri="{FF2B5EF4-FFF2-40B4-BE49-F238E27FC236}">
                    <a16:creationId xmlns:a16="http://schemas.microsoft.com/office/drawing/2014/main" id="{520A84EA-E251-7038-8635-E9290D223F8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0100"/>
              </a:solidFill>
            </p:spPr>
          </p:sp>
          <p:sp>
            <p:nvSpPr>
              <p:cNvPr id="69" name="TextBox 51">
                <a:extLst>
                  <a:ext uri="{FF2B5EF4-FFF2-40B4-BE49-F238E27FC236}">
                    <a16:creationId xmlns:a16="http://schemas.microsoft.com/office/drawing/2014/main" id="{D306FC81-C316-0A55-D126-103B2F84B6E6}"/>
                  </a:ext>
                </a:extLst>
              </p:cNvPr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66" name="TextBox 52">
              <a:extLst>
                <a:ext uri="{FF2B5EF4-FFF2-40B4-BE49-F238E27FC236}">
                  <a16:creationId xmlns:a16="http://schemas.microsoft.com/office/drawing/2014/main" id="{1F786A33-3548-16EC-500D-D1ECEA9C7744}"/>
                </a:ext>
              </a:extLst>
            </p:cNvPr>
            <p:cNvSpPr txBox="1"/>
            <p:nvPr/>
          </p:nvSpPr>
          <p:spPr>
            <a:xfrm>
              <a:off x="0" y="436560"/>
              <a:ext cx="4114799" cy="486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71"/>
                </a:lnSpc>
                <a:spcBef>
                  <a:spcPct val="0"/>
                </a:spcBef>
              </a:pPr>
              <a:r>
                <a:rPr lang="en-US" sz="12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불량 11</a:t>
              </a:r>
            </a:p>
          </p:txBody>
        </p:sp>
        <p:sp>
          <p:nvSpPr>
            <p:cNvPr id="67" name="TextBox 53">
              <a:extLst>
                <a:ext uri="{FF2B5EF4-FFF2-40B4-BE49-F238E27FC236}">
                  <a16:creationId xmlns:a16="http://schemas.microsoft.com/office/drawing/2014/main" id="{64F945B0-FBB2-D02D-A9A7-61FEBA90A47C}"/>
                </a:ext>
              </a:extLst>
            </p:cNvPr>
            <p:cNvSpPr txBox="1"/>
            <p:nvPr/>
          </p:nvSpPr>
          <p:spPr>
            <a:xfrm>
              <a:off x="1225978" y="1024842"/>
              <a:ext cx="4114799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0"/>
                </a:lnSpc>
                <a:spcBef>
                  <a:spcPct val="0"/>
                </a:spcBef>
              </a:pPr>
              <a:r>
                <a:rPr lang="en-US" sz="826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임계선 위 · 이상행 비율 ≥ 0.18</a:t>
              </a:r>
            </a:p>
          </p:txBody>
        </p:sp>
      </p:grpSp>
      <p:grpSp>
        <p:nvGrpSpPr>
          <p:cNvPr id="72" name="Group 54">
            <a:extLst>
              <a:ext uri="{FF2B5EF4-FFF2-40B4-BE49-F238E27FC236}">
                <a16:creationId xmlns:a16="http://schemas.microsoft.com/office/drawing/2014/main" id="{2C47D2FE-38F0-0E4C-9CE3-8C770B5869AE}"/>
              </a:ext>
            </a:extLst>
          </p:cNvPr>
          <p:cNvGrpSpPr/>
          <p:nvPr/>
        </p:nvGrpSpPr>
        <p:grpSpPr>
          <a:xfrm>
            <a:off x="5559324" y="1806719"/>
            <a:ext cx="3212054" cy="778188"/>
            <a:chOff x="0" y="0"/>
            <a:chExt cx="8565477" cy="2075168"/>
          </a:xfrm>
        </p:grpSpPr>
        <p:grpSp>
          <p:nvGrpSpPr>
            <p:cNvPr id="73" name="Group 55">
              <a:extLst>
                <a:ext uri="{FF2B5EF4-FFF2-40B4-BE49-F238E27FC236}">
                  <a16:creationId xmlns:a16="http://schemas.microsoft.com/office/drawing/2014/main" id="{06265CD4-68A5-7207-32B7-ED19CE5AC384}"/>
                </a:ext>
              </a:extLst>
            </p:cNvPr>
            <p:cNvGrpSpPr/>
            <p:nvPr/>
          </p:nvGrpSpPr>
          <p:grpSpPr>
            <a:xfrm>
              <a:off x="0" y="0"/>
              <a:ext cx="8565477" cy="2075168"/>
              <a:chOff x="0" y="0"/>
              <a:chExt cx="1171144" cy="283734"/>
            </a:xfrm>
          </p:grpSpPr>
          <p:sp>
            <p:nvSpPr>
              <p:cNvPr id="79" name="Freeform 56">
                <a:extLst>
                  <a:ext uri="{FF2B5EF4-FFF2-40B4-BE49-F238E27FC236}">
                    <a16:creationId xmlns:a16="http://schemas.microsoft.com/office/drawing/2014/main" id="{C91D6076-AD55-42A3-DAE8-05FD2B1DA288}"/>
                  </a:ext>
                </a:extLst>
              </p:cNvPr>
              <p:cNvSpPr/>
              <p:nvPr/>
            </p:nvSpPr>
            <p:spPr>
              <a:xfrm>
                <a:off x="0" y="0"/>
                <a:ext cx="1171144" cy="283734"/>
              </a:xfrm>
              <a:custGeom>
                <a:avLst/>
                <a:gdLst/>
                <a:ahLst/>
                <a:cxnLst/>
                <a:rect l="l" t="t" r="r" b="b"/>
                <a:pathLst>
                  <a:path w="1171144" h="283734">
                    <a:moveTo>
                      <a:pt x="23538" y="0"/>
                    </a:moveTo>
                    <a:lnTo>
                      <a:pt x="1147606" y="0"/>
                    </a:lnTo>
                    <a:cubicBezTo>
                      <a:pt x="1160606" y="0"/>
                      <a:pt x="1171144" y="10538"/>
                      <a:pt x="1171144" y="23538"/>
                    </a:cubicBezTo>
                    <a:lnTo>
                      <a:pt x="1171144" y="260197"/>
                    </a:lnTo>
                    <a:cubicBezTo>
                      <a:pt x="1171144" y="266439"/>
                      <a:pt x="1168664" y="272426"/>
                      <a:pt x="1164250" y="276840"/>
                    </a:cubicBezTo>
                    <a:cubicBezTo>
                      <a:pt x="1159836" y="281255"/>
                      <a:pt x="1153849" y="283734"/>
                      <a:pt x="1147606" y="283734"/>
                    </a:cubicBezTo>
                    <a:lnTo>
                      <a:pt x="23538" y="283734"/>
                    </a:lnTo>
                    <a:cubicBezTo>
                      <a:pt x="17295" y="283734"/>
                      <a:pt x="11308" y="281255"/>
                      <a:pt x="6894" y="276840"/>
                    </a:cubicBezTo>
                    <a:cubicBezTo>
                      <a:pt x="2480" y="272426"/>
                      <a:pt x="0" y="266439"/>
                      <a:pt x="0" y="260197"/>
                    </a:cubicBezTo>
                    <a:lnTo>
                      <a:pt x="0" y="23538"/>
                    </a:lnTo>
                    <a:cubicBezTo>
                      <a:pt x="0" y="17295"/>
                      <a:pt x="2480" y="11308"/>
                      <a:pt x="6894" y="6894"/>
                    </a:cubicBezTo>
                    <a:cubicBezTo>
                      <a:pt x="11308" y="2480"/>
                      <a:pt x="17295" y="0"/>
                      <a:pt x="23538" y="0"/>
                    </a:cubicBezTo>
                    <a:close/>
                  </a:path>
                </a:pathLst>
              </a:custGeom>
              <a:solidFill>
                <a:srgbClr val="E8F0D9"/>
              </a:solidFill>
              <a:ln w="19050" cap="rnd">
                <a:solidFill>
                  <a:srgbClr val="D5DFB5"/>
                </a:solidFill>
                <a:prstDash val="solid"/>
                <a:round/>
              </a:ln>
            </p:spPr>
          </p:sp>
          <p:sp>
            <p:nvSpPr>
              <p:cNvPr id="80" name="TextBox 57">
                <a:extLst>
                  <a:ext uri="{FF2B5EF4-FFF2-40B4-BE49-F238E27FC236}">
                    <a16:creationId xmlns:a16="http://schemas.microsoft.com/office/drawing/2014/main" id="{25F7D17C-EFE7-F639-4EDF-17D186A6D340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171144" cy="30278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0158B9C0-5EA8-DCAC-822C-B65048E7FFEA}"/>
                </a:ext>
              </a:extLst>
            </p:cNvPr>
            <p:cNvGrpSpPr/>
            <p:nvPr/>
          </p:nvGrpSpPr>
          <p:grpSpPr>
            <a:xfrm>
              <a:off x="483529" y="582126"/>
              <a:ext cx="659313" cy="667763"/>
              <a:chOff x="0" y="0"/>
              <a:chExt cx="802515" cy="812800"/>
            </a:xfrm>
          </p:grpSpPr>
          <p:sp>
            <p:nvSpPr>
              <p:cNvPr id="77" name="Freeform 59">
                <a:extLst>
                  <a:ext uri="{FF2B5EF4-FFF2-40B4-BE49-F238E27FC236}">
                    <a16:creationId xmlns:a16="http://schemas.microsoft.com/office/drawing/2014/main" id="{88A78421-666B-4BF5-D40B-96DD4C1D07BC}"/>
                  </a:ext>
                </a:extLst>
              </p:cNvPr>
              <p:cNvSpPr/>
              <p:nvPr/>
            </p:nvSpPr>
            <p:spPr>
              <a:xfrm>
                <a:off x="0" y="0"/>
                <a:ext cx="80251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2515" h="812800">
                    <a:moveTo>
                      <a:pt x="401257" y="0"/>
                    </a:moveTo>
                    <a:cubicBezTo>
                      <a:pt x="179649" y="0"/>
                      <a:pt x="0" y="181951"/>
                      <a:pt x="0" y="406400"/>
                    </a:cubicBezTo>
                    <a:cubicBezTo>
                      <a:pt x="0" y="630849"/>
                      <a:pt x="179649" y="812800"/>
                      <a:pt x="401257" y="812800"/>
                    </a:cubicBezTo>
                    <a:cubicBezTo>
                      <a:pt x="622866" y="812800"/>
                      <a:pt x="802515" y="630849"/>
                      <a:pt x="802515" y="406400"/>
                    </a:cubicBezTo>
                    <a:cubicBezTo>
                      <a:pt x="802515" y="181951"/>
                      <a:pt x="622866" y="0"/>
                      <a:pt x="401257" y="0"/>
                    </a:cubicBezTo>
                    <a:close/>
                  </a:path>
                </a:pathLst>
              </a:custGeom>
              <a:solidFill>
                <a:srgbClr val="A4B465"/>
              </a:solidFill>
            </p:spPr>
          </p:sp>
          <p:sp>
            <p:nvSpPr>
              <p:cNvPr id="78" name="TextBox 60">
                <a:extLst>
                  <a:ext uri="{FF2B5EF4-FFF2-40B4-BE49-F238E27FC236}">
                    <a16:creationId xmlns:a16="http://schemas.microsoft.com/office/drawing/2014/main" id="{61DE8D8F-7FC5-4CCF-51A0-90310355231A}"/>
                  </a:ext>
                </a:extLst>
              </p:cNvPr>
              <p:cNvSpPr txBox="1"/>
              <p:nvPr/>
            </p:nvSpPr>
            <p:spPr>
              <a:xfrm>
                <a:off x="75236" y="57150"/>
                <a:ext cx="652043" cy="6794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75" name="TextBox 61">
              <a:extLst>
                <a:ext uri="{FF2B5EF4-FFF2-40B4-BE49-F238E27FC236}">
                  <a16:creationId xmlns:a16="http://schemas.microsoft.com/office/drawing/2014/main" id="{F24BD98C-5E7F-B7CF-32CD-18954153037E}"/>
                </a:ext>
              </a:extLst>
            </p:cNvPr>
            <p:cNvSpPr txBox="1"/>
            <p:nvPr/>
          </p:nvSpPr>
          <p:spPr>
            <a:xfrm>
              <a:off x="1445661" y="448800"/>
              <a:ext cx="1453787" cy="486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71"/>
                </a:lnSpc>
                <a:spcBef>
                  <a:spcPct val="0"/>
                </a:spcBef>
              </a:pPr>
              <a:r>
                <a:rPr lang="en-US" sz="1226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정상 89</a:t>
              </a:r>
            </a:p>
          </p:txBody>
        </p:sp>
        <p:sp>
          <p:nvSpPr>
            <p:cNvPr id="76" name="TextBox 62">
              <a:extLst>
                <a:ext uri="{FF2B5EF4-FFF2-40B4-BE49-F238E27FC236}">
                  <a16:creationId xmlns:a16="http://schemas.microsoft.com/office/drawing/2014/main" id="{2756C4C6-3B6C-2654-FADB-E7285E9D5EA0}"/>
                </a:ext>
              </a:extLst>
            </p:cNvPr>
            <p:cNvSpPr txBox="1"/>
            <p:nvPr/>
          </p:nvSpPr>
          <p:spPr>
            <a:xfrm>
              <a:off x="1445661" y="1024355"/>
              <a:ext cx="3433520" cy="324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90"/>
                </a:lnSpc>
                <a:spcBef>
                  <a:spcPct val="0"/>
                </a:spcBef>
              </a:pPr>
              <a:r>
                <a:rPr lang="en-US" sz="826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임계선 아래 · 0.1 이하 밀집</a:t>
              </a:r>
            </a:p>
          </p:txBody>
        </p:sp>
      </p:grpSp>
      <p:grpSp>
        <p:nvGrpSpPr>
          <p:cNvPr id="81" name="Group 63">
            <a:extLst>
              <a:ext uri="{FF2B5EF4-FFF2-40B4-BE49-F238E27FC236}">
                <a16:creationId xmlns:a16="http://schemas.microsoft.com/office/drawing/2014/main" id="{8165959E-818B-7289-CE3E-42D51849235D}"/>
              </a:ext>
            </a:extLst>
          </p:cNvPr>
          <p:cNvGrpSpPr/>
          <p:nvPr/>
        </p:nvGrpSpPr>
        <p:grpSpPr>
          <a:xfrm>
            <a:off x="5337504" y="2703969"/>
            <a:ext cx="3433874" cy="1262712"/>
            <a:chOff x="0" y="0"/>
            <a:chExt cx="9156996" cy="3367231"/>
          </a:xfrm>
        </p:grpSpPr>
        <p:grpSp>
          <p:nvGrpSpPr>
            <p:cNvPr id="82" name="Group 64">
              <a:extLst>
                <a:ext uri="{FF2B5EF4-FFF2-40B4-BE49-F238E27FC236}">
                  <a16:creationId xmlns:a16="http://schemas.microsoft.com/office/drawing/2014/main" id="{8C0C8770-C387-AD98-B753-302670594EEF}"/>
                </a:ext>
              </a:extLst>
            </p:cNvPr>
            <p:cNvGrpSpPr/>
            <p:nvPr/>
          </p:nvGrpSpPr>
          <p:grpSpPr>
            <a:xfrm>
              <a:off x="591519" y="0"/>
              <a:ext cx="8565477" cy="3367231"/>
              <a:chOff x="0" y="0"/>
              <a:chExt cx="721757" cy="283734"/>
            </a:xfrm>
          </p:grpSpPr>
          <p:sp>
            <p:nvSpPr>
              <p:cNvPr id="88" name="Freeform 65">
                <a:extLst>
                  <a:ext uri="{FF2B5EF4-FFF2-40B4-BE49-F238E27FC236}">
                    <a16:creationId xmlns:a16="http://schemas.microsoft.com/office/drawing/2014/main" id="{FBF5863D-1468-5E28-8256-026D5520A505}"/>
                  </a:ext>
                </a:extLst>
              </p:cNvPr>
              <p:cNvSpPr/>
              <p:nvPr/>
            </p:nvSpPr>
            <p:spPr>
              <a:xfrm>
                <a:off x="0" y="0"/>
                <a:ext cx="721757" cy="283734"/>
              </a:xfrm>
              <a:custGeom>
                <a:avLst/>
                <a:gdLst/>
                <a:ahLst/>
                <a:cxnLst/>
                <a:rect l="l" t="t" r="r" b="b"/>
                <a:pathLst>
                  <a:path w="721757" h="283734">
                    <a:moveTo>
                      <a:pt x="23538" y="0"/>
                    </a:moveTo>
                    <a:lnTo>
                      <a:pt x="698219" y="0"/>
                    </a:lnTo>
                    <a:cubicBezTo>
                      <a:pt x="711218" y="0"/>
                      <a:pt x="721757" y="10538"/>
                      <a:pt x="721757" y="23538"/>
                    </a:cubicBezTo>
                    <a:lnTo>
                      <a:pt x="721757" y="260197"/>
                    </a:lnTo>
                    <a:cubicBezTo>
                      <a:pt x="721757" y="266439"/>
                      <a:pt x="719277" y="272426"/>
                      <a:pt x="714862" y="276840"/>
                    </a:cubicBezTo>
                    <a:cubicBezTo>
                      <a:pt x="710448" y="281255"/>
                      <a:pt x="704461" y="283734"/>
                      <a:pt x="698219" y="283734"/>
                    </a:cubicBezTo>
                    <a:lnTo>
                      <a:pt x="23538" y="283734"/>
                    </a:lnTo>
                    <a:cubicBezTo>
                      <a:pt x="17295" y="283734"/>
                      <a:pt x="11308" y="281255"/>
                      <a:pt x="6894" y="276840"/>
                    </a:cubicBezTo>
                    <a:cubicBezTo>
                      <a:pt x="2480" y="272426"/>
                      <a:pt x="0" y="266439"/>
                      <a:pt x="0" y="260197"/>
                    </a:cubicBezTo>
                    <a:lnTo>
                      <a:pt x="0" y="23538"/>
                    </a:lnTo>
                    <a:cubicBezTo>
                      <a:pt x="0" y="17295"/>
                      <a:pt x="2480" y="11308"/>
                      <a:pt x="6894" y="6894"/>
                    </a:cubicBezTo>
                    <a:cubicBezTo>
                      <a:pt x="11308" y="2480"/>
                      <a:pt x="17295" y="0"/>
                      <a:pt x="23538" y="0"/>
                    </a:cubicBezTo>
                    <a:close/>
                  </a:path>
                </a:pathLst>
              </a:custGeom>
              <a:solidFill>
                <a:srgbClr val="626F46"/>
              </a:solidFill>
              <a:ln w="19050" cap="rnd">
                <a:solidFill>
                  <a:srgbClr val="76805A"/>
                </a:solidFill>
                <a:prstDash val="solid"/>
                <a:round/>
              </a:ln>
            </p:spPr>
          </p:sp>
          <p:sp>
            <p:nvSpPr>
              <p:cNvPr id="89" name="TextBox 66">
                <a:extLst>
                  <a:ext uri="{FF2B5EF4-FFF2-40B4-BE49-F238E27FC236}">
                    <a16:creationId xmlns:a16="http://schemas.microsoft.com/office/drawing/2014/main" id="{9730DE9A-3C0A-DB9A-43A7-0A6F6CDCE88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721757" cy="302784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99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83" name="TextBox 67">
              <a:extLst>
                <a:ext uri="{FF2B5EF4-FFF2-40B4-BE49-F238E27FC236}">
                  <a16:creationId xmlns:a16="http://schemas.microsoft.com/office/drawing/2014/main" id="{E253A0D8-D815-D5A1-F35D-8233DB0CEBE2}"/>
                </a:ext>
              </a:extLst>
            </p:cNvPr>
            <p:cNvSpPr txBox="1"/>
            <p:nvPr/>
          </p:nvSpPr>
          <p:spPr>
            <a:xfrm>
              <a:off x="0" y="462205"/>
              <a:ext cx="4114799" cy="478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11"/>
                </a:lnSpc>
                <a:spcBef>
                  <a:spcPct val="0"/>
                </a:spcBef>
              </a:pPr>
              <a:r>
                <a:rPr lang="en-US" sz="117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완벽 분리</a:t>
              </a:r>
            </a:p>
          </p:txBody>
        </p:sp>
        <p:sp>
          <p:nvSpPr>
            <p:cNvPr id="85" name="TextBox 68">
              <a:extLst>
                <a:ext uri="{FF2B5EF4-FFF2-40B4-BE49-F238E27FC236}">
                  <a16:creationId xmlns:a16="http://schemas.microsoft.com/office/drawing/2014/main" id="{17361580-9E24-D41C-1CEF-07F284E66281}"/>
                </a:ext>
              </a:extLst>
            </p:cNvPr>
            <p:cNvSpPr txBox="1"/>
            <p:nvPr/>
          </p:nvSpPr>
          <p:spPr>
            <a:xfrm>
              <a:off x="386632" y="1321709"/>
              <a:ext cx="4114799" cy="683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40"/>
                </a:lnSpc>
                <a:spcBef>
                  <a:spcPct val="0"/>
                </a:spcBef>
              </a:pPr>
              <a:r>
                <a:rPr lang="en-US" sz="17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11 / 89   </a:t>
              </a:r>
            </a:p>
          </p:txBody>
        </p:sp>
        <p:sp>
          <p:nvSpPr>
            <p:cNvPr id="86" name="TextBox 69">
              <a:extLst>
                <a:ext uri="{FF2B5EF4-FFF2-40B4-BE49-F238E27FC236}">
                  <a16:creationId xmlns:a16="http://schemas.microsoft.com/office/drawing/2014/main" id="{98919646-8A83-D41E-F48D-CCFBC5F1E87C}"/>
                </a:ext>
              </a:extLst>
            </p:cNvPr>
            <p:cNvSpPr txBox="1"/>
            <p:nvPr/>
          </p:nvSpPr>
          <p:spPr>
            <a:xfrm>
              <a:off x="3208696" y="1477218"/>
              <a:ext cx="1812208" cy="354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1"/>
                </a:lnSpc>
                <a:spcBef>
                  <a:spcPct val="0"/>
                </a:spcBef>
              </a:pPr>
              <a:r>
                <a:rPr lang="en-US" sz="87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불량/정상</a:t>
              </a:r>
            </a:p>
          </p:txBody>
        </p:sp>
        <p:sp>
          <p:nvSpPr>
            <p:cNvPr id="87" name="TextBox 70">
              <a:extLst>
                <a:ext uri="{FF2B5EF4-FFF2-40B4-BE49-F238E27FC236}">
                  <a16:creationId xmlns:a16="http://schemas.microsoft.com/office/drawing/2014/main" id="{2279133F-4E91-FA40-30F8-41BAD77CBDC0}"/>
                </a:ext>
              </a:extLst>
            </p:cNvPr>
            <p:cNvSpPr txBox="1"/>
            <p:nvPr/>
          </p:nvSpPr>
          <p:spPr>
            <a:xfrm>
              <a:off x="1228240" y="2563047"/>
              <a:ext cx="4360005" cy="410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1"/>
                </a:lnSpc>
                <a:spcBef>
                  <a:spcPct val="0"/>
                </a:spcBef>
              </a:pPr>
              <a:r>
                <a:rPr lang="en-US" sz="1026" b="1">
                  <a:solidFill>
                    <a:srgbClr val="E3D9B5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Recall 우선 임계 → 미탐 0건</a:t>
              </a:r>
            </a:p>
          </p:txBody>
        </p:sp>
      </p:grpSp>
      <p:pic>
        <p:nvPicPr>
          <p:cNvPr id="90" name="Image 1" descr="preencoded.png">
            <a:extLst>
              <a:ext uri="{FF2B5EF4-FFF2-40B4-BE49-F238E27FC236}">
                <a16:creationId xmlns:a16="http://schemas.microsoft.com/office/drawing/2014/main" id="{7BD1D01C-C4BF-93E8-B775-4BF4749117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91" name="Text 2">
            <a:extLst>
              <a:ext uri="{FF2B5EF4-FFF2-40B4-BE49-F238E27FC236}">
                <a16:creationId xmlns:a16="http://schemas.microsoft.com/office/drawing/2014/main" id="{97E00D9C-52C3-2291-0E17-2339DED2F8CF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0932416F-AA86-7413-9DB3-DBBBC566DD88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1068968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618F-BE07-C975-CAE9-796E25FE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2E63F73-3662-059A-D154-7FBF9EBDE5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D832A4E-D01B-CFCE-3C3A-FE64FB15C6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DD83A351-3FEB-30C1-A7A2-BBA590DF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8ED3E00B-056C-A742-8F65-F399581811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7EB1C3F-9C4B-BAC7-51F0-D95C5C119D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BF6CF710-9F30-5538-7964-DE7376601681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이상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시점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원인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추적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DB29AA0F-C2AF-0ADB-3D15-91CB1E204B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4230E4E8-343B-E9DA-992C-84D70D0EBAF7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24811533-4338-F8B2-664A-37276F0A41A6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144049DC-F0B4-D112-D6A5-32143EA725E9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603F6CBE-1DD2-6460-C823-0F62953F1107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2D838D6E-AFE7-EDAD-C70A-946BE2F4F77E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27A4418D-D5B4-E491-5E43-E169A99FAC4C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1C774D25-9179-7332-E366-6123F4E5C543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DCDA40F8-05EA-5E17-6543-465847624B74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76AAD36F-5B9A-E96F-A2A0-0C7B0F6A898F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전류 근본원인 → 전력으로 증폭 · seq7 진행도 20% 이후 계단식 과전류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D9905A6D-2CD6-A6F2-1CB4-1C537708E32A}"/>
              </a:ext>
            </a:extLst>
          </p:cNvPr>
          <p:cNvGrpSpPr/>
          <p:nvPr/>
        </p:nvGrpSpPr>
        <p:grpSpPr>
          <a:xfrm>
            <a:off x="6156434" y="4132307"/>
            <a:ext cx="2230593" cy="652020"/>
            <a:chOff x="0" y="0"/>
            <a:chExt cx="5948248" cy="1738718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A34F600F-F1AD-F542-8AB5-79B364C4732D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ACDB47EE-B174-2523-800F-CDE3C6589DA1}"/>
                </a:ext>
              </a:extLst>
            </p:cNvPr>
            <p:cNvSpPr txBox="1"/>
            <p:nvPr/>
          </p:nvSpPr>
          <p:spPr>
            <a:xfrm>
              <a:off x="0" y="-28575"/>
              <a:ext cx="5948248" cy="17672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797"/>
                </a:lnSpc>
              </a:pPr>
              <a:r>
                <a:rPr lang="en-US" sz="142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버닝(과전류) 시점·원인 추적</a:t>
              </a:r>
            </a:p>
          </p:txBody>
        </p:sp>
      </p:grpSp>
      <p:grpSp>
        <p:nvGrpSpPr>
          <p:cNvPr id="20" name="Group 34">
            <a:extLst>
              <a:ext uri="{FF2B5EF4-FFF2-40B4-BE49-F238E27FC236}">
                <a16:creationId xmlns:a16="http://schemas.microsoft.com/office/drawing/2014/main" id="{9189C4F6-8298-2512-EA40-CF7F144615E2}"/>
              </a:ext>
            </a:extLst>
          </p:cNvPr>
          <p:cNvGrpSpPr/>
          <p:nvPr/>
        </p:nvGrpSpPr>
        <p:grpSpPr>
          <a:xfrm>
            <a:off x="377486" y="967610"/>
            <a:ext cx="2859993" cy="288261"/>
            <a:chOff x="0" y="0"/>
            <a:chExt cx="7626646" cy="768697"/>
          </a:xfrm>
        </p:grpSpPr>
        <p:grpSp>
          <p:nvGrpSpPr>
            <p:cNvPr id="21" name="Group 35">
              <a:extLst>
                <a:ext uri="{FF2B5EF4-FFF2-40B4-BE49-F238E27FC236}">
                  <a16:creationId xmlns:a16="http://schemas.microsoft.com/office/drawing/2014/main" id="{D5E4CF66-747C-29AD-615E-3E1D58889B4A}"/>
                </a:ext>
              </a:extLst>
            </p:cNvPr>
            <p:cNvGrpSpPr/>
            <p:nvPr/>
          </p:nvGrpSpPr>
          <p:grpSpPr>
            <a:xfrm>
              <a:off x="0" y="0"/>
              <a:ext cx="7569619" cy="768693"/>
              <a:chOff x="0" y="0"/>
              <a:chExt cx="7569619" cy="768693"/>
            </a:xfrm>
          </p:grpSpPr>
          <p:sp>
            <p:nvSpPr>
              <p:cNvPr id="25" name="Freeform 36">
                <a:extLst>
                  <a:ext uri="{FF2B5EF4-FFF2-40B4-BE49-F238E27FC236}">
                    <a16:creationId xmlns:a16="http://schemas.microsoft.com/office/drawing/2014/main" id="{3975E1F1-7240-62FB-FDA0-16EE8494FB61}"/>
                  </a:ext>
                </a:extLst>
              </p:cNvPr>
              <p:cNvSpPr/>
              <p:nvPr/>
            </p:nvSpPr>
            <p:spPr>
              <a:xfrm>
                <a:off x="0" y="0"/>
                <a:ext cx="7569619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7569619" h="768731">
                    <a:moveTo>
                      <a:pt x="0" y="128143"/>
                    </a:moveTo>
                    <a:cubicBezTo>
                      <a:pt x="0" y="57404"/>
                      <a:pt x="42396" y="0"/>
                      <a:pt x="94640" y="0"/>
                    </a:cubicBezTo>
                    <a:lnTo>
                      <a:pt x="7474979" y="0"/>
                    </a:lnTo>
                    <a:cubicBezTo>
                      <a:pt x="7527223" y="0"/>
                      <a:pt x="7569619" y="57404"/>
                      <a:pt x="7569619" y="128143"/>
                    </a:cubicBezTo>
                    <a:lnTo>
                      <a:pt x="7569619" y="640588"/>
                    </a:lnTo>
                    <a:cubicBezTo>
                      <a:pt x="7569619" y="711327"/>
                      <a:pt x="7527223" y="768731"/>
                      <a:pt x="7474979" y="768731"/>
                    </a:cubicBezTo>
                    <a:lnTo>
                      <a:pt x="94640" y="768731"/>
                    </a:lnTo>
                    <a:cubicBezTo>
                      <a:pt x="42396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2" name="Group 37">
              <a:extLst>
                <a:ext uri="{FF2B5EF4-FFF2-40B4-BE49-F238E27FC236}">
                  <a16:creationId xmlns:a16="http://schemas.microsoft.com/office/drawing/2014/main" id="{74AFDB2B-6B2C-6A3C-931D-FD6EE59D02B7}"/>
                </a:ext>
              </a:extLst>
            </p:cNvPr>
            <p:cNvGrpSpPr/>
            <p:nvPr/>
          </p:nvGrpSpPr>
          <p:grpSpPr>
            <a:xfrm>
              <a:off x="276648" y="0"/>
              <a:ext cx="7349998" cy="768697"/>
              <a:chOff x="0" y="0"/>
              <a:chExt cx="7349998" cy="768697"/>
            </a:xfrm>
          </p:grpSpPr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5C25E3EF-950A-897B-AF7E-1D5634FC5424}"/>
                  </a:ext>
                </a:extLst>
              </p:cNvPr>
              <p:cNvSpPr/>
              <p:nvPr/>
            </p:nvSpPr>
            <p:spPr>
              <a:xfrm>
                <a:off x="0" y="0"/>
                <a:ext cx="7349998" cy="768700"/>
              </a:xfrm>
              <a:custGeom>
                <a:avLst/>
                <a:gdLst/>
                <a:ahLst/>
                <a:cxnLst/>
                <a:rect l="l" t="t" r="r" b="b"/>
                <a:pathLst>
                  <a:path w="7349998" h="768700">
                    <a:moveTo>
                      <a:pt x="0" y="0"/>
                    </a:moveTo>
                    <a:lnTo>
                      <a:pt x="7349998" y="0"/>
                    </a:lnTo>
                    <a:lnTo>
                      <a:pt x="7349998" y="768700"/>
                    </a:lnTo>
                    <a:lnTo>
                      <a:pt x="0" y="7687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200521" r="-34465" b="-200520"/>
                </a:stretch>
              </a:blipFill>
            </p:spPr>
          </p:sp>
          <p:sp>
            <p:nvSpPr>
              <p:cNvPr id="24" name="TextBox 39">
                <a:extLst>
                  <a:ext uri="{FF2B5EF4-FFF2-40B4-BE49-F238E27FC236}">
                    <a16:creationId xmlns:a16="http://schemas.microsoft.com/office/drawing/2014/main" id="{09C999ED-5D5B-A9AF-57AE-BD8B5C1B5018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349998" cy="797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불량 seq7 전류 궤적 · 버닝(과전류)</a:t>
                </a:r>
              </a:p>
            </p:txBody>
          </p:sp>
        </p:grpSp>
      </p:grpSp>
      <p:sp>
        <p:nvSpPr>
          <p:cNvPr id="26" name="Freeform 40">
            <a:extLst>
              <a:ext uri="{FF2B5EF4-FFF2-40B4-BE49-F238E27FC236}">
                <a16:creationId xmlns:a16="http://schemas.microsoft.com/office/drawing/2014/main" id="{6576F776-5956-5C44-1F36-ABA4919F572E}"/>
              </a:ext>
            </a:extLst>
          </p:cNvPr>
          <p:cNvSpPr/>
          <p:nvPr/>
        </p:nvSpPr>
        <p:spPr>
          <a:xfrm>
            <a:off x="385270" y="1398746"/>
            <a:ext cx="4189162" cy="2299287"/>
          </a:xfrm>
          <a:custGeom>
            <a:avLst/>
            <a:gdLst/>
            <a:ahLst/>
            <a:cxnLst/>
            <a:rect l="l" t="t" r="r" b="b"/>
            <a:pathLst>
              <a:path w="8378323" h="4598574">
                <a:moveTo>
                  <a:pt x="0" y="0"/>
                </a:moveTo>
                <a:lnTo>
                  <a:pt x="8378324" y="0"/>
                </a:lnTo>
                <a:lnTo>
                  <a:pt x="8378324" y="4598574"/>
                </a:lnTo>
                <a:lnTo>
                  <a:pt x="0" y="45985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023"/>
            </a:stretch>
          </a:blipFill>
        </p:spPr>
      </p:sp>
      <p:grpSp>
        <p:nvGrpSpPr>
          <p:cNvPr id="27" name="Group 41">
            <a:extLst>
              <a:ext uri="{FF2B5EF4-FFF2-40B4-BE49-F238E27FC236}">
                <a16:creationId xmlns:a16="http://schemas.microsoft.com/office/drawing/2014/main" id="{29083590-873B-1D17-07E6-283AFC818324}"/>
              </a:ext>
            </a:extLst>
          </p:cNvPr>
          <p:cNvGrpSpPr/>
          <p:nvPr/>
        </p:nvGrpSpPr>
        <p:grpSpPr>
          <a:xfrm>
            <a:off x="4712007" y="967611"/>
            <a:ext cx="3952143" cy="265292"/>
            <a:chOff x="0" y="0"/>
            <a:chExt cx="11451477" cy="768693"/>
          </a:xfrm>
        </p:grpSpPr>
        <p:sp>
          <p:nvSpPr>
            <p:cNvPr id="28" name="Freeform 42">
              <a:extLst>
                <a:ext uri="{FF2B5EF4-FFF2-40B4-BE49-F238E27FC236}">
                  <a16:creationId xmlns:a16="http://schemas.microsoft.com/office/drawing/2014/main" id="{FE5ACB61-9FD1-179E-3CD2-FE3D0F1318F5}"/>
                </a:ext>
              </a:extLst>
            </p:cNvPr>
            <p:cNvSpPr/>
            <p:nvPr/>
          </p:nvSpPr>
          <p:spPr>
            <a:xfrm>
              <a:off x="0" y="0"/>
              <a:ext cx="11451478" cy="768731"/>
            </a:xfrm>
            <a:custGeom>
              <a:avLst/>
              <a:gdLst/>
              <a:ahLst/>
              <a:cxnLst/>
              <a:rect l="l" t="t" r="r" b="b"/>
              <a:pathLst>
                <a:path w="11451478" h="768731">
                  <a:moveTo>
                    <a:pt x="0" y="128143"/>
                  </a:moveTo>
                  <a:cubicBezTo>
                    <a:pt x="0" y="57404"/>
                    <a:pt x="64137" y="0"/>
                    <a:pt x="143174" y="0"/>
                  </a:cubicBezTo>
                  <a:lnTo>
                    <a:pt x="11308304" y="0"/>
                  </a:lnTo>
                  <a:cubicBezTo>
                    <a:pt x="11387340" y="0"/>
                    <a:pt x="11451478" y="57404"/>
                    <a:pt x="11451478" y="128143"/>
                  </a:cubicBezTo>
                  <a:lnTo>
                    <a:pt x="11451478" y="640588"/>
                  </a:lnTo>
                  <a:cubicBezTo>
                    <a:pt x="11451478" y="711327"/>
                    <a:pt x="11387340" y="768731"/>
                    <a:pt x="11308304" y="768731"/>
                  </a:cubicBezTo>
                  <a:lnTo>
                    <a:pt x="143174" y="768731"/>
                  </a:lnTo>
                  <a:cubicBezTo>
                    <a:pt x="64137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9" name="Group 43">
            <a:extLst>
              <a:ext uri="{FF2B5EF4-FFF2-40B4-BE49-F238E27FC236}">
                <a16:creationId xmlns:a16="http://schemas.microsoft.com/office/drawing/2014/main" id="{90675D54-C854-743A-A637-A04F3A444B77}"/>
              </a:ext>
            </a:extLst>
          </p:cNvPr>
          <p:cNvGrpSpPr/>
          <p:nvPr/>
        </p:nvGrpSpPr>
        <p:grpSpPr>
          <a:xfrm>
            <a:off x="4787803" y="967610"/>
            <a:ext cx="2097137" cy="265293"/>
            <a:chOff x="0" y="0"/>
            <a:chExt cx="6076530" cy="768697"/>
          </a:xfrm>
        </p:grpSpPr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25159F92-188D-8D46-4619-251F7760D677}"/>
                </a:ext>
              </a:extLst>
            </p:cNvPr>
            <p:cNvSpPr/>
            <p:nvPr/>
          </p:nvSpPr>
          <p:spPr>
            <a:xfrm>
              <a:off x="0" y="0"/>
              <a:ext cx="6076529" cy="768700"/>
            </a:xfrm>
            <a:custGeom>
              <a:avLst/>
              <a:gdLst/>
              <a:ahLst/>
              <a:cxnLst/>
              <a:rect l="l" t="t" r="r" b="b"/>
              <a:pathLst>
                <a:path w="6076529" h="768700">
                  <a:moveTo>
                    <a:pt x="0" y="0"/>
                  </a:moveTo>
                  <a:lnTo>
                    <a:pt x="6076529" y="0"/>
                  </a:lnTo>
                  <a:lnTo>
                    <a:pt x="607652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62646" b="-200520"/>
              </a:stretch>
            </a:blipFill>
          </p:spPr>
        </p:sp>
        <p:sp>
          <p:nvSpPr>
            <p:cNvPr id="31" name="TextBox 45">
              <a:extLst>
                <a:ext uri="{FF2B5EF4-FFF2-40B4-BE49-F238E27FC236}">
                  <a16:creationId xmlns:a16="http://schemas.microsoft.com/office/drawing/2014/main" id="{B5CB9997-DEF5-17D0-F1D1-118F4C7A34A3}"/>
                </a:ext>
              </a:extLst>
            </p:cNvPr>
            <p:cNvSpPr txBox="1"/>
            <p:nvPr/>
          </p:nvSpPr>
          <p:spPr>
            <a:xfrm>
              <a:off x="0" y="-28575"/>
              <a:ext cx="6076530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이상점수 추이</a:t>
              </a:r>
            </a:p>
          </p:txBody>
        </p:sp>
      </p:grpSp>
      <p:sp>
        <p:nvSpPr>
          <p:cNvPr id="64" name="Freeform 46">
            <a:extLst>
              <a:ext uri="{FF2B5EF4-FFF2-40B4-BE49-F238E27FC236}">
                <a16:creationId xmlns:a16="http://schemas.microsoft.com/office/drawing/2014/main" id="{6819D56F-B639-D7F3-0C90-DCB0D5913E9C}"/>
              </a:ext>
            </a:extLst>
          </p:cNvPr>
          <p:cNvSpPr/>
          <p:nvPr/>
        </p:nvSpPr>
        <p:spPr>
          <a:xfrm>
            <a:off x="4712007" y="1232903"/>
            <a:ext cx="2172933" cy="951953"/>
          </a:xfrm>
          <a:custGeom>
            <a:avLst/>
            <a:gdLst/>
            <a:ahLst/>
            <a:cxnLst/>
            <a:rect l="l" t="t" r="r" b="b"/>
            <a:pathLst>
              <a:path w="4345865" h="1903906">
                <a:moveTo>
                  <a:pt x="0" y="0"/>
                </a:moveTo>
                <a:lnTo>
                  <a:pt x="4345865" y="0"/>
                </a:lnTo>
                <a:lnTo>
                  <a:pt x="4345865" y="1903906"/>
                </a:lnTo>
                <a:lnTo>
                  <a:pt x="0" y="1903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873" b="-16476"/>
            </a:stretch>
          </a:blipFill>
        </p:spPr>
      </p:sp>
      <p:grpSp>
        <p:nvGrpSpPr>
          <p:cNvPr id="65" name="Group 47">
            <a:extLst>
              <a:ext uri="{FF2B5EF4-FFF2-40B4-BE49-F238E27FC236}">
                <a16:creationId xmlns:a16="http://schemas.microsoft.com/office/drawing/2014/main" id="{A257C2ED-7431-8B63-0FEA-A817CB67CE90}"/>
              </a:ext>
            </a:extLst>
          </p:cNvPr>
          <p:cNvGrpSpPr/>
          <p:nvPr/>
        </p:nvGrpSpPr>
        <p:grpSpPr>
          <a:xfrm>
            <a:off x="5641214" y="2216801"/>
            <a:ext cx="50574" cy="16221"/>
            <a:chOff x="0" y="0"/>
            <a:chExt cx="339545" cy="108901"/>
          </a:xfrm>
        </p:grpSpPr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9BCB8F2-C497-5DBB-554A-70D142674233}"/>
                </a:ext>
              </a:extLst>
            </p:cNvPr>
            <p:cNvSpPr/>
            <p:nvPr/>
          </p:nvSpPr>
          <p:spPr>
            <a:xfrm>
              <a:off x="0" y="0"/>
              <a:ext cx="339545" cy="108901"/>
            </a:xfrm>
            <a:custGeom>
              <a:avLst/>
              <a:gdLst/>
              <a:ahLst/>
              <a:cxnLst/>
              <a:rect l="l" t="t" r="r" b="b"/>
              <a:pathLst>
                <a:path w="339545" h="108901">
                  <a:moveTo>
                    <a:pt x="0" y="16015"/>
                  </a:moveTo>
                  <a:cubicBezTo>
                    <a:pt x="0" y="7173"/>
                    <a:pt x="22366" y="0"/>
                    <a:pt x="49933" y="0"/>
                  </a:cubicBezTo>
                  <a:lnTo>
                    <a:pt x="289612" y="0"/>
                  </a:lnTo>
                  <a:cubicBezTo>
                    <a:pt x="317179" y="0"/>
                    <a:pt x="339545" y="7173"/>
                    <a:pt x="339545" y="16015"/>
                  </a:cubicBezTo>
                  <a:lnTo>
                    <a:pt x="339545" y="92886"/>
                  </a:lnTo>
                  <a:cubicBezTo>
                    <a:pt x="339545" y="101728"/>
                    <a:pt x="317179" y="108901"/>
                    <a:pt x="289612" y="108901"/>
                  </a:cubicBezTo>
                  <a:lnTo>
                    <a:pt x="49933" y="108901"/>
                  </a:lnTo>
                  <a:cubicBezTo>
                    <a:pt x="22366" y="108901"/>
                    <a:pt x="0" y="101728"/>
                    <a:pt x="0" y="92886"/>
                  </a:cubicBezTo>
                  <a:close/>
                </a:path>
              </a:pathLst>
            </a:custGeom>
            <a:solidFill>
              <a:srgbClr val="A4B465"/>
            </a:solidFill>
          </p:spPr>
        </p:sp>
      </p:grpSp>
      <p:grpSp>
        <p:nvGrpSpPr>
          <p:cNvPr id="67" name="Group 49">
            <a:extLst>
              <a:ext uri="{FF2B5EF4-FFF2-40B4-BE49-F238E27FC236}">
                <a16:creationId xmlns:a16="http://schemas.microsoft.com/office/drawing/2014/main" id="{42D59FA2-1BC7-4E2C-EAE1-BF6225F30C9A}"/>
              </a:ext>
            </a:extLst>
          </p:cNvPr>
          <p:cNvGrpSpPr/>
          <p:nvPr/>
        </p:nvGrpSpPr>
        <p:grpSpPr>
          <a:xfrm>
            <a:off x="5706198" y="2161987"/>
            <a:ext cx="253355" cy="125849"/>
            <a:chOff x="0" y="0"/>
            <a:chExt cx="1129051" cy="560832"/>
          </a:xfrm>
        </p:grpSpPr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7702D860-D584-2C1E-AFCF-A3D0DFEE8285}"/>
                </a:ext>
              </a:extLst>
            </p:cNvPr>
            <p:cNvSpPr/>
            <p:nvPr/>
          </p:nvSpPr>
          <p:spPr>
            <a:xfrm>
              <a:off x="0" y="0"/>
              <a:ext cx="1129051" cy="560832"/>
            </a:xfrm>
            <a:custGeom>
              <a:avLst/>
              <a:gdLst/>
              <a:ahLst/>
              <a:cxnLst/>
              <a:rect l="l" t="t" r="r" b="b"/>
              <a:pathLst>
                <a:path w="1129051" h="560832">
                  <a:moveTo>
                    <a:pt x="0" y="0"/>
                  </a:moveTo>
                  <a:lnTo>
                    <a:pt x="1129051" y="0"/>
                  </a:lnTo>
                  <a:lnTo>
                    <a:pt x="1129051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7076" r="-223953" b="-77076"/>
              </a:stretch>
            </a:blipFill>
          </p:spPr>
        </p:sp>
        <p:sp>
          <p:nvSpPr>
            <p:cNvPr id="69" name="TextBox 51">
              <a:extLst>
                <a:ext uri="{FF2B5EF4-FFF2-40B4-BE49-F238E27FC236}">
                  <a16:creationId xmlns:a16="http://schemas.microsoft.com/office/drawing/2014/main" id="{0F59AF6F-418D-677D-43DC-D3B28E37AF10}"/>
                </a:ext>
              </a:extLst>
            </p:cNvPr>
            <p:cNvSpPr txBox="1"/>
            <p:nvPr/>
          </p:nvSpPr>
          <p:spPr>
            <a:xfrm>
              <a:off x="0" y="-19050"/>
              <a:ext cx="1129051" cy="5798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60"/>
                </a:lnSpc>
              </a:pPr>
              <a:r>
                <a:rPr lang="en-US" sz="550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정상</a:t>
              </a:r>
            </a:p>
          </p:txBody>
        </p:sp>
      </p:grpSp>
      <p:grpSp>
        <p:nvGrpSpPr>
          <p:cNvPr id="70" name="Group 52">
            <a:extLst>
              <a:ext uri="{FF2B5EF4-FFF2-40B4-BE49-F238E27FC236}">
                <a16:creationId xmlns:a16="http://schemas.microsoft.com/office/drawing/2014/main" id="{D81C8A78-2834-6F87-8AFD-F1586CA22DDE}"/>
              </a:ext>
            </a:extLst>
          </p:cNvPr>
          <p:cNvGrpSpPr/>
          <p:nvPr/>
        </p:nvGrpSpPr>
        <p:grpSpPr>
          <a:xfrm>
            <a:off x="5846028" y="2216801"/>
            <a:ext cx="50574" cy="16221"/>
            <a:chOff x="0" y="0"/>
            <a:chExt cx="339545" cy="108901"/>
          </a:xfrm>
        </p:grpSpPr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AC47C23A-C288-446E-4806-33F62D97AE21}"/>
                </a:ext>
              </a:extLst>
            </p:cNvPr>
            <p:cNvSpPr/>
            <p:nvPr/>
          </p:nvSpPr>
          <p:spPr>
            <a:xfrm>
              <a:off x="0" y="0"/>
              <a:ext cx="339545" cy="108901"/>
            </a:xfrm>
            <a:custGeom>
              <a:avLst/>
              <a:gdLst/>
              <a:ahLst/>
              <a:cxnLst/>
              <a:rect l="l" t="t" r="r" b="b"/>
              <a:pathLst>
                <a:path w="339545" h="108901">
                  <a:moveTo>
                    <a:pt x="0" y="16015"/>
                  </a:moveTo>
                  <a:cubicBezTo>
                    <a:pt x="0" y="7173"/>
                    <a:pt x="22366" y="0"/>
                    <a:pt x="49933" y="0"/>
                  </a:cubicBezTo>
                  <a:lnTo>
                    <a:pt x="289612" y="0"/>
                  </a:lnTo>
                  <a:cubicBezTo>
                    <a:pt x="317179" y="0"/>
                    <a:pt x="339545" y="7173"/>
                    <a:pt x="339545" y="16015"/>
                  </a:cubicBezTo>
                  <a:lnTo>
                    <a:pt x="339545" y="92886"/>
                  </a:lnTo>
                  <a:cubicBezTo>
                    <a:pt x="339545" y="101728"/>
                    <a:pt x="317179" y="108901"/>
                    <a:pt x="289612" y="108901"/>
                  </a:cubicBezTo>
                  <a:lnTo>
                    <a:pt x="49933" y="108901"/>
                  </a:lnTo>
                  <a:cubicBezTo>
                    <a:pt x="22366" y="108901"/>
                    <a:pt x="0" y="101728"/>
                    <a:pt x="0" y="92886"/>
                  </a:cubicBezTo>
                  <a:close/>
                </a:path>
              </a:pathLst>
            </a:custGeom>
            <a:solidFill>
              <a:srgbClr val="C0504D"/>
            </a:solidFill>
          </p:spPr>
        </p:sp>
      </p:grpSp>
      <p:grpSp>
        <p:nvGrpSpPr>
          <p:cNvPr id="72" name="Group 54">
            <a:extLst>
              <a:ext uri="{FF2B5EF4-FFF2-40B4-BE49-F238E27FC236}">
                <a16:creationId xmlns:a16="http://schemas.microsoft.com/office/drawing/2014/main" id="{6DCE1F33-A9A4-F484-7DFB-4A15CF8433D0}"/>
              </a:ext>
            </a:extLst>
          </p:cNvPr>
          <p:cNvGrpSpPr/>
          <p:nvPr/>
        </p:nvGrpSpPr>
        <p:grpSpPr>
          <a:xfrm>
            <a:off x="5920789" y="2161987"/>
            <a:ext cx="269404" cy="125849"/>
            <a:chOff x="0" y="0"/>
            <a:chExt cx="1200572" cy="560832"/>
          </a:xfrm>
        </p:grpSpPr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23D7B55D-6ED2-6D76-0E86-AB3D160E64E7}"/>
                </a:ext>
              </a:extLst>
            </p:cNvPr>
            <p:cNvSpPr/>
            <p:nvPr/>
          </p:nvSpPr>
          <p:spPr>
            <a:xfrm>
              <a:off x="0" y="0"/>
              <a:ext cx="1200572" cy="560832"/>
            </a:xfrm>
            <a:custGeom>
              <a:avLst/>
              <a:gdLst/>
              <a:ahLst/>
              <a:cxnLst/>
              <a:rect l="l" t="t" r="r" b="b"/>
              <a:pathLst>
                <a:path w="1200572" h="560832">
                  <a:moveTo>
                    <a:pt x="0" y="0"/>
                  </a:moveTo>
                  <a:lnTo>
                    <a:pt x="1200572" y="0"/>
                  </a:lnTo>
                  <a:lnTo>
                    <a:pt x="1200572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7076" r="-204654" b="-77076"/>
              </a:stretch>
            </a:blipFill>
          </p:spPr>
        </p:sp>
        <p:sp>
          <p:nvSpPr>
            <p:cNvPr id="74" name="TextBox 56">
              <a:extLst>
                <a:ext uri="{FF2B5EF4-FFF2-40B4-BE49-F238E27FC236}">
                  <a16:creationId xmlns:a16="http://schemas.microsoft.com/office/drawing/2014/main" id="{D0AB3159-71AF-6F3A-BFC3-75F6ED97D4ED}"/>
                </a:ext>
              </a:extLst>
            </p:cNvPr>
            <p:cNvSpPr txBox="1"/>
            <p:nvPr/>
          </p:nvSpPr>
          <p:spPr>
            <a:xfrm>
              <a:off x="0" y="-19050"/>
              <a:ext cx="1200572" cy="5798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660"/>
                </a:lnSpc>
              </a:pPr>
              <a:r>
                <a:rPr lang="en-US" sz="550" b="1">
                  <a:solidFill>
                    <a:srgbClr val="262A1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Nanum Square Bold"/>
                </a:rPr>
                <a:t>불량</a:t>
              </a:r>
            </a:p>
          </p:txBody>
        </p:sp>
      </p:grpSp>
      <p:grpSp>
        <p:nvGrpSpPr>
          <p:cNvPr id="75" name="Group 57">
            <a:extLst>
              <a:ext uri="{FF2B5EF4-FFF2-40B4-BE49-F238E27FC236}">
                <a16:creationId xmlns:a16="http://schemas.microsoft.com/office/drawing/2014/main" id="{8C72B7DE-888E-4044-FE32-2B959D10DB94}"/>
              </a:ext>
            </a:extLst>
          </p:cNvPr>
          <p:cNvGrpSpPr/>
          <p:nvPr/>
        </p:nvGrpSpPr>
        <p:grpSpPr>
          <a:xfrm>
            <a:off x="1868029" y="3698033"/>
            <a:ext cx="1223644" cy="196660"/>
            <a:chOff x="0" y="0"/>
            <a:chExt cx="3263050" cy="524426"/>
          </a:xfrm>
        </p:grpSpPr>
        <p:grpSp>
          <p:nvGrpSpPr>
            <p:cNvPr id="76" name="Group 58">
              <a:extLst>
                <a:ext uri="{FF2B5EF4-FFF2-40B4-BE49-F238E27FC236}">
                  <a16:creationId xmlns:a16="http://schemas.microsoft.com/office/drawing/2014/main" id="{2D0DCA69-5F4C-A45C-08A0-4E75693C9393}"/>
                </a:ext>
              </a:extLst>
            </p:cNvPr>
            <p:cNvGrpSpPr/>
            <p:nvPr/>
          </p:nvGrpSpPr>
          <p:grpSpPr>
            <a:xfrm>
              <a:off x="0" y="246338"/>
              <a:ext cx="197988" cy="63500"/>
              <a:chOff x="0" y="0"/>
              <a:chExt cx="339545" cy="108901"/>
            </a:xfrm>
          </p:grpSpPr>
          <p:sp>
            <p:nvSpPr>
              <p:cNvPr id="86" name="Freeform 59">
                <a:extLst>
                  <a:ext uri="{FF2B5EF4-FFF2-40B4-BE49-F238E27FC236}">
                    <a16:creationId xmlns:a16="http://schemas.microsoft.com/office/drawing/2014/main" id="{F080071F-E0C9-4ADC-D311-C3787E93E3F9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A4B465"/>
              </a:solidFill>
            </p:spPr>
          </p:sp>
        </p:grpSp>
        <p:grpSp>
          <p:nvGrpSpPr>
            <p:cNvPr id="77" name="Group 60">
              <a:extLst>
                <a:ext uri="{FF2B5EF4-FFF2-40B4-BE49-F238E27FC236}">
                  <a16:creationId xmlns:a16="http://schemas.microsoft.com/office/drawing/2014/main" id="{26202ED4-93E9-8E80-D1A6-831830266D7C}"/>
                </a:ext>
              </a:extLst>
            </p:cNvPr>
            <p:cNvGrpSpPr/>
            <p:nvPr/>
          </p:nvGrpSpPr>
          <p:grpSpPr>
            <a:xfrm>
              <a:off x="254405" y="31750"/>
              <a:ext cx="1426808" cy="492676"/>
              <a:chOff x="0" y="0"/>
              <a:chExt cx="1624190" cy="560832"/>
            </a:xfrm>
          </p:grpSpPr>
          <p:sp>
            <p:nvSpPr>
              <p:cNvPr id="83" name="Freeform 61">
                <a:extLst>
                  <a:ext uri="{FF2B5EF4-FFF2-40B4-BE49-F238E27FC236}">
                    <a16:creationId xmlns:a16="http://schemas.microsoft.com/office/drawing/2014/main" id="{65817A93-0C63-307E-43CF-4F46100428D8}"/>
                  </a:ext>
                </a:extLst>
              </p:cNvPr>
              <p:cNvSpPr/>
              <p:nvPr/>
            </p:nvSpPr>
            <p:spPr>
              <a:xfrm>
                <a:off x="0" y="0"/>
                <a:ext cx="1624190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624190" h="560832">
                    <a:moveTo>
                      <a:pt x="0" y="0"/>
                    </a:moveTo>
                    <a:lnTo>
                      <a:pt x="1624190" y="0"/>
                    </a:lnTo>
                    <a:lnTo>
                      <a:pt x="1624190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125195" b="-77076"/>
                </a:stretch>
              </a:blipFill>
            </p:spPr>
          </p:sp>
          <p:sp>
            <p:nvSpPr>
              <p:cNvPr id="85" name="TextBox 62">
                <a:extLst>
                  <a:ext uri="{FF2B5EF4-FFF2-40B4-BE49-F238E27FC236}">
                    <a16:creationId xmlns:a16="http://schemas.microsoft.com/office/drawing/2014/main" id="{EABFC403-FF43-FA95-A5CD-1EC83AA004DD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624190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정상 기준 = 680</a:t>
                </a:r>
              </a:p>
            </p:txBody>
          </p:sp>
        </p:grpSp>
        <p:grpSp>
          <p:nvGrpSpPr>
            <p:cNvPr id="78" name="Group 63">
              <a:extLst>
                <a:ext uri="{FF2B5EF4-FFF2-40B4-BE49-F238E27FC236}">
                  <a16:creationId xmlns:a16="http://schemas.microsoft.com/office/drawing/2014/main" id="{FC9D3AD8-3DAC-C3B6-FAB8-0B1E3CD329DB}"/>
                </a:ext>
              </a:extLst>
            </p:cNvPr>
            <p:cNvGrpSpPr/>
            <p:nvPr/>
          </p:nvGrpSpPr>
          <p:grpSpPr>
            <a:xfrm>
              <a:off x="1935612" y="214588"/>
              <a:ext cx="197988" cy="63500"/>
              <a:chOff x="0" y="0"/>
              <a:chExt cx="339545" cy="108901"/>
            </a:xfrm>
          </p:grpSpPr>
          <p:sp>
            <p:nvSpPr>
              <p:cNvPr id="82" name="Freeform 64">
                <a:extLst>
                  <a:ext uri="{FF2B5EF4-FFF2-40B4-BE49-F238E27FC236}">
                    <a16:creationId xmlns:a16="http://schemas.microsoft.com/office/drawing/2014/main" id="{569CF62F-0A33-CD88-0D4E-5353AD6B5881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C0504D"/>
              </a:solidFill>
            </p:spPr>
          </p:sp>
        </p:grpSp>
        <p:grpSp>
          <p:nvGrpSpPr>
            <p:cNvPr id="79" name="Group 65">
              <a:extLst>
                <a:ext uri="{FF2B5EF4-FFF2-40B4-BE49-F238E27FC236}">
                  <a16:creationId xmlns:a16="http://schemas.microsoft.com/office/drawing/2014/main" id="{954E701F-AB57-0554-1CB3-394159017E36}"/>
                </a:ext>
              </a:extLst>
            </p:cNvPr>
            <p:cNvGrpSpPr/>
            <p:nvPr/>
          </p:nvGrpSpPr>
          <p:grpSpPr>
            <a:xfrm>
              <a:off x="2208379" y="0"/>
              <a:ext cx="1054670" cy="492676"/>
              <a:chOff x="0" y="0"/>
              <a:chExt cx="1200572" cy="560832"/>
            </a:xfrm>
          </p:grpSpPr>
          <p:sp>
            <p:nvSpPr>
              <p:cNvPr id="80" name="Freeform 66">
                <a:extLst>
                  <a:ext uri="{FF2B5EF4-FFF2-40B4-BE49-F238E27FC236}">
                    <a16:creationId xmlns:a16="http://schemas.microsoft.com/office/drawing/2014/main" id="{E73A286C-F919-F427-867A-1A2511D37EA1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81" name="TextBox 67">
                <a:extLst>
                  <a:ext uri="{FF2B5EF4-FFF2-40B4-BE49-F238E27FC236}">
                    <a16:creationId xmlns:a16="http://schemas.microsoft.com/office/drawing/2014/main" id="{4C0FD810-89B0-A793-4517-0ACA2C4F7F15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200572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seq7 전류</a:t>
                </a:r>
              </a:p>
            </p:txBody>
          </p:sp>
        </p:grpSp>
      </p:grpSp>
      <p:sp>
        <p:nvSpPr>
          <p:cNvPr id="87" name="TextBox 68">
            <a:extLst>
              <a:ext uri="{FF2B5EF4-FFF2-40B4-BE49-F238E27FC236}">
                <a16:creationId xmlns:a16="http://schemas.microsoft.com/office/drawing/2014/main" id="{A214C387-7595-6300-E576-F8F5BB7DA116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이상점수 급등 시점(검은 점선) = 불량 발생 추정 · 지도학습 변수 방향과 일치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grpSp>
        <p:nvGrpSpPr>
          <p:cNvPr id="88" name="Group 69">
            <a:extLst>
              <a:ext uri="{FF2B5EF4-FFF2-40B4-BE49-F238E27FC236}">
                <a16:creationId xmlns:a16="http://schemas.microsoft.com/office/drawing/2014/main" id="{469C42E0-DD5A-524C-A540-FDA6F6BD7C1D}"/>
              </a:ext>
            </a:extLst>
          </p:cNvPr>
          <p:cNvGrpSpPr/>
          <p:nvPr/>
        </p:nvGrpSpPr>
        <p:grpSpPr>
          <a:xfrm>
            <a:off x="4712007" y="2287837"/>
            <a:ext cx="3980750" cy="262054"/>
            <a:chOff x="0" y="0"/>
            <a:chExt cx="11676908" cy="768693"/>
          </a:xfrm>
        </p:grpSpPr>
        <p:sp>
          <p:nvSpPr>
            <p:cNvPr id="89" name="Freeform 70">
              <a:extLst>
                <a:ext uri="{FF2B5EF4-FFF2-40B4-BE49-F238E27FC236}">
                  <a16:creationId xmlns:a16="http://schemas.microsoft.com/office/drawing/2014/main" id="{70268538-9C36-A6E6-FB26-D588000573AC}"/>
                </a:ext>
              </a:extLst>
            </p:cNvPr>
            <p:cNvSpPr/>
            <p:nvPr/>
          </p:nvSpPr>
          <p:spPr>
            <a:xfrm>
              <a:off x="0" y="0"/>
              <a:ext cx="11676908" cy="768731"/>
            </a:xfrm>
            <a:custGeom>
              <a:avLst/>
              <a:gdLst/>
              <a:ahLst/>
              <a:cxnLst/>
              <a:rect l="l" t="t" r="r" b="b"/>
              <a:pathLst>
                <a:path w="11676908" h="768731">
                  <a:moveTo>
                    <a:pt x="0" y="128143"/>
                  </a:moveTo>
                  <a:cubicBezTo>
                    <a:pt x="0" y="57404"/>
                    <a:pt x="65400" y="0"/>
                    <a:pt x="145992" y="0"/>
                  </a:cubicBezTo>
                  <a:lnTo>
                    <a:pt x="11530916" y="0"/>
                  </a:lnTo>
                  <a:cubicBezTo>
                    <a:pt x="11611508" y="0"/>
                    <a:pt x="11676908" y="57404"/>
                    <a:pt x="11676908" y="128143"/>
                  </a:cubicBezTo>
                  <a:lnTo>
                    <a:pt x="11676908" y="640588"/>
                  </a:lnTo>
                  <a:cubicBezTo>
                    <a:pt x="11676908" y="711327"/>
                    <a:pt x="11611508" y="768731"/>
                    <a:pt x="11530916" y="768731"/>
                  </a:cubicBezTo>
                  <a:lnTo>
                    <a:pt x="145992" y="768731"/>
                  </a:lnTo>
                  <a:cubicBezTo>
                    <a:pt x="65400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90" name="Group 71">
            <a:extLst>
              <a:ext uri="{FF2B5EF4-FFF2-40B4-BE49-F238E27FC236}">
                <a16:creationId xmlns:a16="http://schemas.microsoft.com/office/drawing/2014/main" id="{6252DC67-59DD-1163-AAE7-1CA5980F1A12}"/>
              </a:ext>
            </a:extLst>
          </p:cNvPr>
          <p:cNvGrpSpPr/>
          <p:nvPr/>
        </p:nvGrpSpPr>
        <p:grpSpPr>
          <a:xfrm>
            <a:off x="4807710" y="2287836"/>
            <a:ext cx="2071333" cy="262055"/>
            <a:chOff x="0" y="0"/>
            <a:chExt cx="6075929" cy="768697"/>
          </a:xfrm>
        </p:grpSpPr>
        <p:sp>
          <p:nvSpPr>
            <p:cNvPr id="91" name="Freeform 72">
              <a:extLst>
                <a:ext uri="{FF2B5EF4-FFF2-40B4-BE49-F238E27FC236}">
                  <a16:creationId xmlns:a16="http://schemas.microsoft.com/office/drawing/2014/main" id="{D8E358F4-6714-B162-1CFB-FEC6871CA893}"/>
                </a:ext>
              </a:extLst>
            </p:cNvPr>
            <p:cNvSpPr/>
            <p:nvPr/>
          </p:nvSpPr>
          <p:spPr>
            <a:xfrm>
              <a:off x="0" y="0"/>
              <a:ext cx="6075929" cy="768700"/>
            </a:xfrm>
            <a:custGeom>
              <a:avLst/>
              <a:gdLst/>
              <a:ahLst/>
              <a:cxnLst/>
              <a:rect l="l" t="t" r="r" b="b"/>
              <a:pathLst>
                <a:path w="6075929" h="768700">
                  <a:moveTo>
                    <a:pt x="0" y="0"/>
                  </a:moveTo>
                  <a:lnTo>
                    <a:pt x="6075929" y="0"/>
                  </a:lnTo>
                  <a:lnTo>
                    <a:pt x="6075929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62662" b="-200520"/>
              </a:stretch>
            </a:blipFill>
          </p:spPr>
        </p:sp>
        <p:sp>
          <p:nvSpPr>
            <p:cNvPr id="92" name="TextBox 73">
              <a:extLst>
                <a:ext uri="{FF2B5EF4-FFF2-40B4-BE49-F238E27FC236}">
                  <a16:creationId xmlns:a16="http://schemas.microsoft.com/office/drawing/2014/main" id="{64A86194-FA25-096A-F597-3C1A064737D2}"/>
                </a:ext>
              </a:extLst>
            </p:cNvPr>
            <p:cNvSpPr txBox="1"/>
            <p:nvPr/>
          </p:nvSpPr>
          <p:spPr>
            <a:xfrm>
              <a:off x="0" y="-28575"/>
              <a:ext cx="6075929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이상 원인 변수 기여</a:t>
              </a:r>
            </a:p>
          </p:txBody>
        </p:sp>
      </p:grpSp>
      <p:sp>
        <p:nvSpPr>
          <p:cNvPr id="93" name="TextBox 74">
            <a:extLst>
              <a:ext uri="{FF2B5EF4-FFF2-40B4-BE49-F238E27FC236}">
                <a16:creationId xmlns:a16="http://schemas.microsoft.com/office/drawing/2014/main" id="{4D83E74F-3684-74F9-11EF-8BCBE2E93098}"/>
              </a:ext>
            </a:extLst>
          </p:cNvPr>
          <p:cNvSpPr txBox="1"/>
          <p:nvPr/>
        </p:nvSpPr>
        <p:spPr>
          <a:xfrm>
            <a:off x="4913329" y="2688196"/>
            <a:ext cx="211045" cy="10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"/>
              </a:lnSpc>
              <a:spcBef>
                <a:spcPct val="0"/>
              </a:spcBef>
            </a:pPr>
            <a:r>
              <a:rPr lang="en-US" sz="720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전력</a:t>
            </a:r>
          </a:p>
        </p:txBody>
      </p:sp>
      <p:sp>
        <p:nvSpPr>
          <p:cNvPr id="94" name="TextBox 75">
            <a:extLst>
              <a:ext uri="{FF2B5EF4-FFF2-40B4-BE49-F238E27FC236}">
                <a16:creationId xmlns:a16="http://schemas.microsoft.com/office/drawing/2014/main" id="{AD71FCEC-9A2D-8F1F-FBB0-F43869D42614}"/>
              </a:ext>
            </a:extLst>
          </p:cNvPr>
          <p:cNvSpPr txBox="1"/>
          <p:nvPr/>
        </p:nvSpPr>
        <p:spPr>
          <a:xfrm>
            <a:off x="4913329" y="3027612"/>
            <a:ext cx="238231" cy="10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"/>
              </a:lnSpc>
              <a:spcBef>
                <a:spcPct val="0"/>
              </a:spcBef>
            </a:pPr>
            <a:r>
              <a:rPr lang="en-US" sz="720" b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전압</a:t>
            </a:r>
          </a:p>
        </p:txBody>
      </p:sp>
      <p:grpSp>
        <p:nvGrpSpPr>
          <p:cNvPr id="95" name="Group 76">
            <a:extLst>
              <a:ext uri="{FF2B5EF4-FFF2-40B4-BE49-F238E27FC236}">
                <a16:creationId xmlns:a16="http://schemas.microsoft.com/office/drawing/2014/main" id="{A0122424-57D5-CAC6-89B1-D42BE766D874}"/>
              </a:ext>
            </a:extLst>
          </p:cNvPr>
          <p:cNvGrpSpPr/>
          <p:nvPr/>
        </p:nvGrpSpPr>
        <p:grpSpPr>
          <a:xfrm>
            <a:off x="6107783" y="2548390"/>
            <a:ext cx="1947496" cy="778961"/>
            <a:chOff x="0" y="0"/>
            <a:chExt cx="5193321" cy="2077229"/>
          </a:xfrm>
        </p:grpSpPr>
        <p:sp>
          <p:nvSpPr>
            <p:cNvPr id="96" name="Freeform 77">
              <a:extLst>
                <a:ext uri="{FF2B5EF4-FFF2-40B4-BE49-F238E27FC236}">
                  <a16:creationId xmlns:a16="http://schemas.microsoft.com/office/drawing/2014/main" id="{FB33C26D-27E5-631E-D9E9-4D2F0D0118F1}"/>
                </a:ext>
              </a:extLst>
            </p:cNvPr>
            <p:cNvSpPr/>
            <p:nvPr/>
          </p:nvSpPr>
          <p:spPr>
            <a:xfrm>
              <a:off x="0" y="0"/>
              <a:ext cx="5193321" cy="2077229"/>
            </a:xfrm>
            <a:custGeom>
              <a:avLst/>
              <a:gdLst/>
              <a:ahLst/>
              <a:cxnLst/>
              <a:rect l="l" t="t" r="r" b="b"/>
              <a:pathLst>
                <a:path w="5193321" h="2077229">
                  <a:moveTo>
                    <a:pt x="0" y="0"/>
                  </a:moveTo>
                  <a:lnTo>
                    <a:pt x="5193321" y="0"/>
                  </a:lnTo>
                  <a:lnTo>
                    <a:pt x="5193321" y="2077229"/>
                  </a:lnTo>
                  <a:lnTo>
                    <a:pt x="0" y="2077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480" r="-112687"/>
              </a:stretch>
            </a:blipFill>
          </p:spPr>
        </p:sp>
        <p:sp>
          <p:nvSpPr>
            <p:cNvPr id="97" name="TextBox 78">
              <a:extLst>
                <a:ext uri="{FF2B5EF4-FFF2-40B4-BE49-F238E27FC236}">
                  <a16:creationId xmlns:a16="http://schemas.microsoft.com/office/drawing/2014/main" id="{4BAAA824-AAE8-EBEF-064B-B1A11ADC73A1}"/>
                </a:ext>
              </a:extLst>
            </p:cNvPr>
            <p:cNvSpPr txBox="1"/>
            <p:nvPr/>
          </p:nvSpPr>
          <p:spPr>
            <a:xfrm>
              <a:off x="4467201" y="375992"/>
              <a:ext cx="393632" cy="4662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4"/>
                </a:lnSpc>
                <a:spcBef>
                  <a:spcPct val="0"/>
                </a:spcBef>
              </a:pPr>
              <a:r>
                <a:rPr lang="en-US" sz="57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0.39</a:t>
              </a:r>
            </a:p>
          </p:txBody>
        </p:sp>
        <p:sp>
          <p:nvSpPr>
            <p:cNvPr id="100" name="TextBox 79">
              <a:extLst>
                <a:ext uri="{FF2B5EF4-FFF2-40B4-BE49-F238E27FC236}">
                  <a16:creationId xmlns:a16="http://schemas.microsoft.com/office/drawing/2014/main" id="{8C8C0C49-70F5-D643-6422-3642ACF7FC61}"/>
                </a:ext>
              </a:extLst>
            </p:cNvPr>
            <p:cNvSpPr txBox="1"/>
            <p:nvPr/>
          </p:nvSpPr>
          <p:spPr>
            <a:xfrm>
              <a:off x="974920" y="1281104"/>
              <a:ext cx="393632" cy="226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4"/>
                </a:lnSpc>
                <a:spcBef>
                  <a:spcPct val="0"/>
                </a:spcBef>
              </a:pPr>
              <a:r>
                <a:rPr lang="en-US" sz="57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0.11</a:t>
              </a:r>
            </a:p>
          </p:txBody>
        </p:sp>
      </p:grpSp>
      <p:grpSp>
        <p:nvGrpSpPr>
          <p:cNvPr id="101" name="Group 80">
            <a:extLst>
              <a:ext uri="{FF2B5EF4-FFF2-40B4-BE49-F238E27FC236}">
                <a16:creationId xmlns:a16="http://schemas.microsoft.com/office/drawing/2014/main" id="{069DB972-51DA-F9A2-5343-0EB40CC44CA1}"/>
              </a:ext>
            </a:extLst>
          </p:cNvPr>
          <p:cNvGrpSpPr/>
          <p:nvPr/>
        </p:nvGrpSpPr>
        <p:grpSpPr>
          <a:xfrm>
            <a:off x="4712007" y="3328851"/>
            <a:ext cx="3980750" cy="698681"/>
            <a:chOff x="0" y="0"/>
            <a:chExt cx="1638169" cy="287523"/>
          </a:xfrm>
        </p:grpSpPr>
        <p:sp>
          <p:nvSpPr>
            <p:cNvPr id="102" name="Freeform 81">
              <a:extLst>
                <a:ext uri="{FF2B5EF4-FFF2-40B4-BE49-F238E27FC236}">
                  <a16:creationId xmlns:a16="http://schemas.microsoft.com/office/drawing/2014/main" id="{112FAE9F-605E-C835-33C9-EFDBBAEE3D4A}"/>
                </a:ext>
              </a:extLst>
            </p:cNvPr>
            <p:cNvSpPr/>
            <p:nvPr/>
          </p:nvSpPr>
          <p:spPr>
            <a:xfrm>
              <a:off x="0" y="0"/>
              <a:ext cx="1638169" cy="287523"/>
            </a:xfrm>
            <a:custGeom>
              <a:avLst/>
              <a:gdLst/>
              <a:ahLst/>
              <a:cxnLst/>
              <a:rect l="l" t="t" r="r" b="b"/>
              <a:pathLst>
                <a:path w="1638169" h="287523">
                  <a:moveTo>
                    <a:pt x="4558" y="0"/>
                  </a:moveTo>
                  <a:lnTo>
                    <a:pt x="1633610" y="0"/>
                  </a:lnTo>
                  <a:cubicBezTo>
                    <a:pt x="1636128" y="0"/>
                    <a:pt x="1638169" y="2041"/>
                    <a:pt x="1638169" y="4558"/>
                  </a:cubicBezTo>
                  <a:lnTo>
                    <a:pt x="1638169" y="282965"/>
                  </a:lnTo>
                  <a:cubicBezTo>
                    <a:pt x="1638169" y="285482"/>
                    <a:pt x="1636128" y="287523"/>
                    <a:pt x="1633610" y="287523"/>
                  </a:cubicBezTo>
                  <a:lnTo>
                    <a:pt x="4558" y="287523"/>
                  </a:lnTo>
                  <a:cubicBezTo>
                    <a:pt x="2041" y="287523"/>
                    <a:pt x="0" y="285482"/>
                    <a:pt x="0" y="282965"/>
                  </a:cubicBezTo>
                  <a:lnTo>
                    <a:pt x="0" y="4558"/>
                  </a:lnTo>
                  <a:cubicBezTo>
                    <a:pt x="0" y="2041"/>
                    <a:pt x="2041" y="0"/>
                    <a:pt x="4558" y="0"/>
                  </a:cubicBezTo>
                  <a:close/>
                </a:path>
              </a:pathLst>
            </a:custGeom>
            <a:solidFill>
              <a:srgbClr val="F4F6EC"/>
            </a:solidFill>
            <a:ln w="19050" cap="sq">
              <a:solidFill>
                <a:srgbClr val="C9D2A6"/>
              </a:solidFill>
              <a:prstDash val="solid"/>
              <a:miter/>
            </a:ln>
          </p:spPr>
        </p:sp>
        <p:sp>
          <p:nvSpPr>
            <p:cNvPr id="103" name="TextBox 82">
              <a:extLst>
                <a:ext uri="{FF2B5EF4-FFF2-40B4-BE49-F238E27FC236}">
                  <a16:creationId xmlns:a16="http://schemas.microsoft.com/office/drawing/2014/main" id="{B01938D6-BBBF-2438-DB0F-F55645592CB4}"/>
                </a:ext>
              </a:extLst>
            </p:cNvPr>
            <p:cNvSpPr txBox="1"/>
            <p:nvPr/>
          </p:nvSpPr>
          <p:spPr>
            <a:xfrm>
              <a:off x="0" y="-19050"/>
              <a:ext cx="1638169" cy="3065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04" name="TextBox 83">
            <a:extLst>
              <a:ext uri="{FF2B5EF4-FFF2-40B4-BE49-F238E27FC236}">
                <a16:creationId xmlns:a16="http://schemas.microsoft.com/office/drawing/2014/main" id="{EE236FFD-F724-F5EF-6578-F0877A8376A2}"/>
              </a:ext>
            </a:extLst>
          </p:cNvPr>
          <p:cNvSpPr txBox="1"/>
          <p:nvPr/>
        </p:nvSpPr>
        <p:spPr>
          <a:xfrm>
            <a:off x="4889673" y="3536108"/>
            <a:ext cx="848097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전류 = 근본 원인 </a:t>
            </a:r>
          </a:p>
        </p:txBody>
      </p:sp>
      <p:sp>
        <p:nvSpPr>
          <p:cNvPr id="105" name="TextBox 84">
            <a:extLst>
              <a:ext uri="{FF2B5EF4-FFF2-40B4-BE49-F238E27FC236}">
                <a16:creationId xmlns:a16="http://schemas.microsoft.com/office/drawing/2014/main" id="{C4AC4861-984E-6977-9503-2E96853DC339}"/>
              </a:ext>
            </a:extLst>
          </p:cNvPr>
          <p:cNvSpPr txBox="1"/>
          <p:nvPr/>
        </p:nvSpPr>
        <p:spPr>
          <a:xfrm>
            <a:off x="4858533" y="3721846"/>
            <a:ext cx="3196745" cy="12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Nanum Square"/>
              </a:rPr>
              <a:t>전력은 전류·전압 파생 → 전류 과다 시 이상점수를 증폭해 신호로 드러냄</a:t>
            </a:r>
          </a:p>
        </p:txBody>
      </p:sp>
      <p:pic>
        <p:nvPicPr>
          <p:cNvPr id="106" name="Image 1" descr="preencoded.png">
            <a:extLst>
              <a:ext uri="{FF2B5EF4-FFF2-40B4-BE49-F238E27FC236}">
                <a16:creationId xmlns:a16="http://schemas.microsoft.com/office/drawing/2014/main" id="{FA14B7EA-B364-2A3B-0AEC-8434CD8925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07" name="Text 2">
            <a:extLst>
              <a:ext uri="{FF2B5EF4-FFF2-40B4-BE49-F238E27FC236}">
                <a16:creationId xmlns:a16="http://schemas.microsoft.com/office/drawing/2014/main" id="{C33EC24C-1EA7-610A-1D2B-EDA551DE76CD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08" name="Text 9">
            <a:extLst>
              <a:ext uri="{FF2B5EF4-FFF2-40B4-BE49-F238E27FC236}">
                <a16:creationId xmlns:a16="http://schemas.microsoft.com/office/drawing/2014/main" id="{7BD9622B-EDB9-F090-D219-453E14C03F1E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1516265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B14D-8D3B-2F14-7632-531E2148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5126BA5-ADA0-57B5-0B60-292F037A1B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C0C9DB7-83CB-0DFF-32E5-45CE5659DF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9CC0FAC-FE53-57F6-4364-697F4022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ADCEA928-060D-F8FA-68DE-943E2CC339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2DC2B88-96EB-A05D-E200-9AD7BDE3B2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8DB60C26-E6CF-F613-D860-FABC7667C382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이상탐지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임계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위험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구간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7AD99663-1972-0C18-36DD-E97CA21ADF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C8397824-BB7D-1727-6671-A91187086204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729651BB-FA65-3C12-2989-2D5B3BD29763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EAA3C115-8F8C-0A35-B5FE-3A9CD666FE77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A6673C3B-0A72-7F22-233F-B554A6760659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8013ADD2-877F-60A1-3D05-5C32EDC7D71C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5FAEBCEE-3235-89AB-FC82-178C2BC69BFA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62E52CC1-619C-1D02-19E5-C95383731FE3}"/>
              </a:ext>
            </a:extLst>
          </p:cNvPr>
          <p:cNvGrpSpPr/>
          <p:nvPr/>
        </p:nvGrpSpPr>
        <p:grpSpPr>
          <a:xfrm>
            <a:off x="652020" y="4351373"/>
            <a:ext cx="5010255" cy="363757"/>
            <a:chOff x="0" y="0"/>
            <a:chExt cx="13360679" cy="970019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CBCB4A07-6ED9-3588-D8BF-C3575723F91F}"/>
                </a:ext>
              </a:extLst>
            </p:cNvPr>
            <p:cNvSpPr/>
            <p:nvPr/>
          </p:nvSpPr>
          <p:spPr>
            <a:xfrm>
              <a:off x="0" y="0"/>
              <a:ext cx="13360678" cy="970025"/>
            </a:xfrm>
            <a:custGeom>
              <a:avLst/>
              <a:gdLst/>
              <a:ahLst/>
              <a:cxnLst/>
              <a:rect l="l" t="t" r="r" b="b"/>
              <a:pathLst>
                <a:path w="13360678" h="970025">
                  <a:moveTo>
                    <a:pt x="0" y="0"/>
                  </a:moveTo>
                  <a:lnTo>
                    <a:pt x="13360678" y="0"/>
                  </a:lnTo>
                  <a:lnTo>
                    <a:pt x="13360678" y="970025"/>
                  </a:lnTo>
                  <a:lnTo>
                    <a:pt x="0" y="9700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97623" b="-239132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8216344C-3D0D-B19C-13DC-47A7598A87B0}"/>
                </a:ext>
              </a:extLst>
            </p:cNvPr>
            <p:cNvSpPr txBox="1"/>
            <p:nvPr/>
          </p:nvSpPr>
          <p:spPr>
            <a:xfrm>
              <a:off x="0" y="0"/>
              <a:ext cx="13360679" cy="970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임계 올려도 재현율 1 유지 · 오탐률 0.5 → 0 (안전 마진 큼) · 40–60% 최다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5F78917A-6929-3015-2838-D979528D0B7A}"/>
              </a:ext>
            </a:extLst>
          </p:cNvPr>
          <p:cNvGrpSpPr/>
          <p:nvPr/>
        </p:nvGrpSpPr>
        <p:grpSpPr>
          <a:xfrm>
            <a:off x="576196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4DDCF89A-C39A-E87F-04E9-E06D2E202CC7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DD5834CE-6695-0568-C9DA-5A99B758B1A2}"/>
              </a:ext>
            </a:extLst>
          </p:cNvPr>
          <p:cNvGrpSpPr/>
          <p:nvPr/>
        </p:nvGrpSpPr>
        <p:grpSpPr>
          <a:xfrm>
            <a:off x="6453031" y="4205053"/>
            <a:ext cx="2230593" cy="484815"/>
            <a:chOff x="0" y="0"/>
            <a:chExt cx="5948248" cy="1292840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CCA3FE88-2205-AD73-5F98-84BA2EB2C519}"/>
                </a:ext>
              </a:extLst>
            </p:cNvPr>
            <p:cNvSpPr/>
            <p:nvPr/>
          </p:nvSpPr>
          <p:spPr>
            <a:xfrm>
              <a:off x="0" y="0"/>
              <a:ext cx="5948247" cy="1292839"/>
            </a:xfrm>
            <a:custGeom>
              <a:avLst/>
              <a:gdLst/>
              <a:ahLst/>
              <a:cxnLst/>
              <a:rect l="l" t="t" r="r" b="b"/>
              <a:pathLst>
                <a:path w="5948247" h="1292839">
                  <a:moveTo>
                    <a:pt x="0" y="0"/>
                  </a:moveTo>
                  <a:lnTo>
                    <a:pt x="5948247" y="0"/>
                  </a:lnTo>
                  <a:lnTo>
                    <a:pt x="5948247" y="1292839"/>
                  </a:lnTo>
                  <a:lnTo>
                    <a:pt x="0" y="129283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2404" b="-56893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C8941385-4262-E046-1CC1-8B726CADAA54}"/>
                </a:ext>
              </a:extLst>
            </p:cNvPr>
            <p:cNvSpPr txBox="1"/>
            <p:nvPr/>
          </p:nvSpPr>
          <p:spPr>
            <a:xfrm>
              <a:off x="0" y="-38100"/>
              <a:ext cx="5948248" cy="1330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위험구간 집중 + 초기 감시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C9FEA599-FD9F-B131-7967-CBF0A7FE6411}"/>
              </a:ext>
            </a:extLst>
          </p:cNvPr>
          <p:cNvGrpSpPr/>
          <p:nvPr/>
        </p:nvGrpSpPr>
        <p:grpSpPr>
          <a:xfrm>
            <a:off x="377486" y="967610"/>
            <a:ext cx="2859993" cy="288261"/>
            <a:chOff x="0" y="0"/>
            <a:chExt cx="7626646" cy="768697"/>
          </a:xfrm>
        </p:grpSpPr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8405C22D-03A7-F3D3-7A78-1D02E669831A}"/>
                </a:ext>
              </a:extLst>
            </p:cNvPr>
            <p:cNvGrpSpPr/>
            <p:nvPr/>
          </p:nvGrpSpPr>
          <p:grpSpPr>
            <a:xfrm>
              <a:off x="0" y="0"/>
              <a:ext cx="7569619" cy="768693"/>
              <a:chOff x="0" y="0"/>
              <a:chExt cx="7569619" cy="768693"/>
            </a:xfrm>
          </p:grpSpPr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A9528A7B-8E18-B11D-06AF-C5FE5A7C3F74}"/>
                  </a:ext>
                </a:extLst>
              </p:cNvPr>
              <p:cNvSpPr/>
              <p:nvPr/>
            </p:nvSpPr>
            <p:spPr>
              <a:xfrm>
                <a:off x="0" y="0"/>
                <a:ext cx="7569619" cy="768731"/>
              </a:xfrm>
              <a:custGeom>
                <a:avLst/>
                <a:gdLst/>
                <a:ahLst/>
                <a:cxnLst/>
                <a:rect l="l" t="t" r="r" b="b"/>
                <a:pathLst>
                  <a:path w="7569619" h="768731">
                    <a:moveTo>
                      <a:pt x="0" y="128143"/>
                    </a:moveTo>
                    <a:cubicBezTo>
                      <a:pt x="0" y="57404"/>
                      <a:pt x="42396" y="0"/>
                      <a:pt x="94640" y="0"/>
                    </a:cubicBezTo>
                    <a:lnTo>
                      <a:pt x="7474979" y="0"/>
                    </a:lnTo>
                    <a:cubicBezTo>
                      <a:pt x="7527223" y="0"/>
                      <a:pt x="7569619" y="57404"/>
                      <a:pt x="7569619" y="128143"/>
                    </a:cubicBezTo>
                    <a:lnTo>
                      <a:pt x="7569619" y="640588"/>
                    </a:lnTo>
                    <a:cubicBezTo>
                      <a:pt x="7569619" y="711327"/>
                      <a:pt x="7527223" y="768731"/>
                      <a:pt x="7474979" y="768731"/>
                    </a:cubicBezTo>
                    <a:lnTo>
                      <a:pt x="94640" y="768731"/>
                    </a:lnTo>
                    <a:cubicBezTo>
                      <a:pt x="42396" y="768731"/>
                      <a:pt x="0" y="711327"/>
                      <a:pt x="0" y="640588"/>
                    </a:cubicBez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grpSp>
          <p:nvGrpSpPr>
            <p:cNvPr id="24" name="Group 39">
              <a:extLst>
                <a:ext uri="{FF2B5EF4-FFF2-40B4-BE49-F238E27FC236}">
                  <a16:creationId xmlns:a16="http://schemas.microsoft.com/office/drawing/2014/main" id="{BBD0D6F4-99F2-6612-55AD-DD43924B93A7}"/>
                </a:ext>
              </a:extLst>
            </p:cNvPr>
            <p:cNvGrpSpPr/>
            <p:nvPr/>
          </p:nvGrpSpPr>
          <p:grpSpPr>
            <a:xfrm>
              <a:off x="276648" y="0"/>
              <a:ext cx="7349998" cy="768697"/>
              <a:chOff x="0" y="0"/>
              <a:chExt cx="7349998" cy="768697"/>
            </a:xfrm>
          </p:grpSpPr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8BCE668F-D423-5E43-4BB2-D883AB058343}"/>
                  </a:ext>
                </a:extLst>
              </p:cNvPr>
              <p:cNvSpPr/>
              <p:nvPr/>
            </p:nvSpPr>
            <p:spPr>
              <a:xfrm>
                <a:off x="0" y="0"/>
                <a:ext cx="7349998" cy="768700"/>
              </a:xfrm>
              <a:custGeom>
                <a:avLst/>
                <a:gdLst/>
                <a:ahLst/>
                <a:cxnLst/>
                <a:rect l="l" t="t" r="r" b="b"/>
                <a:pathLst>
                  <a:path w="7349998" h="768700">
                    <a:moveTo>
                      <a:pt x="0" y="0"/>
                    </a:moveTo>
                    <a:lnTo>
                      <a:pt x="7349998" y="0"/>
                    </a:lnTo>
                    <a:lnTo>
                      <a:pt x="7349998" y="768700"/>
                    </a:lnTo>
                    <a:lnTo>
                      <a:pt x="0" y="768700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200521" r="-34465" b="-200520"/>
                </a:stretch>
              </a:blipFill>
            </p:spPr>
          </p:sp>
          <p:sp>
            <p:nvSpPr>
              <p:cNvPr id="26" name="TextBox 41">
                <a:extLst>
                  <a:ext uri="{FF2B5EF4-FFF2-40B4-BE49-F238E27FC236}">
                    <a16:creationId xmlns:a16="http://schemas.microsoft.com/office/drawing/2014/main" id="{1626F831-086B-C117-4F20-8AC55620696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7349998" cy="7972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1126"/>
                  </a:lnSpc>
                </a:pPr>
                <a:r>
                  <a:rPr lang="en-US" sz="938" b="1">
                    <a:solidFill>
                      <a:srgbClr val="FFFFFF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mo Bold"/>
                  </a:rPr>
                  <a:t>분위수 임계별 재현율 · 오탐률</a:t>
                </a:r>
              </a:p>
            </p:txBody>
          </p:sp>
        </p:grpSp>
      </p:grpSp>
      <p:grpSp>
        <p:nvGrpSpPr>
          <p:cNvPr id="28" name="Group 42">
            <a:extLst>
              <a:ext uri="{FF2B5EF4-FFF2-40B4-BE49-F238E27FC236}">
                <a16:creationId xmlns:a16="http://schemas.microsoft.com/office/drawing/2014/main" id="{EE98A537-95B3-1EB0-84D1-41F1157BFF9C}"/>
              </a:ext>
            </a:extLst>
          </p:cNvPr>
          <p:cNvGrpSpPr/>
          <p:nvPr/>
        </p:nvGrpSpPr>
        <p:grpSpPr>
          <a:xfrm>
            <a:off x="4712007" y="967611"/>
            <a:ext cx="2838607" cy="288260"/>
            <a:chOff x="0" y="0"/>
            <a:chExt cx="7569619" cy="768693"/>
          </a:xfrm>
        </p:grpSpPr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A69F89B2-018C-3F3B-28F5-AFA3CF2FBE1F}"/>
                </a:ext>
              </a:extLst>
            </p:cNvPr>
            <p:cNvSpPr/>
            <p:nvPr/>
          </p:nvSpPr>
          <p:spPr>
            <a:xfrm>
              <a:off x="0" y="0"/>
              <a:ext cx="7569619" cy="768731"/>
            </a:xfrm>
            <a:custGeom>
              <a:avLst/>
              <a:gdLst/>
              <a:ahLst/>
              <a:cxnLst/>
              <a:rect l="l" t="t" r="r" b="b"/>
              <a:pathLst>
                <a:path w="7569619" h="768731">
                  <a:moveTo>
                    <a:pt x="0" y="128143"/>
                  </a:moveTo>
                  <a:cubicBezTo>
                    <a:pt x="0" y="57404"/>
                    <a:pt x="42396" y="0"/>
                    <a:pt x="94640" y="0"/>
                  </a:cubicBezTo>
                  <a:lnTo>
                    <a:pt x="7474979" y="0"/>
                  </a:lnTo>
                  <a:cubicBezTo>
                    <a:pt x="7527223" y="0"/>
                    <a:pt x="7569619" y="57404"/>
                    <a:pt x="7569619" y="128143"/>
                  </a:cubicBezTo>
                  <a:lnTo>
                    <a:pt x="7569619" y="640588"/>
                  </a:lnTo>
                  <a:cubicBezTo>
                    <a:pt x="7569619" y="711327"/>
                    <a:pt x="7527223" y="768731"/>
                    <a:pt x="7474979" y="768731"/>
                  </a:cubicBezTo>
                  <a:lnTo>
                    <a:pt x="94640" y="768731"/>
                  </a:lnTo>
                  <a:cubicBezTo>
                    <a:pt x="42396" y="768731"/>
                    <a:pt x="0" y="711327"/>
                    <a:pt x="0" y="640588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30" name="Group 44">
            <a:extLst>
              <a:ext uri="{FF2B5EF4-FFF2-40B4-BE49-F238E27FC236}">
                <a16:creationId xmlns:a16="http://schemas.microsoft.com/office/drawing/2014/main" id="{B1F6E58D-4011-8446-C5CF-BB9237DE13CB}"/>
              </a:ext>
            </a:extLst>
          </p:cNvPr>
          <p:cNvGrpSpPr/>
          <p:nvPr/>
        </p:nvGrpSpPr>
        <p:grpSpPr>
          <a:xfrm>
            <a:off x="4794365" y="967610"/>
            <a:ext cx="2756250" cy="288261"/>
            <a:chOff x="0" y="0"/>
            <a:chExt cx="7349998" cy="768697"/>
          </a:xfrm>
        </p:grpSpPr>
        <p:sp>
          <p:nvSpPr>
            <p:cNvPr id="31" name="Freeform 45">
              <a:extLst>
                <a:ext uri="{FF2B5EF4-FFF2-40B4-BE49-F238E27FC236}">
                  <a16:creationId xmlns:a16="http://schemas.microsoft.com/office/drawing/2014/main" id="{7071EC60-1C3D-14BE-7D74-ACE73255DE41}"/>
                </a:ext>
              </a:extLst>
            </p:cNvPr>
            <p:cNvSpPr/>
            <p:nvPr/>
          </p:nvSpPr>
          <p:spPr>
            <a:xfrm>
              <a:off x="0" y="0"/>
              <a:ext cx="7349998" cy="768700"/>
            </a:xfrm>
            <a:custGeom>
              <a:avLst/>
              <a:gdLst/>
              <a:ahLst/>
              <a:cxnLst/>
              <a:rect l="l" t="t" r="r" b="b"/>
              <a:pathLst>
                <a:path w="7349998" h="768700">
                  <a:moveTo>
                    <a:pt x="0" y="0"/>
                  </a:moveTo>
                  <a:lnTo>
                    <a:pt x="7349998" y="0"/>
                  </a:lnTo>
                  <a:lnTo>
                    <a:pt x="7349998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34465" b="-200520"/>
              </a:stretch>
            </a:blipFill>
          </p:spPr>
        </p:sp>
        <p:sp>
          <p:nvSpPr>
            <p:cNvPr id="64" name="TextBox 46">
              <a:extLst>
                <a:ext uri="{FF2B5EF4-FFF2-40B4-BE49-F238E27FC236}">
                  <a16:creationId xmlns:a16="http://schemas.microsoft.com/office/drawing/2014/main" id="{EC1C55CA-C550-C659-D922-119F1536E2D9}"/>
                </a:ext>
              </a:extLst>
            </p:cNvPr>
            <p:cNvSpPr txBox="1"/>
            <p:nvPr/>
          </p:nvSpPr>
          <p:spPr>
            <a:xfrm>
              <a:off x="0" y="-28575"/>
              <a:ext cx="7349998" cy="797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진행도 구간별 불량 발생 빈도 (n=11)</a:t>
              </a:r>
            </a:p>
          </p:txBody>
        </p:sp>
      </p:grpSp>
      <p:sp>
        <p:nvSpPr>
          <p:cNvPr id="65" name="Freeform 47">
            <a:extLst>
              <a:ext uri="{FF2B5EF4-FFF2-40B4-BE49-F238E27FC236}">
                <a16:creationId xmlns:a16="http://schemas.microsoft.com/office/drawing/2014/main" id="{E7D7EF42-B44B-6256-41ED-98525478C5FB}"/>
              </a:ext>
            </a:extLst>
          </p:cNvPr>
          <p:cNvSpPr/>
          <p:nvPr/>
        </p:nvSpPr>
        <p:spPr>
          <a:xfrm>
            <a:off x="377486" y="1255871"/>
            <a:ext cx="4196946" cy="2567980"/>
          </a:xfrm>
          <a:custGeom>
            <a:avLst/>
            <a:gdLst/>
            <a:ahLst/>
            <a:cxnLst/>
            <a:rect l="l" t="t" r="r" b="b"/>
            <a:pathLst>
              <a:path w="8393892" h="5135960">
                <a:moveTo>
                  <a:pt x="0" y="0"/>
                </a:moveTo>
                <a:lnTo>
                  <a:pt x="8393892" y="0"/>
                </a:lnTo>
                <a:lnTo>
                  <a:pt x="8393892" y="5135960"/>
                </a:lnTo>
                <a:lnTo>
                  <a:pt x="0" y="5135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02270"/>
            </a:stretch>
          </a:blipFill>
        </p:spPr>
      </p:sp>
      <p:grpSp>
        <p:nvGrpSpPr>
          <p:cNvPr id="66" name="Group 48">
            <a:extLst>
              <a:ext uri="{FF2B5EF4-FFF2-40B4-BE49-F238E27FC236}">
                <a16:creationId xmlns:a16="http://schemas.microsoft.com/office/drawing/2014/main" id="{E9749E95-2BFB-816B-275D-CB6A168D90D8}"/>
              </a:ext>
            </a:extLst>
          </p:cNvPr>
          <p:cNvGrpSpPr/>
          <p:nvPr/>
        </p:nvGrpSpPr>
        <p:grpSpPr>
          <a:xfrm>
            <a:off x="2176840" y="3709939"/>
            <a:ext cx="916737" cy="184754"/>
            <a:chOff x="0" y="0"/>
            <a:chExt cx="2444632" cy="492676"/>
          </a:xfrm>
        </p:grpSpPr>
        <p:grpSp>
          <p:nvGrpSpPr>
            <p:cNvPr id="67" name="Group 49">
              <a:extLst>
                <a:ext uri="{FF2B5EF4-FFF2-40B4-BE49-F238E27FC236}">
                  <a16:creationId xmlns:a16="http://schemas.microsoft.com/office/drawing/2014/main" id="{63007224-09B2-DF17-5724-356A3DE73A14}"/>
                </a:ext>
              </a:extLst>
            </p:cNvPr>
            <p:cNvGrpSpPr/>
            <p:nvPr/>
          </p:nvGrpSpPr>
          <p:grpSpPr>
            <a:xfrm>
              <a:off x="0" y="214588"/>
              <a:ext cx="197988" cy="63500"/>
              <a:chOff x="0" y="0"/>
              <a:chExt cx="339545" cy="108901"/>
            </a:xfrm>
          </p:grpSpPr>
          <p:sp>
            <p:nvSpPr>
              <p:cNvPr id="76" name="Freeform 50">
                <a:extLst>
                  <a:ext uri="{FF2B5EF4-FFF2-40B4-BE49-F238E27FC236}">
                    <a16:creationId xmlns:a16="http://schemas.microsoft.com/office/drawing/2014/main" id="{B74FB379-65A6-5470-AADD-82DA814AB3BE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626F47"/>
              </a:solidFill>
            </p:spPr>
          </p:sp>
        </p:grpSp>
        <p:grpSp>
          <p:nvGrpSpPr>
            <p:cNvPr id="68" name="Group 51">
              <a:extLst>
                <a:ext uri="{FF2B5EF4-FFF2-40B4-BE49-F238E27FC236}">
                  <a16:creationId xmlns:a16="http://schemas.microsoft.com/office/drawing/2014/main" id="{57EE6E56-6B88-67A3-5C33-EBE0CF606F45}"/>
                </a:ext>
              </a:extLst>
            </p:cNvPr>
            <p:cNvGrpSpPr/>
            <p:nvPr/>
          </p:nvGrpSpPr>
          <p:grpSpPr>
            <a:xfrm>
              <a:off x="274188" y="0"/>
              <a:ext cx="1426808" cy="492676"/>
              <a:chOff x="0" y="0"/>
              <a:chExt cx="1624190" cy="560832"/>
            </a:xfrm>
          </p:grpSpPr>
          <p:sp>
            <p:nvSpPr>
              <p:cNvPr id="74" name="Freeform 52">
                <a:extLst>
                  <a:ext uri="{FF2B5EF4-FFF2-40B4-BE49-F238E27FC236}">
                    <a16:creationId xmlns:a16="http://schemas.microsoft.com/office/drawing/2014/main" id="{ED902CAA-D317-5EB6-A210-D8DDF5B4BFA2}"/>
                  </a:ext>
                </a:extLst>
              </p:cNvPr>
              <p:cNvSpPr/>
              <p:nvPr/>
            </p:nvSpPr>
            <p:spPr>
              <a:xfrm>
                <a:off x="0" y="0"/>
                <a:ext cx="1624190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624190" h="560832">
                    <a:moveTo>
                      <a:pt x="0" y="0"/>
                    </a:moveTo>
                    <a:lnTo>
                      <a:pt x="1624190" y="0"/>
                    </a:lnTo>
                    <a:lnTo>
                      <a:pt x="1624190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125195" b="-77076"/>
                </a:stretch>
              </a:blipFill>
            </p:spPr>
          </p:sp>
          <p:sp>
            <p:nvSpPr>
              <p:cNvPr id="75" name="TextBox 53">
                <a:extLst>
                  <a:ext uri="{FF2B5EF4-FFF2-40B4-BE49-F238E27FC236}">
                    <a16:creationId xmlns:a16="http://schemas.microsoft.com/office/drawing/2014/main" id="{3892D35C-6C25-0593-12C4-8D2A258FB4D2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624190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재현율</a:t>
                </a:r>
              </a:p>
            </p:txBody>
          </p:sp>
        </p:grpSp>
        <p:grpSp>
          <p:nvGrpSpPr>
            <p:cNvPr id="69" name="Group 54">
              <a:extLst>
                <a:ext uri="{FF2B5EF4-FFF2-40B4-BE49-F238E27FC236}">
                  <a16:creationId xmlns:a16="http://schemas.microsoft.com/office/drawing/2014/main" id="{C39A00F3-9839-3177-4718-94AB793676D3}"/>
                </a:ext>
              </a:extLst>
            </p:cNvPr>
            <p:cNvGrpSpPr/>
            <p:nvPr/>
          </p:nvGrpSpPr>
          <p:grpSpPr>
            <a:xfrm>
              <a:off x="1117195" y="214588"/>
              <a:ext cx="197988" cy="63500"/>
              <a:chOff x="0" y="0"/>
              <a:chExt cx="339545" cy="108901"/>
            </a:xfrm>
          </p:grpSpPr>
          <p:sp>
            <p:nvSpPr>
              <p:cNvPr id="73" name="Freeform 55">
                <a:extLst>
                  <a:ext uri="{FF2B5EF4-FFF2-40B4-BE49-F238E27FC236}">
                    <a16:creationId xmlns:a16="http://schemas.microsoft.com/office/drawing/2014/main" id="{8EB02795-450B-DE75-8FA7-87F2FADCD046}"/>
                  </a:ext>
                </a:extLst>
              </p:cNvPr>
              <p:cNvSpPr/>
              <p:nvPr/>
            </p:nvSpPr>
            <p:spPr>
              <a:xfrm>
                <a:off x="0" y="0"/>
                <a:ext cx="339545" cy="108901"/>
              </a:xfrm>
              <a:custGeom>
                <a:avLst/>
                <a:gdLst/>
                <a:ahLst/>
                <a:cxnLst/>
                <a:rect l="l" t="t" r="r" b="b"/>
                <a:pathLst>
                  <a:path w="339545" h="108901">
                    <a:moveTo>
                      <a:pt x="0" y="16015"/>
                    </a:moveTo>
                    <a:cubicBezTo>
                      <a:pt x="0" y="7173"/>
                      <a:pt x="22366" y="0"/>
                      <a:pt x="49933" y="0"/>
                    </a:cubicBezTo>
                    <a:lnTo>
                      <a:pt x="289612" y="0"/>
                    </a:lnTo>
                    <a:cubicBezTo>
                      <a:pt x="317179" y="0"/>
                      <a:pt x="339545" y="7173"/>
                      <a:pt x="339545" y="16015"/>
                    </a:cubicBezTo>
                    <a:lnTo>
                      <a:pt x="339545" y="92886"/>
                    </a:lnTo>
                    <a:cubicBezTo>
                      <a:pt x="339545" y="101728"/>
                      <a:pt x="317179" y="108901"/>
                      <a:pt x="289612" y="108901"/>
                    </a:cubicBezTo>
                    <a:lnTo>
                      <a:pt x="49933" y="108901"/>
                    </a:lnTo>
                    <a:cubicBezTo>
                      <a:pt x="22366" y="108901"/>
                      <a:pt x="0" y="101728"/>
                      <a:pt x="0" y="92886"/>
                    </a:cubicBezTo>
                    <a:close/>
                  </a:path>
                </a:pathLst>
              </a:custGeom>
              <a:solidFill>
                <a:srgbClr val="F0BB78"/>
              </a:solidFill>
            </p:spPr>
          </p:sp>
        </p:grpSp>
        <p:grpSp>
          <p:nvGrpSpPr>
            <p:cNvPr id="70" name="Group 56">
              <a:extLst>
                <a:ext uri="{FF2B5EF4-FFF2-40B4-BE49-F238E27FC236}">
                  <a16:creationId xmlns:a16="http://schemas.microsoft.com/office/drawing/2014/main" id="{BBB57305-36DF-B79A-42ED-1D8558338CC1}"/>
                </a:ext>
              </a:extLst>
            </p:cNvPr>
            <p:cNvGrpSpPr/>
            <p:nvPr/>
          </p:nvGrpSpPr>
          <p:grpSpPr>
            <a:xfrm>
              <a:off x="1389962" y="0"/>
              <a:ext cx="1054670" cy="492676"/>
              <a:chOff x="0" y="0"/>
              <a:chExt cx="1200572" cy="560832"/>
            </a:xfrm>
          </p:grpSpPr>
          <p:sp>
            <p:nvSpPr>
              <p:cNvPr id="71" name="Freeform 57">
                <a:extLst>
                  <a:ext uri="{FF2B5EF4-FFF2-40B4-BE49-F238E27FC236}">
                    <a16:creationId xmlns:a16="http://schemas.microsoft.com/office/drawing/2014/main" id="{142F3836-3708-286A-AD1C-C18683F31CE8}"/>
                  </a:ext>
                </a:extLst>
              </p:cNvPr>
              <p:cNvSpPr/>
              <p:nvPr/>
            </p:nvSpPr>
            <p:spPr>
              <a:xfrm>
                <a:off x="0" y="0"/>
                <a:ext cx="1200572" cy="560832"/>
              </a:xfrm>
              <a:custGeom>
                <a:avLst/>
                <a:gdLst/>
                <a:ahLst/>
                <a:cxnLst/>
                <a:rect l="l" t="t" r="r" b="b"/>
                <a:pathLst>
                  <a:path w="1200572" h="560832">
                    <a:moveTo>
                      <a:pt x="0" y="0"/>
                    </a:moveTo>
                    <a:lnTo>
                      <a:pt x="1200572" y="0"/>
                    </a:lnTo>
                    <a:lnTo>
                      <a:pt x="1200572" y="560832"/>
                    </a:lnTo>
                    <a:lnTo>
                      <a:pt x="0" y="560832"/>
                    </a:lnTo>
                    <a:close/>
                  </a:path>
                </a:pathLst>
              </a:custGeom>
              <a:blipFill>
                <a:blip r:embed="rId9">
                  <a:alphaModFix amt="0"/>
                </a:blip>
                <a:stretch>
                  <a:fillRect t="-77076" r="-204654" b="-77076"/>
                </a:stretch>
              </a:blipFill>
            </p:spPr>
          </p:sp>
          <p:sp>
            <p:nvSpPr>
              <p:cNvPr id="72" name="TextBox 58">
                <a:extLst>
                  <a:ext uri="{FF2B5EF4-FFF2-40B4-BE49-F238E27FC236}">
                    <a16:creationId xmlns:a16="http://schemas.microsoft.com/office/drawing/2014/main" id="{B53C030C-AC9A-77FC-630F-B47ADC65F87C}"/>
                  </a:ext>
                </a:extLst>
              </p:cNvPr>
              <p:cNvSpPr txBox="1"/>
              <p:nvPr/>
            </p:nvSpPr>
            <p:spPr>
              <a:xfrm>
                <a:off x="0" y="-19050"/>
                <a:ext cx="1200572" cy="57988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>
                  <a:lnSpc>
                    <a:spcPts val="660"/>
                  </a:lnSpc>
                </a:pPr>
                <a:r>
                  <a:rPr lang="en-US" sz="550" b="1">
                    <a:solidFill>
                      <a:srgbClr val="262A1E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Nanum Square Bold"/>
                  </a:rPr>
                  <a:t>오탐율</a:t>
                </a:r>
              </a:p>
            </p:txBody>
          </p:sp>
        </p:grpSp>
      </p:grpSp>
      <p:sp>
        <p:nvSpPr>
          <p:cNvPr id="77" name="Freeform 59">
            <a:extLst>
              <a:ext uri="{FF2B5EF4-FFF2-40B4-BE49-F238E27FC236}">
                <a16:creationId xmlns:a16="http://schemas.microsoft.com/office/drawing/2014/main" id="{C3D6F662-F69B-E154-8BB0-86840DCF8618}"/>
              </a:ext>
            </a:extLst>
          </p:cNvPr>
          <p:cNvSpPr/>
          <p:nvPr/>
        </p:nvSpPr>
        <p:spPr>
          <a:xfrm>
            <a:off x="4735721" y="1325450"/>
            <a:ext cx="3227752" cy="1808138"/>
          </a:xfrm>
          <a:custGeom>
            <a:avLst/>
            <a:gdLst/>
            <a:ahLst/>
            <a:cxnLst/>
            <a:rect l="l" t="t" r="r" b="b"/>
            <a:pathLst>
              <a:path w="6455503" h="3616276">
                <a:moveTo>
                  <a:pt x="0" y="0"/>
                </a:moveTo>
                <a:lnTo>
                  <a:pt x="6455503" y="0"/>
                </a:lnTo>
                <a:lnTo>
                  <a:pt x="6455503" y="3616277"/>
                </a:lnTo>
                <a:lnTo>
                  <a:pt x="0" y="3616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07290" b="-11936"/>
            </a:stretch>
          </a:blipFill>
        </p:spPr>
      </p:sp>
      <p:sp>
        <p:nvSpPr>
          <p:cNvPr id="78" name="TextBox 60">
            <a:extLst>
              <a:ext uri="{FF2B5EF4-FFF2-40B4-BE49-F238E27FC236}">
                <a16:creationId xmlns:a16="http://schemas.microsoft.com/office/drawing/2014/main" id="{DF847D08-FD7B-1725-CC57-B30C867C4EC7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PR AP 1 유지 · 표본 적어 표본 추가 후 검증 권장 · 진행도 = 정규화 시간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79" name="TextBox 61">
            <a:extLst>
              <a:ext uri="{FF2B5EF4-FFF2-40B4-BE49-F238E27FC236}">
                <a16:creationId xmlns:a16="http://schemas.microsoft.com/office/drawing/2014/main" id="{C1B4C96E-7D2D-D209-6AF6-8B37D3E8D375}"/>
              </a:ext>
            </a:extLst>
          </p:cNvPr>
          <p:cNvSpPr txBox="1"/>
          <p:nvPr/>
        </p:nvSpPr>
        <p:spPr>
          <a:xfrm>
            <a:off x="4993639" y="3124064"/>
            <a:ext cx="530907" cy="12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 dirty="0" err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초기</a:t>
            </a:r>
            <a:r>
              <a:rPr lang="en-US" sz="826" b="1" dirty="0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(0-20)</a:t>
            </a:r>
          </a:p>
        </p:txBody>
      </p:sp>
      <p:sp>
        <p:nvSpPr>
          <p:cNvPr id="80" name="TextBox 62">
            <a:extLst>
              <a:ext uri="{FF2B5EF4-FFF2-40B4-BE49-F238E27FC236}">
                <a16:creationId xmlns:a16="http://schemas.microsoft.com/office/drawing/2014/main" id="{514000B9-27AD-7E37-943B-3D22767E0057}"/>
              </a:ext>
            </a:extLst>
          </p:cNvPr>
          <p:cNvSpPr txBox="1"/>
          <p:nvPr/>
        </p:nvSpPr>
        <p:spPr>
          <a:xfrm>
            <a:off x="5685835" y="3124064"/>
            <a:ext cx="607039" cy="12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 dirty="0" err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전환</a:t>
            </a:r>
            <a:r>
              <a:rPr lang="en-US" sz="826" b="1" dirty="0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(20-40)</a:t>
            </a:r>
          </a:p>
        </p:txBody>
      </p:sp>
      <p:sp>
        <p:nvSpPr>
          <p:cNvPr id="81" name="TextBox 63">
            <a:extLst>
              <a:ext uri="{FF2B5EF4-FFF2-40B4-BE49-F238E27FC236}">
                <a16:creationId xmlns:a16="http://schemas.microsoft.com/office/drawing/2014/main" id="{FA1BD853-7DE0-094A-0A44-2B0ED08643F7}"/>
              </a:ext>
            </a:extLst>
          </p:cNvPr>
          <p:cNvSpPr txBox="1"/>
          <p:nvPr/>
        </p:nvSpPr>
        <p:spPr>
          <a:xfrm>
            <a:off x="6400929" y="3124064"/>
            <a:ext cx="679338" cy="12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 dirty="0" err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본공정</a:t>
            </a:r>
            <a:r>
              <a:rPr lang="en-US" sz="826" b="1" dirty="0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(40-80)</a:t>
            </a:r>
          </a:p>
        </p:txBody>
      </p:sp>
      <p:sp>
        <p:nvSpPr>
          <p:cNvPr id="82" name="TextBox 64">
            <a:extLst>
              <a:ext uri="{FF2B5EF4-FFF2-40B4-BE49-F238E27FC236}">
                <a16:creationId xmlns:a16="http://schemas.microsoft.com/office/drawing/2014/main" id="{8615CD45-4BC1-6301-6A37-672F1836DB58}"/>
              </a:ext>
            </a:extLst>
          </p:cNvPr>
          <p:cNvSpPr txBox="1"/>
          <p:nvPr/>
        </p:nvSpPr>
        <p:spPr>
          <a:xfrm>
            <a:off x="7121109" y="3124064"/>
            <a:ext cx="679338" cy="121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"/>
              </a:lnSpc>
              <a:spcBef>
                <a:spcPct val="0"/>
              </a:spcBef>
            </a:pPr>
            <a:r>
              <a:rPr lang="en-US" sz="826" b="1" dirty="0" err="1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종료</a:t>
            </a:r>
            <a:r>
              <a:rPr lang="en-US" sz="826" b="1" dirty="0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(80-100)</a:t>
            </a:r>
          </a:p>
        </p:txBody>
      </p:sp>
      <p:grpSp>
        <p:nvGrpSpPr>
          <p:cNvPr id="83" name="Group 65">
            <a:extLst>
              <a:ext uri="{FF2B5EF4-FFF2-40B4-BE49-F238E27FC236}">
                <a16:creationId xmlns:a16="http://schemas.microsoft.com/office/drawing/2014/main" id="{9BEC927F-517A-07FF-BA95-439D1B5CD675}"/>
              </a:ext>
            </a:extLst>
          </p:cNvPr>
          <p:cNvGrpSpPr/>
          <p:nvPr/>
        </p:nvGrpSpPr>
        <p:grpSpPr>
          <a:xfrm>
            <a:off x="4735721" y="3328851"/>
            <a:ext cx="3980750" cy="698681"/>
            <a:chOff x="0" y="0"/>
            <a:chExt cx="1638169" cy="287523"/>
          </a:xfrm>
        </p:grpSpPr>
        <p:sp>
          <p:nvSpPr>
            <p:cNvPr id="85" name="Freeform 66">
              <a:extLst>
                <a:ext uri="{FF2B5EF4-FFF2-40B4-BE49-F238E27FC236}">
                  <a16:creationId xmlns:a16="http://schemas.microsoft.com/office/drawing/2014/main" id="{972F1671-42E0-B27A-D65F-E06247F5DCA1}"/>
                </a:ext>
              </a:extLst>
            </p:cNvPr>
            <p:cNvSpPr/>
            <p:nvPr/>
          </p:nvSpPr>
          <p:spPr>
            <a:xfrm>
              <a:off x="0" y="0"/>
              <a:ext cx="1638169" cy="287523"/>
            </a:xfrm>
            <a:custGeom>
              <a:avLst/>
              <a:gdLst/>
              <a:ahLst/>
              <a:cxnLst/>
              <a:rect l="l" t="t" r="r" b="b"/>
              <a:pathLst>
                <a:path w="1638169" h="287523">
                  <a:moveTo>
                    <a:pt x="4558" y="0"/>
                  </a:moveTo>
                  <a:lnTo>
                    <a:pt x="1633610" y="0"/>
                  </a:lnTo>
                  <a:cubicBezTo>
                    <a:pt x="1636128" y="0"/>
                    <a:pt x="1638169" y="2041"/>
                    <a:pt x="1638169" y="4558"/>
                  </a:cubicBezTo>
                  <a:lnTo>
                    <a:pt x="1638169" y="282965"/>
                  </a:lnTo>
                  <a:cubicBezTo>
                    <a:pt x="1638169" y="285482"/>
                    <a:pt x="1636128" y="287523"/>
                    <a:pt x="1633610" y="287523"/>
                  </a:cubicBezTo>
                  <a:lnTo>
                    <a:pt x="4558" y="287523"/>
                  </a:lnTo>
                  <a:cubicBezTo>
                    <a:pt x="2041" y="287523"/>
                    <a:pt x="0" y="285482"/>
                    <a:pt x="0" y="282965"/>
                  </a:cubicBezTo>
                  <a:lnTo>
                    <a:pt x="0" y="4558"/>
                  </a:lnTo>
                  <a:cubicBezTo>
                    <a:pt x="0" y="2041"/>
                    <a:pt x="2041" y="0"/>
                    <a:pt x="4558" y="0"/>
                  </a:cubicBezTo>
                  <a:close/>
                </a:path>
              </a:pathLst>
            </a:custGeom>
            <a:solidFill>
              <a:srgbClr val="626F47"/>
            </a:solidFill>
            <a:ln w="19050" cap="sq">
              <a:solidFill>
                <a:srgbClr val="C9D2A6"/>
              </a:solidFill>
              <a:prstDash val="solid"/>
              <a:miter/>
            </a:ln>
          </p:spPr>
        </p:sp>
        <p:sp>
          <p:nvSpPr>
            <p:cNvPr id="86" name="TextBox 67">
              <a:extLst>
                <a:ext uri="{FF2B5EF4-FFF2-40B4-BE49-F238E27FC236}">
                  <a16:creationId xmlns:a16="http://schemas.microsoft.com/office/drawing/2014/main" id="{A5BB7034-04DA-8EE4-3121-8A424D66E9DD}"/>
                </a:ext>
              </a:extLst>
            </p:cNvPr>
            <p:cNvSpPr txBox="1"/>
            <p:nvPr/>
          </p:nvSpPr>
          <p:spPr>
            <a:xfrm>
              <a:off x="0" y="-19050"/>
              <a:ext cx="1638169" cy="30657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990"/>
                </a:lnSpc>
              </a:pPr>
              <a:endPara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87" name="TextBox 68">
            <a:extLst>
              <a:ext uri="{FF2B5EF4-FFF2-40B4-BE49-F238E27FC236}">
                <a16:creationId xmlns:a16="http://schemas.microsoft.com/office/drawing/2014/main" id="{F7938113-DA03-EAF3-04C1-112D16E454CE}"/>
              </a:ext>
            </a:extLst>
          </p:cNvPr>
          <p:cNvSpPr txBox="1"/>
          <p:nvPr/>
        </p:nvSpPr>
        <p:spPr>
          <a:xfrm>
            <a:off x="4868094" y="3482929"/>
            <a:ext cx="869676" cy="13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1"/>
              </a:lnSpc>
              <a:spcBef>
                <a:spcPct val="0"/>
              </a:spcBef>
            </a:pPr>
            <a:r>
              <a:rPr lang="en-US" sz="876" b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40–60% 5건 최다 </a:t>
            </a:r>
          </a:p>
        </p:txBody>
      </p:sp>
      <p:sp>
        <p:nvSpPr>
          <p:cNvPr id="88" name="TextBox 69">
            <a:extLst>
              <a:ext uri="{FF2B5EF4-FFF2-40B4-BE49-F238E27FC236}">
                <a16:creationId xmlns:a16="http://schemas.microsoft.com/office/drawing/2014/main" id="{1FAB35EC-EC85-8FF4-B090-2DCB9AA3B28E}"/>
              </a:ext>
            </a:extLst>
          </p:cNvPr>
          <p:cNvSpPr txBox="1"/>
          <p:nvPr/>
        </p:nvSpPr>
        <p:spPr>
          <a:xfrm>
            <a:off x="5737770" y="3482929"/>
            <a:ext cx="663159" cy="13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1"/>
              </a:lnSpc>
              <a:spcBef>
                <a:spcPct val="0"/>
              </a:spcBef>
            </a:pPr>
            <a:r>
              <a:rPr lang="en-US" sz="876" b="1">
                <a:solidFill>
                  <a:srgbClr val="E1BC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주 위험 구간</a:t>
            </a:r>
          </a:p>
        </p:txBody>
      </p:sp>
      <p:sp>
        <p:nvSpPr>
          <p:cNvPr id="89" name="TextBox 70">
            <a:extLst>
              <a:ext uri="{FF2B5EF4-FFF2-40B4-BE49-F238E27FC236}">
                <a16:creationId xmlns:a16="http://schemas.microsoft.com/office/drawing/2014/main" id="{2276A83C-522C-0412-16ED-DC4E64358723}"/>
              </a:ext>
            </a:extLst>
          </p:cNvPr>
          <p:cNvSpPr txBox="1"/>
          <p:nvPr/>
        </p:nvSpPr>
        <p:spPr>
          <a:xfrm>
            <a:off x="4868094" y="3733276"/>
            <a:ext cx="316910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1"/>
              </a:lnSpc>
              <a:spcBef>
                <a:spcPct val="0"/>
              </a:spcBef>
            </a:pPr>
            <a:r>
              <a:rPr lang="en-US" sz="926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초기구간(0–20%)에도 발생 → 주 위험구간집중 + 초기감시병행</a:t>
            </a:r>
          </a:p>
        </p:txBody>
      </p:sp>
      <p:pic>
        <p:nvPicPr>
          <p:cNvPr id="90" name="Image 1" descr="preencoded.png">
            <a:extLst>
              <a:ext uri="{FF2B5EF4-FFF2-40B4-BE49-F238E27FC236}">
                <a16:creationId xmlns:a16="http://schemas.microsoft.com/office/drawing/2014/main" id="{EAE8A392-7829-1B64-01EF-81CC499618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91" name="Text 2">
            <a:extLst>
              <a:ext uri="{FF2B5EF4-FFF2-40B4-BE49-F238E27FC236}">
                <a16:creationId xmlns:a16="http://schemas.microsoft.com/office/drawing/2014/main" id="{3E7FB0AF-9888-E9A6-88D8-7AAB307DE798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92" name="Text 9">
            <a:extLst>
              <a:ext uri="{FF2B5EF4-FFF2-40B4-BE49-F238E27FC236}">
                <a16:creationId xmlns:a16="http://schemas.microsoft.com/office/drawing/2014/main" id="{7B0B4326-23C2-9300-3392-BD993A7E653A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879621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CDC2C-D0DC-DE03-BDE6-BDAB8C81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6891812-7DFD-DDA3-9EDB-8BBF0CA38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FF0F248-59C8-AA27-CB01-7DF1B0E249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5797625-B855-5239-310E-7ACC4E0CC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C1B1F9-62D2-EE56-C6F7-A5AEF8CB3D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77CD8F7-5E56-F3B7-FDEE-BDAE04B72B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9E2C38BF-EAAC-4F8E-C211-21E5D77DA94B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모델링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종합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·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상호검증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E7577DA5-48E9-0A01-42F4-64F253009F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75FB3E66-79BB-B37B-EDF2-B7381C546D71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6B875F0D-60A4-D862-404A-144A611CB498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9C35AE99-AEBF-A425-776C-CFC3DCE5C561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4584DA8A-125F-49EC-DC1A-6D97888C283D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67668CF6-7C69-33C3-412A-D44812914006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FCDB4550-E39F-8D0F-2FF1-F9048BE416D5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9D7FA8C8-B2D0-AA38-E225-C32E1CAD4CD7}"/>
              </a:ext>
            </a:extLst>
          </p:cNvPr>
          <p:cNvGrpSpPr/>
          <p:nvPr/>
        </p:nvGrpSpPr>
        <p:grpSpPr>
          <a:xfrm>
            <a:off x="736060" y="4265582"/>
            <a:ext cx="5010255" cy="363757"/>
            <a:chOff x="0" y="0"/>
            <a:chExt cx="13360679" cy="970019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012B315E-E30E-7B64-AF4C-73414281DB91}"/>
                </a:ext>
              </a:extLst>
            </p:cNvPr>
            <p:cNvSpPr/>
            <p:nvPr/>
          </p:nvSpPr>
          <p:spPr>
            <a:xfrm>
              <a:off x="0" y="0"/>
              <a:ext cx="13360678" cy="970025"/>
            </a:xfrm>
            <a:custGeom>
              <a:avLst/>
              <a:gdLst/>
              <a:ahLst/>
              <a:cxnLst/>
              <a:rect l="l" t="t" r="r" b="b"/>
              <a:pathLst>
                <a:path w="13360678" h="970025">
                  <a:moveTo>
                    <a:pt x="0" y="0"/>
                  </a:moveTo>
                  <a:lnTo>
                    <a:pt x="13360678" y="0"/>
                  </a:lnTo>
                  <a:lnTo>
                    <a:pt x="13360678" y="970025"/>
                  </a:lnTo>
                  <a:lnTo>
                    <a:pt x="0" y="9700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97623" b="-239132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58D8F5EE-2046-C54F-DF43-22290A4E32B3}"/>
                </a:ext>
              </a:extLst>
            </p:cNvPr>
            <p:cNvSpPr txBox="1"/>
            <p:nvPr/>
          </p:nvSpPr>
          <p:spPr>
            <a:xfrm>
              <a:off x="0" y="0"/>
              <a:ext cx="13360679" cy="9700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 두 모델이 상호검증 완료 → 부품 판정 + 시점·원인을 동시에 제공상호검증 완료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D343DF31-E627-3D7F-39E4-01033D4BBE61}"/>
              </a:ext>
            </a:extLst>
          </p:cNvPr>
          <p:cNvGrpSpPr/>
          <p:nvPr/>
        </p:nvGrpSpPr>
        <p:grpSpPr>
          <a:xfrm>
            <a:off x="5868177" y="4351373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CD19F4ED-8C68-9A4A-BFC8-266ED82F2B7F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5F84DB5B-197C-898C-7EC7-63BF85506B90}"/>
              </a:ext>
            </a:extLst>
          </p:cNvPr>
          <p:cNvGrpSpPr/>
          <p:nvPr/>
        </p:nvGrpSpPr>
        <p:grpSpPr>
          <a:xfrm>
            <a:off x="6848450" y="4205603"/>
            <a:ext cx="1345917" cy="476853"/>
            <a:chOff x="0" y="0"/>
            <a:chExt cx="3589111" cy="1271607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342DBCA7-1824-FA42-BB97-A9AE5AFBA756}"/>
                </a:ext>
              </a:extLst>
            </p:cNvPr>
            <p:cNvSpPr/>
            <p:nvPr/>
          </p:nvSpPr>
          <p:spPr>
            <a:xfrm>
              <a:off x="0" y="0"/>
              <a:ext cx="3589110" cy="1271607"/>
            </a:xfrm>
            <a:custGeom>
              <a:avLst/>
              <a:gdLst/>
              <a:ahLst/>
              <a:cxnLst/>
              <a:rect l="l" t="t" r="r" b="b"/>
              <a:pathLst>
                <a:path w="3589110" h="1271607">
                  <a:moveTo>
                    <a:pt x="0" y="0"/>
                  </a:moveTo>
                  <a:lnTo>
                    <a:pt x="3589110" y="0"/>
                  </a:lnTo>
                  <a:lnTo>
                    <a:pt x="3589110" y="1271607"/>
                  </a:lnTo>
                  <a:lnTo>
                    <a:pt x="0" y="1271607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2778" r="-65730" b="-59512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AC4C774E-EC03-3748-44AB-1E6DAAAF9BFB}"/>
                </a:ext>
              </a:extLst>
            </p:cNvPr>
            <p:cNvSpPr txBox="1"/>
            <p:nvPr/>
          </p:nvSpPr>
          <p:spPr>
            <a:xfrm>
              <a:off x="0" y="-38100"/>
              <a:ext cx="3589111" cy="13097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상호검증 완료</a:t>
              </a:r>
            </a:p>
          </p:txBody>
        </p:sp>
      </p:grpSp>
      <p:sp>
        <p:nvSpPr>
          <p:cNvPr id="22" name="Freeform 36">
            <a:extLst>
              <a:ext uri="{FF2B5EF4-FFF2-40B4-BE49-F238E27FC236}">
                <a16:creationId xmlns:a16="http://schemas.microsoft.com/office/drawing/2014/main" id="{2BBFF3CB-AEA4-00D5-3C32-B1A150ED869A}"/>
              </a:ext>
            </a:extLst>
          </p:cNvPr>
          <p:cNvSpPr/>
          <p:nvPr/>
        </p:nvSpPr>
        <p:spPr>
          <a:xfrm>
            <a:off x="390064" y="947534"/>
            <a:ext cx="2627886" cy="3091631"/>
          </a:xfrm>
          <a:custGeom>
            <a:avLst/>
            <a:gdLst/>
            <a:ahLst/>
            <a:cxnLst/>
            <a:rect l="l" t="t" r="r" b="b"/>
            <a:pathLst>
              <a:path w="5255772" h="6183261">
                <a:moveTo>
                  <a:pt x="0" y="0"/>
                </a:moveTo>
                <a:lnTo>
                  <a:pt x="5255772" y="0"/>
                </a:lnTo>
                <a:lnTo>
                  <a:pt x="5255772" y="6183261"/>
                </a:lnTo>
                <a:lnTo>
                  <a:pt x="0" y="6183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TextBox 37">
            <a:extLst>
              <a:ext uri="{FF2B5EF4-FFF2-40B4-BE49-F238E27FC236}">
                <a16:creationId xmlns:a16="http://schemas.microsoft.com/office/drawing/2014/main" id="{6DCB7CAA-238D-BA37-9CBA-020EBC5F2701}"/>
              </a:ext>
            </a:extLst>
          </p:cNvPr>
          <p:cNvSpPr txBox="1"/>
          <p:nvPr/>
        </p:nvSpPr>
        <p:spPr>
          <a:xfrm>
            <a:off x="377486" y="4831809"/>
            <a:ext cx="6177025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지도학습(분류) × 이상탐지(LOF) 교차확인 · 부품 판정 + 시점 · 원인 제공</a:t>
            </a:r>
          </a:p>
          <a:p>
            <a:pPr>
              <a:lnSpc>
                <a:spcPts val="811"/>
              </a:lnSpc>
            </a:pPr>
            <a:endParaRPr lang="en-US" sz="676">
              <a:solidFill>
                <a:srgbClr val="8B946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2Z"/>
            </a:endParaRPr>
          </a:p>
        </p:txBody>
      </p:sp>
      <p:sp>
        <p:nvSpPr>
          <p:cNvPr id="24" name="Freeform 38">
            <a:extLst>
              <a:ext uri="{FF2B5EF4-FFF2-40B4-BE49-F238E27FC236}">
                <a16:creationId xmlns:a16="http://schemas.microsoft.com/office/drawing/2014/main" id="{A40DA860-D037-C491-27C2-0A02D8D421AF}"/>
              </a:ext>
            </a:extLst>
          </p:cNvPr>
          <p:cNvSpPr/>
          <p:nvPr/>
        </p:nvSpPr>
        <p:spPr>
          <a:xfrm>
            <a:off x="438591" y="947534"/>
            <a:ext cx="2549231" cy="519355"/>
          </a:xfrm>
          <a:custGeom>
            <a:avLst/>
            <a:gdLst/>
            <a:ahLst/>
            <a:cxnLst/>
            <a:rect l="l" t="t" r="r" b="b"/>
            <a:pathLst>
              <a:path w="5098462" h="1038710">
                <a:moveTo>
                  <a:pt x="0" y="0"/>
                </a:moveTo>
                <a:lnTo>
                  <a:pt x="5098462" y="0"/>
                </a:lnTo>
                <a:lnTo>
                  <a:pt x="5098462" y="1038711"/>
                </a:lnTo>
                <a:lnTo>
                  <a:pt x="0" y="1038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272" r="-11272"/>
            </a:stretch>
          </a:blipFill>
        </p:spPr>
      </p:sp>
      <p:sp>
        <p:nvSpPr>
          <p:cNvPr id="25" name="Freeform 39">
            <a:extLst>
              <a:ext uri="{FF2B5EF4-FFF2-40B4-BE49-F238E27FC236}">
                <a16:creationId xmlns:a16="http://schemas.microsoft.com/office/drawing/2014/main" id="{8CFE10C6-421A-F58D-0D2E-75FF7EADB89E}"/>
              </a:ext>
            </a:extLst>
          </p:cNvPr>
          <p:cNvSpPr/>
          <p:nvPr/>
        </p:nvSpPr>
        <p:spPr>
          <a:xfrm>
            <a:off x="3240291" y="947534"/>
            <a:ext cx="2627886" cy="3091631"/>
          </a:xfrm>
          <a:custGeom>
            <a:avLst/>
            <a:gdLst/>
            <a:ahLst/>
            <a:cxnLst/>
            <a:rect l="l" t="t" r="r" b="b"/>
            <a:pathLst>
              <a:path w="5255772" h="6183261">
                <a:moveTo>
                  <a:pt x="0" y="0"/>
                </a:moveTo>
                <a:lnTo>
                  <a:pt x="5255772" y="0"/>
                </a:lnTo>
                <a:lnTo>
                  <a:pt x="5255772" y="6183261"/>
                </a:lnTo>
                <a:lnTo>
                  <a:pt x="0" y="6183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6" name="Freeform 40">
            <a:extLst>
              <a:ext uri="{FF2B5EF4-FFF2-40B4-BE49-F238E27FC236}">
                <a16:creationId xmlns:a16="http://schemas.microsoft.com/office/drawing/2014/main" id="{FA56D982-E0B9-BC55-A739-6512862104F6}"/>
              </a:ext>
            </a:extLst>
          </p:cNvPr>
          <p:cNvSpPr/>
          <p:nvPr/>
        </p:nvSpPr>
        <p:spPr>
          <a:xfrm>
            <a:off x="6108395" y="925682"/>
            <a:ext cx="2627886" cy="3091631"/>
          </a:xfrm>
          <a:custGeom>
            <a:avLst/>
            <a:gdLst/>
            <a:ahLst/>
            <a:cxnLst/>
            <a:rect l="l" t="t" r="r" b="b"/>
            <a:pathLst>
              <a:path w="5255772" h="6183261">
                <a:moveTo>
                  <a:pt x="0" y="0"/>
                </a:moveTo>
                <a:lnTo>
                  <a:pt x="5255771" y="0"/>
                </a:lnTo>
                <a:lnTo>
                  <a:pt x="5255771" y="6183260"/>
                </a:lnTo>
                <a:lnTo>
                  <a:pt x="0" y="6183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9E2F5870-1EEE-06EB-EF59-B006C0BBF15B}"/>
              </a:ext>
            </a:extLst>
          </p:cNvPr>
          <p:cNvSpPr/>
          <p:nvPr/>
        </p:nvSpPr>
        <p:spPr>
          <a:xfrm>
            <a:off x="3291852" y="947534"/>
            <a:ext cx="2524764" cy="519355"/>
          </a:xfrm>
          <a:custGeom>
            <a:avLst/>
            <a:gdLst/>
            <a:ahLst/>
            <a:cxnLst/>
            <a:rect l="l" t="t" r="r" b="b"/>
            <a:pathLst>
              <a:path w="5049527" h="1038710">
                <a:moveTo>
                  <a:pt x="0" y="0"/>
                </a:moveTo>
                <a:lnTo>
                  <a:pt x="5049527" y="0"/>
                </a:lnTo>
                <a:lnTo>
                  <a:pt x="5049527" y="1038711"/>
                </a:lnTo>
                <a:lnTo>
                  <a:pt x="0" y="1038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1381" r="-12350"/>
            </a:stretch>
          </a:blipFill>
        </p:spPr>
      </p:sp>
      <p:sp>
        <p:nvSpPr>
          <p:cNvPr id="28" name="Freeform 42">
            <a:extLst>
              <a:ext uri="{FF2B5EF4-FFF2-40B4-BE49-F238E27FC236}">
                <a16:creationId xmlns:a16="http://schemas.microsoft.com/office/drawing/2014/main" id="{65922697-C527-4A1A-BFA5-F84143D08268}"/>
              </a:ext>
            </a:extLst>
          </p:cNvPr>
          <p:cNvSpPr/>
          <p:nvPr/>
        </p:nvSpPr>
        <p:spPr>
          <a:xfrm>
            <a:off x="6156434" y="947534"/>
            <a:ext cx="2549231" cy="519355"/>
          </a:xfrm>
          <a:custGeom>
            <a:avLst/>
            <a:gdLst/>
            <a:ahLst/>
            <a:cxnLst/>
            <a:rect l="l" t="t" r="r" b="b"/>
            <a:pathLst>
              <a:path w="5098462" h="1038710">
                <a:moveTo>
                  <a:pt x="0" y="0"/>
                </a:moveTo>
                <a:lnTo>
                  <a:pt x="5098463" y="0"/>
                </a:lnTo>
                <a:lnTo>
                  <a:pt x="5098463" y="1038711"/>
                </a:lnTo>
                <a:lnTo>
                  <a:pt x="0" y="10387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1272" r="-11272"/>
            </a:stretch>
          </a:blipFill>
        </p:spPr>
      </p:sp>
      <p:grpSp>
        <p:nvGrpSpPr>
          <p:cNvPr id="29" name="Group 43">
            <a:extLst>
              <a:ext uri="{FF2B5EF4-FFF2-40B4-BE49-F238E27FC236}">
                <a16:creationId xmlns:a16="http://schemas.microsoft.com/office/drawing/2014/main" id="{0B4849B9-9880-1295-78A9-E8A4CD25274E}"/>
              </a:ext>
            </a:extLst>
          </p:cNvPr>
          <p:cNvGrpSpPr/>
          <p:nvPr/>
        </p:nvGrpSpPr>
        <p:grpSpPr>
          <a:xfrm>
            <a:off x="1374588" y="1063081"/>
            <a:ext cx="594116" cy="288261"/>
            <a:chOff x="0" y="0"/>
            <a:chExt cx="1584308" cy="768697"/>
          </a:xfrm>
        </p:grpSpPr>
        <p:sp>
          <p:nvSpPr>
            <p:cNvPr id="30" name="Freeform 44">
              <a:extLst>
                <a:ext uri="{FF2B5EF4-FFF2-40B4-BE49-F238E27FC236}">
                  <a16:creationId xmlns:a16="http://schemas.microsoft.com/office/drawing/2014/main" id="{F127C69B-E76B-EBDB-2483-D37E096FD025}"/>
                </a:ext>
              </a:extLst>
            </p:cNvPr>
            <p:cNvSpPr/>
            <p:nvPr/>
          </p:nvSpPr>
          <p:spPr>
            <a:xfrm>
              <a:off x="0" y="0"/>
              <a:ext cx="1584308" cy="768700"/>
            </a:xfrm>
            <a:custGeom>
              <a:avLst/>
              <a:gdLst/>
              <a:ahLst/>
              <a:cxnLst/>
              <a:rect l="l" t="t" r="r" b="b"/>
              <a:pathLst>
                <a:path w="1584308" h="768700">
                  <a:moveTo>
                    <a:pt x="0" y="0"/>
                  </a:moveTo>
                  <a:lnTo>
                    <a:pt x="1584308" y="0"/>
                  </a:lnTo>
                  <a:lnTo>
                    <a:pt x="1584308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523820" b="-200520"/>
              </a:stretch>
            </a:blipFill>
          </p:spPr>
        </p:sp>
        <p:sp>
          <p:nvSpPr>
            <p:cNvPr id="31" name="TextBox 45">
              <a:extLst>
                <a:ext uri="{FF2B5EF4-FFF2-40B4-BE49-F238E27FC236}">
                  <a16:creationId xmlns:a16="http://schemas.microsoft.com/office/drawing/2014/main" id="{7303F0E6-8329-B4CF-D9DE-E0826DCC492C}"/>
                </a:ext>
              </a:extLst>
            </p:cNvPr>
            <p:cNvSpPr txBox="1"/>
            <p:nvPr/>
          </p:nvSpPr>
          <p:spPr>
            <a:xfrm>
              <a:off x="0" y="-9525"/>
              <a:ext cx="1584308" cy="778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26"/>
                </a:lnSpc>
              </a:pPr>
              <a:r>
                <a:rPr lang="en-US" sz="118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지도학습</a:t>
              </a:r>
            </a:p>
          </p:txBody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C894B9F6-627F-3EE0-5BBF-2DFF8D073DFC}"/>
              </a:ext>
            </a:extLst>
          </p:cNvPr>
          <p:cNvGrpSpPr/>
          <p:nvPr/>
        </p:nvGrpSpPr>
        <p:grpSpPr>
          <a:xfrm>
            <a:off x="4254020" y="1063081"/>
            <a:ext cx="618305" cy="288261"/>
            <a:chOff x="0" y="0"/>
            <a:chExt cx="1648813" cy="768697"/>
          </a:xfrm>
        </p:grpSpPr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DA3E69B4-3BBB-DEBE-7696-D7CC0769A9DE}"/>
                </a:ext>
              </a:extLst>
            </p:cNvPr>
            <p:cNvSpPr/>
            <p:nvPr/>
          </p:nvSpPr>
          <p:spPr>
            <a:xfrm>
              <a:off x="0" y="0"/>
              <a:ext cx="1648813" cy="768700"/>
            </a:xfrm>
            <a:custGeom>
              <a:avLst/>
              <a:gdLst/>
              <a:ahLst/>
              <a:cxnLst/>
              <a:rect l="l" t="t" r="r" b="b"/>
              <a:pathLst>
                <a:path w="1648813" h="768700">
                  <a:moveTo>
                    <a:pt x="0" y="0"/>
                  </a:moveTo>
                  <a:lnTo>
                    <a:pt x="1648813" y="0"/>
                  </a:lnTo>
                  <a:lnTo>
                    <a:pt x="1648813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499415" b="-200520"/>
              </a:stretch>
            </a:blipFill>
          </p:spPr>
        </p:sp>
        <p:sp>
          <p:nvSpPr>
            <p:cNvPr id="66" name="TextBox 48">
              <a:extLst>
                <a:ext uri="{FF2B5EF4-FFF2-40B4-BE49-F238E27FC236}">
                  <a16:creationId xmlns:a16="http://schemas.microsoft.com/office/drawing/2014/main" id="{37633707-BE64-A956-0EB7-8B650E527595}"/>
                </a:ext>
              </a:extLst>
            </p:cNvPr>
            <p:cNvSpPr txBox="1"/>
            <p:nvPr/>
          </p:nvSpPr>
          <p:spPr>
            <a:xfrm>
              <a:off x="0" y="-9525"/>
              <a:ext cx="1648813" cy="778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26"/>
                </a:lnSpc>
              </a:pPr>
              <a:r>
                <a:rPr lang="en-US" sz="118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이상탐지</a:t>
              </a:r>
            </a:p>
          </p:txBody>
        </p:sp>
      </p:grpSp>
      <p:grpSp>
        <p:nvGrpSpPr>
          <p:cNvPr id="67" name="Group 49">
            <a:extLst>
              <a:ext uri="{FF2B5EF4-FFF2-40B4-BE49-F238E27FC236}">
                <a16:creationId xmlns:a16="http://schemas.microsoft.com/office/drawing/2014/main" id="{E7A3D6C9-54F6-8004-71C7-A49EDF97BBDE}"/>
              </a:ext>
            </a:extLst>
          </p:cNvPr>
          <p:cNvGrpSpPr/>
          <p:nvPr/>
        </p:nvGrpSpPr>
        <p:grpSpPr>
          <a:xfrm>
            <a:off x="7139764" y="1063081"/>
            <a:ext cx="627134" cy="288261"/>
            <a:chOff x="0" y="0"/>
            <a:chExt cx="1672356" cy="768697"/>
          </a:xfrm>
        </p:grpSpPr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023FCDC0-8316-EBE0-A421-EF4F5FCDC2BC}"/>
                </a:ext>
              </a:extLst>
            </p:cNvPr>
            <p:cNvSpPr/>
            <p:nvPr/>
          </p:nvSpPr>
          <p:spPr>
            <a:xfrm>
              <a:off x="0" y="0"/>
              <a:ext cx="1672356" cy="768700"/>
            </a:xfrm>
            <a:custGeom>
              <a:avLst/>
              <a:gdLst/>
              <a:ahLst/>
              <a:cxnLst/>
              <a:rect l="l" t="t" r="r" b="b"/>
              <a:pathLst>
                <a:path w="1672356" h="768700">
                  <a:moveTo>
                    <a:pt x="0" y="0"/>
                  </a:moveTo>
                  <a:lnTo>
                    <a:pt x="1672356" y="0"/>
                  </a:lnTo>
                  <a:lnTo>
                    <a:pt x="1672356" y="768700"/>
                  </a:lnTo>
                  <a:lnTo>
                    <a:pt x="0" y="7687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0521" r="-490977" b="-200520"/>
              </a:stretch>
            </a:blipFill>
          </p:spPr>
        </p:sp>
        <p:sp>
          <p:nvSpPr>
            <p:cNvPr id="69" name="TextBox 51">
              <a:extLst>
                <a:ext uri="{FF2B5EF4-FFF2-40B4-BE49-F238E27FC236}">
                  <a16:creationId xmlns:a16="http://schemas.microsoft.com/office/drawing/2014/main" id="{5DF23EA3-146F-979D-C839-05C1827863A0}"/>
                </a:ext>
              </a:extLst>
            </p:cNvPr>
            <p:cNvSpPr txBox="1"/>
            <p:nvPr/>
          </p:nvSpPr>
          <p:spPr>
            <a:xfrm>
              <a:off x="0" y="-9525"/>
              <a:ext cx="1672356" cy="7782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426"/>
                </a:lnSpc>
              </a:pPr>
              <a:r>
                <a:rPr lang="en-US" sz="118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상호검증</a:t>
              </a:r>
            </a:p>
          </p:txBody>
        </p:sp>
      </p:grpSp>
      <p:grpSp>
        <p:nvGrpSpPr>
          <p:cNvPr id="70" name="Group 52">
            <a:extLst>
              <a:ext uri="{FF2B5EF4-FFF2-40B4-BE49-F238E27FC236}">
                <a16:creationId xmlns:a16="http://schemas.microsoft.com/office/drawing/2014/main" id="{63ECD795-9E0C-C38B-170A-0A6D165C911F}"/>
              </a:ext>
            </a:extLst>
          </p:cNvPr>
          <p:cNvGrpSpPr/>
          <p:nvPr/>
        </p:nvGrpSpPr>
        <p:grpSpPr>
          <a:xfrm>
            <a:off x="570264" y="1886292"/>
            <a:ext cx="2343767" cy="1546130"/>
            <a:chOff x="0" y="0"/>
            <a:chExt cx="6250043" cy="4123013"/>
          </a:xfrm>
        </p:grpSpPr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4184DB69-E0D2-C99F-0145-532C1EE56565}"/>
                </a:ext>
              </a:extLst>
            </p:cNvPr>
            <p:cNvSpPr/>
            <p:nvPr/>
          </p:nvSpPr>
          <p:spPr>
            <a:xfrm>
              <a:off x="0" y="0"/>
              <a:ext cx="6250043" cy="4123018"/>
            </a:xfrm>
            <a:custGeom>
              <a:avLst/>
              <a:gdLst/>
              <a:ahLst/>
              <a:cxnLst/>
              <a:rect l="l" t="t" r="r" b="b"/>
              <a:pathLst>
                <a:path w="6250043" h="4123018">
                  <a:moveTo>
                    <a:pt x="0" y="0"/>
                  </a:moveTo>
                  <a:lnTo>
                    <a:pt x="6250043" y="0"/>
                  </a:lnTo>
                  <a:lnTo>
                    <a:pt x="6250043" y="4123018"/>
                  </a:lnTo>
                  <a:lnTo>
                    <a:pt x="0" y="41230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6495" r="-113769" b="20212"/>
              </a:stretch>
            </a:blipFill>
          </p:spPr>
        </p:sp>
        <p:sp>
          <p:nvSpPr>
            <p:cNvPr id="72" name="TextBox 54">
              <a:extLst>
                <a:ext uri="{FF2B5EF4-FFF2-40B4-BE49-F238E27FC236}">
                  <a16:creationId xmlns:a16="http://schemas.microsoft.com/office/drawing/2014/main" id="{19699A27-4FD0-54B8-E5AB-E38E78DB42FE}"/>
                </a:ext>
              </a:extLst>
            </p:cNvPr>
            <p:cNvSpPr txBox="1"/>
            <p:nvPr/>
          </p:nvSpPr>
          <p:spPr>
            <a:xfrm>
              <a:off x="0" y="0"/>
              <a:ext cx="6250043" cy="4123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로지스틱 회귀</a:t>
              </a: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ROC 0.991 / PR 0.944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임계 0.44 → 재현율 1.00 · </a:t>
              </a:r>
              <a:r>
                <a:rPr lang="en-US" sz="938" b="1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미탐 0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4E73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순열검정 </a:t>
              </a:r>
              <a:r>
                <a:rPr lang="en-US" sz="938" b="1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p=0.005</a:t>
              </a: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- 성능 유의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전압 이탈이 핵심 판별자</a:t>
              </a:r>
            </a:p>
          </p:txBody>
        </p:sp>
      </p:grpSp>
      <p:grpSp>
        <p:nvGrpSpPr>
          <p:cNvPr id="73" name="Group 55">
            <a:extLst>
              <a:ext uri="{FF2B5EF4-FFF2-40B4-BE49-F238E27FC236}">
                <a16:creationId xmlns:a16="http://schemas.microsoft.com/office/drawing/2014/main" id="{BD59265C-61B4-92A6-1987-D0D1936DF124}"/>
              </a:ext>
            </a:extLst>
          </p:cNvPr>
          <p:cNvGrpSpPr/>
          <p:nvPr/>
        </p:nvGrpSpPr>
        <p:grpSpPr>
          <a:xfrm>
            <a:off x="3402548" y="1886292"/>
            <a:ext cx="2343767" cy="1546130"/>
            <a:chOff x="0" y="0"/>
            <a:chExt cx="6250043" cy="4123013"/>
          </a:xfrm>
        </p:grpSpPr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35628C7D-8816-436F-1858-516E4EC0DC39}"/>
                </a:ext>
              </a:extLst>
            </p:cNvPr>
            <p:cNvSpPr/>
            <p:nvPr/>
          </p:nvSpPr>
          <p:spPr>
            <a:xfrm>
              <a:off x="0" y="0"/>
              <a:ext cx="6250043" cy="4123018"/>
            </a:xfrm>
            <a:custGeom>
              <a:avLst/>
              <a:gdLst/>
              <a:ahLst/>
              <a:cxnLst/>
              <a:rect l="l" t="t" r="r" b="b"/>
              <a:pathLst>
                <a:path w="6250043" h="4123018">
                  <a:moveTo>
                    <a:pt x="0" y="0"/>
                  </a:moveTo>
                  <a:lnTo>
                    <a:pt x="6250043" y="0"/>
                  </a:lnTo>
                  <a:lnTo>
                    <a:pt x="6250043" y="4123018"/>
                  </a:lnTo>
                  <a:lnTo>
                    <a:pt x="0" y="41230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6495" r="-113769" b="20212"/>
              </a:stretch>
            </a:blipFill>
          </p:spPr>
        </p:sp>
        <p:sp>
          <p:nvSpPr>
            <p:cNvPr id="75" name="TextBox 57">
              <a:extLst>
                <a:ext uri="{FF2B5EF4-FFF2-40B4-BE49-F238E27FC236}">
                  <a16:creationId xmlns:a16="http://schemas.microsoft.com/office/drawing/2014/main" id="{0E1B8631-BA11-D126-2EB8-8333D08E4A64}"/>
                </a:ext>
              </a:extLst>
            </p:cNvPr>
            <p:cNvSpPr txBox="1"/>
            <p:nvPr/>
          </p:nvSpPr>
          <p:spPr>
            <a:xfrm>
              <a:off x="0" y="0"/>
              <a:ext cx="6250043" cy="4123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LOF 이상행 비율</a:t>
              </a: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AUC 1.00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불량 11/ 정상 89 </a:t>
              </a:r>
              <a:r>
                <a:rPr lang="en-US" sz="938" b="1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완벽 분리</a:t>
              </a: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이상 발생 </a:t>
              </a:r>
              <a:r>
                <a:rPr lang="en-US" sz="938" b="1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시점</a:t>
              </a: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까지 탐지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버닝(과전류) </a:t>
              </a:r>
              <a:r>
                <a:rPr lang="en-US" sz="938" b="1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원인</a:t>
              </a: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추적</a:t>
              </a:r>
            </a:p>
          </p:txBody>
        </p:sp>
      </p:grpSp>
      <p:grpSp>
        <p:nvGrpSpPr>
          <p:cNvPr id="76" name="Group 58">
            <a:extLst>
              <a:ext uri="{FF2B5EF4-FFF2-40B4-BE49-F238E27FC236}">
                <a16:creationId xmlns:a16="http://schemas.microsoft.com/office/drawing/2014/main" id="{4FEAF092-9DC9-790B-15F8-F045BEADAF2B}"/>
              </a:ext>
            </a:extLst>
          </p:cNvPr>
          <p:cNvGrpSpPr/>
          <p:nvPr/>
        </p:nvGrpSpPr>
        <p:grpSpPr>
          <a:xfrm>
            <a:off x="6259166" y="1886292"/>
            <a:ext cx="2343767" cy="1546130"/>
            <a:chOff x="0" y="0"/>
            <a:chExt cx="6250043" cy="4123013"/>
          </a:xfrm>
        </p:grpSpPr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3BAC98B-8AE1-D390-D5AD-8CB9BF51D6CE}"/>
                </a:ext>
              </a:extLst>
            </p:cNvPr>
            <p:cNvSpPr/>
            <p:nvPr/>
          </p:nvSpPr>
          <p:spPr>
            <a:xfrm>
              <a:off x="0" y="0"/>
              <a:ext cx="6250043" cy="4123018"/>
            </a:xfrm>
            <a:custGeom>
              <a:avLst/>
              <a:gdLst/>
              <a:ahLst/>
              <a:cxnLst/>
              <a:rect l="l" t="t" r="r" b="b"/>
              <a:pathLst>
                <a:path w="6250043" h="4123018">
                  <a:moveTo>
                    <a:pt x="0" y="0"/>
                  </a:moveTo>
                  <a:lnTo>
                    <a:pt x="6250043" y="0"/>
                  </a:lnTo>
                  <a:lnTo>
                    <a:pt x="6250043" y="4123018"/>
                  </a:lnTo>
                  <a:lnTo>
                    <a:pt x="0" y="41230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6495" r="-113769" b="20212"/>
              </a:stretch>
            </a:blipFill>
          </p:spPr>
        </p:sp>
        <p:sp>
          <p:nvSpPr>
            <p:cNvPr id="78" name="TextBox 60">
              <a:extLst>
                <a:ext uri="{FF2B5EF4-FFF2-40B4-BE49-F238E27FC236}">
                  <a16:creationId xmlns:a16="http://schemas.microsoft.com/office/drawing/2014/main" id="{3F532DB7-B806-2249-69C2-E3BF4F2B73E0}"/>
                </a:ext>
              </a:extLst>
            </p:cNvPr>
            <p:cNvSpPr txBox="1"/>
            <p:nvPr/>
          </p:nvSpPr>
          <p:spPr>
            <a:xfrm>
              <a:off x="0" y="-9525"/>
              <a:ext cx="6250043" cy="4132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06"/>
                </a:lnSpc>
              </a:pPr>
              <a:r>
                <a:rPr lang="en-US" sz="8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838" b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전압 이탈(지도)↔전류 근본원인·전력 증폭(이상)</a:t>
              </a:r>
            </a:p>
            <a:p>
              <a:pPr>
                <a:lnSpc>
                  <a:spcPts val="1126"/>
                </a:lnSpc>
              </a:pPr>
              <a:endParaRPr lang="en-US" sz="838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두 모델 변수 방향 </a:t>
              </a:r>
              <a:r>
                <a:rPr lang="en-US" sz="938" b="1">
                  <a:solidFill>
                    <a:srgbClr val="4E732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일치</a:t>
              </a: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부품 판정 + 시점·원인 동시 제공</a:t>
              </a:r>
            </a:p>
            <a:p>
              <a:pPr>
                <a:lnSpc>
                  <a:spcPts val="1126"/>
                </a:lnSpc>
              </a:pPr>
              <a:endParaRPr lang="en-US" sz="938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소표본 한계 → 표본 추가 시 재보정</a:t>
              </a:r>
            </a:p>
          </p:txBody>
        </p:sp>
      </p:grpSp>
      <p:pic>
        <p:nvPicPr>
          <p:cNvPr id="79" name="Image 1" descr="preencoded.png">
            <a:extLst>
              <a:ext uri="{FF2B5EF4-FFF2-40B4-BE49-F238E27FC236}">
                <a16:creationId xmlns:a16="http://schemas.microsoft.com/office/drawing/2014/main" id="{F141F484-F146-2F77-6A25-C4EE3D0880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47C45C45-3DE2-E38F-65BB-086AB889A35B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AAD24818-333A-8B35-593B-EB45C11E8D51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341493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C463-4A58-BA7E-7E04-2CC5607A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00B11CB-9FD7-86DE-DD8A-24400107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4121BC3-F5DB-B174-EAC1-676F4BA410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8DE15B5-CC1A-AECF-B30F-52A1B254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2446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899C1839-3EF5-8673-FA36-5DDBB46DE4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8A67EA3-3445-5060-F9F4-1495EC3722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90A734AC-768F-0BB4-03E0-EF80F7A805B1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현황 시스템 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(Tableau)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25DE4B54-FD95-9167-C321-162FA91B43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113" name="Group 22">
            <a:extLst>
              <a:ext uri="{FF2B5EF4-FFF2-40B4-BE49-F238E27FC236}">
                <a16:creationId xmlns:a16="http://schemas.microsoft.com/office/drawing/2014/main" id="{DF0259F5-A701-22BE-68C4-C284EBA61B08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114" name="Freeform 23">
              <a:extLst>
                <a:ext uri="{FF2B5EF4-FFF2-40B4-BE49-F238E27FC236}">
                  <a16:creationId xmlns:a16="http://schemas.microsoft.com/office/drawing/2014/main" id="{3384C198-ADE8-E949-7858-738F88B63247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15" name="Group 24">
            <a:extLst>
              <a:ext uri="{FF2B5EF4-FFF2-40B4-BE49-F238E27FC236}">
                <a16:creationId xmlns:a16="http://schemas.microsoft.com/office/drawing/2014/main" id="{67A68374-3062-F965-CFA5-B70825C09A9B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6" name="Freeform 25" descr="logo.png">
              <a:extLst>
                <a:ext uri="{FF2B5EF4-FFF2-40B4-BE49-F238E27FC236}">
                  <a16:creationId xmlns:a16="http://schemas.microsoft.com/office/drawing/2014/main" id="{18FA5B52-9285-C485-F95A-2E0C95797995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17" name="Group 26">
            <a:extLst>
              <a:ext uri="{FF2B5EF4-FFF2-40B4-BE49-F238E27FC236}">
                <a16:creationId xmlns:a16="http://schemas.microsoft.com/office/drawing/2014/main" id="{720D161E-348B-86DB-916F-F6F56A41F325}"/>
              </a:ext>
            </a:extLst>
          </p:cNvPr>
          <p:cNvGrpSpPr/>
          <p:nvPr/>
        </p:nvGrpSpPr>
        <p:grpSpPr>
          <a:xfrm>
            <a:off x="361564" y="950648"/>
            <a:ext cx="98285" cy="3357951"/>
            <a:chOff x="0" y="0"/>
            <a:chExt cx="219634" cy="7503935"/>
          </a:xfrm>
        </p:grpSpPr>
        <p:sp>
          <p:nvSpPr>
            <p:cNvPr id="118" name="Freeform 27">
              <a:extLst>
                <a:ext uri="{FF2B5EF4-FFF2-40B4-BE49-F238E27FC236}">
                  <a16:creationId xmlns:a16="http://schemas.microsoft.com/office/drawing/2014/main" id="{CF0E0A06-9E60-497D-421F-561A28B976EC}"/>
                </a:ext>
              </a:extLst>
            </p:cNvPr>
            <p:cNvSpPr/>
            <p:nvPr/>
          </p:nvSpPr>
          <p:spPr>
            <a:xfrm>
              <a:off x="0" y="0"/>
              <a:ext cx="219583" cy="7503922"/>
            </a:xfrm>
            <a:custGeom>
              <a:avLst/>
              <a:gdLst/>
              <a:ahLst/>
              <a:cxnLst/>
              <a:rect l="l" t="t" r="r" b="b"/>
              <a:pathLst>
                <a:path w="219583" h="750392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83007" y="0"/>
                  </a:lnTo>
                  <a:cubicBezTo>
                    <a:pt x="203200" y="0"/>
                    <a:pt x="219583" y="16383"/>
                    <a:pt x="219583" y="36576"/>
                  </a:cubicBezTo>
                  <a:lnTo>
                    <a:pt x="219583" y="7467346"/>
                  </a:lnTo>
                  <a:cubicBezTo>
                    <a:pt x="219583" y="7487538"/>
                    <a:pt x="203200" y="7503922"/>
                    <a:pt x="183007" y="7503922"/>
                  </a:cubicBezTo>
                  <a:lnTo>
                    <a:pt x="36576" y="7503922"/>
                  </a:lnTo>
                  <a:cubicBezTo>
                    <a:pt x="16383" y="7503922"/>
                    <a:pt x="0" y="7487538"/>
                    <a:pt x="0" y="7467346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19" name="Group 28">
            <a:extLst>
              <a:ext uri="{FF2B5EF4-FFF2-40B4-BE49-F238E27FC236}">
                <a16:creationId xmlns:a16="http://schemas.microsoft.com/office/drawing/2014/main" id="{77472F7E-E124-F08F-9B82-496E5AAF6142}"/>
              </a:ext>
            </a:extLst>
          </p:cNvPr>
          <p:cNvGrpSpPr/>
          <p:nvPr/>
        </p:nvGrpSpPr>
        <p:grpSpPr>
          <a:xfrm>
            <a:off x="377486" y="4365749"/>
            <a:ext cx="8476250" cy="438605"/>
            <a:chOff x="0" y="0"/>
            <a:chExt cx="22383712" cy="1158247"/>
          </a:xfrm>
        </p:grpSpPr>
        <p:sp>
          <p:nvSpPr>
            <p:cNvPr id="120" name="Freeform 29">
              <a:extLst>
                <a:ext uri="{FF2B5EF4-FFF2-40B4-BE49-F238E27FC236}">
                  <a16:creationId xmlns:a16="http://schemas.microsoft.com/office/drawing/2014/main" id="{3B580695-BA8F-43DD-16F3-2A6DED78BB35}"/>
                </a:ext>
              </a:extLst>
            </p:cNvPr>
            <p:cNvSpPr/>
            <p:nvPr/>
          </p:nvSpPr>
          <p:spPr>
            <a:xfrm>
              <a:off x="0" y="0"/>
              <a:ext cx="22383750" cy="1158285"/>
            </a:xfrm>
            <a:custGeom>
              <a:avLst/>
              <a:gdLst/>
              <a:ahLst/>
              <a:cxnLst/>
              <a:rect l="l" t="t" r="r" b="b"/>
              <a:pathLst>
                <a:path w="22383750" h="1158285">
                  <a:moveTo>
                    <a:pt x="0" y="193060"/>
                  </a:moveTo>
                  <a:cubicBezTo>
                    <a:pt x="0" y="86462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86462"/>
                    <a:pt x="22383750" y="193060"/>
                  </a:cubicBezTo>
                  <a:lnTo>
                    <a:pt x="22383750" y="965213"/>
                  </a:lnTo>
                  <a:cubicBezTo>
                    <a:pt x="22383750" y="1071810"/>
                    <a:pt x="22253956" y="1158285"/>
                    <a:pt x="22093937" y="1158285"/>
                  </a:cubicBezTo>
                  <a:lnTo>
                    <a:pt x="289814" y="1158285"/>
                  </a:lnTo>
                  <a:cubicBezTo>
                    <a:pt x="129794" y="1158285"/>
                    <a:pt x="0" y="1071810"/>
                    <a:pt x="0" y="96521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21" name="Group 30">
            <a:extLst>
              <a:ext uri="{FF2B5EF4-FFF2-40B4-BE49-F238E27FC236}">
                <a16:creationId xmlns:a16="http://schemas.microsoft.com/office/drawing/2014/main" id="{2A38A575-9925-E2CD-F5F0-61B25689F9DD}"/>
              </a:ext>
            </a:extLst>
          </p:cNvPr>
          <p:cNvGrpSpPr/>
          <p:nvPr/>
        </p:nvGrpSpPr>
        <p:grpSpPr>
          <a:xfrm>
            <a:off x="670505" y="4441910"/>
            <a:ext cx="5010255" cy="286283"/>
            <a:chOff x="0" y="0"/>
            <a:chExt cx="13360679" cy="763420"/>
          </a:xfrm>
        </p:grpSpPr>
        <p:sp>
          <p:nvSpPr>
            <p:cNvPr id="122" name="Freeform 31">
              <a:extLst>
                <a:ext uri="{FF2B5EF4-FFF2-40B4-BE49-F238E27FC236}">
                  <a16:creationId xmlns:a16="http://schemas.microsoft.com/office/drawing/2014/main" id="{A36290EE-2C03-A578-20C7-4A5A4DAF7952}"/>
                </a:ext>
              </a:extLst>
            </p:cNvPr>
            <p:cNvSpPr/>
            <p:nvPr/>
          </p:nvSpPr>
          <p:spPr>
            <a:xfrm>
              <a:off x="0" y="0"/>
              <a:ext cx="13360678" cy="763426"/>
            </a:xfrm>
            <a:custGeom>
              <a:avLst/>
              <a:gdLst/>
              <a:ahLst/>
              <a:cxnLst/>
              <a:rect l="l" t="t" r="r" b="b"/>
              <a:pathLst>
                <a:path w="13360678" h="763426">
                  <a:moveTo>
                    <a:pt x="0" y="0"/>
                  </a:moveTo>
                  <a:lnTo>
                    <a:pt x="13360678" y="0"/>
                  </a:lnTo>
                  <a:lnTo>
                    <a:pt x="13360678" y="763426"/>
                  </a:lnTo>
                  <a:lnTo>
                    <a:pt x="0" y="7634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51104" b="-330908"/>
              </a:stretch>
            </a:blipFill>
          </p:spPr>
        </p:sp>
        <p:sp>
          <p:nvSpPr>
            <p:cNvPr id="123" name="TextBox 32">
              <a:extLst>
                <a:ext uri="{FF2B5EF4-FFF2-40B4-BE49-F238E27FC236}">
                  <a16:creationId xmlns:a16="http://schemas.microsoft.com/office/drawing/2014/main" id="{99D32878-9167-5E38-6BB7-F74B2FF737DA}"/>
                </a:ext>
              </a:extLst>
            </p:cNvPr>
            <p:cNvSpPr txBox="1"/>
            <p:nvPr/>
          </p:nvSpPr>
          <p:spPr>
            <a:xfrm>
              <a:off x="0" y="0"/>
              <a:ext cx="13360679" cy="763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운영 상태를 한눈에 → 모니터링의 시작점</a:t>
              </a:r>
            </a:p>
          </p:txBody>
        </p:sp>
      </p:grpSp>
      <p:grpSp>
        <p:nvGrpSpPr>
          <p:cNvPr id="124" name="Group 33">
            <a:extLst>
              <a:ext uri="{FF2B5EF4-FFF2-40B4-BE49-F238E27FC236}">
                <a16:creationId xmlns:a16="http://schemas.microsoft.com/office/drawing/2014/main" id="{CF15B46E-B462-5D71-3EB8-FF1BD98AAF37}"/>
              </a:ext>
            </a:extLst>
          </p:cNvPr>
          <p:cNvGrpSpPr/>
          <p:nvPr/>
        </p:nvGrpSpPr>
        <p:grpSpPr>
          <a:xfrm>
            <a:off x="6533307" y="4393365"/>
            <a:ext cx="2045894" cy="362627"/>
            <a:chOff x="0" y="0"/>
            <a:chExt cx="5455718" cy="967003"/>
          </a:xfrm>
        </p:grpSpPr>
        <p:sp>
          <p:nvSpPr>
            <p:cNvPr id="125" name="Freeform 34">
              <a:extLst>
                <a:ext uri="{FF2B5EF4-FFF2-40B4-BE49-F238E27FC236}">
                  <a16:creationId xmlns:a16="http://schemas.microsoft.com/office/drawing/2014/main" id="{F5BEECC8-5295-D118-3E27-7AC4FE4C6F69}"/>
                </a:ext>
              </a:extLst>
            </p:cNvPr>
            <p:cNvSpPr/>
            <p:nvPr/>
          </p:nvSpPr>
          <p:spPr>
            <a:xfrm>
              <a:off x="0" y="0"/>
              <a:ext cx="5455717" cy="967003"/>
            </a:xfrm>
            <a:custGeom>
              <a:avLst/>
              <a:gdLst/>
              <a:ahLst/>
              <a:cxnLst/>
              <a:rect l="l" t="t" r="r" b="b"/>
              <a:pathLst>
                <a:path w="5455717" h="967003">
                  <a:moveTo>
                    <a:pt x="0" y="0"/>
                  </a:moveTo>
                  <a:lnTo>
                    <a:pt x="5455717" y="0"/>
                  </a:lnTo>
                  <a:lnTo>
                    <a:pt x="5455717" y="967003"/>
                  </a:lnTo>
                  <a:lnTo>
                    <a:pt x="0" y="9670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9954" r="-9027" b="-109759"/>
              </a:stretch>
            </a:blipFill>
          </p:spPr>
        </p:sp>
        <p:sp>
          <p:nvSpPr>
            <p:cNvPr id="126" name="TextBox 35">
              <a:extLst>
                <a:ext uri="{FF2B5EF4-FFF2-40B4-BE49-F238E27FC236}">
                  <a16:creationId xmlns:a16="http://schemas.microsoft.com/office/drawing/2014/main" id="{98CB6F8A-32F7-C871-8A7F-69DA2B4B8B8A}"/>
                </a:ext>
              </a:extLst>
            </p:cNvPr>
            <p:cNvSpPr txBox="1"/>
            <p:nvPr/>
          </p:nvSpPr>
          <p:spPr>
            <a:xfrm>
              <a:off x="0" y="-38100"/>
              <a:ext cx="5455718" cy="1005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공정 현황 한 화면 통합</a:t>
              </a:r>
            </a:p>
          </p:txBody>
        </p:sp>
      </p:grpSp>
      <p:sp>
        <p:nvSpPr>
          <p:cNvPr id="127" name="Freeform 36">
            <a:extLst>
              <a:ext uri="{FF2B5EF4-FFF2-40B4-BE49-F238E27FC236}">
                <a16:creationId xmlns:a16="http://schemas.microsoft.com/office/drawing/2014/main" id="{C0A2E159-D0D5-B2E0-63DC-6A35CBF61358}"/>
              </a:ext>
            </a:extLst>
          </p:cNvPr>
          <p:cNvSpPr/>
          <p:nvPr/>
        </p:nvSpPr>
        <p:spPr>
          <a:xfrm>
            <a:off x="590107" y="950648"/>
            <a:ext cx="5003387" cy="3357951"/>
          </a:xfrm>
          <a:custGeom>
            <a:avLst/>
            <a:gdLst/>
            <a:ahLst/>
            <a:cxnLst/>
            <a:rect l="l" t="t" r="r" b="b"/>
            <a:pathLst>
              <a:path w="10006774" h="6715902">
                <a:moveTo>
                  <a:pt x="0" y="0"/>
                </a:moveTo>
                <a:lnTo>
                  <a:pt x="10006775" y="0"/>
                </a:lnTo>
                <a:lnTo>
                  <a:pt x="10006775" y="6715902"/>
                </a:lnTo>
                <a:lnTo>
                  <a:pt x="0" y="6715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3000" b="-2826"/>
            </a:stretch>
          </a:blipFill>
        </p:spPr>
      </p:sp>
      <p:grpSp>
        <p:nvGrpSpPr>
          <p:cNvPr id="128" name="Group 37">
            <a:extLst>
              <a:ext uri="{FF2B5EF4-FFF2-40B4-BE49-F238E27FC236}">
                <a16:creationId xmlns:a16="http://schemas.microsoft.com/office/drawing/2014/main" id="{CE2BF6F5-9CA6-EE70-1A24-D3A422D242E2}"/>
              </a:ext>
            </a:extLst>
          </p:cNvPr>
          <p:cNvGrpSpPr/>
          <p:nvPr/>
        </p:nvGrpSpPr>
        <p:grpSpPr>
          <a:xfrm>
            <a:off x="6032303" y="1032125"/>
            <a:ext cx="2888108" cy="964846"/>
            <a:chOff x="0" y="0"/>
            <a:chExt cx="7701620" cy="2572922"/>
          </a:xfrm>
        </p:grpSpPr>
        <p:grpSp>
          <p:nvGrpSpPr>
            <p:cNvPr id="129" name="Group 38">
              <a:extLst>
                <a:ext uri="{FF2B5EF4-FFF2-40B4-BE49-F238E27FC236}">
                  <a16:creationId xmlns:a16="http://schemas.microsoft.com/office/drawing/2014/main" id="{20F88D87-B401-1A60-807D-334F58FCB622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136" name="Freeform 39">
                <a:extLst>
                  <a:ext uri="{FF2B5EF4-FFF2-40B4-BE49-F238E27FC236}">
                    <a16:creationId xmlns:a16="http://schemas.microsoft.com/office/drawing/2014/main" id="{687E8FF3-7E52-D750-81CC-59774DD0675E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137" name="TextBox 40">
                <a:extLst>
                  <a:ext uri="{FF2B5EF4-FFF2-40B4-BE49-F238E27FC236}">
                    <a16:creationId xmlns:a16="http://schemas.microsoft.com/office/drawing/2014/main" id="{A3A5D7DF-9EFE-D7A9-2218-093AD8952929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130" name="Group 41">
              <a:extLst>
                <a:ext uri="{FF2B5EF4-FFF2-40B4-BE49-F238E27FC236}">
                  <a16:creationId xmlns:a16="http://schemas.microsoft.com/office/drawing/2014/main" id="{327D0C93-37D3-DA47-560C-47157BB7EDB5}"/>
                </a:ext>
              </a:extLst>
            </p:cNvPr>
            <p:cNvGrpSpPr/>
            <p:nvPr/>
          </p:nvGrpSpPr>
          <p:grpSpPr>
            <a:xfrm>
              <a:off x="201320" y="262927"/>
              <a:ext cx="598188" cy="598188"/>
              <a:chOff x="0" y="0"/>
              <a:chExt cx="812800" cy="812800"/>
            </a:xfrm>
          </p:grpSpPr>
          <p:sp>
            <p:nvSpPr>
              <p:cNvPr id="134" name="Freeform 42">
                <a:extLst>
                  <a:ext uri="{FF2B5EF4-FFF2-40B4-BE49-F238E27FC236}">
                    <a16:creationId xmlns:a16="http://schemas.microsoft.com/office/drawing/2014/main" id="{33E573D6-B1FC-C569-7DFD-519F996225CD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135" name="TextBox 43">
                <a:extLst>
                  <a:ext uri="{FF2B5EF4-FFF2-40B4-BE49-F238E27FC236}">
                    <a16:creationId xmlns:a16="http://schemas.microsoft.com/office/drawing/2014/main" id="{744D6D48-66A8-1140-070A-CE0074C7EA8B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31" name="TextBox 44">
              <a:extLst>
                <a:ext uri="{FF2B5EF4-FFF2-40B4-BE49-F238E27FC236}">
                  <a16:creationId xmlns:a16="http://schemas.microsoft.com/office/drawing/2014/main" id="{7BEB0C64-2F2E-B087-042E-162EBE720C6E}"/>
                </a:ext>
              </a:extLst>
            </p:cNvPr>
            <p:cNvSpPr txBox="1"/>
            <p:nvPr/>
          </p:nvSpPr>
          <p:spPr>
            <a:xfrm>
              <a:off x="544221" y="1185365"/>
              <a:ext cx="6613556" cy="387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공정 전반 운영 상태를 한 화면에서 파악</a:t>
              </a:r>
            </a:p>
          </p:txBody>
        </p:sp>
        <p:sp>
          <p:nvSpPr>
            <p:cNvPr id="132" name="TextBox 45">
              <a:extLst>
                <a:ext uri="{FF2B5EF4-FFF2-40B4-BE49-F238E27FC236}">
                  <a16:creationId xmlns:a16="http://schemas.microsoft.com/office/drawing/2014/main" id="{74DC9BF8-B770-7400-3ED4-7113B1284B60}"/>
                </a:ext>
              </a:extLst>
            </p:cNvPr>
            <p:cNvSpPr txBox="1"/>
            <p:nvPr/>
          </p:nvSpPr>
          <p:spPr>
            <a:xfrm>
              <a:off x="201320" y="261243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</a:t>
              </a:r>
            </a:p>
          </p:txBody>
        </p:sp>
        <p:sp>
          <p:nvSpPr>
            <p:cNvPr id="133" name="TextBox 46">
              <a:extLst>
                <a:ext uri="{FF2B5EF4-FFF2-40B4-BE49-F238E27FC236}">
                  <a16:creationId xmlns:a16="http://schemas.microsoft.com/office/drawing/2014/main" id="{01E63723-9002-6D98-12B7-E4A5F68D505E}"/>
                </a:ext>
              </a:extLst>
            </p:cNvPr>
            <p:cNvSpPr txBox="1"/>
            <p:nvPr/>
          </p:nvSpPr>
          <p:spPr>
            <a:xfrm>
              <a:off x="990008" y="360736"/>
              <a:ext cx="6711612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통합 KPI 현황</a:t>
              </a:r>
            </a:p>
          </p:txBody>
        </p:sp>
      </p:grpSp>
      <p:sp>
        <p:nvSpPr>
          <p:cNvPr id="138" name="AutoShape 47">
            <a:extLst>
              <a:ext uri="{FF2B5EF4-FFF2-40B4-BE49-F238E27FC236}">
                <a16:creationId xmlns:a16="http://schemas.microsoft.com/office/drawing/2014/main" id="{91B48D85-4089-78FA-7B66-D777824644A8}"/>
              </a:ext>
            </a:extLst>
          </p:cNvPr>
          <p:cNvSpPr/>
          <p:nvPr/>
        </p:nvSpPr>
        <p:spPr>
          <a:xfrm>
            <a:off x="5427169" y="1514548"/>
            <a:ext cx="680630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39" name="Group 48">
            <a:extLst>
              <a:ext uri="{FF2B5EF4-FFF2-40B4-BE49-F238E27FC236}">
                <a16:creationId xmlns:a16="http://schemas.microsoft.com/office/drawing/2014/main" id="{E26CB46C-1118-6E45-39B8-8CE4EA023197}"/>
              </a:ext>
            </a:extLst>
          </p:cNvPr>
          <p:cNvGrpSpPr/>
          <p:nvPr/>
        </p:nvGrpSpPr>
        <p:grpSpPr>
          <a:xfrm>
            <a:off x="6032303" y="2098438"/>
            <a:ext cx="2904725" cy="964846"/>
            <a:chOff x="0" y="0"/>
            <a:chExt cx="7745931" cy="2572922"/>
          </a:xfrm>
        </p:grpSpPr>
        <p:grpSp>
          <p:nvGrpSpPr>
            <p:cNvPr id="140" name="Group 49">
              <a:extLst>
                <a:ext uri="{FF2B5EF4-FFF2-40B4-BE49-F238E27FC236}">
                  <a16:creationId xmlns:a16="http://schemas.microsoft.com/office/drawing/2014/main" id="{9A4E35BC-66BC-1D88-E8C7-6622990A02F9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147" name="Freeform 50">
                <a:extLst>
                  <a:ext uri="{FF2B5EF4-FFF2-40B4-BE49-F238E27FC236}">
                    <a16:creationId xmlns:a16="http://schemas.microsoft.com/office/drawing/2014/main" id="{8E6E81D0-BC79-F783-EB13-8A13E41F9195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148" name="TextBox 51">
                <a:extLst>
                  <a:ext uri="{FF2B5EF4-FFF2-40B4-BE49-F238E27FC236}">
                    <a16:creationId xmlns:a16="http://schemas.microsoft.com/office/drawing/2014/main" id="{EE2986B3-C365-F864-4050-6EB2E9C8BD0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41" name="TextBox 52">
              <a:extLst>
                <a:ext uri="{FF2B5EF4-FFF2-40B4-BE49-F238E27FC236}">
                  <a16:creationId xmlns:a16="http://schemas.microsoft.com/office/drawing/2014/main" id="{3CD3FCE6-2E57-BA7B-2AA2-079B1B367175}"/>
                </a:ext>
              </a:extLst>
            </p:cNvPr>
            <p:cNvSpPr txBox="1"/>
            <p:nvPr/>
          </p:nvSpPr>
          <p:spPr>
            <a:xfrm>
              <a:off x="1034320" y="368944"/>
              <a:ext cx="6711611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 유형 분석</a:t>
              </a:r>
            </a:p>
          </p:txBody>
        </p:sp>
        <p:sp>
          <p:nvSpPr>
            <p:cNvPr id="142" name="TextBox 53">
              <a:extLst>
                <a:ext uri="{FF2B5EF4-FFF2-40B4-BE49-F238E27FC236}">
                  <a16:creationId xmlns:a16="http://schemas.microsoft.com/office/drawing/2014/main" id="{C62DDAB7-7115-CF95-618A-047CD6367DAE}"/>
                </a:ext>
              </a:extLst>
            </p:cNvPr>
            <p:cNvSpPr txBox="1"/>
            <p:nvPr/>
          </p:nvSpPr>
          <p:spPr>
            <a:xfrm>
              <a:off x="588530" y="1189138"/>
              <a:ext cx="6613553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KPI·불량 유형·발생 날짜 통합 확인</a:t>
              </a:r>
            </a:p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고전류·고온·저전류·복합 4가지 유형 분류</a:t>
              </a:r>
            </a:p>
          </p:txBody>
        </p:sp>
        <p:grpSp>
          <p:nvGrpSpPr>
            <p:cNvPr id="143" name="Group 54">
              <a:extLst>
                <a:ext uri="{FF2B5EF4-FFF2-40B4-BE49-F238E27FC236}">
                  <a16:creationId xmlns:a16="http://schemas.microsoft.com/office/drawing/2014/main" id="{52744BC8-79E0-10F4-BF87-81385153C3FA}"/>
                </a:ext>
              </a:extLst>
            </p:cNvPr>
            <p:cNvGrpSpPr/>
            <p:nvPr/>
          </p:nvGrpSpPr>
          <p:grpSpPr>
            <a:xfrm>
              <a:off x="244039" y="266700"/>
              <a:ext cx="598188" cy="598188"/>
              <a:chOff x="0" y="0"/>
              <a:chExt cx="812800" cy="812800"/>
            </a:xfrm>
          </p:grpSpPr>
          <p:sp>
            <p:nvSpPr>
              <p:cNvPr id="145" name="Freeform 55">
                <a:extLst>
                  <a:ext uri="{FF2B5EF4-FFF2-40B4-BE49-F238E27FC236}">
                    <a16:creationId xmlns:a16="http://schemas.microsoft.com/office/drawing/2014/main" id="{A1B2B4E6-34D4-BF66-2982-E7CA335E07B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146" name="TextBox 56">
                <a:extLst>
                  <a:ext uri="{FF2B5EF4-FFF2-40B4-BE49-F238E27FC236}">
                    <a16:creationId xmlns:a16="http://schemas.microsoft.com/office/drawing/2014/main" id="{A31BA4C2-C610-5E79-49E0-4BC7C5C2D218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44" name="TextBox 57">
              <a:extLst>
                <a:ext uri="{FF2B5EF4-FFF2-40B4-BE49-F238E27FC236}">
                  <a16:creationId xmlns:a16="http://schemas.microsoft.com/office/drawing/2014/main" id="{5CDB52D0-AC5E-98BD-ADA9-43F3024C435A}"/>
                </a:ext>
              </a:extLst>
            </p:cNvPr>
            <p:cNvSpPr txBox="1"/>
            <p:nvPr/>
          </p:nvSpPr>
          <p:spPr>
            <a:xfrm>
              <a:off x="245632" y="265016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2</a:t>
              </a:r>
            </a:p>
          </p:txBody>
        </p:sp>
      </p:grpSp>
      <p:sp>
        <p:nvSpPr>
          <p:cNvPr id="149" name="AutoShape 58">
            <a:extLst>
              <a:ext uri="{FF2B5EF4-FFF2-40B4-BE49-F238E27FC236}">
                <a16:creationId xmlns:a16="http://schemas.microsoft.com/office/drawing/2014/main" id="{12F942B7-02D1-9111-282A-287D655A1EB3}"/>
              </a:ext>
            </a:extLst>
          </p:cNvPr>
          <p:cNvSpPr/>
          <p:nvPr/>
        </p:nvSpPr>
        <p:spPr>
          <a:xfrm>
            <a:off x="5427169" y="2571750"/>
            <a:ext cx="680630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50" name="Group 59">
            <a:extLst>
              <a:ext uri="{FF2B5EF4-FFF2-40B4-BE49-F238E27FC236}">
                <a16:creationId xmlns:a16="http://schemas.microsoft.com/office/drawing/2014/main" id="{8F21833A-9615-ADCF-1DD7-5F8329EAD071}"/>
              </a:ext>
            </a:extLst>
          </p:cNvPr>
          <p:cNvGrpSpPr/>
          <p:nvPr/>
        </p:nvGrpSpPr>
        <p:grpSpPr>
          <a:xfrm>
            <a:off x="6032303" y="3223732"/>
            <a:ext cx="2937340" cy="964846"/>
            <a:chOff x="0" y="0"/>
            <a:chExt cx="7832907" cy="2572922"/>
          </a:xfrm>
        </p:grpSpPr>
        <p:grpSp>
          <p:nvGrpSpPr>
            <p:cNvPr id="151" name="Group 60">
              <a:extLst>
                <a:ext uri="{FF2B5EF4-FFF2-40B4-BE49-F238E27FC236}">
                  <a16:creationId xmlns:a16="http://schemas.microsoft.com/office/drawing/2014/main" id="{A32033D9-2B65-07D3-B2D8-9368B7BB9285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158" name="Freeform 61">
                <a:extLst>
                  <a:ext uri="{FF2B5EF4-FFF2-40B4-BE49-F238E27FC236}">
                    <a16:creationId xmlns:a16="http://schemas.microsoft.com/office/drawing/2014/main" id="{19332F43-CE51-07F8-C873-1F5CAEC47B62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159" name="TextBox 62">
                <a:extLst>
                  <a:ext uri="{FF2B5EF4-FFF2-40B4-BE49-F238E27FC236}">
                    <a16:creationId xmlns:a16="http://schemas.microsoft.com/office/drawing/2014/main" id="{0FF0C657-EA02-A085-BC13-DCC89ADBCD3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52" name="TextBox 63">
              <a:extLst>
                <a:ext uri="{FF2B5EF4-FFF2-40B4-BE49-F238E27FC236}">
                  <a16:creationId xmlns:a16="http://schemas.microsoft.com/office/drawing/2014/main" id="{FA349CF2-7DE4-945C-7F36-32A494CC9CB7}"/>
                </a:ext>
              </a:extLst>
            </p:cNvPr>
            <p:cNvSpPr txBox="1"/>
            <p:nvPr/>
          </p:nvSpPr>
          <p:spPr>
            <a:xfrm>
              <a:off x="1121296" y="404397"/>
              <a:ext cx="6711611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 발생 타임라인</a:t>
              </a:r>
            </a:p>
          </p:txBody>
        </p:sp>
        <p:sp>
          <p:nvSpPr>
            <p:cNvPr id="153" name="TextBox 64">
              <a:extLst>
                <a:ext uri="{FF2B5EF4-FFF2-40B4-BE49-F238E27FC236}">
                  <a16:creationId xmlns:a16="http://schemas.microsoft.com/office/drawing/2014/main" id="{8B57953A-BB18-1F5F-57AF-317C0EDD6649}"/>
                </a:ext>
              </a:extLst>
            </p:cNvPr>
            <p:cNvSpPr txBox="1"/>
            <p:nvPr/>
          </p:nvSpPr>
          <p:spPr>
            <a:xfrm>
              <a:off x="675507" y="1224589"/>
              <a:ext cx="6613555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</a:t>
              </a: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날짜별 불량 발생 시점을 직관적으로 확인</a:t>
              </a:r>
            </a:p>
            <a:p>
              <a:pPr>
                <a:lnSpc>
                  <a:spcPts val="1214"/>
                </a:lnSpc>
              </a:pPr>
              <a:r>
                <a:rPr lang="en-US" sz="963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단기 변동·패턴 변화를 직관적으로 확인</a:t>
              </a:r>
            </a:p>
          </p:txBody>
        </p:sp>
        <p:grpSp>
          <p:nvGrpSpPr>
            <p:cNvPr id="154" name="Group 65">
              <a:extLst>
                <a:ext uri="{FF2B5EF4-FFF2-40B4-BE49-F238E27FC236}">
                  <a16:creationId xmlns:a16="http://schemas.microsoft.com/office/drawing/2014/main" id="{38A9F434-094C-D546-E915-A9EAA053BCB5}"/>
                </a:ext>
              </a:extLst>
            </p:cNvPr>
            <p:cNvGrpSpPr/>
            <p:nvPr/>
          </p:nvGrpSpPr>
          <p:grpSpPr>
            <a:xfrm>
              <a:off x="331016" y="302152"/>
              <a:ext cx="598188" cy="598188"/>
              <a:chOff x="0" y="0"/>
              <a:chExt cx="812800" cy="812800"/>
            </a:xfrm>
          </p:grpSpPr>
          <p:sp>
            <p:nvSpPr>
              <p:cNvPr id="156" name="Freeform 66">
                <a:extLst>
                  <a:ext uri="{FF2B5EF4-FFF2-40B4-BE49-F238E27FC236}">
                    <a16:creationId xmlns:a16="http://schemas.microsoft.com/office/drawing/2014/main" id="{10EF6021-9004-CEAB-0364-B024E6095DB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157" name="TextBox 67">
                <a:extLst>
                  <a:ext uri="{FF2B5EF4-FFF2-40B4-BE49-F238E27FC236}">
                    <a16:creationId xmlns:a16="http://schemas.microsoft.com/office/drawing/2014/main" id="{DABAA7E4-8DAB-25AA-50C0-4ECD8FCAB05E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55" name="TextBox 68">
              <a:extLst>
                <a:ext uri="{FF2B5EF4-FFF2-40B4-BE49-F238E27FC236}">
                  <a16:creationId xmlns:a16="http://schemas.microsoft.com/office/drawing/2014/main" id="{3EF3549B-2836-64EF-75F6-D4D68799F4FA}"/>
                </a:ext>
              </a:extLst>
            </p:cNvPr>
            <p:cNvSpPr txBox="1"/>
            <p:nvPr/>
          </p:nvSpPr>
          <p:spPr>
            <a:xfrm>
              <a:off x="332608" y="300467"/>
              <a:ext cx="598187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3</a:t>
              </a:r>
            </a:p>
          </p:txBody>
        </p:sp>
      </p:grpSp>
      <p:sp>
        <p:nvSpPr>
          <p:cNvPr id="160" name="AutoShape 69">
            <a:extLst>
              <a:ext uri="{FF2B5EF4-FFF2-40B4-BE49-F238E27FC236}">
                <a16:creationId xmlns:a16="http://schemas.microsoft.com/office/drawing/2014/main" id="{8E516A70-0F9F-3C07-9324-D5936A2F377E}"/>
              </a:ext>
            </a:extLst>
          </p:cNvPr>
          <p:cNvSpPr/>
          <p:nvPr/>
        </p:nvSpPr>
        <p:spPr>
          <a:xfrm>
            <a:off x="5427169" y="3680424"/>
            <a:ext cx="680630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61" name="Group 70">
            <a:extLst>
              <a:ext uri="{FF2B5EF4-FFF2-40B4-BE49-F238E27FC236}">
                <a16:creationId xmlns:a16="http://schemas.microsoft.com/office/drawing/2014/main" id="{995D8C6F-DCBF-F53F-4CEE-FCD5A85E8C58}"/>
              </a:ext>
            </a:extLst>
          </p:cNvPr>
          <p:cNvGrpSpPr/>
          <p:nvPr/>
        </p:nvGrpSpPr>
        <p:grpSpPr>
          <a:xfrm>
            <a:off x="5583970" y="4488963"/>
            <a:ext cx="480436" cy="192177"/>
            <a:chOff x="0" y="0"/>
            <a:chExt cx="1281163" cy="512470"/>
          </a:xfrm>
        </p:grpSpPr>
        <p:sp>
          <p:nvSpPr>
            <p:cNvPr id="162" name="Freeform 71">
              <a:extLst>
                <a:ext uri="{FF2B5EF4-FFF2-40B4-BE49-F238E27FC236}">
                  <a16:creationId xmlns:a16="http://schemas.microsoft.com/office/drawing/2014/main" id="{BFE2F7C5-F8F1-BD62-7908-60A0D89992A7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pic>
        <p:nvPicPr>
          <p:cNvPr id="163" name="Image 1" descr="preencoded.png">
            <a:extLst>
              <a:ext uri="{FF2B5EF4-FFF2-40B4-BE49-F238E27FC236}">
                <a16:creationId xmlns:a16="http://schemas.microsoft.com/office/drawing/2014/main" id="{3BF58CC5-B5DD-99EA-649E-888477FB04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64" name="Text 2">
            <a:extLst>
              <a:ext uri="{FF2B5EF4-FFF2-40B4-BE49-F238E27FC236}">
                <a16:creationId xmlns:a16="http://schemas.microsoft.com/office/drawing/2014/main" id="{182CB1CC-D9F3-915D-90A1-A9FA3813A2B6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65" name="Text 9">
            <a:extLst>
              <a:ext uri="{FF2B5EF4-FFF2-40B4-BE49-F238E27FC236}">
                <a16:creationId xmlns:a16="http://schemas.microsoft.com/office/drawing/2014/main" id="{ACC91D3B-0A40-C485-CF34-E8D3AA4AD757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313252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C11A-05D2-4595-45E3-BB6DE117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29E440A-40DF-5D6E-1B52-8F84ED6420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8760DC4-658A-9FDE-80DF-736A532449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3F970F02-765A-C3D3-09F4-92E69BB9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40B77F6-DDBE-E5A0-5519-451E5AA4CC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532D2BB-039A-5D9C-0092-1ADE301380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A1335F91-9794-31BA-FA7D-0DB388DB2E31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현황 시스템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(Tableau)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B05590FB-D160-DC34-8977-54ED0F92C5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90D4E2FE-87A3-0F0D-AA44-5A51A3202FF0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F90CDB35-7EF8-E64D-B2C2-AEF028E2B534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067C4E6F-310F-EC1D-80D4-2B9E30BC7901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4D966CA9-DF77-A858-FA8C-BFA096FC82BC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EE363DAF-5BA1-650C-37C9-25032E9B43CD}"/>
              </a:ext>
            </a:extLst>
          </p:cNvPr>
          <p:cNvGrpSpPr/>
          <p:nvPr/>
        </p:nvGrpSpPr>
        <p:grpSpPr>
          <a:xfrm>
            <a:off x="361564" y="950648"/>
            <a:ext cx="98285" cy="3357951"/>
            <a:chOff x="0" y="0"/>
            <a:chExt cx="219634" cy="7503935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2F53CD6F-2675-D671-531F-05A41D5E4413}"/>
                </a:ext>
              </a:extLst>
            </p:cNvPr>
            <p:cNvSpPr/>
            <p:nvPr/>
          </p:nvSpPr>
          <p:spPr>
            <a:xfrm>
              <a:off x="0" y="0"/>
              <a:ext cx="219583" cy="7503922"/>
            </a:xfrm>
            <a:custGeom>
              <a:avLst/>
              <a:gdLst/>
              <a:ahLst/>
              <a:cxnLst/>
              <a:rect l="l" t="t" r="r" b="b"/>
              <a:pathLst>
                <a:path w="219583" h="750392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83007" y="0"/>
                  </a:lnTo>
                  <a:cubicBezTo>
                    <a:pt x="203200" y="0"/>
                    <a:pt x="219583" y="16383"/>
                    <a:pt x="219583" y="36576"/>
                  </a:cubicBezTo>
                  <a:lnTo>
                    <a:pt x="219583" y="7467346"/>
                  </a:lnTo>
                  <a:cubicBezTo>
                    <a:pt x="219583" y="7487538"/>
                    <a:pt x="203200" y="7503922"/>
                    <a:pt x="183007" y="7503922"/>
                  </a:cubicBezTo>
                  <a:lnTo>
                    <a:pt x="36576" y="7503922"/>
                  </a:lnTo>
                  <a:cubicBezTo>
                    <a:pt x="16383" y="7503922"/>
                    <a:pt x="0" y="7487538"/>
                    <a:pt x="0" y="7467346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8C0722A6-249D-C7F9-E7FD-D00619C3FFC7}"/>
              </a:ext>
            </a:extLst>
          </p:cNvPr>
          <p:cNvGrpSpPr/>
          <p:nvPr/>
        </p:nvGrpSpPr>
        <p:grpSpPr>
          <a:xfrm>
            <a:off x="365529" y="4365227"/>
            <a:ext cx="8488206" cy="480221"/>
            <a:chOff x="0" y="0"/>
            <a:chExt cx="22635216" cy="1280590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F9350942-5163-9573-0B23-B2EFB61EE716}"/>
                </a:ext>
              </a:extLst>
            </p:cNvPr>
            <p:cNvSpPr/>
            <p:nvPr/>
          </p:nvSpPr>
          <p:spPr>
            <a:xfrm>
              <a:off x="0" y="0"/>
              <a:ext cx="22635254" cy="1280628"/>
            </a:xfrm>
            <a:custGeom>
              <a:avLst/>
              <a:gdLst/>
              <a:ahLst/>
              <a:cxnLst/>
              <a:rect l="l" t="t" r="r" b="b"/>
              <a:pathLst>
                <a:path w="22635254" h="1280628">
                  <a:moveTo>
                    <a:pt x="0" y="213452"/>
                  </a:moveTo>
                  <a:cubicBezTo>
                    <a:pt x="0" y="95595"/>
                    <a:pt x="131252" y="0"/>
                    <a:pt x="293070" y="0"/>
                  </a:cubicBezTo>
                  <a:lnTo>
                    <a:pt x="22342185" y="0"/>
                  </a:lnTo>
                  <a:cubicBezTo>
                    <a:pt x="22504003" y="0"/>
                    <a:pt x="22635254" y="95595"/>
                    <a:pt x="22635254" y="213452"/>
                  </a:cubicBezTo>
                  <a:lnTo>
                    <a:pt x="22635254" y="1067166"/>
                  </a:lnTo>
                  <a:cubicBezTo>
                    <a:pt x="22635254" y="1185023"/>
                    <a:pt x="22504003" y="1280628"/>
                    <a:pt x="22342185" y="1280628"/>
                  </a:cubicBezTo>
                  <a:lnTo>
                    <a:pt x="293070" y="1280628"/>
                  </a:lnTo>
                  <a:cubicBezTo>
                    <a:pt x="131252" y="1280628"/>
                    <a:pt x="0" y="1185023"/>
                    <a:pt x="0" y="1067166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6" name="Group 30">
            <a:extLst>
              <a:ext uri="{FF2B5EF4-FFF2-40B4-BE49-F238E27FC236}">
                <a16:creationId xmlns:a16="http://schemas.microsoft.com/office/drawing/2014/main" id="{A8EEAF80-F79B-3A8D-FB67-DD5B281E9626}"/>
              </a:ext>
            </a:extLst>
          </p:cNvPr>
          <p:cNvGrpSpPr/>
          <p:nvPr/>
        </p:nvGrpSpPr>
        <p:grpSpPr>
          <a:xfrm>
            <a:off x="591859" y="4454960"/>
            <a:ext cx="5010255" cy="286283"/>
            <a:chOff x="0" y="0"/>
            <a:chExt cx="13360679" cy="763420"/>
          </a:xfrm>
        </p:grpSpPr>
        <p:sp>
          <p:nvSpPr>
            <p:cNvPr id="17" name="Freeform 31">
              <a:extLst>
                <a:ext uri="{FF2B5EF4-FFF2-40B4-BE49-F238E27FC236}">
                  <a16:creationId xmlns:a16="http://schemas.microsoft.com/office/drawing/2014/main" id="{8B80E19E-ABD6-A513-289B-E6D62ADCA9FC}"/>
                </a:ext>
              </a:extLst>
            </p:cNvPr>
            <p:cNvSpPr/>
            <p:nvPr/>
          </p:nvSpPr>
          <p:spPr>
            <a:xfrm>
              <a:off x="0" y="0"/>
              <a:ext cx="13360678" cy="763426"/>
            </a:xfrm>
            <a:custGeom>
              <a:avLst/>
              <a:gdLst/>
              <a:ahLst/>
              <a:cxnLst/>
              <a:rect l="l" t="t" r="r" b="b"/>
              <a:pathLst>
                <a:path w="13360678" h="763426">
                  <a:moveTo>
                    <a:pt x="0" y="0"/>
                  </a:moveTo>
                  <a:lnTo>
                    <a:pt x="13360678" y="0"/>
                  </a:lnTo>
                  <a:lnTo>
                    <a:pt x="13360678" y="763426"/>
                  </a:lnTo>
                  <a:lnTo>
                    <a:pt x="0" y="76342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51104" b="-330908"/>
              </a:stretch>
            </a:blipFill>
          </p:spPr>
        </p:sp>
        <p:sp>
          <p:nvSpPr>
            <p:cNvPr id="18" name="TextBox 32">
              <a:extLst>
                <a:ext uri="{FF2B5EF4-FFF2-40B4-BE49-F238E27FC236}">
                  <a16:creationId xmlns:a16="http://schemas.microsoft.com/office/drawing/2014/main" id="{8666E6DA-11D9-B556-BC0F-8B14FD589235}"/>
                </a:ext>
              </a:extLst>
            </p:cNvPr>
            <p:cNvSpPr txBox="1"/>
            <p:nvPr/>
          </p:nvSpPr>
          <p:spPr>
            <a:xfrm>
              <a:off x="0" y="0"/>
              <a:ext cx="13360679" cy="763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일별 데이터로 이상 징후 조기 탐지</a:t>
              </a:r>
            </a:p>
          </p:txBody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909B8BF8-A7FD-6650-A993-5ED206FBAA92}"/>
              </a:ext>
            </a:extLst>
          </p:cNvPr>
          <p:cNvGrpSpPr/>
          <p:nvPr/>
        </p:nvGrpSpPr>
        <p:grpSpPr>
          <a:xfrm>
            <a:off x="6571600" y="4416788"/>
            <a:ext cx="2007601" cy="362627"/>
            <a:chOff x="0" y="0"/>
            <a:chExt cx="5353602" cy="967003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9FE59B9E-9CC8-BC31-CFF7-32D6CFEFFA2D}"/>
                </a:ext>
              </a:extLst>
            </p:cNvPr>
            <p:cNvSpPr/>
            <p:nvPr/>
          </p:nvSpPr>
          <p:spPr>
            <a:xfrm>
              <a:off x="0" y="0"/>
              <a:ext cx="5353602" cy="967003"/>
            </a:xfrm>
            <a:custGeom>
              <a:avLst/>
              <a:gdLst/>
              <a:ahLst/>
              <a:cxnLst/>
              <a:rect l="l" t="t" r="r" b="b"/>
              <a:pathLst>
                <a:path w="5353602" h="967003">
                  <a:moveTo>
                    <a:pt x="0" y="0"/>
                  </a:moveTo>
                  <a:lnTo>
                    <a:pt x="5353602" y="0"/>
                  </a:lnTo>
                  <a:lnTo>
                    <a:pt x="5353602" y="967003"/>
                  </a:lnTo>
                  <a:lnTo>
                    <a:pt x="0" y="9670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9954" r="-11107" b="-1097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1F0A7F6F-9D9C-7BFE-F8C6-C261F8043615}"/>
                </a:ext>
              </a:extLst>
            </p:cNvPr>
            <p:cNvSpPr txBox="1"/>
            <p:nvPr/>
          </p:nvSpPr>
          <p:spPr>
            <a:xfrm>
              <a:off x="0" y="-38100"/>
              <a:ext cx="5353602" cy="1005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시계열 기반 품질 관리</a:t>
              </a:r>
            </a:p>
          </p:txBody>
        </p:sp>
      </p:grpSp>
      <p:grpSp>
        <p:nvGrpSpPr>
          <p:cNvPr id="22" name="Group 36">
            <a:extLst>
              <a:ext uri="{FF2B5EF4-FFF2-40B4-BE49-F238E27FC236}">
                <a16:creationId xmlns:a16="http://schemas.microsoft.com/office/drawing/2014/main" id="{36EE8AAA-FDCE-5C9E-D1ED-1650E7019310}"/>
              </a:ext>
            </a:extLst>
          </p:cNvPr>
          <p:cNvGrpSpPr/>
          <p:nvPr/>
        </p:nvGrpSpPr>
        <p:grpSpPr>
          <a:xfrm>
            <a:off x="6032303" y="984478"/>
            <a:ext cx="2888108" cy="964846"/>
            <a:chOff x="0" y="0"/>
            <a:chExt cx="7701620" cy="2572922"/>
          </a:xfrm>
        </p:grpSpPr>
        <p:grpSp>
          <p:nvGrpSpPr>
            <p:cNvPr id="23" name="Group 37">
              <a:extLst>
                <a:ext uri="{FF2B5EF4-FFF2-40B4-BE49-F238E27FC236}">
                  <a16:creationId xmlns:a16="http://schemas.microsoft.com/office/drawing/2014/main" id="{63C3EA43-2A27-A928-FC51-7050A2BB7E30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30" name="Freeform 38">
                <a:extLst>
                  <a:ext uri="{FF2B5EF4-FFF2-40B4-BE49-F238E27FC236}">
                    <a16:creationId xmlns:a16="http://schemas.microsoft.com/office/drawing/2014/main" id="{714478DD-03FB-4828-5E96-090746ECC77B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31" name="TextBox 39">
                <a:extLst>
                  <a:ext uri="{FF2B5EF4-FFF2-40B4-BE49-F238E27FC236}">
                    <a16:creationId xmlns:a16="http://schemas.microsoft.com/office/drawing/2014/main" id="{227BC29F-77CC-67CE-CAB0-C077E2069B46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24" name="TextBox 40">
              <a:extLst>
                <a:ext uri="{FF2B5EF4-FFF2-40B4-BE49-F238E27FC236}">
                  <a16:creationId xmlns:a16="http://schemas.microsoft.com/office/drawing/2014/main" id="{D8CCF05E-AF45-783D-1756-8B0B13F5F02C}"/>
                </a:ext>
              </a:extLst>
            </p:cNvPr>
            <p:cNvSpPr txBox="1"/>
            <p:nvPr/>
          </p:nvSpPr>
          <p:spPr>
            <a:xfrm>
              <a:off x="544221" y="1092032"/>
              <a:ext cx="6613556" cy="387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주간 생산수·불량 수·정상수·불량률 한눈에 확인</a:t>
              </a:r>
            </a:p>
          </p:txBody>
        </p:sp>
        <p:grpSp>
          <p:nvGrpSpPr>
            <p:cNvPr id="25" name="Group 41">
              <a:extLst>
                <a:ext uri="{FF2B5EF4-FFF2-40B4-BE49-F238E27FC236}">
                  <a16:creationId xmlns:a16="http://schemas.microsoft.com/office/drawing/2014/main" id="{667B64A8-75AA-D21C-9E41-F8075642BC71}"/>
                </a:ext>
              </a:extLst>
            </p:cNvPr>
            <p:cNvGrpSpPr/>
            <p:nvPr/>
          </p:nvGrpSpPr>
          <p:grpSpPr>
            <a:xfrm>
              <a:off x="201320" y="235057"/>
              <a:ext cx="598188" cy="598188"/>
              <a:chOff x="0" y="0"/>
              <a:chExt cx="812800" cy="812800"/>
            </a:xfrm>
          </p:grpSpPr>
          <p:sp>
            <p:nvSpPr>
              <p:cNvPr id="28" name="Freeform 42">
                <a:extLst>
                  <a:ext uri="{FF2B5EF4-FFF2-40B4-BE49-F238E27FC236}">
                    <a16:creationId xmlns:a16="http://schemas.microsoft.com/office/drawing/2014/main" id="{B89A2821-A40A-D2BE-B9A9-042E5A9BAE7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29" name="TextBox 43">
                <a:extLst>
                  <a:ext uri="{FF2B5EF4-FFF2-40B4-BE49-F238E27FC236}">
                    <a16:creationId xmlns:a16="http://schemas.microsoft.com/office/drawing/2014/main" id="{FD201C6B-6084-B5E5-8A0E-18B3A53AA8A9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26" name="TextBox 44">
              <a:extLst>
                <a:ext uri="{FF2B5EF4-FFF2-40B4-BE49-F238E27FC236}">
                  <a16:creationId xmlns:a16="http://schemas.microsoft.com/office/drawing/2014/main" id="{313D26A3-9E6B-4AB3-7D1F-8599050CCBF7}"/>
                </a:ext>
              </a:extLst>
            </p:cNvPr>
            <p:cNvSpPr txBox="1"/>
            <p:nvPr/>
          </p:nvSpPr>
          <p:spPr>
            <a:xfrm>
              <a:off x="990008" y="337301"/>
              <a:ext cx="6711612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주차별 KPI 요약</a:t>
              </a:r>
            </a:p>
          </p:txBody>
        </p:sp>
        <p:sp>
          <p:nvSpPr>
            <p:cNvPr id="27" name="TextBox 45">
              <a:extLst>
                <a:ext uri="{FF2B5EF4-FFF2-40B4-BE49-F238E27FC236}">
                  <a16:creationId xmlns:a16="http://schemas.microsoft.com/office/drawing/2014/main" id="{0F000722-3D3F-D6D4-E1FF-94FF7B915711}"/>
                </a:ext>
              </a:extLst>
            </p:cNvPr>
            <p:cNvSpPr txBox="1"/>
            <p:nvPr/>
          </p:nvSpPr>
          <p:spPr>
            <a:xfrm>
              <a:off x="201320" y="233373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</a:t>
              </a:r>
            </a:p>
          </p:txBody>
        </p:sp>
      </p:grpSp>
      <p:sp>
        <p:nvSpPr>
          <p:cNvPr id="64" name="Freeform 46">
            <a:extLst>
              <a:ext uri="{FF2B5EF4-FFF2-40B4-BE49-F238E27FC236}">
                <a16:creationId xmlns:a16="http://schemas.microsoft.com/office/drawing/2014/main" id="{48C3F049-21B3-7AAF-CD9C-51AF615F25AC}"/>
              </a:ext>
            </a:extLst>
          </p:cNvPr>
          <p:cNvSpPr/>
          <p:nvPr/>
        </p:nvSpPr>
        <p:spPr>
          <a:xfrm>
            <a:off x="500063" y="917310"/>
            <a:ext cx="5155345" cy="3415416"/>
          </a:xfrm>
          <a:custGeom>
            <a:avLst/>
            <a:gdLst/>
            <a:ahLst/>
            <a:cxnLst/>
            <a:rect l="l" t="t" r="r" b="b"/>
            <a:pathLst>
              <a:path w="10310689" h="6830831">
                <a:moveTo>
                  <a:pt x="0" y="0"/>
                </a:moveTo>
                <a:lnTo>
                  <a:pt x="10310689" y="0"/>
                </a:lnTo>
                <a:lnTo>
                  <a:pt x="10310689" y="6830831"/>
                </a:lnTo>
                <a:lnTo>
                  <a:pt x="0" y="68308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65" name="AutoShape 47">
            <a:extLst>
              <a:ext uri="{FF2B5EF4-FFF2-40B4-BE49-F238E27FC236}">
                <a16:creationId xmlns:a16="http://schemas.microsoft.com/office/drawing/2014/main" id="{70E5A82A-484D-3D80-3CD9-45990619A897}"/>
              </a:ext>
            </a:extLst>
          </p:cNvPr>
          <p:cNvSpPr/>
          <p:nvPr/>
        </p:nvSpPr>
        <p:spPr>
          <a:xfrm>
            <a:off x="5570802" y="1505023"/>
            <a:ext cx="536997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66" name="Group 48">
            <a:extLst>
              <a:ext uri="{FF2B5EF4-FFF2-40B4-BE49-F238E27FC236}">
                <a16:creationId xmlns:a16="http://schemas.microsoft.com/office/drawing/2014/main" id="{E524FA47-DBEC-5525-9108-F29342963D36}"/>
              </a:ext>
            </a:extLst>
          </p:cNvPr>
          <p:cNvGrpSpPr/>
          <p:nvPr/>
        </p:nvGrpSpPr>
        <p:grpSpPr>
          <a:xfrm>
            <a:off x="6032303" y="2012003"/>
            <a:ext cx="2910661" cy="964846"/>
            <a:chOff x="0" y="0"/>
            <a:chExt cx="7761763" cy="2572922"/>
          </a:xfrm>
        </p:grpSpPr>
        <p:grpSp>
          <p:nvGrpSpPr>
            <p:cNvPr id="67" name="Group 49">
              <a:extLst>
                <a:ext uri="{FF2B5EF4-FFF2-40B4-BE49-F238E27FC236}">
                  <a16:creationId xmlns:a16="http://schemas.microsoft.com/office/drawing/2014/main" id="{D26BFB25-A472-8D71-0F99-A284ACA73933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74" name="Freeform 50">
                <a:extLst>
                  <a:ext uri="{FF2B5EF4-FFF2-40B4-BE49-F238E27FC236}">
                    <a16:creationId xmlns:a16="http://schemas.microsoft.com/office/drawing/2014/main" id="{9F088CD8-23BE-CD5A-2272-EAB3EB270671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75" name="TextBox 51">
                <a:extLst>
                  <a:ext uri="{FF2B5EF4-FFF2-40B4-BE49-F238E27FC236}">
                    <a16:creationId xmlns:a16="http://schemas.microsoft.com/office/drawing/2014/main" id="{450964DA-485A-B2BF-F24E-B616F78D8DE5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68" name="TextBox 52">
              <a:extLst>
                <a:ext uri="{FF2B5EF4-FFF2-40B4-BE49-F238E27FC236}">
                  <a16:creationId xmlns:a16="http://schemas.microsoft.com/office/drawing/2014/main" id="{6332C4D7-D496-8387-F3FB-BECE766BA774}"/>
                </a:ext>
              </a:extLst>
            </p:cNvPr>
            <p:cNvSpPr txBox="1"/>
            <p:nvPr/>
          </p:nvSpPr>
          <p:spPr>
            <a:xfrm>
              <a:off x="1050152" y="349083"/>
              <a:ext cx="6711611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일간 생산량 추이</a:t>
              </a:r>
            </a:p>
          </p:txBody>
        </p:sp>
        <p:sp>
          <p:nvSpPr>
            <p:cNvPr id="69" name="TextBox 53">
              <a:extLst>
                <a:ext uri="{FF2B5EF4-FFF2-40B4-BE49-F238E27FC236}">
                  <a16:creationId xmlns:a16="http://schemas.microsoft.com/office/drawing/2014/main" id="{B559E696-1A12-EA51-1C63-C1AD0136A33E}"/>
                </a:ext>
              </a:extLst>
            </p:cNvPr>
            <p:cNvSpPr txBox="1"/>
            <p:nvPr/>
          </p:nvSpPr>
          <p:spPr>
            <a:xfrm>
              <a:off x="604363" y="1169277"/>
              <a:ext cx="6613555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일별 생산량 변화 흐름 확인  </a:t>
              </a:r>
            </a:p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기준선 대비 생산 변동 패턴 파악</a:t>
              </a:r>
            </a:p>
          </p:txBody>
        </p:sp>
        <p:grpSp>
          <p:nvGrpSpPr>
            <p:cNvPr id="70" name="Group 54">
              <a:extLst>
                <a:ext uri="{FF2B5EF4-FFF2-40B4-BE49-F238E27FC236}">
                  <a16:creationId xmlns:a16="http://schemas.microsoft.com/office/drawing/2014/main" id="{0386065B-5343-ED1E-26A9-40C1DFC00863}"/>
                </a:ext>
              </a:extLst>
            </p:cNvPr>
            <p:cNvGrpSpPr/>
            <p:nvPr/>
          </p:nvGrpSpPr>
          <p:grpSpPr>
            <a:xfrm>
              <a:off x="259872" y="246839"/>
              <a:ext cx="598188" cy="598188"/>
              <a:chOff x="0" y="0"/>
              <a:chExt cx="812800" cy="812800"/>
            </a:xfrm>
          </p:grpSpPr>
          <p:sp>
            <p:nvSpPr>
              <p:cNvPr id="72" name="Freeform 55">
                <a:extLst>
                  <a:ext uri="{FF2B5EF4-FFF2-40B4-BE49-F238E27FC236}">
                    <a16:creationId xmlns:a16="http://schemas.microsoft.com/office/drawing/2014/main" id="{18EFACE6-CA35-C4B9-E046-51C0048805E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73" name="TextBox 56">
                <a:extLst>
                  <a:ext uri="{FF2B5EF4-FFF2-40B4-BE49-F238E27FC236}">
                    <a16:creationId xmlns:a16="http://schemas.microsoft.com/office/drawing/2014/main" id="{000CFC75-D1B4-D863-FB4F-4770EA80F9DC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71" name="TextBox 57">
              <a:extLst>
                <a:ext uri="{FF2B5EF4-FFF2-40B4-BE49-F238E27FC236}">
                  <a16:creationId xmlns:a16="http://schemas.microsoft.com/office/drawing/2014/main" id="{A6148DA5-F2FA-B606-919F-E07FF0D6F3A5}"/>
                </a:ext>
              </a:extLst>
            </p:cNvPr>
            <p:cNvSpPr txBox="1"/>
            <p:nvPr/>
          </p:nvSpPr>
          <p:spPr>
            <a:xfrm>
              <a:off x="261464" y="245155"/>
              <a:ext cx="598187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2</a:t>
              </a:r>
            </a:p>
          </p:txBody>
        </p:sp>
      </p:grpSp>
      <p:sp>
        <p:nvSpPr>
          <p:cNvPr id="76" name="AutoShape 58">
            <a:extLst>
              <a:ext uri="{FF2B5EF4-FFF2-40B4-BE49-F238E27FC236}">
                <a16:creationId xmlns:a16="http://schemas.microsoft.com/office/drawing/2014/main" id="{18FFCB9B-FD97-A3E2-8E9F-898BC0E28C05}"/>
              </a:ext>
            </a:extLst>
          </p:cNvPr>
          <p:cNvSpPr/>
          <p:nvPr/>
        </p:nvSpPr>
        <p:spPr>
          <a:xfrm flipV="1">
            <a:off x="5570802" y="2493236"/>
            <a:ext cx="557851" cy="119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77" name="Group 59">
            <a:extLst>
              <a:ext uri="{FF2B5EF4-FFF2-40B4-BE49-F238E27FC236}">
                <a16:creationId xmlns:a16="http://schemas.microsoft.com/office/drawing/2014/main" id="{40DFF15E-FF14-7AAF-2B72-8CB3E775A63C}"/>
              </a:ext>
            </a:extLst>
          </p:cNvPr>
          <p:cNvGrpSpPr/>
          <p:nvPr/>
        </p:nvGrpSpPr>
        <p:grpSpPr>
          <a:xfrm>
            <a:off x="6041828" y="3172111"/>
            <a:ext cx="2910661" cy="964846"/>
            <a:chOff x="0" y="0"/>
            <a:chExt cx="7761763" cy="2572922"/>
          </a:xfrm>
        </p:grpSpPr>
        <p:grpSp>
          <p:nvGrpSpPr>
            <p:cNvPr id="78" name="Group 60">
              <a:extLst>
                <a:ext uri="{FF2B5EF4-FFF2-40B4-BE49-F238E27FC236}">
                  <a16:creationId xmlns:a16="http://schemas.microsoft.com/office/drawing/2014/main" id="{7B7A33AE-D0B5-FD47-8225-AB6B52FCD247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86" name="Freeform 61">
                <a:extLst>
                  <a:ext uri="{FF2B5EF4-FFF2-40B4-BE49-F238E27FC236}">
                    <a16:creationId xmlns:a16="http://schemas.microsoft.com/office/drawing/2014/main" id="{C4BBBF15-3E7E-F301-6822-58DF33C3EFBE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87" name="TextBox 62">
                <a:extLst>
                  <a:ext uri="{FF2B5EF4-FFF2-40B4-BE49-F238E27FC236}">
                    <a16:creationId xmlns:a16="http://schemas.microsoft.com/office/drawing/2014/main" id="{416CFAE8-ADE3-0652-41E7-CB159D9F922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79" name="TextBox 63">
              <a:extLst>
                <a:ext uri="{FF2B5EF4-FFF2-40B4-BE49-F238E27FC236}">
                  <a16:creationId xmlns:a16="http://schemas.microsoft.com/office/drawing/2014/main" id="{9F659A15-4B8F-5A42-F67E-8D40203EACE8}"/>
                </a:ext>
              </a:extLst>
            </p:cNvPr>
            <p:cNvSpPr txBox="1"/>
            <p:nvPr/>
          </p:nvSpPr>
          <p:spPr>
            <a:xfrm>
              <a:off x="1050152" y="349083"/>
              <a:ext cx="6711611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일간 불량수 추이</a:t>
              </a:r>
            </a:p>
          </p:txBody>
        </p:sp>
        <p:sp>
          <p:nvSpPr>
            <p:cNvPr id="80" name="TextBox 64">
              <a:extLst>
                <a:ext uri="{FF2B5EF4-FFF2-40B4-BE49-F238E27FC236}">
                  <a16:creationId xmlns:a16="http://schemas.microsoft.com/office/drawing/2014/main" id="{E6A45F34-E99B-24DE-3D66-FFB563B94E18}"/>
                </a:ext>
              </a:extLst>
            </p:cNvPr>
            <p:cNvSpPr txBox="1"/>
            <p:nvPr/>
          </p:nvSpPr>
          <p:spPr>
            <a:xfrm>
              <a:off x="604363" y="1169277"/>
              <a:ext cx="6613555" cy="1208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불량 발생 집중 시점 식별</a:t>
              </a:r>
            </a:p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이상 징후를 빠르게 포착</a:t>
              </a:r>
            </a:p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이상 징후를 빠르게 포착</a:t>
              </a:r>
            </a:p>
          </p:txBody>
        </p:sp>
        <p:grpSp>
          <p:nvGrpSpPr>
            <p:cNvPr id="81" name="Group 65">
              <a:extLst>
                <a:ext uri="{FF2B5EF4-FFF2-40B4-BE49-F238E27FC236}">
                  <a16:creationId xmlns:a16="http://schemas.microsoft.com/office/drawing/2014/main" id="{8F8ED906-84CE-690F-5CE5-4BBD379948D0}"/>
                </a:ext>
              </a:extLst>
            </p:cNvPr>
            <p:cNvGrpSpPr/>
            <p:nvPr/>
          </p:nvGrpSpPr>
          <p:grpSpPr>
            <a:xfrm>
              <a:off x="259872" y="246839"/>
              <a:ext cx="598188" cy="598188"/>
              <a:chOff x="0" y="0"/>
              <a:chExt cx="812800" cy="812800"/>
            </a:xfrm>
          </p:grpSpPr>
          <p:sp>
            <p:nvSpPr>
              <p:cNvPr id="83" name="Freeform 66">
                <a:extLst>
                  <a:ext uri="{FF2B5EF4-FFF2-40B4-BE49-F238E27FC236}">
                    <a16:creationId xmlns:a16="http://schemas.microsoft.com/office/drawing/2014/main" id="{AEAD5214-BADC-3DC5-849C-2EBDFF7217C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85" name="TextBox 67">
                <a:extLst>
                  <a:ext uri="{FF2B5EF4-FFF2-40B4-BE49-F238E27FC236}">
                    <a16:creationId xmlns:a16="http://schemas.microsoft.com/office/drawing/2014/main" id="{0D5EDD59-48FA-290B-7737-0EE19FC1D462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82" name="TextBox 68">
              <a:extLst>
                <a:ext uri="{FF2B5EF4-FFF2-40B4-BE49-F238E27FC236}">
                  <a16:creationId xmlns:a16="http://schemas.microsoft.com/office/drawing/2014/main" id="{6D99EF65-F9D4-C002-3CAD-969F3EC0DAFF}"/>
                </a:ext>
              </a:extLst>
            </p:cNvPr>
            <p:cNvSpPr txBox="1"/>
            <p:nvPr/>
          </p:nvSpPr>
          <p:spPr>
            <a:xfrm>
              <a:off x="261464" y="245155"/>
              <a:ext cx="598187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3</a:t>
              </a:r>
            </a:p>
          </p:txBody>
        </p:sp>
      </p:grpSp>
      <p:sp>
        <p:nvSpPr>
          <p:cNvPr id="88" name="AutoShape 69">
            <a:extLst>
              <a:ext uri="{FF2B5EF4-FFF2-40B4-BE49-F238E27FC236}">
                <a16:creationId xmlns:a16="http://schemas.microsoft.com/office/drawing/2014/main" id="{E04A231F-3987-7CBB-15DF-38DB57D725A1}"/>
              </a:ext>
            </a:extLst>
          </p:cNvPr>
          <p:cNvSpPr/>
          <p:nvPr/>
        </p:nvSpPr>
        <p:spPr>
          <a:xfrm>
            <a:off x="5570802" y="3680424"/>
            <a:ext cx="585633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89" name="Group 70">
            <a:extLst>
              <a:ext uri="{FF2B5EF4-FFF2-40B4-BE49-F238E27FC236}">
                <a16:creationId xmlns:a16="http://schemas.microsoft.com/office/drawing/2014/main" id="{D003393C-C79E-7A01-F9EF-26CF47903695}"/>
              </a:ext>
            </a:extLst>
          </p:cNvPr>
          <p:cNvGrpSpPr/>
          <p:nvPr/>
        </p:nvGrpSpPr>
        <p:grpSpPr>
          <a:xfrm>
            <a:off x="5643451" y="4502013"/>
            <a:ext cx="480436" cy="192177"/>
            <a:chOff x="0" y="0"/>
            <a:chExt cx="1281163" cy="512470"/>
          </a:xfrm>
        </p:grpSpPr>
        <p:sp>
          <p:nvSpPr>
            <p:cNvPr id="90" name="Freeform 71">
              <a:extLst>
                <a:ext uri="{FF2B5EF4-FFF2-40B4-BE49-F238E27FC236}">
                  <a16:creationId xmlns:a16="http://schemas.microsoft.com/office/drawing/2014/main" id="{D15CD096-4377-C4F9-1AFB-965AB561E9D8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pic>
        <p:nvPicPr>
          <p:cNvPr id="91" name="Image 1" descr="preencoded.png">
            <a:extLst>
              <a:ext uri="{FF2B5EF4-FFF2-40B4-BE49-F238E27FC236}">
                <a16:creationId xmlns:a16="http://schemas.microsoft.com/office/drawing/2014/main" id="{688FDD54-C639-A445-F76A-C8D4B6C79D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92" name="Text 2">
            <a:extLst>
              <a:ext uri="{FF2B5EF4-FFF2-40B4-BE49-F238E27FC236}">
                <a16:creationId xmlns:a16="http://schemas.microsoft.com/office/drawing/2014/main" id="{2BD839D1-1897-BE76-0683-C4052BC020ED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93" name="Text 9">
            <a:extLst>
              <a:ext uri="{FF2B5EF4-FFF2-40B4-BE49-F238E27FC236}">
                <a16:creationId xmlns:a16="http://schemas.microsoft.com/office/drawing/2014/main" id="{09DB5284-9C79-FEAA-B7A3-B273FEEF3085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506331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2DCB-AAF0-6513-8B50-BC858CA5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5666BD1-DCB4-1742-733A-37C6C1788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188D51D-9AE4-C8BD-5322-D04578AB79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8C38BD0B-AABF-0E80-7773-AFD8C5694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863AAD82-1C5B-D031-0030-86AF0F59A0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E554FDAA-3F44-825E-E4C7-1C18F393AB4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76CF1000-848B-39F8-78C0-B7295BC5AC61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현황 시스템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(Tableau)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07E77C9B-0CFF-B51C-6295-F1BF096E3B3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D0036F4E-E8F8-C458-5B4E-DA20983E4592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FEE274BC-42E4-B0D2-ED92-2A7AB4C5B102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8ABF958A-329E-7FB0-75A8-222B9D4214C9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F8A461A7-1655-1CCE-63CD-1A75D672B1D6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A1CB2837-23FE-E1D1-0C35-C6EDCE15C73D}"/>
              </a:ext>
            </a:extLst>
          </p:cNvPr>
          <p:cNvGrpSpPr/>
          <p:nvPr/>
        </p:nvGrpSpPr>
        <p:grpSpPr>
          <a:xfrm>
            <a:off x="377486" y="4425487"/>
            <a:ext cx="8393892" cy="421729"/>
            <a:chOff x="0" y="0"/>
            <a:chExt cx="22383712" cy="1124610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7C039161-4098-10DE-383A-55182CD08979}"/>
                </a:ext>
              </a:extLst>
            </p:cNvPr>
            <p:cNvSpPr/>
            <p:nvPr/>
          </p:nvSpPr>
          <p:spPr>
            <a:xfrm>
              <a:off x="0" y="0"/>
              <a:ext cx="22383750" cy="1124649"/>
            </a:xfrm>
            <a:custGeom>
              <a:avLst/>
              <a:gdLst/>
              <a:ahLst/>
              <a:cxnLst/>
              <a:rect l="l" t="t" r="r" b="b"/>
              <a:pathLst>
                <a:path w="22383750" h="1124649">
                  <a:moveTo>
                    <a:pt x="0" y="187453"/>
                  </a:moveTo>
                  <a:cubicBezTo>
                    <a:pt x="0" y="83951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83951"/>
                    <a:pt x="22383750" y="187453"/>
                  </a:cubicBezTo>
                  <a:lnTo>
                    <a:pt x="22383750" y="937182"/>
                  </a:lnTo>
                  <a:cubicBezTo>
                    <a:pt x="22383750" y="1040684"/>
                    <a:pt x="22253956" y="1124649"/>
                    <a:pt x="22093937" y="1124649"/>
                  </a:cubicBezTo>
                  <a:lnTo>
                    <a:pt x="289814" y="1124649"/>
                  </a:lnTo>
                  <a:cubicBezTo>
                    <a:pt x="129794" y="1124649"/>
                    <a:pt x="0" y="1040684"/>
                    <a:pt x="0" y="937182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A5749B40-DAC0-5963-8C24-AA5CA3F18E28}"/>
              </a:ext>
            </a:extLst>
          </p:cNvPr>
          <p:cNvGrpSpPr/>
          <p:nvPr/>
        </p:nvGrpSpPr>
        <p:grpSpPr>
          <a:xfrm>
            <a:off x="560701" y="4455038"/>
            <a:ext cx="5010255" cy="362627"/>
            <a:chOff x="0" y="0"/>
            <a:chExt cx="13360679" cy="967003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5603BA0B-42B2-C34E-CA10-E077C744B52E}"/>
                </a:ext>
              </a:extLst>
            </p:cNvPr>
            <p:cNvSpPr/>
            <p:nvPr/>
          </p:nvSpPr>
          <p:spPr>
            <a:xfrm>
              <a:off x="0" y="0"/>
              <a:ext cx="13360678" cy="967009"/>
            </a:xfrm>
            <a:custGeom>
              <a:avLst/>
              <a:gdLst/>
              <a:ahLst/>
              <a:cxnLst/>
              <a:rect l="l" t="t" r="r" b="b"/>
              <a:pathLst>
                <a:path w="13360678" h="967009">
                  <a:moveTo>
                    <a:pt x="0" y="0"/>
                  </a:moveTo>
                  <a:lnTo>
                    <a:pt x="13360678" y="0"/>
                  </a:lnTo>
                  <a:lnTo>
                    <a:pt x="13360678" y="967009"/>
                  </a:lnTo>
                  <a:lnTo>
                    <a:pt x="0" y="96700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98240" b="-240189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3C0C8D98-6309-3737-D269-EFE0C55F2A1D}"/>
                </a:ext>
              </a:extLst>
            </p:cNvPr>
            <p:cNvSpPr txBox="1"/>
            <p:nvPr/>
          </p:nvSpPr>
          <p:spPr>
            <a:xfrm>
              <a:off x="0" y="0"/>
              <a:ext cx="13360679" cy="967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센서 이상 패턴으로 불량 조기 감지 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C82207BD-2477-166D-50C9-C14B5DE6E569}"/>
              </a:ext>
            </a:extLst>
          </p:cNvPr>
          <p:cNvGrpSpPr/>
          <p:nvPr/>
        </p:nvGrpSpPr>
        <p:grpSpPr>
          <a:xfrm>
            <a:off x="6451764" y="4455038"/>
            <a:ext cx="1913244" cy="362627"/>
            <a:chOff x="0" y="0"/>
            <a:chExt cx="5101984" cy="967003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FADEE143-7118-E80A-C761-6E9210C7837E}"/>
                </a:ext>
              </a:extLst>
            </p:cNvPr>
            <p:cNvSpPr/>
            <p:nvPr/>
          </p:nvSpPr>
          <p:spPr>
            <a:xfrm>
              <a:off x="0" y="0"/>
              <a:ext cx="5101983" cy="967003"/>
            </a:xfrm>
            <a:custGeom>
              <a:avLst/>
              <a:gdLst/>
              <a:ahLst/>
              <a:cxnLst/>
              <a:rect l="l" t="t" r="r" b="b"/>
              <a:pathLst>
                <a:path w="5101983" h="967003">
                  <a:moveTo>
                    <a:pt x="0" y="0"/>
                  </a:moveTo>
                  <a:lnTo>
                    <a:pt x="5101983" y="0"/>
                  </a:lnTo>
                  <a:lnTo>
                    <a:pt x="5101983" y="967003"/>
                  </a:lnTo>
                  <a:lnTo>
                    <a:pt x="0" y="9670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9954" r="-16586" b="-109759"/>
              </a:stretch>
            </a:blipFill>
          </p:spPr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63A68783-DD90-F783-8085-0202F4134A1D}"/>
                </a:ext>
              </a:extLst>
            </p:cNvPr>
            <p:cNvSpPr txBox="1"/>
            <p:nvPr/>
          </p:nvSpPr>
          <p:spPr>
            <a:xfrm>
              <a:off x="0" y="-38100"/>
              <a:ext cx="5101984" cy="1005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시계열 기반 이상 탐지</a:t>
              </a:r>
            </a:p>
          </p:txBody>
        </p:sp>
      </p:grpSp>
      <p:grpSp>
        <p:nvGrpSpPr>
          <p:cNvPr id="20" name="Group 34">
            <a:extLst>
              <a:ext uri="{FF2B5EF4-FFF2-40B4-BE49-F238E27FC236}">
                <a16:creationId xmlns:a16="http://schemas.microsoft.com/office/drawing/2014/main" id="{E867C14D-3AE1-1364-7F8E-9912D952E2A6}"/>
              </a:ext>
            </a:extLst>
          </p:cNvPr>
          <p:cNvGrpSpPr/>
          <p:nvPr/>
        </p:nvGrpSpPr>
        <p:grpSpPr>
          <a:xfrm>
            <a:off x="5808332" y="1426278"/>
            <a:ext cx="2888108" cy="964846"/>
            <a:chOff x="0" y="0"/>
            <a:chExt cx="7701620" cy="2572922"/>
          </a:xfrm>
        </p:grpSpPr>
        <p:grpSp>
          <p:nvGrpSpPr>
            <p:cNvPr id="21" name="Group 35">
              <a:extLst>
                <a:ext uri="{FF2B5EF4-FFF2-40B4-BE49-F238E27FC236}">
                  <a16:creationId xmlns:a16="http://schemas.microsoft.com/office/drawing/2014/main" id="{EF21C221-D11C-F2EF-6D21-7CFF51CAA052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9512E5A8-5A81-E15F-1F98-BF914F1617FF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29" name="TextBox 37">
                <a:extLst>
                  <a:ext uri="{FF2B5EF4-FFF2-40B4-BE49-F238E27FC236}">
                    <a16:creationId xmlns:a16="http://schemas.microsoft.com/office/drawing/2014/main" id="{C0344E21-238C-CE7E-645F-8712A8E0D4D7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2" name="Group 38">
              <a:extLst>
                <a:ext uri="{FF2B5EF4-FFF2-40B4-BE49-F238E27FC236}">
                  <a16:creationId xmlns:a16="http://schemas.microsoft.com/office/drawing/2014/main" id="{0D42D34C-0D06-3AD8-E2B3-A6399013477C}"/>
                </a:ext>
              </a:extLst>
            </p:cNvPr>
            <p:cNvGrpSpPr/>
            <p:nvPr/>
          </p:nvGrpSpPr>
          <p:grpSpPr>
            <a:xfrm>
              <a:off x="201320" y="169593"/>
              <a:ext cx="598188" cy="598188"/>
              <a:chOff x="0" y="0"/>
              <a:chExt cx="812800" cy="812800"/>
            </a:xfrm>
          </p:grpSpPr>
          <p:sp>
            <p:nvSpPr>
              <p:cNvPr id="26" name="Freeform 39">
                <a:extLst>
                  <a:ext uri="{FF2B5EF4-FFF2-40B4-BE49-F238E27FC236}">
                    <a16:creationId xmlns:a16="http://schemas.microsoft.com/office/drawing/2014/main" id="{B06D2635-C814-D766-1D98-BFCEAF92BFB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27" name="TextBox 40">
                <a:extLst>
                  <a:ext uri="{FF2B5EF4-FFF2-40B4-BE49-F238E27FC236}">
                    <a16:creationId xmlns:a16="http://schemas.microsoft.com/office/drawing/2014/main" id="{34C6C119-4C9C-68DA-5E6F-846CCB55DBA8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23" name="TextBox 41">
              <a:extLst>
                <a:ext uri="{FF2B5EF4-FFF2-40B4-BE49-F238E27FC236}">
                  <a16:creationId xmlns:a16="http://schemas.microsoft.com/office/drawing/2014/main" id="{2B22910F-C16C-6EF7-4708-FF8C6A99C24B}"/>
                </a:ext>
              </a:extLst>
            </p:cNvPr>
            <p:cNvSpPr txBox="1"/>
            <p:nvPr/>
          </p:nvSpPr>
          <p:spPr>
            <a:xfrm>
              <a:off x="990008" y="271837"/>
              <a:ext cx="6711612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구간별 변수 비교</a:t>
              </a:r>
            </a:p>
          </p:txBody>
        </p:sp>
        <p:sp>
          <p:nvSpPr>
            <p:cNvPr id="24" name="TextBox 42">
              <a:extLst>
                <a:ext uri="{FF2B5EF4-FFF2-40B4-BE49-F238E27FC236}">
                  <a16:creationId xmlns:a16="http://schemas.microsoft.com/office/drawing/2014/main" id="{1F3CB74A-9A7A-29DF-0750-BECC9F6F98D9}"/>
                </a:ext>
              </a:extLst>
            </p:cNvPr>
            <p:cNvSpPr txBox="1"/>
            <p:nvPr/>
          </p:nvSpPr>
          <p:spPr>
            <a:xfrm>
              <a:off x="544221" y="1092032"/>
              <a:ext cx="6613556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공정 4구간별 전류·전압·온도 변화 추적</a:t>
              </a:r>
            </a:p>
            <a:p>
              <a:pPr>
                <a:lnSpc>
                  <a:spcPts val="1214"/>
                </a:lnSpc>
              </a:pPr>
              <a:endParaRPr lang="en-US" sz="963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endParaRPr>
            </a:p>
          </p:txBody>
        </p:sp>
        <p:sp>
          <p:nvSpPr>
            <p:cNvPr id="25" name="TextBox 43">
              <a:extLst>
                <a:ext uri="{FF2B5EF4-FFF2-40B4-BE49-F238E27FC236}">
                  <a16:creationId xmlns:a16="http://schemas.microsoft.com/office/drawing/2014/main" id="{08E58CF2-C447-2521-08ED-8C39A79DF6A6}"/>
                </a:ext>
              </a:extLst>
            </p:cNvPr>
            <p:cNvSpPr txBox="1"/>
            <p:nvPr/>
          </p:nvSpPr>
          <p:spPr>
            <a:xfrm>
              <a:off x="201320" y="167909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</a:t>
              </a:r>
            </a:p>
          </p:txBody>
        </p:sp>
      </p:grpSp>
      <p:sp>
        <p:nvSpPr>
          <p:cNvPr id="30" name="Freeform 44">
            <a:extLst>
              <a:ext uri="{FF2B5EF4-FFF2-40B4-BE49-F238E27FC236}">
                <a16:creationId xmlns:a16="http://schemas.microsoft.com/office/drawing/2014/main" id="{91B1B9AA-9772-3B63-0D3B-A9B5EA55328B}"/>
              </a:ext>
            </a:extLst>
          </p:cNvPr>
          <p:cNvSpPr/>
          <p:nvPr/>
        </p:nvSpPr>
        <p:spPr>
          <a:xfrm>
            <a:off x="485775" y="917286"/>
            <a:ext cx="5169632" cy="3450730"/>
          </a:xfrm>
          <a:custGeom>
            <a:avLst/>
            <a:gdLst/>
            <a:ahLst/>
            <a:cxnLst/>
            <a:rect l="l" t="t" r="r" b="b"/>
            <a:pathLst>
              <a:path w="10339264" h="6901459">
                <a:moveTo>
                  <a:pt x="0" y="0"/>
                </a:moveTo>
                <a:lnTo>
                  <a:pt x="10339264" y="0"/>
                </a:lnTo>
                <a:lnTo>
                  <a:pt x="10339264" y="6901459"/>
                </a:lnTo>
                <a:lnTo>
                  <a:pt x="0" y="69014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1" name="AutoShape 45">
            <a:extLst>
              <a:ext uri="{FF2B5EF4-FFF2-40B4-BE49-F238E27FC236}">
                <a16:creationId xmlns:a16="http://schemas.microsoft.com/office/drawing/2014/main" id="{EE759109-992E-0C69-11D9-61B8AF044EA7}"/>
              </a:ext>
            </a:extLst>
          </p:cNvPr>
          <p:cNvSpPr/>
          <p:nvPr/>
        </p:nvSpPr>
        <p:spPr>
          <a:xfrm flipV="1">
            <a:off x="5462253" y="1908701"/>
            <a:ext cx="421575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64" name="Group 46">
            <a:extLst>
              <a:ext uri="{FF2B5EF4-FFF2-40B4-BE49-F238E27FC236}">
                <a16:creationId xmlns:a16="http://schemas.microsoft.com/office/drawing/2014/main" id="{8D533C4D-4BC6-5066-8A7C-CD8C79520D71}"/>
              </a:ext>
            </a:extLst>
          </p:cNvPr>
          <p:cNvGrpSpPr/>
          <p:nvPr/>
        </p:nvGrpSpPr>
        <p:grpSpPr>
          <a:xfrm>
            <a:off x="5818836" y="2981673"/>
            <a:ext cx="2888108" cy="964846"/>
            <a:chOff x="0" y="0"/>
            <a:chExt cx="7701620" cy="2572922"/>
          </a:xfrm>
        </p:grpSpPr>
        <p:grpSp>
          <p:nvGrpSpPr>
            <p:cNvPr id="65" name="Group 47">
              <a:extLst>
                <a:ext uri="{FF2B5EF4-FFF2-40B4-BE49-F238E27FC236}">
                  <a16:creationId xmlns:a16="http://schemas.microsoft.com/office/drawing/2014/main" id="{CD3B864B-D402-2991-1A93-D4CE85F0496A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72" name="Freeform 48">
                <a:extLst>
                  <a:ext uri="{FF2B5EF4-FFF2-40B4-BE49-F238E27FC236}">
                    <a16:creationId xmlns:a16="http://schemas.microsoft.com/office/drawing/2014/main" id="{15C6AC3A-6A8B-2A8E-EFA0-6FEE1FB66708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73" name="TextBox 49">
                <a:extLst>
                  <a:ext uri="{FF2B5EF4-FFF2-40B4-BE49-F238E27FC236}">
                    <a16:creationId xmlns:a16="http://schemas.microsoft.com/office/drawing/2014/main" id="{DBCBA553-0CC9-7F73-EA34-FE1E7E59B382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66" name="Group 50">
              <a:extLst>
                <a:ext uri="{FF2B5EF4-FFF2-40B4-BE49-F238E27FC236}">
                  <a16:creationId xmlns:a16="http://schemas.microsoft.com/office/drawing/2014/main" id="{B4FD8917-1D51-8676-C995-A0F048C9A831}"/>
                </a:ext>
              </a:extLst>
            </p:cNvPr>
            <p:cNvGrpSpPr/>
            <p:nvPr/>
          </p:nvGrpSpPr>
          <p:grpSpPr>
            <a:xfrm>
              <a:off x="201320" y="169593"/>
              <a:ext cx="598188" cy="598188"/>
              <a:chOff x="0" y="0"/>
              <a:chExt cx="812800" cy="812800"/>
            </a:xfrm>
          </p:grpSpPr>
          <p:sp>
            <p:nvSpPr>
              <p:cNvPr id="70" name="Freeform 51">
                <a:extLst>
                  <a:ext uri="{FF2B5EF4-FFF2-40B4-BE49-F238E27FC236}">
                    <a16:creationId xmlns:a16="http://schemas.microsoft.com/office/drawing/2014/main" id="{59ED6B5E-5FD5-40FC-CDD7-11B992E6159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71" name="TextBox 52">
                <a:extLst>
                  <a:ext uri="{FF2B5EF4-FFF2-40B4-BE49-F238E27FC236}">
                    <a16:creationId xmlns:a16="http://schemas.microsoft.com/office/drawing/2014/main" id="{CC46D0CB-CD43-9D60-D453-5E635B2916D8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67" name="TextBox 53">
              <a:extLst>
                <a:ext uri="{FF2B5EF4-FFF2-40B4-BE49-F238E27FC236}">
                  <a16:creationId xmlns:a16="http://schemas.microsoft.com/office/drawing/2014/main" id="{88AAEB73-A01D-B056-D438-FBC2D63BDAD6}"/>
                </a:ext>
              </a:extLst>
            </p:cNvPr>
            <p:cNvSpPr txBox="1"/>
            <p:nvPr/>
          </p:nvSpPr>
          <p:spPr>
            <a:xfrm>
              <a:off x="990008" y="271837"/>
              <a:ext cx="6711612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센서 시계열</a:t>
              </a:r>
            </a:p>
          </p:txBody>
        </p:sp>
        <p:sp>
          <p:nvSpPr>
            <p:cNvPr id="68" name="TextBox 54">
              <a:extLst>
                <a:ext uri="{FF2B5EF4-FFF2-40B4-BE49-F238E27FC236}">
                  <a16:creationId xmlns:a16="http://schemas.microsoft.com/office/drawing/2014/main" id="{F03962FE-3CAB-9844-3DEA-AC8AC2A90722}"/>
                </a:ext>
              </a:extLst>
            </p:cNvPr>
            <p:cNvSpPr txBox="1"/>
            <p:nvPr/>
          </p:nvSpPr>
          <p:spPr>
            <a:xfrm>
              <a:off x="544221" y="1092032"/>
              <a:ext cx="6613556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불량 시퀀스 센서 궤적으로 이상 발생 시점 추적</a:t>
              </a:r>
            </a:p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고전류·저전류·고온 경계선 기준 불량 유형 판별</a:t>
              </a:r>
            </a:p>
          </p:txBody>
        </p:sp>
        <p:sp>
          <p:nvSpPr>
            <p:cNvPr id="69" name="TextBox 55">
              <a:extLst>
                <a:ext uri="{FF2B5EF4-FFF2-40B4-BE49-F238E27FC236}">
                  <a16:creationId xmlns:a16="http://schemas.microsoft.com/office/drawing/2014/main" id="{7049AE17-7A88-69C1-01DA-952E256DA8AF}"/>
                </a:ext>
              </a:extLst>
            </p:cNvPr>
            <p:cNvSpPr txBox="1"/>
            <p:nvPr/>
          </p:nvSpPr>
          <p:spPr>
            <a:xfrm>
              <a:off x="201320" y="167909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2</a:t>
              </a:r>
            </a:p>
          </p:txBody>
        </p:sp>
      </p:grpSp>
      <p:sp>
        <p:nvSpPr>
          <p:cNvPr id="74" name="AutoShape 56">
            <a:extLst>
              <a:ext uri="{FF2B5EF4-FFF2-40B4-BE49-F238E27FC236}">
                <a16:creationId xmlns:a16="http://schemas.microsoft.com/office/drawing/2014/main" id="{F14D67CD-5082-8985-CCC2-32ACAA0775F6}"/>
              </a:ext>
            </a:extLst>
          </p:cNvPr>
          <p:cNvSpPr/>
          <p:nvPr/>
        </p:nvSpPr>
        <p:spPr>
          <a:xfrm flipV="1">
            <a:off x="5462253" y="3473621"/>
            <a:ext cx="464649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75" name="Group 57">
            <a:extLst>
              <a:ext uri="{FF2B5EF4-FFF2-40B4-BE49-F238E27FC236}">
                <a16:creationId xmlns:a16="http://schemas.microsoft.com/office/drawing/2014/main" id="{5CCBBA94-4879-2C8C-E884-DAEDEC1B9ECC}"/>
              </a:ext>
            </a:extLst>
          </p:cNvPr>
          <p:cNvGrpSpPr/>
          <p:nvPr/>
        </p:nvGrpSpPr>
        <p:grpSpPr>
          <a:xfrm>
            <a:off x="361564" y="950648"/>
            <a:ext cx="98285" cy="3357951"/>
            <a:chOff x="0" y="0"/>
            <a:chExt cx="219634" cy="7503935"/>
          </a:xfrm>
        </p:grpSpPr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0D9E7166-EECE-0D0D-BBD5-240C077F99EB}"/>
                </a:ext>
              </a:extLst>
            </p:cNvPr>
            <p:cNvSpPr/>
            <p:nvPr/>
          </p:nvSpPr>
          <p:spPr>
            <a:xfrm>
              <a:off x="0" y="0"/>
              <a:ext cx="219583" cy="7503922"/>
            </a:xfrm>
            <a:custGeom>
              <a:avLst/>
              <a:gdLst/>
              <a:ahLst/>
              <a:cxnLst/>
              <a:rect l="l" t="t" r="r" b="b"/>
              <a:pathLst>
                <a:path w="219583" h="750392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83007" y="0"/>
                  </a:lnTo>
                  <a:cubicBezTo>
                    <a:pt x="203200" y="0"/>
                    <a:pt x="219583" y="16383"/>
                    <a:pt x="219583" y="36576"/>
                  </a:cubicBezTo>
                  <a:lnTo>
                    <a:pt x="219583" y="7467346"/>
                  </a:lnTo>
                  <a:cubicBezTo>
                    <a:pt x="219583" y="7487538"/>
                    <a:pt x="203200" y="7503922"/>
                    <a:pt x="183007" y="7503922"/>
                  </a:cubicBezTo>
                  <a:lnTo>
                    <a:pt x="36576" y="7503922"/>
                  </a:lnTo>
                  <a:cubicBezTo>
                    <a:pt x="16383" y="7503922"/>
                    <a:pt x="0" y="7487538"/>
                    <a:pt x="0" y="7467346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7" name="Group 59">
            <a:extLst>
              <a:ext uri="{FF2B5EF4-FFF2-40B4-BE49-F238E27FC236}">
                <a16:creationId xmlns:a16="http://schemas.microsoft.com/office/drawing/2014/main" id="{30DA79A2-57E5-61C0-8302-F2F547AC4795}"/>
              </a:ext>
            </a:extLst>
          </p:cNvPr>
          <p:cNvGrpSpPr/>
          <p:nvPr/>
        </p:nvGrpSpPr>
        <p:grpSpPr>
          <a:xfrm>
            <a:off x="5586459" y="4540263"/>
            <a:ext cx="480436" cy="192177"/>
            <a:chOff x="0" y="0"/>
            <a:chExt cx="1281163" cy="512470"/>
          </a:xfrm>
        </p:grpSpPr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72144059-1582-C12C-12DC-5DADB3171FAF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pic>
        <p:nvPicPr>
          <p:cNvPr id="79" name="Image 1" descr="preencoded.png">
            <a:extLst>
              <a:ext uri="{FF2B5EF4-FFF2-40B4-BE49-F238E27FC236}">
                <a16:creationId xmlns:a16="http://schemas.microsoft.com/office/drawing/2014/main" id="{C5B872C0-CA3C-E3CF-7E2B-480EC25E26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C32BCE27-A5FB-40DD-0A3A-E130C21A6B00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D10735AF-AC83-822E-1BAA-52B7BB713EDE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521871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D13CE-E9C4-07C5-A5C9-B5B7A416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F98545B-175D-29BD-8487-D14687E03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D372349-A373-B16B-2EF6-3D4C165172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68AC3BA-B1FA-6436-6F79-ABCAC8C8B1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88EA825-FF58-4F2E-C955-3FAB8BEAE3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FEFFC61-9C5B-6AC8-462E-C711F2FFDF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77859B34-864E-0891-ACC0-F892E4CF4696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현황 시스템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(Tableau)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94BA4EFB-0980-0E24-7345-DCC512E632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64B33B11-1295-014C-6C74-7BDC1661E871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489DDF34-9788-4B70-1C0E-8C16D8EE5A2B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7B01CF8F-05F8-3DBC-0A7F-364FED0CB51D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BAD649A8-399C-6460-5D35-0314E01E387E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D2AC7C10-646F-D584-9087-7F79E79A0FE9}"/>
              </a:ext>
            </a:extLst>
          </p:cNvPr>
          <p:cNvGrpSpPr/>
          <p:nvPr/>
        </p:nvGrpSpPr>
        <p:grpSpPr>
          <a:xfrm>
            <a:off x="377486" y="4388363"/>
            <a:ext cx="8393892" cy="415990"/>
            <a:chOff x="0" y="0"/>
            <a:chExt cx="22383712" cy="1109307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D1FAEDBE-2A0C-BA3D-CDEC-653921BC8DD0}"/>
                </a:ext>
              </a:extLst>
            </p:cNvPr>
            <p:cNvSpPr/>
            <p:nvPr/>
          </p:nvSpPr>
          <p:spPr>
            <a:xfrm>
              <a:off x="0" y="0"/>
              <a:ext cx="22383750" cy="1109345"/>
            </a:xfrm>
            <a:custGeom>
              <a:avLst/>
              <a:gdLst/>
              <a:ahLst/>
              <a:cxnLst/>
              <a:rect l="l" t="t" r="r" b="b"/>
              <a:pathLst>
                <a:path w="22383750" h="1109345">
                  <a:moveTo>
                    <a:pt x="0" y="184902"/>
                  </a:moveTo>
                  <a:cubicBezTo>
                    <a:pt x="0" y="82809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82809"/>
                    <a:pt x="22383750" y="184902"/>
                  </a:cubicBezTo>
                  <a:lnTo>
                    <a:pt x="22383750" y="924429"/>
                  </a:lnTo>
                  <a:cubicBezTo>
                    <a:pt x="22383750" y="1026522"/>
                    <a:pt x="22253956" y="1109345"/>
                    <a:pt x="22093937" y="1109345"/>
                  </a:cubicBezTo>
                  <a:lnTo>
                    <a:pt x="289814" y="1109345"/>
                  </a:lnTo>
                  <a:cubicBezTo>
                    <a:pt x="129794" y="1109345"/>
                    <a:pt x="0" y="1026522"/>
                    <a:pt x="0" y="924429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6A2DE283-178B-3CD5-C515-0077EDBFE739}"/>
              </a:ext>
            </a:extLst>
          </p:cNvPr>
          <p:cNvGrpSpPr/>
          <p:nvPr/>
        </p:nvGrpSpPr>
        <p:grpSpPr>
          <a:xfrm>
            <a:off x="514350" y="4429311"/>
            <a:ext cx="5010255" cy="348360"/>
            <a:chOff x="0" y="0"/>
            <a:chExt cx="13360679" cy="928961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B03888EF-1728-93AC-6E61-A166F02184AE}"/>
                </a:ext>
              </a:extLst>
            </p:cNvPr>
            <p:cNvSpPr/>
            <p:nvPr/>
          </p:nvSpPr>
          <p:spPr>
            <a:xfrm>
              <a:off x="0" y="0"/>
              <a:ext cx="13360678" cy="928966"/>
            </a:xfrm>
            <a:custGeom>
              <a:avLst/>
              <a:gdLst/>
              <a:ahLst/>
              <a:cxnLst/>
              <a:rect l="l" t="t" r="r" b="b"/>
              <a:pathLst>
                <a:path w="13360678" h="928966">
                  <a:moveTo>
                    <a:pt x="0" y="0"/>
                  </a:moveTo>
                  <a:lnTo>
                    <a:pt x="13360678" y="0"/>
                  </a:lnTo>
                  <a:lnTo>
                    <a:pt x="13360678" y="928966"/>
                  </a:lnTo>
                  <a:lnTo>
                    <a:pt x="0" y="92896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06358" b="-254121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7E220BE6-41EB-C606-F559-13DA28E21FAE}"/>
                </a:ext>
              </a:extLst>
            </p:cNvPr>
            <p:cNvSpPr txBox="1"/>
            <p:nvPr/>
          </p:nvSpPr>
          <p:spPr>
            <a:xfrm>
              <a:off x="0" y="0"/>
              <a:ext cx="13360679" cy="9289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절대이탈(|z|)로 정상 범위 벗어난 배치 탐지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D5C2A649-0E8A-04BE-243F-C8A5FDE9D96E}"/>
              </a:ext>
            </a:extLst>
          </p:cNvPr>
          <p:cNvGrpSpPr/>
          <p:nvPr/>
        </p:nvGrpSpPr>
        <p:grpSpPr>
          <a:xfrm>
            <a:off x="6475306" y="4415045"/>
            <a:ext cx="2024129" cy="362627"/>
            <a:chOff x="0" y="0"/>
            <a:chExt cx="5397678" cy="967003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F8D4D05D-8E3C-63D1-D187-FCE2C14F89D6}"/>
                </a:ext>
              </a:extLst>
            </p:cNvPr>
            <p:cNvSpPr/>
            <p:nvPr/>
          </p:nvSpPr>
          <p:spPr>
            <a:xfrm>
              <a:off x="0" y="0"/>
              <a:ext cx="5397677" cy="967003"/>
            </a:xfrm>
            <a:custGeom>
              <a:avLst/>
              <a:gdLst/>
              <a:ahLst/>
              <a:cxnLst/>
              <a:rect l="l" t="t" r="r" b="b"/>
              <a:pathLst>
                <a:path w="5397677" h="967003">
                  <a:moveTo>
                    <a:pt x="0" y="0"/>
                  </a:moveTo>
                  <a:lnTo>
                    <a:pt x="5397677" y="0"/>
                  </a:lnTo>
                  <a:lnTo>
                    <a:pt x="5397677" y="967003"/>
                  </a:lnTo>
                  <a:lnTo>
                    <a:pt x="0" y="96700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9954" r="-10200" b="-109759"/>
              </a:stretch>
            </a:blipFill>
          </p:spPr>
        </p:sp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AB7BCC13-489E-701C-F219-CD5767CED579}"/>
                </a:ext>
              </a:extLst>
            </p:cNvPr>
            <p:cNvSpPr txBox="1"/>
            <p:nvPr/>
          </p:nvSpPr>
          <p:spPr>
            <a:xfrm>
              <a:off x="0" y="-38100"/>
              <a:ext cx="5397678" cy="1005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데이터 기반 불량 판별</a:t>
              </a:r>
            </a:p>
          </p:txBody>
        </p:sp>
      </p:grpSp>
      <p:grpSp>
        <p:nvGrpSpPr>
          <p:cNvPr id="20" name="Group 34">
            <a:extLst>
              <a:ext uri="{FF2B5EF4-FFF2-40B4-BE49-F238E27FC236}">
                <a16:creationId xmlns:a16="http://schemas.microsoft.com/office/drawing/2014/main" id="{370AEE46-C840-EAF7-D0ED-4439305ACF4B}"/>
              </a:ext>
            </a:extLst>
          </p:cNvPr>
          <p:cNvGrpSpPr/>
          <p:nvPr/>
        </p:nvGrpSpPr>
        <p:grpSpPr>
          <a:xfrm>
            <a:off x="5818838" y="1145762"/>
            <a:ext cx="2897633" cy="964846"/>
            <a:chOff x="0" y="0"/>
            <a:chExt cx="7727020" cy="2572922"/>
          </a:xfrm>
        </p:grpSpPr>
        <p:grpSp>
          <p:nvGrpSpPr>
            <p:cNvPr id="21" name="Group 35">
              <a:extLst>
                <a:ext uri="{FF2B5EF4-FFF2-40B4-BE49-F238E27FC236}">
                  <a16:creationId xmlns:a16="http://schemas.microsoft.com/office/drawing/2014/main" id="{6B85E36C-7E4F-5B15-3F33-4A2E788DCBBE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28" name="Freeform 36">
                <a:extLst>
                  <a:ext uri="{FF2B5EF4-FFF2-40B4-BE49-F238E27FC236}">
                    <a16:creationId xmlns:a16="http://schemas.microsoft.com/office/drawing/2014/main" id="{0763A4D1-D58F-05CD-571A-53A8B31CE8AE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29" name="TextBox 37">
                <a:extLst>
                  <a:ext uri="{FF2B5EF4-FFF2-40B4-BE49-F238E27FC236}">
                    <a16:creationId xmlns:a16="http://schemas.microsoft.com/office/drawing/2014/main" id="{31A86C4B-FA52-139F-2FFB-8A89D38B2604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2" name="Group 38">
              <a:extLst>
                <a:ext uri="{FF2B5EF4-FFF2-40B4-BE49-F238E27FC236}">
                  <a16:creationId xmlns:a16="http://schemas.microsoft.com/office/drawing/2014/main" id="{F1F00A35-9A1B-F479-95B6-9609697BB3B3}"/>
                </a:ext>
              </a:extLst>
            </p:cNvPr>
            <p:cNvGrpSpPr/>
            <p:nvPr/>
          </p:nvGrpSpPr>
          <p:grpSpPr>
            <a:xfrm>
              <a:off x="226720" y="169593"/>
              <a:ext cx="598188" cy="598188"/>
              <a:chOff x="0" y="0"/>
              <a:chExt cx="812800" cy="812800"/>
            </a:xfrm>
          </p:grpSpPr>
          <p:sp>
            <p:nvSpPr>
              <p:cNvPr id="26" name="Freeform 39">
                <a:extLst>
                  <a:ext uri="{FF2B5EF4-FFF2-40B4-BE49-F238E27FC236}">
                    <a16:creationId xmlns:a16="http://schemas.microsoft.com/office/drawing/2014/main" id="{4D88D166-AF7E-C96B-B1E4-55328DEB0C0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27" name="TextBox 40">
                <a:extLst>
                  <a:ext uri="{FF2B5EF4-FFF2-40B4-BE49-F238E27FC236}">
                    <a16:creationId xmlns:a16="http://schemas.microsoft.com/office/drawing/2014/main" id="{ECBFB602-8CA4-3F20-1C25-C5AC1708648A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23" name="TextBox 41">
              <a:extLst>
                <a:ext uri="{FF2B5EF4-FFF2-40B4-BE49-F238E27FC236}">
                  <a16:creationId xmlns:a16="http://schemas.microsoft.com/office/drawing/2014/main" id="{46174CAF-947B-39B6-0E94-BB1F6BA88547}"/>
                </a:ext>
              </a:extLst>
            </p:cNvPr>
            <p:cNvSpPr txBox="1"/>
            <p:nvPr/>
          </p:nvSpPr>
          <p:spPr>
            <a:xfrm>
              <a:off x="1015408" y="271837"/>
              <a:ext cx="6711612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이상</a:t>
              </a:r>
              <a:r>
                <a:rPr lang="en-US" sz="999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99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탐지</a:t>
              </a:r>
              <a:r>
                <a:rPr lang="en-US" sz="999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99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성능</a:t>
              </a:r>
              <a:r>
                <a:rPr lang="en-US" sz="999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99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지표</a:t>
              </a:r>
              <a:endParaRPr lang="en-US" sz="999" b="1" dirty="0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sp>
          <p:nvSpPr>
            <p:cNvPr id="24" name="TextBox 42">
              <a:extLst>
                <a:ext uri="{FF2B5EF4-FFF2-40B4-BE49-F238E27FC236}">
                  <a16:creationId xmlns:a16="http://schemas.microsoft.com/office/drawing/2014/main" id="{2610486B-5708-D6B9-EFAD-4E22F2F67847}"/>
                </a:ext>
              </a:extLst>
            </p:cNvPr>
            <p:cNvSpPr txBox="1"/>
            <p:nvPr/>
          </p:nvSpPr>
          <p:spPr>
            <a:xfrm>
              <a:off x="569621" y="1092032"/>
              <a:ext cx="6613556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임계값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(|z|)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기준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이탈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배치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탐지</a:t>
              </a:r>
              <a:endParaRPr lang="en-US" sz="963" dirty="0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endParaRPr>
            </a:p>
            <a:p>
              <a:pPr>
                <a:lnSpc>
                  <a:spcPts val="1214"/>
                </a:lnSpc>
              </a:pP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불량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이탈수·오탐수·탐지율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파악</a:t>
              </a:r>
              <a:r>
                <a:rPr lang="en-US" sz="963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 </a:t>
              </a:r>
              <a:r>
                <a:rPr lang="en-US" sz="963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가능</a:t>
              </a:r>
              <a:endParaRPr lang="en-US" sz="963" dirty="0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endParaRPr>
            </a:p>
          </p:txBody>
        </p:sp>
        <p:sp>
          <p:nvSpPr>
            <p:cNvPr id="25" name="TextBox 43">
              <a:extLst>
                <a:ext uri="{FF2B5EF4-FFF2-40B4-BE49-F238E27FC236}">
                  <a16:creationId xmlns:a16="http://schemas.microsoft.com/office/drawing/2014/main" id="{6A7E1EB2-3B08-67F2-010C-A7896689E43C}"/>
                </a:ext>
              </a:extLst>
            </p:cNvPr>
            <p:cNvSpPr txBox="1"/>
            <p:nvPr/>
          </p:nvSpPr>
          <p:spPr>
            <a:xfrm>
              <a:off x="226720" y="167909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1</a:t>
              </a:r>
            </a:p>
          </p:txBody>
        </p:sp>
      </p:grpSp>
      <p:grpSp>
        <p:nvGrpSpPr>
          <p:cNvPr id="30" name="Group 44">
            <a:extLst>
              <a:ext uri="{FF2B5EF4-FFF2-40B4-BE49-F238E27FC236}">
                <a16:creationId xmlns:a16="http://schemas.microsoft.com/office/drawing/2014/main" id="{B9D1B750-350C-64A1-E96C-52F208864799}"/>
              </a:ext>
            </a:extLst>
          </p:cNvPr>
          <p:cNvGrpSpPr/>
          <p:nvPr/>
        </p:nvGrpSpPr>
        <p:grpSpPr>
          <a:xfrm>
            <a:off x="5828363" y="2619375"/>
            <a:ext cx="2888108" cy="964846"/>
            <a:chOff x="0" y="0"/>
            <a:chExt cx="7701620" cy="2572922"/>
          </a:xfrm>
        </p:grpSpPr>
        <p:grpSp>
          <p:nvGrpSpPr>
            <p:cNvPr id="31" name="Group 45">
              <a:extLst>
                <a:ext uri="{FF2B5EF4-FFF2-40B4-BE49-F238E27FC236}">
                  <a16:creationId xmlns:a16="http://schemas.microsoft.com/office/drawing/2014/main" id="{ADA77740-625D-02C4-6035-9E1509A24FEC}"/>
                </a:ext>
              </a:extLst>
            </p:cNvPr>
            <p:cNvGrpSpPr/>
            <p:nvPr/>
          </p:nvGrpSpPr>
          <p:grpSpPr>
            <a:xfrm>
              <a:off x="0" y="0"/>
              <a:ext cx="7406387" cy="2572922"/>
              <a:chOff x="0" y="0"/>
              <a:chExt cx="1142961" cy="397056"/>
            </a:xfrm>
          </p:grpSpPr>
          <p:sp>
            <p:nvSpPr>
              <p:cNvPr id="70" name="Freeform 46">
                <a:extLst>
                  <a:ext uri="{FF2B5EF4-FFF2-40B4-BE49-F238E27FC236}">
                    <a16:creationId xmlns:a16="http://schemas.microsoft.com/office/drawing/2014/main" id="{09F31D41-B36F-8CEE-4913-7D1EF8D3BC4D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71" name="TextBox 47">
                <a:extLst>
                  <a:ext uri="{FF2B5EF4-FFF2-40B4-BE49-F238E27FC236}">
                    <a16:creationId xmlns:a16="http://schemas.microsoft.com/office/drawing/2014/main" id="{DDC3DBE1-E067-2073-CD5E-88F16B1FC2C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64" name="Group 48">
              <a:extLst>
                <a:ext uri="{FF2B5EF4-FFF2-40B4-BE49-F238E27FC236}">
                  <a16:creationId xmlns:a16="http://schemas.microsoft.com/office/drawing/2014/main" id="{11944AC8-04E1-9AB9-FC84-666690753BBA}"/>
                </a:ext>
              </a:extLst>
            </p:cNvPr>
            <p:cNvGrpSpPr/>
            <p:nvPr/>
          </p:nvGrpSpPr>
          <p:grpSpPr>
            <a:xfrm>
              <a:off x="201320" y="169593"/>
              <a:ext cx="598188" cy="598188"/>
              <a:chOff x="0" y="0"/>
              <a:chExt cx="812800" cy="812800"/>
            </a:xfrm>
          </p:grpSpPr>
          <p:sp>
            <p:nvSpPr>
              <p:cNvPr id="68" name="Freeform 49">
                <a:extLst>
                  <a:ext uri="{FF2B5EF4-FFF2-40B4-BE49-F238E27FC236}">
                    <a16:creationId xmlns:a16="http://schemas.microsoft.com/office/drawing/2014/main" id="{78B7BE9E-111A-E075-611A-94E63B04C83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69" name="TextBox 50">
                <a:extLst>
                  <a:ext uri="{FF2B5EF4-FFF2-40B4-BE49-F238E27FC236}">
                    <a16:creationId xmlns:a16="http://schemas.microsoft.com/office/drawing/2014/main" id="{88F862BC-8D3F-4242-8D05-C5BAA667B03D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65" name="TextBox 51">
              <a:extLst>
                <a:ext uri="{FF2B5EF4-FFF2-40B4-BE49-F238E27FC236}">
                  <a16:creationId xmlns:a16="http://schemas.microsoft.com/office/drawing/2014/main" id="{CCA9A2ED-FAAF-028E-5857-0AC54929AC89}"/>
                </a:ext>
              </a:extLst>
            </p:cNvPr>
            <p:cNvSpPr txBox="1"/>
            <p:nvPr/>
          </p:nvSpPr>
          <p:spPr>
            <a:xfrm>
              <a:off x="990008" y="271837"/>
              <a:ext cx="6711612" cy="390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00"/>
                </a:lnSpc>
              </a:pPr>
              <a:r>
                <a:rPr lang="en-US" sz="999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센서 값 분포</a:t>
              </a:r>
            </a:p>
          </p:txBody>
        </p:sp>
        <p:sp>
          <p:nvSpPr>
            <p:cNvPr id="66" name="TextBox 52">
              <a:extLst>
                <a:ext uri="{FF2B5EF4-FFF2-40B4-BE49-F238E27FC236}">
                  <a16:creationId xmlns:a16="http://schemas.microsoft.com/office/drawing/2014/main" id="{102E4544-95E7-0537-B137-13372702E6FB}"/>
                </a:ext>
              </a:extLst>
            </p:cNvPr>
            <p:cNvSpPr txBox="1"/>
            <p:nvPr/>
          </p:nvSpPr>
          <p:spPr>
            <a:xfrm>
              <a:off x="544221" y="1092032"/>
              <a:ext cx="6613556" cy="79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정상 기준 절대이탈(|z|) 기반 불량 탐지 현황</a:t>
              </a:r>
            </a:p>
            <a:p>
              <a:pPr>
                <a:lnSpc>
                  <a:spcPts val="1214"/>
                </a:lnSpc>
              </a:pPr>
              <a:r>
                <a:rPr lang="en-US" sz="963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· 시퀀스별 이탈 분포로 불량 집중 구간 식별</a:t>
              </a:r>
            </a:p>
          </p:txBody>
        </p:sp>
        <p:sp>
          <p:nvSpPr>
            <p:cNvPr id="67" name="TextBox 53">
              <a:extLst>
                <a:ext uri="{FF2B5EF4-FFF2-40B4-BE49-F238E27FC236}">
                  <a16:creationId xmlns:a16="http://schemas.microsoft.com/office/drawing/2014/main" id="{319801C5-1081-15B0-26EF-22AFA2F39A15}"/>
                </a:ext>
              </a:extLst>
            </p:cNvPr>
            <p:cNvSpPr txBox="1"/>
            <p:nvPr/>
          </p:nvSpPr>
          <p:spPr>
            <a:xfrm>
              <a:off x="201320" y="167909"/>
              <a:ext cx="598189" cy="505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0"/>
                </a:lnSpc>
                <a:spcBef>
                  <a:spcPct val="0"/>
                </a:spcBef>
              </a:pPr>
              <a:r>
                <a:rPr lang="en-US" sz="115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2</a:t>
              </a:r>
            </a:p>
          </p:txBody>
        </p:sp>
      </p:grpSp>
      <p:sp>
        <p:nvSpPr>
          <p:cNvPr id="72" name="Freeform 54">
            <a:extLst>
              <a:ext uri="{FF2B5EF4-FFF2-40B4-BE49-F238E27FC236}">
                <a16:creationId xmlns:a16="http://schemas.microsoft.com/office/drawing/2014/main" id="{2635CC58-DC37-5521-C596-E8B51BC58394}"/>
              </a:ext>
            </a:extLst>
          </p:cNvPr>
          <p:cNvSpPr/>
          <p:nvPr/>
        </p:nvSpPr>
        <p:spPr>
          <a:xfrm>
            <a:off x="459848" y="945162"/>
            <a:ext cx="5087805" cy="3357951"/>
          </a:xfrm>
          <a:custGeom>
            <a:avLst/>
            <a:gdLst/>
            <a:ahLst/>
            <a:cxnLst/>
            <a:rect l="l" t="t" r="r" b="b"/>
            <a:pathLst>
              <a:path w="10175610" h="6715902">
                <a:moveTo>
                  <a:pt x="0" y="0"/>
                </a:moveTo>
                <a:lnTo>
                  <a:pt x="10175609" y="0"/>
                </a:lnTo>
                <a:lnTo>
                  <a:pt x="10175609" y="6715902"/>
                </a:lnTo>
                <a:lnTo>
                  <a:pt x="0" y="6715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3" name="AutoShape 55">
            <a:extLst>
              <a:ext uri="{FF2B5EF4-FFF2-40B4-BE49-F238E27FC236}">
                <a16:creationId xmlns:a16="http://schemas.microsoft.com/office/drawing/2014/main" id="{EB5217DE-EEE2-99FA-354C-B1308D50F84B}"/>
              </a:ext>
            </a:extLst>
          </p:cNvPr>
          <p:cNvSpPr/>
          <p:nvPr/>
        </p:nvSpPr>
        <p:spPr>
          <a:xfrm>
            <a:off x="5444959" y="1647178"/>
            <a:ext cx="457804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74" name="AutoShape 56">
            <a:extLst>
              <a:ext uri="{FF2B5EF4-FFF2-40B4-BE49-F238E27FC236}">
                <a16:creationId xmlns:a16="http://schemas.microsoft.com/office/drawing/2014/main" id="{B158FC16-ADB8-2455-1F07-B5A083CD5A61}"/>
              </a:ext>
            </a:extLst>
          </p:cNvPr>
          <p:cNvSpPr/>
          <p:nvPr/>
        </p:nvSpPr>
        <p:spPr>
          <a:xfrm>
            <a:off x="5444959" y="3092305"/>
            <a:ext cx="457804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75" name="Group 57">
            <a:extLst>
              <a:ext uri="{FF2B5EF4-FFF2-40B4-BE49-F238E27FC236}">
                <a16:creationId xmlns:a16="http://schemas.microsoft.com/office/drawing/2014/main" id="{FC340418-9CB3-DF76-832F-222C93AEB171}"/>
              </a:ext>
            </a:extLst>
          </p:cNvPr>
          <p:cNvGrpSpPr/>
          <p:nvPr/>
        </p:nvGrpSpPr>
        <p:grpSpPr>
          <a:xfrm>
            <a:off x="361564" y="950648"/>
            <a:ext cx="98285" cy="3357951"/>
            <a:chOff x="0" y="0"/>
            <a:chExt cx="219634" cy="7503935"/>
          </a:xfrm>
        </p:grpSpPr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CE1E74B7-BAF8-0699-CB8E-8F2CB8CEBB6F}"/>
                </a:ext>
              </a:extLst>
            </p:cNvPr>
            <p:cNvSpPr/>
            <p:nvPr/>
          </p:nvSpPr>
          <p:spPr>
            <a:xfrm>
              <a:off x="0" y="0"/>
              <a:ext cx="219583" cy="7503922"/>
            </a:xfrm>
            <a:custGeom>
              <a:avLst/>
              <a:gdLst/>
              <a:ahLst/>
              <a:cxnLst/>
              <a:rect l="l" t="t" r="r" b="b"/>
              <a:pathLst>
                <a:path w="219583" h="7503922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183007" y="0"/>
                  </a:lnTo>
                  <a:cubicBezTo>
                    <a:pt x="203200" y="0"/>
                    <a:pt x="219583" y="16383"/>
                    <a:pt x="219583" y="36576"/>
                  </a:cubicBezTo>
                  <a:lnTo>
                    <a:pt x="219583" y="7467346"/>
                  </a:lnTo>
                  <a:cubicBezTo>
                    <a:pt x="219583" y="7487538"/>
                    <a:pt x="203200" y="7503922"/>
                    <a:pt x="183007" y="7503922"/>
                  </a:cubicBezTo>
                  <a:lnTo>
                    <a:pt x="36576" y="7503922"/>
                  </a:lnTo>
                  <a:cubicBezTo>
                    <a:pt x="16383" y="7503922"/>
                    <a:pt x="0" y="7487538"/>
                    <a:pt x="0" y="7467346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7" name="Group 59">
            <a:extLst>
              <a:ext uri="{FF2B5EF4-FFF2-40B4-BE49-F238E27FC236}">
                <a16:creationId xmlns:a16="http://schemas.microsoft.com/office/drawing/2014/main" id="{8A42CF89-CF8F-3969-5577-22857D0C8B07}"/>
              </a:ext>
            </a:extLst>
          </p:cNvPr>
          <p:cNvGrpSpPr/>
          <p:nvPr/>
        </p:nvGrpSpPr>
        <p:grpSpPr>
          <a:xfrm>
            <a:off x="5550045" y="4500270"/>
            <a:ext cx="480436" cy="192177"/>
            <a:chOff x="0" y="0"/>
            <a:chExt cx="1281163" cy="512470"/>
          </a:xfrm>
        </p:grpSpPr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1D241D78-FCAB-B1D6-5442-2FD3AF09BA9E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pic>
        <p:nvPicPr>
          <p:cNvPr id="79" name="Image 1" descr="preencoded.png">
            <a:extLst>
              <a:ext uri="{FF2B5EF4-FFF2-40B4-BE49-F238E27FC236}">
                <a16:creationId xmlns:a16="http://schemas.microsoft.com/office/drawing/2014/main" id="{405E8C19-9B59-4AC5-D8A5-F4CC65314D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0" name="Text 2">
            <a:extLst>
              <a:ext uri="{FF2B5EF4-FFF2-40B4-BE49-F238E27FC236}">
                <a16:creationId xmlns:a16="http://schemas.microsoft.com/office/drawing/2014/main" id="{7E95EF92-4832-4CE3-DCBE-6CA601B66ECE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DD460A8F-D191-ADFD-02EC-09328698BC08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1452505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898DC-D77A-D0F7-35A4-EC472442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2DED885-0967-E7EC-4B71-3AB6808B3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EED6BFF-E0C2-7906-B7E5-C54AC1953C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68B6F1D-32B1-6E3D-EBD3-22EA9102A9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E0CAF353-388E-3987-413C-5495EEA7FC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CB34A73-3FDA-2592-43D3-4DC392CE01A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9E5B5A07-FDBD-35CF-A3C7-CC3131FE1A8D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이상탐지 및 조기경보 시스템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altLang="ko-KR" sz="12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7CCD737D-59F6-EC21-94FC-A0AE76FDD1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44B7A51E-7B9E-5AFD-5C0E-038FB4C66AC6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7A20CABB-1859-EFE7-3FA5-61463ED6E82D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C0803A98-F8EC-7191-1788-40C108DCC5A4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DE4E3A6B-40CF-B9A0-6268-79591DEDA25F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8DDE045A-99AD-0829-F2AE-F8CC13CA6ACD}"/>
              </a:ext>
            </a:extLst>
          </p:cNvPr>
          <p:cNvGrpSpPr/>
          <p:nvPr/>
        </p:nvGrpSpPr>
        <p:grpSpPr>
          <a:xfrm>
            <a:off x="4869559" y="977068"/>
            <a:ext cx="3709642" cy="1235226"/>
            <a:chOff x="0" y="0"/>
            <a:chExt cx="9892378" cy="3293937"/>
          </a:xfrm>
        </p:grpSpPr>
        <p:grpSp>
          <p:nvGrpSpPr>
            <p:cNvPr id="13" name="Group 27">
              <a:extLst>
                <a:ext uri="{FF2B5EF4-FFF2-40B4-BE49-F238E27FC236}">
                  <a16:creationId xmlns:a16="http://schemas.microsoft.com/office/drawing/2014/main" id="{A9BE1471-FDE5-D7D9-29D6-3C88A2BC4061}"/>
                </a:ext>
              </a:extLst>
            </p:cNvPr>
            <p:cNvGrpSpPr/>
            <p:nvPr/>
          </p:nvGrpSpPr>
          <p:grpSpPr>
            <a:xfrm>
              <a:off x="0" y="0"/>
              <a:ext cx="9481894" cy="3293937"/>
              <a:chOff x="0" y="0"/>
              <a:chExt cx="1142961" cy="397056"/>
            </a:xfrm>
          </p:grpSpPr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BD8B8349-D60F-29D1-9A47-9C1404B5665C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23" name="TextBox 29">
                <a:extLst>
                  <a:ext uri="{FF2B5EF4-FFF2-40B4-BE49-F238E27FC236}">
                    <a16:creationId xmlns:a16="http://schemas.microsoft.com/office/drawing/2014/main" id="{B3B80F29-37C4-6E4B-6A27-E11B97C6E7F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14" name="Group 30">
              <a:extLst>
                <a:ext uri="{FF2B5EF4-FFF2-40B4-BE49-F238E27FC236}">
                  <a16:creationId xmlns:a16="http://schemas.microsoft.com/office/drawing/2014/main" id="{464F1E71-9967-DB92-BF6C-D680ADB82D73}"/>
                </a:ext>
              </a:extLst>
            </p:cNvPr>
            <p:cNvGrpSpPr/>
            <p:nvPr/>
          </p:nvGrpSpPr>
          <p:grpSpPr>
            <a:xfrm>
              <a:off x="290255" y="217119"/>
              <a:ext cx="765819" cy="765819"/>
              <a:chOff x="0" y="0"/>
              <a:chExt cx="812800" cy="812800"/>
            </a:xfrm>
          </p:grpSpPr>
          <p:sp>
            <p:nvSpPr>
              <p:cNvPr id="20" name="Freeform 31">
                <a:extLst>
                  <a:ext uri="{FF2B5EF4-FFF2-40B4-BE49-F238E27FC236}">
                    <a16:creationId xmlns:a16="http://schemas.microsoft.com/office/drawing/2014/main" id="{B27075B0-1B2B-94A2-0325-5E02DCF3087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21" name="TextBox 32">
                <a:extLst>
                  <a:ext uri="{FF2B5EF4-FFF2-40B4-BE49-F238E27FC236}">
                    <a16:creationId xmlns:a16="http://schemas.microsoft.com/office/drawing/2014/main" id="{F7DF0CA8-4FEB-6B92-E7BE-807C7C2D4B3E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5" name="TextBox 33">
              <a:extLst>
                <a:ext uri="{FF2B5EF4-FFF2-40B4-BE49-F238E27FC236}">
                  <a16:creationId xmlns:a16="http://schemas.microsoft.com/office/drawing/2014/main" id="{B287F9CB-C28A-4C94-09EF-B5C0D9522932}"/>
                </a:ext>
              </a:extLst>
            </p:cNvPr>
            <p:cNvSpPr txBox="1"/>
            <p:nvPr/>
          </p:nvSpPr>
          <p:spPr>
            <a:xfrm>
              <a:off x="1299960" y="348016"/>
              <a:ext cx="8592418" cy="467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36"/>
                </a:lnSpc>
              </a:pP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판정</a:t>
              </a:r>
              <a:r>
                <a:rPr lang="en-US" sz="1000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/</a:t>
              </a: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원인</a:t>
              </a:r>
              <a:r>
                <a:rPr lang="en-US" sz="1000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파트</a:t>
              </a:r>
              <a:endParaRPr lang="en-US" sz="1000" b="1" dirty="0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sp>
          <p:nvSpPr>
            <p:cNvPr id="16" name="TextBox 34">
              <a:extLst>
                <a:ext uri="{FF2B5EF4-FFF2-40B4-BE49-F238E27FC236}">
                  <a16:creationId xmlns:a16="http://schemas.microsoft.com/office/drawing/2014/main" id="{381B1E11-82BB-049F-0EC7-767EC2F7B715}"/>
                </a:ext>
              </a:extLst>
            </p:cNvPr>
            <p:cNvSpPr txBox="1"/>
            <p:nvPr/>
          </p:nvSpPr>
          <p:spPr>
            <a:xfrm>
              <a:off x="729248" y="1403390"/>
              <a:ext cx="8466882" cy="15999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54"/>
                </a:lnSpc>
              </a:pPr>
              <a:r>
                <a:rPr lang="en-US" sz="1233" b="1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확률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554"/>
                </a:lnSpc>
              </a:pP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공정변수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기여도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554"/>
                </a:lnSpc>
              </a:pP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불량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유형별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대응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가이드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grpSp>
          <p:nvGrpSpPr>
            <p:cNvPr id="17" name="Group 35">
              <a:extLst>
                <a:ext uri="{FF2B5EF4-FFF2-40B4-BE49-F238E27FC236}">
                  <a16:creationId xmlns:a16="http://schemas.microsoft.com/office/drawing/2014/main" id="{1EC0D668-F2DA-684F-54BF-423DAC0D1A56}"/>
                </a:ext>
              </a:extLst>
            </p:cNvPr>
            <p:cNvGrpSpPr/>
            <p:nvPr/>
          </p:nvGrpSpPr>
          <p:grpSpPr>
            <a:xfrm>
              <a:off x="475154" y="408051"/>
              <a:ext cx="386540" cy="386540"/>
              <a:chOff x="0" y="0"/>
              <a:chExt cx="812800" cy="812800"/>
            </a:xfrm>
          </p:grpSpPr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0CFE2207-33A4-B14D-E498-13CBA71868A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id="19" name="TextBox 37">
                <a:extLst>
                  <a:ext uri="{FF2B5EF4-FFF2-40B4-BE49-F238E27FC236}">
                    <a16:creationId xmlns:a16="http://schemas.microsoft.com/office/drawing/2014/main" id="{E5D85469-BCBC-706E-C099-073A323E08F9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24" name="Group 38">
            <a:extLst>
              <a:ext uri="{FF2B5EF4-FFF2-40B4-BE49-F238E27FC236}">
                <a16:creationId xmlns:a16="http://schemas.microsoft.com/office/drawing/2014/main" id="{11216B50-47C8-7596-3AB9-A0B830F8EBC8}"/>
              </a:ext>
            </a:extLst>
          </p:cNvPr>
          <p:cNvGrpSpPr/>
          <p:nvPr/>
        </p:nvGrpSpPr>
        <p:grpSpPr>
          <a:xfrm>
            <a:off x="4869559" y="2312307"/>
            <a:ext cx="3709642" cy="1235226"/>
            <a:chOff x="0" y="0"/>
            <a:chExt cx="9892378" cy="3293937"/>
          </a:xfrm>
        </p:grpSpPr>
        <p:grpSp>
          <p:nvGrpSpPr>
            <p:cNvPr id="25" name="Group 39">
              <a:extLst>
                <a:ext uri="{FF2B5EF4-FFF2-40B4-BE49-F238E27FC236}">
                  <a16:creationId xmlns:a16="http://schemas.microsoft.com/office/drawing/2014/main" id="{FD48D390-D090-D1D7-ED45-91E71028C2B0}"/>
                </a:ext>
              </a:extLst>
            </p:cNvPr>
            <p:cNvGrpSpPr/>
            <p:nvPr/>
          </p:nvGrpSpPr>
          <p:grpSpPr>
            <a:xfrm>
              <a:off x="0" y="0"/>
              <a:ext cx="9481894" cy="3293937"/>
              <a:chOff x="0" y="0"/>
              <a:chExt cx="1142961" cy="397056"/>
            </a:xfrm>
          </p:grpSpPr>
          <p:sp>
            <p:nvSpPr>
              <p:cNvPr id="66" name="Freeform 40">
                <a:extLst>
                  <a:ext uri="{FF2B5EF4-FFF2-40B4-BE49-F238E27FC236}">
                    <a16:creationId xmlns:a16="http://schemas.microsoft.com/office/drawing/2014/main" id="{E0C06140-FF9A-6DEE-75DE-91B18353393F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67" name="TextBox 41">
                <a:extLst>
                  <a:ext uri="{FF2B5EF4-FFF2-40B4-BE49-F238E27FC236}">
                    <a16:creationId xmlns:a16="http://schemas.microsoft.com/office/drawing/2014/main" id="{BA37C752-BC23-2CBF-EAFD-D7B031AE730B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26" name="Group 42">
              <a:extLst>
                <a:ext uri="{FF2B5EF4-FFF2-40B4-BE49-F238E27FC236}">
                  <a16:creationId xmlns:a16="http://schemas.microsoft.com/office/drawing/2014/main" id="{4B79741B-3CC2-699D-F548-5BAECF1202CD}"/>
                </a:ext>
              </a:extLst>
            </p:cNvPr>
            <p:cNvGrpSpPr/>
            <p:nvPr/>
          </p:nvGrpSpPr>
          <p:grpSpPr>
            <a:xfrm>
              <a:off x="290255" y="217119"/>
              <a:ext cx="765819" cy="765819"/>
              <a:chOff x="0" y="0"/>
              <a:chExt cx="812800" cy="812800"/>
            </a:xfrm>
          </p:grpSpPr>
          <p:sp>
            <p:nvSpPr>
              <p:cNvPr id="64" name="Freeform 43">
                <a:extLst>
                  <a:ext uri="{FF2B5EF4-FFF2-40B4-BE49-F238E27FC236}">
                    <a16:creationId xmlns:a16="http://schemas.microsoft.com/office/drawing/2014/main" id="{A4906B6D-EBDC-D71B-C0DB-02C76A9811C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65" name="TextBox 44">
                <a:extLst>
                  <a:ext uri="{FF2B5EF4-FFF2-40B4-BE49-F238E27FC236}">
                    <a16:creationId xmlns:a16="http://schemas.microsoft.com/office/drawing/2014/main" id="{492B1994-B562-A002-A6C9-67390AD512BF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27" name="TextBox 45">
              <a:extLst>
                <a:ext uri="{FF2B5EF4-FFF2-40B4-BE49-F238E27FC236}">
                  <a16:creationId xmlns:a16="http://schemas.microsoft.com/office/drawing/2014/main" id="{943D50C6-FEAD-47E2-BA53-98A5A80FB6D9}"/>
                </a:ext>
              </a:extLst>
            </p:cNvPr>
            <p:cNvSpPr txBox="1"/>
            <p:nvPr/>
          </p:nvSpPr>
          <p:spPr>
            <a:xfrm>
              <a:off x="1299960" y="348016"/>
              <a:ext cx="8592418" cy="467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36"/>
                </a:lnSpc>
              </a:pP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실시간</a:t>
              </a:r>
              <a:r>
                <a:rPr lang="en-US" sz="1000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이상점수</a:t>
              </a:r>
              <a:r>
                <a:rPr lang="en-US" sz="1000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파트</a:t>
              </a:r>
              <a:endParaRPr lang="en-US" sz="1000" b="1" dirty="0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sp>
          <p:nvSpPr>
            <p:cNvPr id="28" name="TextBox 46">
              <a:extLst>
                <a:ext uri="{FF2B5EF4-FFF2-40B4-BE49-F238E27FC236}">
                  <a16:creationId xmlns:a16="http://schemas.microsoft.com/office/drawing/2014/main" id="{DE9C432D-183B-FD97-547E-8537D02D4196}"/>
                </a:ext>
              </a:extLst>
            </p:cNvPr>
            <p:cNvSpPr txBox="1"/>
            <p:nvPr/>
          </p:nvSpPr>
          <p:spPr>
            <a:xfrm>
              <a:off x="729248" y="1403390"/>
              <a:ext cx="8466882" cy="10527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54"/>
                </a:lnSpc>
              </a:pPr>
              <a:r>
                <a:rPr lang="en-US" sz="1233" b="1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시계열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반영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실시간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이상탐지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554"/>
                </a:lnSpc>
              </a:pPr>
              <a:r>
                <a:rPr lang="en-US" sz="960" b="1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임계값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및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이상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임계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설정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grpSp>
          <p:nvGrpSpPr>
            <p:cNvPr id="29" name="Group 47">
              <a:extLst>
                <a:ext uri="{FF2B5EF4-FFF2-40B4-BE49-F238E27FC236}">
                  <a16:creationId xmlns:a16="http://schemas.microsoft.com/office/drawing/2014/main" id="{4F02BF1B-FB58-48A5-A86F-FE1A0F242AF1}"/>
                </a:ext>
              </a:extLst>
            </p:cNvPr>
            <p:cNvGrpSpPr/>
            <p:nvPr/>
          </p:nvGrpSpPr>
          <p:grpSpPr>
            <a:xfrm>
              <a:off x="475154" y="408051"/>
              <a:ext cx="386540" cy="386540"/>
              <a:chOff x="0" y="0"/>
              <a:chExt cx="812800" cy="812800"/>
            </a:xfrm>
          </p:grpSpPr>
          <p:sp>
            <p:nvSpPr>
              <p:cNvPr id="30" name="Freeform 48">
                <a:extLst>
                  <a:ext uri="{FF2B5EF4-FFF2-40B4-BE49-F238E27FC236}">
                    <a16:creationId xmlns:a16="http://schemas.microsoft.com/office/drawing/2014/main" id="{96EFF0C5-0510-F550-8F87-8DE92173F30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id="31" name="TextBox 49">
                <a:extLst>
                  <a:ext uri="{FF2B5EF4-FFF2-40B4-BE49-F238E27FC236}">
                    <a16:creationId xmlns:a16="http://schemas.microsoft.com/office/drawing/2014/main" id="{55A3B474-36B0-6AD9-702B-4884BCE276D4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68" name="Group 50">
            <a:extLst>
              <a:ext uri="{FF2B5EF4-FFF2-40B4-BE49-F238E27FC236}">
                <a16:creationId xmlns:a16="http://schemas.microsoft.com/office/drawing/2014/main" id="{ED20ED90-A6AF-2549-77AD-72CFD814E19C}"/>
              </a:ext>
            </a:extLst>
          </p:cNvPr>
          <p:cNvGrpSpPr/>
          <p:nvPr/>
        </p:nvGrpSpPr>
        <p:grpSpPr>
          <a:xfrm>
            <a:off x="4869559" y="3647546"/>
            <a:ext cx="3709642" cy="1235226"/>
            <a:chOff x="0" y="0"/>
            <a:chExt cx="9892378" cy="3293937"/>
          </a:xfrm>
        </p:grpSpPr>
        <p:grpSp>
          <p:nvGrpSpPr>
            <p:cNvPr id="69" name="Group 51">
              <a:extLst>
                <a:ext uri="{FF2B5EF4-FFF2-40B4-BE49-F238E27FC236}">
                  <a16:creationId xmlns:a16="http://schemas.microsoft.com/office/drawing/2014/main" id="{C04228AF-CD06-AA24-5164-935A3C081A21}"/>
                </a:ext>
              </a:extLst>
            </p:cNvPr>
            <p:cNvGrpSpPr/>
            <p:nvPr/>
          </p:nvGrpSpPr>
          <p:grpSpPr>
            <a:xfrm>
              <a:off x="0" y="0"/>
              <a:ext cx="9481894" cy="3293937"/>
              <a:chOff x="0" y="0"/>
              <a:chExt cx="1142961" cy="397056"/>
            </a:xfrm>
          </p:grpSpPr>
          <p:sp>
            <p:nvSpPr>
              <p:cNvPr id="78" name="Freeform 52">
                <a:extLst>
                  <a:ext uri="{FF2B5EF4-FFF2-40B4-BE49-F238E27FC236}">
                    <a16:creationId xmlns:a16="http://schemas.microsoft.com/office/drawing/2014/main" id="{DB39F708-7731-36F2-D0B0-2E482B296E8E}"/>
                  </a:ext>
                </a:extLst>
              </p:cNvPr>
              <p:cNvSpPr/>
              <p:nvPr/>
            </p:nvSpPr>
            <p:spPr>
              <a:xfrm>
                <a:off x="0" y="0"/>
                <a:ext cx="1142961" cy="397056"/>
              </a:xfrm>
              <a:custGeom>
                <a:avLst/>
                <a:gdLst/>
                <a:ahLst/>
                <a:cxnLst/>
                <a:rect l="l" t="t" r="r" b="b"/>
                <a:pathLst>
                  <a:path w="1142961" h="397056">
                    <a:moveTo>
                      <a:pt x="27221" y="0"/>
                    </a:moveTo>
                    <a:lnTo>
                      <a:pt x="1115740" y="0"/>
                    </a:lnTo>
                    <a:cubicBezTo>
                      <a:pt x="1130774" y="0"/>
                      <a:pt x="1142961" y="12187"/>
                      <a:pt x="1142961" y="27221"/>
                    </a:cubicBezTo>
                    <a:lnTo>
                      <a:pt x="1142961" y="369834"/>
                    </a:lnTo>
                    <a:cubicBezTo>
                      <a:pt x="1142961" y="377054"/>
                      <a:pt x="1140093" y="383978"/>
                      <a:pt x="1134988" y="389083"/>
                    </a:cubicBezTo>
                    <a:cubicBezTo>
                      <a:pt x="1129883" y="394188"/>
                      <a:pt x="1122959" y="397056"/>
                      <a:pt x="1115740" y="397056"/>
                    </a:cubicBezTo>
                    <a:lnTo>
                      <a:pt x="27221" y="397056"/>
                    </a:lnTo>
                    <a:cubicBezTo>
                      <a:pt x="20002" y="397056"/>
                      <a:pt x="13078" y="394188"/>
                      <a:pt x="7973" y="389083"/>
                    </a:cubicBezTo>
                    <a:cubicBezTo>
                      <a:pt x="2868" y="383978"/>
                      <a:pt x="0" y="377054"/>
                      <a:pt x="0" y="369834"/>
                    </a:cubicBezTo>
                    <a:lnTo>
                      <a:pt x="0" y="27221"/>
                    </a:lnTo>
                    <a:cubicBezTo>
                      <a:pt x="0" y="20002"/>
                      <a:pt x="2868" y="13078"/>
                      <a:pt x="7973" y="7973"/>
                    </a:cubicBezTo>
                    <a:cubicBezTo>
                      <a:pt x="13078" y="2868"/>
                      <a:pt x="20002" y="0"/>
                      <a:pt x="27221" y="0"/>
                    </a:cubicBezTo>
                    <a:close/>
                  </a:path>
                </a:pathLst>
              </a:custGeom>
              <a:solidFill>
                <a:srgbClr val="F6FAEF"/>
              </a:solidFill>
              <a:ln w="38100" cap="rnd">
                <a:solidFill>
                  <a:srgbClr val="4B5733"/>
                </a:solidFill>
                <a:prstDash val="solid"/>
                <a:round/>
              </a:ln>
            </p:spPr>
          </p:sp>
          <p:sp>
            <p:nvSpPr>
              <p:cNvPr id="79" name="TextBox 53">
                <a:extLst>
                  <a:ext uri="{FF2B5EF4-FFF2-40B4-BE49-F238E27FC236}">
                    <a16:creationId xmlns:a16="http://schemas.microsoft.com/office/drawing/2014/main" id="{EEF14C40-5A09-373C-26C8-96B0F7D636B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142961" cy="454206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70" name="Group 54">
              <a:extLst>
                <a:ext uri="{FF2B5EF4-FFF2-40B4-BE49-F238E27FC236}">
                  <a16:creationId xmlns:a16="http://schemas.microsoft.com/office/drawing/2014/main" id="{FB6F9272-CAD2-7766-7F47-5F98F694C773}"/>
                </a:ext>
              </a:extLst>
            </p:cNvPr>
            <p:cNvGrpSpPr/>
            <p:nvPr/>
          </p:nvGrpSpPr>
          <p:grpSpPr>
            <a:xfrm>
              <a:off x="290255" y="217119"/>
              <a:ext cx="765819" cy="765819"/>
              <a:chOff x="0" y="0"/>
              <a:chExt cx="812800" cy="812800"/>
            </a:xfrm>
          </p:grpSpPr>
          <p:sp>
            <p:nvSpPr>
              <p:cNvPr id="76" name="Freeform 55">
                <a:extLst>
                  <a:ext uri="{FF2B5EF4-FFF2-40B4-BE49-F238E27FC236}">
                    <a16:creationId xmlns:a16="http://schemas.microsoft.com/office/drawing/2014/main" id="{ABF19706-4A00-B2D9-55E4-57984EB7D68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C5733"/>
              </a:solidFill>
            </p:spPr>
          </p:sp>
          <p:sp>
            <p:nvSpPr>
              <p:cNvPr id="77" name="TextBox 56">
                <a:extLst>
                  <a:ext uri="{FF2B5EF4-FFF2-40B4-BE49-F238E27FC236}">
                    <a16:creationId xmlns:a16="http://schemas.microsoft.com/office/drawing/2014/main" id="{115FB6D9-DFCB-17C5-29F5-FBD86750989E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71" name="TextBox 57">
              <a:extLst>
                <a:ext uri="{FF2B5EF4-FFF2-40B4-BE49-F238E27FC236}">
                  <a16:creationId xmlns:a16="http://schemas.microsoft.com/office/drawing/2014/main" id="{A6919219-1BA9-6E7C-22F1-6F1ADB405F5A}"/>
                </a:ext>
              </a:extLst>
            </p:cNvPr>
            <p:cNvSpPr txBox="1"/>
            <p:nvPr/>
          </p:nvSpPr>
          <p:spPr>
            <a:xfrm>
              <a:off x="1299960" y="348016"/>
              <a:ext cx="8592418" cy="467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36"/>
                </a:lnSpc>
              </a:pP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모델</a:t>
              </a:r>
              <a:r>
                <a:rPr lang="en-US" sz="1000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성능</a:t>
              </a:r>
              <a:r>
                <a:rPr lang="en-US" sz="1000" b="1" dirty="0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1000" b="1" dirty="0" err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파트</a:t>
              </a:r>
              <a:endParaRPr lang="en-US" sz="1000" b="1" dirty="0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sp>
          <p:nvSpPr>
            <p:cNvPr id="72" name="TextBox 58">
              <a:extLst>
                <a:ext uri="{FF2B5EF4-FFF2-40B4-BE49-F238E27FC236}">
                  <a16:creationId xmlns:a16="http://schemas.microsoft.com/office/drawing/2014/main" id="{CBD16964-24ED-C6C9-94A4-1069775BD4AC}"/>
                </a:ext>
              </a:extLst>
            </p:cNvPr>
            <p:cNvSpPr txBox="1"/>
            <p:nvPr/>
          </p:nvSpPr>
          <p:spPr>
            <a:xfrm>
              <a:off x="729248" y="1403390"/>
              <a:ext cx="8466882" cy="10527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54"/>
                </a:lnSpc>
              </a:pPr>
              <a:r>
                <a:rPr lang="en-US" sz="1233" b="1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ROC, PR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모델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분리성능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확인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  <a:p>
              <a:pPr>
                <a:lnSpc>
                  <a:spcPts val="1554"/>
                </a:lnSpc>
              </a:pP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·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혼동행렬과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재현·오탐률로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모델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성능</a:t>
              </a:r>
              <a:r>
                <a:rPr lang="en-US" sz="96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 </a:t>
              </a:r>
              <a:r>
                <a:rPr lang="en-US" sz="96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확인</a:t>
              </a:r>
              <a:endParaRPr lang="en-US" sz="96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endParaRPr>
            </a:p>
          </p:txBody>
        </p:sp>
        <p:grpSp>
          <p:nvGrpSpPr>
            <p:cNvPr id="73" name="Group 59">
              <a:extLst>
                <a:ext uri="{FF2B5EF4-FFF2-40B4-BE49-F238E27FC236}">
                  <a16:creationId xmlns:a16="http://schemas.microsoft.com/office/drawing/2014/main" id="{13CF99AC-5B31-775F-3DBE-80715ED894F3}"/>
                </a:ext>
              </a:extLst>
            </p:cNvPr>
            <p:cNvGrpSpPr/>
            <p:nvPr/>
          </p:nvGrpSpPr>
          <p:grpSpPr>
            <a:xfrm>
              <a:off x="475154" y="408051"/>
              <a:ext cx="386540" cy="386540"/>
              <a:chOff x="0" y="0"/>
              <a:chExt cx="812800" cy="812800"/>
            </a:xfrm>
          </p:grpSpPr>
          <p:sp>
            <p:nvSpPr>
              <p:cNvPr id="74" name="Freeform 60">
                <a:extLst>
                  <a:ext uri="{FF2B5EF4-FFF2-40B4-BE49-F238E27FC236}">
                    <a16:creationId xmlns:a16="http://schemas.microsoft.com/office/drawing/2014/main" id="{D9D10C92-1EE8-5509-50B6-B03F754272B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id="75" name="TextBox 61">
                <a:extLst>
                  <a:ext uri="{FF2B5EF4-FFF2-40B4-BE49-F238E27FC236}">
                    <a16:creationId xmlns:a16="http://schemas.microsoft.com/office/drawing/2014/main" id="{0C875EB4-96AC-1B8F-3248-47D904C32FE6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820"/>
                  </a:lnSpc>
                </a:pPr>
                <a:endParaRPr sz="90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82" name="AutoShape 64">
            <a:extLst>
              <a:ext uri="{FF2B5EF4-FFF2-40B4-BE49-F238E27FC236}">
                <a16:creationId xmlns:a16="http://schemas.microsoft.com/office/drawing/2014/main" id="{619D6D0D-50D3-9A4A-110B-D42455C6BEFA}"/>
              </a:ext>
            </a:extLst>
          </p:cNvPr>
          <p:cNvSpPr/>
          <p:nvPr/>
        </p:nvSpPr>
        <p:spPr>
          <a:xfrm>
            <a:off x="4209469" y="4276196"/>
            <a:ext cx="753737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pic>
        <p:nvPicPr>
          <p:cNvPr id="130" name="그림 129">
            <a:hlinkClick r:id="rId9"/>
            <a:extLst>
              <a:ext uri="{FF2B5EF4-FFF2-40B4-BE49-F238E27FC236}">
                <a16:creationId xmlns:a16="http://schemas.microsoft.com/office/drawing/2014/main" id="{D3432B52-2E48-1E65-584F-180F8924FB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259" y="1052780"/>
            <a:ext cx="3885270" cy="3856964"/>
          </a:xfrm>
          <a:prstGeom prst="rect">
            <a:avLst/>
          </a:prstGeom>
        </p:spPr>
      </p:pic>
      <p:sp>
        <p:nvSpPr>
          <p:cNvPr id="131" name="AutoShape 62">
            <a:extLst>
              <a:ext uri="{FF2B5EF4-FFF2-40B4-BE49-F238E27FC236}">
                <a16:creationId xmlns:a16="http://schemas.microsoft.com/office/drawing/2014/main" id="{CC323EE5-0DA3-B971-E3CA-0C04DCB8D991}"/>
              </a:ext>
            </a:extLst>
          </p:cNvPr>
          <p:cNvSpPr/>
          <p:nvPr/>
        </p:nvSpPr>
        <p:spPr>
          <a:xfrm>
            <a:off x="4195131" y="1665167"/>
            <a:ext cx="753737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32" name="AutoShape 63">
            <a:extLst>
              <a:ext uri="{FF2B5EF4-FFF2-40B4-BE49-F238E27FC236}">
                <a16:creationId xmlns:a16="http://schemas.microsoft.com/office/drawing/2014/main" id="{37014A88-56A6-4017-072D-D44F7116FD22}"/>
              </a:ext>
            </a:extLst>
          </p:cNvPr>
          <p:cNvSpPr/>
          <p:nvPr/>
        </p:nvSpPr>
        <p:spPr>
          <a:xfrm>
            <a:off x="4213491" y="2969925"/>
            <a:ext cx="753737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33" name="AutoShape 64">
            <a:extLst>
              <a:ext uri="{FF2B5EF4-FFF2-40B4-BE49-F238E27FC236}">
                <a16:creationId xmlns:a16="http://schemas.microsoft.com/office/drawing/2014/main" id="{9DA18652-43EB-F226-F15F-423B51802740}"/>
              </a:ext>
            </a:extLst>
          </p:cNvPr>
          <p:cNvSpPr/>
          <p:nvPr/>
        </p:nvSpPr>
        <p:spPr>
          <a:xfrm>
            <a:off x="4209469" y="4276196"/>
            <a:ext cx="753737" cy="0"/>
          </a:xfrm>
          <a:prstGeom prst="line">
            <a:avLst/>
          </a:prstGeom>
          <a:ln w="38100" cap="flat">
            <a:solidFill>
              <a:srgbClr val="E7191F"/>
            </a:solidFill>
            <a:prstDash val="solid"/>
            <a:headEnd type="oval" w="lg" len="lg"/>
            <a:tailEnd type="oval" w="lg" len="lg"/>
          </a:ln>
        </p:spPr>
      </p:sp>
      <p:pic>
        <p:nvPicPr>
          <p:cNvPr id="134" name="Image 1" descr="preencoded.png">
            <a:extLst>
              <a:ext uri="{FF2B5EF4-FFF2-40B4-BE49-F238E27FC236}">
                <a16:creationId xmlns:a16="http://schemas.microsoft.com/office/drawing/2014/main" id="{E474FD93-15D1-ED6E-C080-BC1E209C22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35" name="Text 2">
            <a:extLst>
              <a:ext uri="{FF2B5EF4-FFF2-40B4-BE49-F238E27FC236}">
                <a16:creationId xmlns:a16="http://schemas.microsoft.com/office/drawing/2014/main" id="{9C36FC1D-0919-8D94-45E5-346FDEB098D7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36" name="Text 9">
            <a:extLst>
              <a:ext uri="{FF2B5EF4-FFF2-40B4-BE49-F238E27FC236}">
                <a16:creationId xmlns:a16="http://schemas.microsoft.com/office/drawing/2014/main" id="{D369C280-0184-1552-8605-06FD82C67672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4788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3239-1418-7C96-8EAD-171905B5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64CFAD8-4607-0CFB-CE8F-A83A83D5AE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C6CA364-5D98-2E92-EE7D-F5CD850C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B006FEF5-38C8-2F55-20AB-AD2741B536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06FA617-7A52-C7F7-761A-6837E0DE81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075B4A1-D24B-C35F-F1CF-D56BF5B792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43E546D7-4C5A-8C19-0580-771A09179B05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8A8563CC-8A60-E44F-3940-9EF186B681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8618E674-8C64-0C24-E004-6156D5EA6BF5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28D6D807-E832-2052-B89B-9199CC80887F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182EB4E1-F55C-1818-F345-B92A8C5E8D7B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B672170B-AB5C-76F7-8561-5B533EA03749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E9E72FC9-2CD4-62CA-4040-4F116AA2CF8E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0DC33A1B-DF6A-2E0D-FF98-503747538E32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08A14977-AE65-915B-6A1B-FA16F7C9CE98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078AA096-C5A0-0641-B9E5-9C5D0B294BBE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CBA6C028-E73A-AFCB-EFB5-DEA5C6550B35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조기 탐지 기반 품질관리 효율 향상 + 생산 손실 최소화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14850FEE-A9B4-F8DB-343B-13D44E365AD6}"/>
              </a:ext>
            </a:extLst>
          </p:cNvPr>
          <p:cNvGrpSpPr/>
          <p:nvPr/>
        </p:nvGrpSpPr>
        <p:grpSpPr>
          <a:xfrm>
            <a:off x="4572000" y="4361665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541424CE-711B-4ECA-B2BC-7A9E3BD646A9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51E049B0-916C-EDB7-E3AE-AC116B28B989}"/>
              </a:ext>
            </a:extLst>
          </p:cNvPr>
          <p:cNvGrpSpPr/>
          <p:nvPr/>
        </p:nvGrpSpPr>
        <p:grpSpPr>
          <a:xfrm>
            <a:off x="6156434" y="4118020"/>
            <a:ext cx="1831764" cy="652020"/>
            <a:chOff x="0" y="0"/>
            <a:chExt cx="4884703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6ED269BF-F00A-8BDF-DCDC-6DCCBBEAF084}"/>
                </a:ext>
              </a:extLst>
            </p:cNvPr>
            <p:cNvSpPr/>
            <p:nvPr/>
          </p:nvSpPr>
          <p:spPr>
            <a:xfrm>
              <a:off x="0" y="0"/>
              <a:ext cx="4884701" cy="1738718"/>
            </a:xfrm>
            <a:custGeom>
              <a:avLst/>
              <a:gdLst/>
              <a:ahLst/>
              <a:cxnLst/>
              <a:rect l="l" t="t" r="r" b="b"/>
              <a:pathLst>
                <a:path w="4884701" h="1738718">
                  <a:moveTo>
                    <a:pt x="0" y="0"/>
                  </a:moveTo>
                  <a:lnTo>
                    <a:pt x="4884701" y="0"/>
                  </a:lnTo>
                  <a:lnTo>
                    <a:pt x="4884701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r="-21773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752BC2EA-6CFF-ED6C-9F88-14E78FDF0422}"/>
                </a:ext>
              </a:extLst>
            </p:cNvPr>
            <p:cNvSpPr txBox="1"/>
            <p:nvPr/>
          </p:nvSpPr>
          <p:spPr>
            <a:xfrm>
              <a:off x="0" y="-38100"/>
              <a:ext cx="4884703" cy="1776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품질·비용 동시 개선</a:t>
              </a:r>
            </a:p>
          </p:txBody>
        </p:sp>
      </p:grpSp>
      <p:sp>
        <p:nvSpPr>
          <p:cNvPr id="22" name="TextBox 36">
            <a:extLst>
              <a:ext uri="{FF2B5EF4-FFF2-40B4-BE49-F238E27FC236}">
                <a16:creationId xmlns:a16="http://schemas.microsoft.com/office/drawing/2014/main" id="{7D556A97-187C-83D9-3B82-85DA246DD885}"/>
              </a:ext>
            </a:extLst>
          </p:cNvPr>
          <p:cNvSpPr txBox="1"/>
          <p:nvPr/>
        </p:nvSpPr>
        <p:spPr>
          <a:xfrm>
            <a:off x="377486" y="4831809"/>
            <a:ext cx="6177025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비용 효과는 라인 조건에 따른 가정 기반 추정</a:t>
            </a:r>
          </a:p>
        </p:txBody>
      </p:sp>
      <p:grpSp>
        <p:nvGrpSpPr>
          <p:cNvPr id="23" name="Group 37">
            <a:extLst>
              <a:ext uri="{FF2B5EF4-FFF2-40B4-BE49-F238E27FC236}">
                <a16:creationId xmlns:a16="http://schemas.microsoft.com/office/drawing/2014/main" id="{96D53A93-DE76-C690-B030-C41E61D46673}"/>
              </a:ext>
            </a:extLst>
          </p:cNvPr>
          <p:cNvGrpSpPr/>
          <p:nvPr/>
        </p:nvGrpSpPr>
        <p:grpSpPr>
          <a:xfrm>
            <a:off x="625567" y="1198469"/>
            <a:ext cx="3568946" cy="343167"/>
            <a:chOff x="0" y="0"/>
            <a:chExt cx="9517190" cy="915111"/>
          </a:xfrm>
        </p:grpSpPr>
        <p:sp>
          <p:nvSpPr>
            <p:cNvPr id="24" name="Freeform 38">
              <a:extLst>
                <a:ext uri="{FF2B5EF4-FFF2-40B4-BE49-F238E27FC236}">
                  <a16:creationId xmlns:a16="http://schemas.microsoft.com/office/drawing/2014/main" id="{66DE6A92-8831-C6C0-8B3E-4386AB7C4D56}"/>
                </a:ext>
              </a:extLst>
            </p:cNvPr>
            <p:cNvSpPr/>
            <p:nvPr/>
          </p:nvSpPr>
          <p:spPr>
            <a:xfrm>
              <a:off x="0" y="0"/>
              <a:ext cx="9517126" cy="915162"/>
            </a:xfrm>
            <a:custGeom>
              <a:avLst/>
              <a:gdLst/>
              <a:ahLst/>
              <a:cxnLst/>
              <a:rect l="l" t="t" r="r" b="b"/>
              <a:pathLst>
                <a:path w="9517126" h="915162">
                  <a:moveTo>
                    <a:pt x="0" y="457581"/>
                  </a:moveTo>
                  <a:lnTo>
                    <a:pt x="228727" y="0"/>
                  </a:lnTo>
                  <a:lnTo>
                    <a:pt x="9288399" y="0"/>
                  </a:lnTo>
                  <a:lnTo>
                    <a:pt x="9517126" y="457581"/>
                  </a:lnTo>
                  <a:lnTo>
                    <a:pt x="9288399" y="915162"/>
                  </a:lnTo>
                  <a:lnTo>
                    <a:pt x="228727" y="91516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5" name="Group 39">
            <a:extLst>
              <a:ext uri="{FF2B5EF4-FFF2-40B4-BE49-F238E27FC236}">
                <a16:creationId xmlns:a16="http://schemas.microsoft.com/office/drawing/2014/main" id="{5E9626CC-B1FE-228A-9629-8A947912C876}"/>
              </a:ext>
            </a:extLst>
          </p:cNvPr>
          <p:cNvGrpSpPr/>
          <p:nvPr/>
        </p:nvGrpSpPr>
        <p:grpSpPr>
          <a:xfrm>
            <a:off x="625567" y="1198467"/>
            <a:ext cx="3568946" cy="343168"/>
            <a:chOff x="0" y="0"/>
            <a:chExt cx="9517190" cy="915115"/>
          </a:xfrm>
        </p:grpSpPr>
        <p:sp>
          <p:nvSpPr>
            <p:cNvPr id="26" name="Freeform 40">
              <a:extLst>
                <a:ext uri="{FF2B5EF4-FFF2-40B4-BE49-F238E27FC236}">
                  <a16:creationId xmlns:a16="http://schemas.microsoft.com/office/drawing/2014/main" id="{0E01B4E0-98B0-EC2A-B78A-EB5A4F142767}"/>
                </a:ext>
              </a:extLst>
            </p:cNvPr>
            <p:cNvSpPr/>
            <p:nvPr/>
          </p:nvSpPr>
          <p:spPr>
            <a:xfrm>
              <a:off x="0" y="0"/>
              <a:ext cx="9517195" cy="915119"/>
            </a:xfrm>
            <a:custGeom>
              <a:avLst/>
              <a:gdLst/>
              <a:ahLst/>
              <a:cxnLst/>
              <a:rect l="l" t="t" r="r" b="b"/>
              <a:pathLst>
                <a:path w="9517195" h="915119">
                  <a:moveTo>
                    <a:pt x="0" y="0"/>
                  </a:moveTo>
                  <a:lnTo>
                    <a:pt x="9517195" y="0"/>
                  </a:lnTo>
                  <a:lnTo>
                    <a:pt x="951719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52643" b="-152643"/>
              </a:stretch>
            </a:blipFill>
          </p:spPr>
        </p:sp>
        <p:sp>
          <p:nvSpPr>
            <p:cNvPr id="27" name="TextBox 41">
              <a:extLst>
                <a:ext uri="{FF2B5EF4-FFF2-40B4-BE49-F238E27FC236}">
                  <a16:creationId xmlns:a16="http://schemas.microsoft.com/office/drawing/2014/main" id="{288E13A3-1B24-2B77-A763-3092E7C52C80}"/>
                </a:ext>
              </a:extLst>
            </p:cNvPr>
            <p:cNvSpPr txBox="1"/>
            <p:nvPr/>
          </p:nvSpPr>
          <p:spPr>
            <a:xfrm>
              <a:off x="0" y="-9525"/>
              <a:ext cx="9517190" cy="92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1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운영 · 관리 측면</a:t>
              </a:r>
            </a:p>
          </p:txBody>
        </p:sp>
      </p:grpSp>
      <p:grpSp>
        <p:nvGrpSpPr>
          <p:cNvPr id="28" name="Group 42">
            <a:extLst>
              <a:ext uri="{FF2B5EF4-FFF2-40B4-BE49-F238E27FC236}">
                <a16:creationId xmlns:a16="http://schemas.microsoft.com/office/drawing/2014/main" id="{219BD7BE-E6EA-9B47-29BD-E4788EB3E8AC}"/>
              </a:ext>
            </a:extLst>
          </p:cNvPr>
          <p:cNvGrpSpPr/>
          <p:nvPr/>
        </p:nvGrpSpPr>
        <p:grpSpPr>
          <a:xfrm>
            <a:off x="448740" y="1673661"/>
            <a:ext cx="3922600" cy="614463"/>
            <a:chOff x="0" y="0"/>
            <a:chExt cx="10460266" cy="1638567"/>
          </a:xfrm>
        </p:grpSpPr>
        <p:sp>
          <p:nvSpPr>
            <p:cNvPr id="29" name="Freeform 43">
              <a:extLst>
                <a:ext uri="{FF2B5EF4-FFF2-40B4-BE49-F238E27FC236}">
                  <a16:creationId xmlns:a16="http://schemas.microsoft.com/office/drawing/2014/main" id="{3AAC3D5E-F0B2-AFB5-BFD1-82E446E7DCC3}"/>
                </a:ext>
              </a:extLst>
            </p:cNvPr>
            <p:cNvSpPr/>
            <p:nvPr/>
          </p:nvSpPr>
          <p:spPr>
            <a:xfrm>
              <a:off x="0" y="0"/>
              <a:ext cx="10460228" cy="1638427"/>
            </a:xfrm>
            <a:custGeom>
              <a:avLst/>
              <a:gdLst/>
              <a:ahLst/>
              <a:cxnLst/>
              <a:rect l="l" t="t" r="r" b="b"/>
              <a:pathLst>
                <a:path w="10460228" h="1638427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10187178" y="0"/>
                  </a:lnTo>
                  <a:cubicBezTo>
                    <a:pt x="10338054" y="0"/>
                    <a:pt x="10460228" y="122301"/>
                    <a:pt x="10460228" y="273050"/>
                  </a:cubicBezTo>
                  <a:lnTo>
                    <a:pt x="10460228" y="1365377"/>
                  </a:lnTo>
                  <a:cubicBezTo>
                    <a:pt x="10460228" y="1516253"/>
                    <a:pt x="10337927" y="1638427"/>
                    <a:pt x="10187178" y="1638427"/>
                  </a:cubicBezTo>
                  <a:lnTo>
                    <a:pt x="273050" y="1638427"/>
                  </a:lnTo>
                  <a:cubicBezTo>
                    <a:pt x="122174" y="1638427"/>
                    <a:pt x="0" y="1516126"/>
                    <a:pt x="0" y="136537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30" name="Group 44">
            <a:extLst>
              <a:ext uri="{FF2B5EF4-FFF2-40B4-BE49-F238E27FC236}">
                <a16:creationId xmlns:a16="http://schemas.microsoft.com/office/drawing/2014/main" id="{5CF2208B-2D4A-78ED-F4DD-116E7EA93131}"/>
              </a:ext>
            </a:extLst>
          </p:cNvPr>
          <p:cNvGrpSpPr/>
          <p:nvPr/>
        </p:nvGrpSpPr>
        <p:grpSpPr>
          <a:xfrm>
            <a:off x="453983" y="1678905"/>
            <a:ext cx="68633" cy="603976"/>
            <a:chOff x="0" y="0"/>
            <a:chExt cx="183020" cy="1610601"/>
          </a:xfrm>
        </p:grpSpPr>
        <p:sp>
          <p:nvSpPr>
            <p:cNvPr id="31" name="Freeform 45">
              <a:extLst>
                <a:ext uri="{FF2B5EF4-FFF2-40B4-BE49-F238E27FC236}">
                  <a16:creationId xmlns:a16="http://schemas.microsoft.com/office/drawing/2014/main" id="{A067FBF9-CC61-540F-891C-5E68B69212D4}"/>
                </a:ext>
              </a:extLst>
            </p:cNvPr>
            <p:cNvSpPr/>
            <p:nvPr/>
          </p:nvSpPr>
          <p:spPr>
            <a:xfrm>
              <a:off x="0" y="0"/>
              <a:ext cx="183007" cy="1610614"/>
            </a:xfrm>
            <a:custGeom>
              <a:avLst/>
              <a:gdLst/>
              <a:ahLst/>
              <a:cxnLst/>
              <a:rect l="l" t="t" r="r" b="b"/>
              <a:pathLst>
                <a:path w="183007" h="1610614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1580134"/>
                  </a:lnTo>
                  <a:cubicBezTo>
                    <a:pt x="183007" y="1597025"/>
                    <a:pt x="169291" y="1610614"/>
                    <a:pt x="152527" y="1610614"/>
                  </a:cubicBezTo>
                  <a:lnTo>
                    <a:pt x="30480" y="1610614"/>
                  </a:lnTo>
                  <a:cubicBezTo>
                    <a:pt x="13589" y="1610614"/>
                    <a:pt x="0" y="1596898"/>
                    <a:pt x="0" y="1580134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sp>
        <p:nvSpPr>
          <p:cNvPr id="64" name="TextBox 46">
            <a:extLst>
              <a:ext uri="{FF2B5EF4-FFF2-40B4-BE49-F238E27FC236}">
                <a16:creationId xmlns:a16="http://schemas.microsoft.com/office/drawing/2014/main" id="{29E82918-2B7E-3E6E-81E2-A9004D373182}"/>
              </a:ext>
            </a:extLst>
          </p:cNvPr>
          <p:cNvSpPr txBox="1"/>
          <p:nvPr/>
        </p:nvSpPr>
        <p:spPr>
          <a:xfrm>
            <a:off x="617697" y="1814995"/>
            <a:ext cx="3637583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050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▲ </a:t>
            </a:r>
            <a:r>
              <a:rPr lang="en-US" sz="105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공정 이상 사전관리</a:t>
            </a:r>
          </a:p>
          <a:p>
            <a:pPr>
              <a:lnSpc>
                <a:spcPts val="1361"/>
              </a:lnSpc>
            </a:pPr>
            <a:r>
              <a:rPr lang="en-US" sz="1050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변동 구간 조기 인지로 품질 리스크 선제 관리</a:t>
            </a:r>
          </a:p>
        </p:txBody>
      </p:sp>
      <p:grpSp>
        <p:nvGrpSpPr>
          <p:cNvPr id="65" name="Group 47">
            <a:extLst>
              <a:ext uri="{FF2B5EF4-FFF2-40B4-BE49-F238E27FC236}">
                <a16:creationId xmlns:a16="http://schemas.microsoft.com/office/drawing/2014/main" id="{6C08374B-4002-AB56-23ED-840EED1DB338}"/>
              </a:ext>
            </a:extLst>
          </p:cNvPr>
          <p:cNvGrpSpPr/>
          <p:nvPr/>
        </p:nvGrpSpPr>
        <p:grpSpPr>
          <a:xfrm>
            <a:off x="448740" y="2359995"/>
            <a:ext cx="3922600" cy="614463"/>
            <a:chOff x="0" y="0"/>
            <a:chExt cx="10460266" cy="1638567"/>
          </a:xfrm>
        </p:grpSpPr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5EFA5EC0-3FBB-E27E-A546-E2CDF8583F82}"/>
                </a:ext>
              </a:extLst>
            </p:cNvPr>
            <p:cNvSpPr/>
            <p:nvPr/>
          </p:nvSpPr>
          <p:spPr>
            <a:xfrm>
              <a:off x="0" y="0"/>
              <a:ext cx="10460228" cy="1638427"/>
            </a:xfrm>
            <a:custGeom>
              <a:avLst/>
              <a:gdLst/>
              <a:ahLst/>
              <a:cxnLst/>
              <a:rect l="l" t="t" r="r" b="b"/>
              <a:pathLst>
                <a:path w="10460228" h="1638427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10187178" y="0"/>
                  </a:lnTo>
                  <a:cubicBezTo>
                    <a:pt x="10338054" y="0"/>
                    <a:pt x="10460228" y="122301"/>
                    <a:pt x="10460228" y="273050"/>
                  </a:cubicBezTo>
                  <a:lnTo>
                    <a:pt x="10460228" y="1365377"/>
                  </a:lnTo>
                  <a:cubicBezTo>
                    <a:pt x="10460228" y="1516253"/>
                    <a:pt x="10337927" y="1638427"/>
                    <a:pt x="10187178" y="1638427"/>
                  </a:cubicBezTo>
                  <a:lnTo>
                    <a:pt x="273050" y="1638427"/>
                  </a:lnTo>
                  <a:cubicBezTo>
                    <a:pt x="122174" y="1638427"/>
                    <a:pt x="0" y="1516126"/>
                    <a:pt x="0" y="136537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67" name="Group 49">
            <a:extLst>
              <a:ext uri="{FF2B5EF4-FFF2-40B4-BE49-F238E27FC236}">
                <a16:creationId xmlns:a16="http://schemas.microsoft.com/office/drawing/2014/main" id="{74BB6CE2-C777-2AC7-3C20-9AFD761F2874}"/>
              </a:ext>
            </a:extLst>
          </p:cNvPr>
          <p:cNvGrpSpPr/>
          <p:nvPr/>
        </p:nvGrpSpPr>
        <p:grpSpPr>
          <a:xfrm>
            <a:off x="453983" y="2365238"/>
            <a:ext cx="68633" cy="603976"/>
            <a:chOff x="0" y="0"/>
            <a:chExt cx="183020" cy="1610601"/>
          </a:xfrm>
        </p:grpSpPr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D6054701-A8D7-7BBE-A1B8-CF30F12AC03B}"/>
                </a:ext>
              </a:extLst>
            </p:cNvPr>
            <p:cNvSpPr/>
            <p:nvPr/>
          </p:nvSpPr>
          <p:spPr>
            <a:xfrm>
              <a:off x="0" y="0"/>
              <a:ext cx="183007" cy="1610614"/>
            </a:xfrm>
            <a:custGeom>
              <a:avLst/>
              <a:gdLst/>
              <a:ahLst/>
              <a:cxnLst/>
              <a:rect l="l" t="t" r="r" b="b"/>
              <a:pathLst>
                <a:path w="183007" h="1610614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1580134"/>
                  </a:lnTo>
                  <a:cubicBezTo>
                    <a:pt x="183007" y="1597025"/>
                    <a:pt x="169291" y="1610614"/>
                    <a:pt x="152527" y="1610614"/>
                  </a:cubicBezTo>
                  <a:lnTo>
                    <a:pt x="30480" y="1610614"/>
                  </a:lnTo>
                  <a:cubicBezTo>
                    <a:pt x="13589" y="1610614"/>
                    <a:pt x="0" y="1596898"/>
                    <a:pt x="0" y="1580134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sp>
        <p:nvSpPr>
          <p:cNvPr id="69" name="TextBox 51">
            <a:extLst>
              <a:ext uri="{FF2B5EF4-FFF2-40B4-BE49-F238E27FC236}">
                <a16:creationId xmlns:a16="http://schemas.microsoft.com/office/drawing/2014/main" id="{09C95F69-5F91-6E35-7CB1-FF60245F457A}"/>
              </a:ext>
            </a:extLst>
          </p:cNvPr>
          <p:cNvSpPr txBox="1"/>
          <p:nvPr/>
        </p:nvSpPr>
        <p:spPr>
          <a:xfrm>
            <a:off x="617697" y="2501333"/>
            <a:ext cx="3637583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050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▲ </a:t>
            </a:r>
            <a:r>
              <a:rPr lang="en-US" sz="105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품질관리 디지털화</a:t>
            </a:r>
          </a:p>
          <a:p>
            <a:pPr>
              <a:lnSpc>
                <a:spcPts val="1361"/>
              </a:lnSpc>
            </a:pPr>
            <a:r>
              <a:rPr lang="en-US" sz="1050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센서 기반 대시보드로 이상 구간·센서 직관 확인</a:t>
            </a:r>
          </a:p>
        </p:txBody>
      </p:sp>
      <p:grpSp>
        <p:nvGrpSpPr>
          <p:cNvPr id="70" name="Group 52">
            <a:extLst>
              <a:ext uri="{FF2B5EF4-FFF2-40B4-BE49-F238E27FC236}">
                <a16:creationId xmlns:a16="http://schemas.microsoft.com/office/drawing/2014/main" id="{1172E559-866C-C57A-8C6D-4A5C8266780C}"/>
              </a:ext>
            </a:extLst>
          </p:cNvPr>
          <p:cNvGrpSpPr/>
          <p:nvPr/>
        </p:nvGrpSpPr>
        <p:grpSpPr>
          <a:xfrm>
            <a:off x="448740" y="3046333"/>
            <a:ext cx="3922600" cy="614463"/>
            <a:chOff x="0" y="0"/>
            <a:chExt cx="10460266" cy="1638567"/>
          </a:xfrm>
        </p:grpSpPr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F677B54D-4EDF-3BEA-CA30-89EAB71A84E8}"/>
                </a:ext>
              </a:extLst>
            </p:cNvPr>
            <p:cNvSpPr/>
            <p:nvPr/>
          </p:nvSpPr>
          <p:spPr>
            <a:xfrm>
              <a:off x="0" y="0"/>
              <a:ext cx="10460228" cy="1638427"/>
            </a:xfrm>
            <a:custGeom>
              <a:avLst/>
              <a:gdLst/>
              <a:ahLst/>
              <a:cxnLst/>
              <a:rect l="l" t="t" r="r" b="b"/>
              <a:pathLst>
                <a:path w="10460228" h="1638427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10187178" y="0"/>
                  </a:lnTo>
                  <a:cubicBezTo>
                    <a:pt x="10338054" y="0"/>
                    <a:pt x="10460228" y="122301"/>
                    <a:pt x="10460228" y="273050"/>
                  </a:cubicBezTo>
                  <a:lnTo>
                    <a:pt x="10460228" y="1365377"/>
                  </a:lnTo>
                  <a:cubicBezTo>
                    <a:pt x="10460228" y="1516253"/>
                    <a:pt x="10337927" y="1638427"/>
                    <a:pt x="10187178" y="1638427"/>
                  </a:cubicBezTo>
                  <a:lnTo>
                    <a:pt x="273050" y="1638427"/>
                  </a:lnTo>
                  <a:cubicBezTo>
                    <a:pt x="122174" y="1638427"/>
                    <a:pt x="0" y="1516126"/>
                    <a:pt x="0" y="136537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72" name="Group 54">
            <a:extLst>
              <a:ext uri="{FF2B5EF4-FFF2-40B4-BE49-F238E27FC236}">
                <a16:creationId xmlns:a16="http://schemas.microsoft.com/office/drawing/2014/main" id="{BFEF0314-927B-61E0-7734-9D6F546C0D7E}"/>
              </a:ext>
            </a:extLst>
          </p:cNvPr>
          <p:cNvGrpSpPr/>
          <p:nvPr/>
        </p:nvGrpSpPr>
        <p:grpSpPr>
          <a:xfrm>
            <a:off x="453983" y="3051576"/>
            <a:ext cx="68633" cy="603976"/>
            <a:chOff x="0" y="0"/>
            <a:chExt cx="183020" cy="1610601"/>
          </a:xfrm>
        </p:grpSpPr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FDCCC5EE-688C-A1F8-B2FA-19C6B70C6C5C}"/>
                </a:ext>
              </a:extLst>
            </p:cNvPr>
            <p:cNvSpPr/>
            <p:nvPr/>
          </p:nvSpPr>
          <p:spPr>
            <a:xfrm>
              <a:off x="0" y="0"/>
              <a:ext cx="183007" cy="1610614"/>
            </a:xfrm>
            <a:custGeom>
              <a:avLst/>
              <a:gdLst/>
              <a:ahLst/>
              <a:cxnLst/>
              <a:rect l="l" t="t" r="r" b="b"/>
              <a:pathLst>
                <a:path w="183007" h="1610614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1580134"/>
                  </a:lnTo>
                  <a:cubicBezTo>
                    <a:pt x="183007" y="1597025"/>
                    <a:pt x="169291" y="1610614"/>
                    <a:pt x="152527" y="1610614"/>
                  </a:cubicBezTo>
                  <a:lnTo>
                    <a:pt x="30480" y="1610614"/>
                  </a:lnTo>
                  <a:cubicBezTo>
                    <a:pt x="13589" y="1610614"/>
                    <a:pt x="0" y="1596898"/>
                    <a:pt x="0" y="1580134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sp>
        <p:nvSpPr>
          <p:cNvPr id="74" name="TextBox 56">
            <a:extLst>
              <a:ext uri="{FF2B5EF4-FFF2-40B4-BE49-F238E27FC236}">
                <a16:creationId xmlns:a16="http://schemas.microsoft.com/office/drawing/2014/main" id="{8CB6B398-4DE1-1398-EB5D-135EF5058108}"/>
              </a:ext>
            </a:extLst>
          </p:cNvPr>
          <p:cNvSpPr txBox="1"/>
          <p:nvPr/>
        </p:nvSpPr>
        <p:spPr>
          <a:xfrm>
            <a:off x="617697" y="3187671"/>
            <a:ext cx="3637583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050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▲ </a:t>
            </a:r>
            <a:r>
              <a:rPr lang="en-US" sz="105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운영 효율 향상</a:t>
            </a:r>
          </a:p>
          <a:p>
            <a:pPr>
              <a:lnSpc>
                <a:spcPts val="1361"/>
              </a:lnSpc>
            </a:pPr>
            <a:r>
              <a:rPr lang="en-US" sz="1050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단계 경보 표준화로 의사결정 속도↑·경험 의존↓</a:t>
            </a:r>
          </a:p>
        </p:txBody>
      </p:sp>
      <p:grpSp>
        <p:nvGrpSpPr>
          <p:cNvPr id="75" name="Group 57">
            <a:extLst>
              <a:ext uri="{FF2B5EF4-FFF2-40B4-BE49-F238E27FC236}">
                <a16:creationId xmlns:a16="http://schemas.microsoft.com/office/drawing/2014/main" id="{9B75637B-7CD7-44B5-69A2-5B56DD30AAC3}"/>
              </a:ext>
            </a:extLst>
          </p:cNvPr>
          <p:cNvGrpSpPr/>
          <p:nvPr/>
        </p:nvGrpSpPr>
        <p:grpSpPr>
          <a:xfrm>
            <a:off x="4949488" y="1198469"/>
            <a:ext cx="3568946" cy="343167"/>
            <a:chOff x="0" y="0"/>
            <a:chExt cx="9517190" cy="915111"/>
          </a:xfrm>
        </p:grpSpPr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509A3762-00DD-94E9-A76C-CEA5DBCFFACA}"/>
                </a:ext>
              </a:extLst>
            </p:cNvPr>
            <p:cNvSpPr/>
            <p:nvPr/>
          </p:nvSpPr>
          <p:spPr>
            <a:xfrm>
              <a:off x="0" y="0"/>
              <a:ext cx="9517126" cy="915162"/>
            </a:xfrm>
            <a:custGeom>
              <a:avLst/>
              <a:gdLst/>
              <a:ahLst/>
              <a:cxnLst/>
              <a:rect l="l" t="t" r="r" b="b"/>
              <a:pathLst>
                <a:path w="9517126" h="915162">
                  <a:moveTo>
                    <a:pt x="0" y="457581"/>
                  </a:moveTo>
                  <a:lnTo>
                    <a:pt x="228727" y="0"/>
                  </a:lnTo>
                  <a:lnTo>
                    <a:pt x="9288399" y="0"/>
                  </a:lnTo>
                  <a:lnTo>
                    <a:pt x="9517126" y="457581"/>
                  </a:lnTo>
                  <a:lnTo>
                    <a:pt x="9288399" y="915162"/>
                  </a:lnTo>
                  <a:lnTo>
                    <a:pt x="228727" y="91516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7" name="Group 59">
            <a:extLst>
              <a:ext uri="{FF2B5EF4-FFF2-40B4-BE49-F238E27FC236}">
                <a16:creationId xmlns:a16="http://schemas.microsoft.com/office/drawing/2014/main" id="{6F12E9B3-34DE-2EE8-5836-109FCDF3B5CF}"/>
              </a:ext>
            </a:extLst>
          </p:cNvPr>
          <p:cNvGrpSpPr/>
          <p:nvPr/>
        </p:nvGrpSpPr>
        <p:grpSpPr>
          <a:xfrm>
            <a:off x="4949488" y="1198469"/>
            <a:ext cx="3568946" cy="343168"/>
            <a:chOff x="0" y="0"/>
            <a:chExt cx="9517190" cy="915115"/>
          </a:xfrm>
        </p:grpSpPr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8591BBB6-EC29-34E9-8C46-B527B38DA1D8}"/>
                </a:ext>
              </a:extLst>
            </p:cNvPr>
            <p:cNvSpPr/>
            <p:nvPr/>
          </p:nvSpPr>
          <p:spPr>
            <a:xfrm>
              <a:off x="0" y="0"/>
              <a:ext cx="9517195" cy="915119"/>
            </a:xfrm>
            <a:custGeom>
              <a:avLst/>
              <a:gdLst/>
              <a:ahLst/>
              <a:cxnLst/>
              <a:rect l="l" t="t" r="r" b="b"/>
              <a:pathLst>
                <a:path w="9517195" h="915119">
                  <a:moveTo>
                    <a:pt x="0" y="0"/>
                  </a:moveTo>
                  <a:lnTo>
                    <a:pt x="9517195" y="0"/>
                  </a:lnTo>
                  <a:lnTo>
                    <a:pt x="9517195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52643" b="-152643"/>
              </a:stretch>
            </a:blipFill>
          </p:spPr>
        </p:sp>
        <p:sp>
          <p:nvSpPr>
            <p:cNvPr id="79" name="TextBox 61">
              <a:extLst>
                <a:ext uri="{FF2B5EF4-FFF2-40B4-BE49-F238E27FC236}">
                  <a16:creationId xmlns:a16="http://schemas.microsoft.com/office/drawing/2014/main" id="{514B0D80-C87F-AB83-AA93-C891D7F79124}"/>
                </a:ext>
              </a:extLst>
            </p:cNvPr>
            <p:cNvSpPr txBox="1"/>
            <p:nvPr/>
          </p:nvSpPr>
          <p:spPr>
            <a:xfrm>
              <a:off x="0" y="-9525"/>
              <a:ext cx="9517190" cy="92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41"/>
                </a:lnSpc>
              </a:pPr>
              <a:r>
                <a:rPr lang="en-US" sz="1201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비용 측면</a:t>
              </a:r>
            </a:p>
          </p:txBody>
        </p:sp>
      </p:grpSp>
      <p:grpSp>
        <p:nvGrpSpPr>
          <p:cNvPr id="80" name="Group 62">
            <a:extLst>
              <a:ext uri="{FF2B5EF4-FFF2-40B4-BE49-F238E27FC236}">
                <a16:creationId xmlns:a16="http://schemas.microsoft.com/office/drawing/2014/main" id="{83DAEF83-E35C-6F7B-80F9-23956900EF13}"/>
              </a:ext>
            </a:extLst>
          </p:cNvPr>
          <p:cNvGrpSpPr/>
          <p:nvPr/>
        </p:nvGrpSpPr>
        <p:grpSpPr>
          <a:xfrm>
            <a:off x="4772661" y="1673661"/>
            <a:ext cx="3922600" cy="614463"/>
            <a:chOff x="0" y="0"/>
            <a:chExt cx="10460266" cy="1638567"/>
          </a:xfrm>
        </p:grpSpPr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34DA19C2-BC0F-CC97-28FF-8EF44E41773B}"/>
                </a:ext>
              </a:extLst>
            </p:cNvPr>
            <p:cNvSpPr/>
            <p:nvPr/>
          </p:nvSpPr>
          <p:spPr>
            <a:xfrm>
              <a:off x="0" y="0"/>
              <a:ext cx="10460228" cy="1638427"/>
            </a:xfrm>
            <a:custGeom>
              <a:avLst/>
              <a:gdLst/>
              <a:ahLst/>
              <a:cxnLst/>
              <a:rect l="l" t="t" r="r" b="b"/>
              <a:pathLst>
                <a:path w="10460228" h="1638427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10187178" y="0"/>
                  </a:lnTo>
                  <a:cubicBezTo>
                    <a:pt x="10338054" y="0"/>
                    <a:pt x="10460228" y="122301"/>
                    <a:pt x="10460228" y="273050"/>
                  </a:cubicBezTo>
                  <a:lnTo>
                    <a:pt x="10460228" y="1365377"/>
                  </a:lnTo>
                  <a:cubicBezTo>
                    <a:pt x="10460228" y="1516253"/>
                    <a:pt x="10337927" y="1638427"/>
                    <a:pt x="10187178" y="1638427"/>
                  </a:cubicBezTo>
                  <a:lnTo>
                    <a:pt x="273050" y="1638427"/>
                  </a:lnTo>
                  <a:cubicBezTo>
                    <a:pt x="122174" y="1638427"/>
                    <a:pt x="0" y="1516126"/>
                    <a:pt x="0" y="136537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82" name="Group 64">
            <a:extLst>
              <a:ext uri="{FF2B5EF4-FFF2-40B4-BE49-F238E27FC236}">
                <a16:creationId xmlns:a16="http://schemas.microsoft.com/office/drawing/2014/main" id="{FEDF1E5A-CD31-10DD-DAE2-1AA0D2DFC974}"/>
              </a:ext>
            </a:extLst>
          </p:cNvPr>
          <p:cNvGrpSpPr/>
          <p:nvPr/>
        </p:nvGrpSpPr>
        <p:grpSpPr>
          <a:xfrm>
            <a:off x="4777900" y="1678905"/>
            <a:ext cx="68633" cy="603976"/>
            <a:chOff x="0" y="0"/>
            <a:chExt cx="183020" cy="1610601"/>
          </a:xfrm>
        </p:grpSpPr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3DBFF1D2-2082-6BB0-C3FF-065357E6E04F}"/>
                </a:ext>
              </a:extLst>
            </p:cNvPr>
            <p:cNvSpPr/>
            <p:nvPr/>
          </p:nvSpPr>
          <p:spPr>
            <a:xfrm>
              <a:off x="0" y="0"/>
              <a:ext cx="183007" cy="1610614"/>
            </a:xfrm>
            <a:custGeom>
              <a:avLst/>
              <a:gdLst/>
              <a:ahLst/>
              <a:cxnLst/>
              <a:rect l="l" t="t" r="r" b="b"/>
              <a:pathLst>
                <a:path w="183007" h="1610614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1580134"/>
                  </a:lnTo>
                  <a:cubicBezTo>
                    <a:pt x="183007" y="1597025"/>
                    <a:pt x="169291" y="1610614"/>
                    <a:pt x="152527" y="1610614"/>
                  </a:cubicBezTo>
                  <a:lnTo>
                    <a:pt x="30480" y="1610614"/>
                  </a:lnTo>
                  <a:cubicBezTo>
                    <a:pt x="13589" y="1610614"/>
                    <a:pt x="0" y="1596898"/>
                    <a:pt x="0" y="1580134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sp>
        <p:nvSpPr>
          <p:cNvPr id="85" name="TextBox 66">
            <a:extLst>
              <a:ext uri="{FF2B5EF4-FFF2-40B4-BE49-F238E27FC236}">
                <a16:creationId xmlns:a16="http://schemas.microsoft.com/office/drawing/2014/main" id="{807C727C-6DF6-FD77-34DC-F8BEC8AA4D45}"/>
              </a:ext>
            </a:extLst>
          </p:cNvPr>
          <p:cNvSpPr txBox="1"/>
          <p:nvPr/>
        </p:nvSpPr>
        <p:spPr>
          <a:xfrm>
            <a:off x="4941618" y="1814995"/>
            <a:ext cx="3637583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050" b="1">
                <a:solidFill>
                  <a:srgbClr val="3E4A2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▼ </a:t>
            </a:r>
            <a:r>
              <a:rPr lang="en-US" sz="105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재작업 비용 감소</a:t>
            </a:r>
          </a:p>
          <a:p>
            <a:pPr>
              <a:lnSpc>
                <a:spcPts val="1361"/>
              </a:lnSpc>
            </a:pPr>
            <a:r>
              <a:rPr lang="en-US" sz="1050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후공정 재작업 발생 가능성 축소</a:t>
            </a:r>
          </a:p>
        </p:txBody>
      </p:sp>
      <p:grpSp>
        <p:nvGrpSpPr>
          <p:cNvPr id="86" name="Group 67">
            <a:extLst>
              <a:ext uri="{FF2B5EF4-FFF2-40B4-BE49-F238E27FC236}">
                <a16:creationId xmlns:a16="http://schemas.microsoft.com/office/drawing/2014/main" id="{FF595E44-0738-B2EF-9A2A-1BD094938C2F}"/>
              </a:ext>
            </a:extLst>
          </p:cNvPr>
          <p:cNvGrpSpPr/>
          <p:nvPr/>
        </p:nvGrpSpPr>
        <p:grpSpPr>
          <a:xfrm>
            <a:off x="4772661" y="2359995"/>
            <a:ext cx="3922600" cy="614463"/>
            <a:chOff x="0" y="0"/>
            <a:chExt cx="10460266" cy="1638567"/>
          </a:xfrm>
        </p:grpSpPr>
        <p:sp>
          <p:nvSpPr>
            <p:cNvPr id="87" name="Freeform 68">
              <a:extLst>
                <a:ext uri="{FF2B5EF4-FFF2-40B4-BE49-F238E27FC236}">
                  <a16:creationId xmlns:a16="http://schemas.microsoft.com/office/drawing/2014/main" id="{E2D11D14-E5DA-2E21-C8A7-16B134AC59B6}"/>
                </a:ext>
              </a:extLst>
            </p:cNvPr>
            <p:cNvSpPr/>
            <p:nvPr/>
          </p:nvSpPr>
          <p:spPr>
            <a:xfrm>
              <a:off x="0" y="0"/>
              <a:ext cx="10460228" cy="1638427"/>
            </a:xfrm>
            <a:custGeom>
              <a:avLst/>
              <a:gdLst/>
              <a:ahLst/>
              <a:cxnLst/>
              <a:rect l="l" t="t" r="r" b="b"/>
              <a:pathLst>
                <a:path w="10460228" h="1638427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10187178" y="0"/>
                  </a:lnTo>
                  <a:cubicBezTo>
                    <a:pt x="10338054" y="0"/>
                    <a:pt x="10460228" y="122301"/>
                    <a:pt x="10460228" y="273050"/>
                  </a:cubicBezTo>
                  <a:lnTo>
                    <a:pt x="10460228" y="1365377"/>
                  </a:lnTo>
                  <a:cubicBezTo>
                    <a:pt x="10460228" y="1516253"/>
                    <a:pt x="10337927" y="1638427"/>
                    <a:pt x="10187178" y="1638427"/>
                  </a:cubicBezTo>
                  <a:lnTo>
                    <a:pt x="273050" y="1638427"/>
                  </a:lnTo>
                  <a:cubicBezTo>
                    <a:pt x="122174" y="1638427"/>
                    <a:pt x="0" y="1516126"/>
                    <a:pt x="0" y="136537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88" name="Group 69">
            <a:extLst>
              <a:ext uri="{FF2B5EF4-FFF2-40B4-BE49-F238E27FC236}">
                <a16:creationId xmlns:a16="http://schemas.microsoft.com/office/drawing/2014/main" id="{BDA792A5-6691-7A84-CD47-4B5B1C0A9845}"/>
              </a:ext>
            </a:extLst>
          </p:cNvPr>
          <p:cNvGrpSpPr/>
          <p:nvPr/>
        </p:nvGrpSpPr>
        <p:grpSpPr>
          <a:xfrm>
            <a:off x="4777900" y="2365238"/>
            <a:ext cx="68633" cy="603976"/>
            <a:chOff x="0" y="0"/>
            <a:chExt cx="183020" cy="1610601"/>
          </a:xfrm>
        </p:grpSpPr>
        <p:sp>
          <p:nvSpPr>
            <p:cNvPr id="89" name="Freeform 70">
              <a:extLst>
                <a:ext uri="{FF2B5EF4-FFF2-40B4-BE49-F238E27FC236}">
                  <a16:creationId xmlns:a16="http://schemas.microsoft.com/office/drawing/2014/main" id="{AFD3F680-2E76-456C-CB18-D8037C50F307}"/>
                </a:ext>
              </a:extLst>
            </p:cNvPr>
            <p:cNvSpPr/>
            <p:nvPr/>
          </p:nvSpPr>
          <p:spPr>
            <a:xfrm>
              <a:off x="0" y="0"/>
              <a:ext cx="183007" cy="1610614"/>
            </a:xfrm>
            <a:custGeom>
              <a:avLst/>
              <a:gdLst/>
              <a:ahLst/>
              <a:cxnLst/>
              <a:rect l="l" t="t" r="r" b="b"/>
              <a:pathLst>
                <a:path w="183007" h="1610614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1580134"/>
                  </a:lnTo>
                  <a:cubicBezTo>
                    <a:pt x="183007" y="1597025"/>
                    <a:pt x="169291" y="1610614"/>
                    <a:pt x="152527" y="1610614"/>
                  </a:cubicBezTo>
                  <a:lnTo>
                    <a:pt x="30480" y="1610614"/>
                  </a:lnTo>
                  <a:cubicBezTo>
                    <a:pt x="13589" y="1610614"/>
                    <a:pt x="0" y="1596898"/>
                    <a:pt x="0" y="1580134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sp>
        <p:nvSpPr>
          <p:cNvPr id="90" name="TextBox 71">
            <a:extLst>
              <a:ext uri="{FF2B5EF4-FFF2-40B4-BE49-F238E27FC236}">
                <a16:creationId xmlns:a16="http://schemas.microsoft.com/office/drawing/2014/main" id="{BC657EE2-0460-E3AF-0A15-B3224461219E}"/>
              </a:ext>
            </a:extLst>
          </p:cNvPr>
          <p:cNvSpPr txBox="1"/>
          <p:nvPr/>
        </p:nvSpPr>
        <p:spPr>
          <a:xfrm>
            <a:off x="4941618" y="2501333"/>
            <a:ext cx="3637583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050" b="1">
                <a:solidFill>
                  <a:srgbClr val="3E4A2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▼ </a:t>
            </a:r>
            <a:r>
              <a:rPr lang="en-US" sz="105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폐기 비용 최소화</a:t>
            </a:r>
          </a:p>
          <a:p>
            <a:pPr>
              <a:lnSpc>
                <a:spcPts val="1361"/>
              </a:lnSpc>
            </a:pPr>
            <a:r>
              <a:rPr lang="en-US" sz="1050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이상 구간 조기 식별로 제품 폐기 감소</a:t>
            </a:r>
          </a:p>
        </p:txBody>
      </p:sp>
      <p:grpSp>
        <p:nvGrpSpPr>
          <p:cNvPr id="91" name="Group 72">
            <a:extLst>
              <a:ext uri="{FF2B5EF4-FFF2-40B4-BE49-F238E27FC236}">
                <a16:creationId xmlns:a16="http://schemas.microsoft.com/office/drawing/2014/main" id="{77797298-F362-556C-A478-31942DAA7AED}"/>
              </a:ext>
            </a:extLst>
          </p:cNvPr>
          <p:cNvGrpSpPr/>
          <p:nvPr/>
        </p:nvGrpSpPr>
        <p:grpSpPr>
          <a:xfrm>
            <a:off x="4772661" y="3046333"/>
            <a:ext cx="3922600" cy="614463"/>
            <a:chOff x="0" y="0"/>
            <a:chExt cx="10460266" cy="1638567"/>
          </a:xfrm>
        </p:grpSpPr>
        <p:sp>
          <p:nvSpPr>
            <p:cNvPr id="92" name="Freeform 73">
              <a:extLst>
                <a:ext uri="{FF2B5EF4-FFF2-40B4-BE49-F238E27FC236}">
                  <a16:creationId xmlns:a16="http://schemas.microsoft.com/office/drawing/2014/main" id="{CD341193-5113-AD09-E33D-C8D44C3A7524}"/>
                </a:ext>
              </a:extLst>
            </p:cNvPr>
            <p:cNvSpPr/>
            <p:nvPr/>
          </p:nvSpPr>
          <p:spPr>
            <a:xfrm>
              <a:off x="0" y="0"/>
              <a:ext cx="10460228" cy="1638427"/>
            </a:xfrm>
            <a:custGeom>
              <a:avLst/>
              <a:gdLst/>
              <a:ahLst/>
              <a:cxnLst/>
              <a:rect l="l" t="t" r="r" b="b"/>
              <a:pathLst>
                <a:path w="10460228" h="1638427">
                  <a:moveTo>
                    <a:pt x="0" y="273050"/>
                  </a:moveTo>
                  <a:cubicBezTo>
                    <a:pt x="0" y="122301"/>
                    <a:pt x="122301" y="0"/>
                    <a:pt x="273050" y="0"/>
                  </a:cubicBezTo>
                  <a:lnTo>
                    <a:pt x="10187178" y="0"/>
                  </a:lnTo>
                  <a:cubicBezTo>
                    <a:pt x="10338054" y="0"/>
                    <a:pt x="10460228" y="122301"/>
                    <a:pt x="10460228" y="273050"/>
                  </a:cubicBezTo>
                  <a:lnTo>
                    <a:pt x="10460228" y="1365377"/>
                  </a:lnTo>
                  <a:cubicBezTo>
                    <a:pt x="10460228" y="1516253"/>
                    <a:pt x="10337927" y="1638427"/>
                    <a:pt x="10187178" y="1638427"/>
                  </a:cubicBezTo>
                  <a:lnTo>
                    <a:pt x="273050" y="1638427"/>
                  </a:lnTo>
                  <a:cubicBezTo>
                    <a:pt x="122174" y="1638427"/>
                    <a:pt x="0" y="1516126"/>
                    <a:pt x="0" y="1365377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93" name="Group 74">
            <a:extLst>
              <a:ext uri="{FF2B5EF4-FFF2-40B4-BE49-F238E27FC236}">
                <a16:creationId xmlns:a16="http://schemas.microsoft.com/office/drawing/2014/main" id="{3E347170-5272-3150-6DAF-F0203809787C}"/>
              </a:ext>
            </a:extLst>
          </p:cNvPr>
          <p:cNvGrpSpPr/>
          <p:nvPr/>
        </p:nvGrpSpPr>
        <p:grpSpPr>
          <a:xfrm>
            <a:off x="4777900" y="3051576"/>
            <a:ext cx="68633" cy="603976"/>
            <a:chOff x="0" y="0"/>
            <a:chExt cx="183020" cy="1610601"/>
          </a:xfrm>
        </p:grpSpPr>
        <p:sp>
          <p:nvSpPr>
            <p:cNvPr id="94" name="Freeform 75">
              <a:extLst>
                <a:ext uri="{FF2B5EF4-FFF2-40B4-BE49-F238E27FC236}">
                  <a16:creationId xmlns:a16="http://schemas.microsoft.com/office/drawing/2014/main" id="{3524A1CA-9986-E816-621D-17A5291323C8}"/>
                </a:ext>
              </a:extLst>
            </p:cNvPr>
            <p:cNvSpPr/>
            <p:nvPr/>
          </p:nvSpPr>
          <p:spPr>
            <a:xfrm>
              <a:off x="0" y="0"/>
              <a:ext cx="183007" cy="1610614"/>
            </a:xfrm>
            <a:custGeom>
              <a:avLst/>
              <a:gdLst/>
              <a:ahLst/>
              <a:cxnLst/>
              <a:rect l="l" t="t" r="r" b="b"/>
              <a:pathLst>
                <a:path w="183007" h="1610614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1580134"/>
                  </a:lnTo>
                  <a:cubicBezTo>
                    <a:pt x="183007" y="1597025"/>
                    <a:pt x="169291" y="1610614"/>
                    <a:pt x="152527" y="1610614"/>
                  </a:cubicBezTo>
                  <a:lnTo>
                    <a:pt x="30480" y="1610614"/>
                  </a:lnTo>
                  <a:cubicBezTo>
                    <a:pt x="13589" y="1610614"/>
                    <a:pt x="0" y="1596898"/>
                    <a:pt x="0" y="1580134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sp>
        <p:nvSpPr>
          <p:cNvPr id="95" name="TextBox 76">
            <a:extLst>
              <a:ext uri="{FF2B5EF4-FFF2-40B4-BE49-F238E27FC236}">
                <a16:creationId xmlns:a16="http://schemas.microsoft.com/office/drawing/2014/main" id="{A9DCF74A-00A8-D0F0-53C8-8C7B6AA25C10}"/>
              </a:ext>
            </a:extLst>
          </p:cNvPr>
          <p:cNvSpPr txBox="1"/>
          <p:nvPr/>
        </p:nvSpPr>
        <p:spPr>
          <a:xfrm>
            <a:off x="4941618" y="3187671"/>
            <a:ext cx="3637583" cy="3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en-US" sz="1050" b="1">
                <a:solidFill>
                  <a:srgbClr val="3E4A2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▼ </a:t>
            </a:r>
            <a:r>
              <a:rPr lang="en-US" sz="105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납기 리스크 완화</a:t>
            </a:r>
          </a:p>
          <a:p>
            <a:pPr>
              <a:lnSpc>
                <a:spcPts val="1361"/>
              </a:lnSpc>
            </a:pPr>
            <a:r>
              <a:rPr lang="en-US" sz="1050" b="1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신속 대응으로 공정 중단·지연 위험 감소</a:t>
            </a:r>
          </a:p>
        </p:txBody>
      </p:sp>
      <p:pic>
        <p:nvPicPr>
          <p:cNvPr id="96" name="Image 1" descr="preencoded.png">
            <a:extLst>
              <a:ext uri="{FF2B5EF4-FFF2-40B4-BE49-F238E27FC236}">
                <a16:creationId xmlns:a16="http://schemas.microsoft.com/office/drawing/2014/main" id="{1C65FED9-E029-AD58-6CBF-9E47C3616E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97" name="Text 2">
            <a:extLst>
              <a:ext uri="{FF2B5EF4-FFF2-40B4-BE49-F238E27FC236}">
                <a16:creationId xmlns:a16="http://schemas.microsoft.com/office/drawing/2014/main" id="{1AD2C99A-7822-CC99-EBC9-DC06760E4969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1EC7025B-DEBC-6426-EAA5-DCD7FE51B431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3150425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6B8F-5FCD-C567-EB44-3FF95268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C2E34E5-AB5C-8EC3-1FCD-44537194C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DAE2C42D-CD5A-2220-5183-F61FD032DD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D393B3C0-E092-06BB-1C6A-F40DA4EE51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84C99F32-B644-C670-9D27-8FD85EEC98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9490F0FF-EB78-0859-9830-D5D04F658F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81E64457-0251-2AE5-1299-C3C6F6C2675F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한계·개선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방향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377AF9C6-A3E3-CDA7-A8C6-56D3293619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22">
            <a:extLst>
              <a:ext uri="{FF2B5EF4-FFF2-40B4-BE49-F238E27FC236}">
                <a16:creationId xmlns:a16="http://schemas.microsoft.com/office/drawing/2014/main" id="{680A354B-3327-FBAC-73F5-3D98A1F1C37C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23">
              <a:extLst>
                <a:ext uri="{FF2B5EF4-FFF2-40B4-BE49-F238E27FC236}">
                  <a16:creationId xmlns:a16="http://schemas.microsoft.com/office/drawing/2014/main" id="{F95A4085-3491-12DC-4AE0-018DA484A533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24">
            <a:extLst>
              <a:ext uri="{FF2B5EF4-FFF2-40B4-BE49-F238E27FC236}">
                <a16:creationId xmlns:a16="http://schemas.microsoft.com/office/drawing/2014/main" id="{E739AA85-9506-E35B-3299-68103A7D1910}"/>
              </a:ext>
            </a:extLst>
          </p:cNvPr>
          <p:cNvGrpSpPr/>
          <p:nvPr/>
        </p:nvGrpSpPr>
        <p:grpSpPr>
          <a:xfrm>
            <a:off x="8579201" y="4804353"/>
            <a:ext cx="274535" cy="274535"/>
            <a:chOff x="0" y="0"/>
            <a:chExt cx="732092" cy="732092"/>
          </a:xfrm>
        </p:grpSpPr>
        <p:sp>
          <p:nvSpPr>
            <p:cNvPr id="11" name="Freeform 25" descr="logo.png">
              <a:extLst>
                <a:ext uri="{FF2B5EF4-FFF2-40B4-BE49-F238E27FC236}">
                  <a16:creationId xmlns:a16="http://schemas.microsoft.com/office/drawing/2014/main" id="{FE598BDE-98AD-41F9-F42A-BA47343EC5CB}"/>
                </a:ext>
              </a:extLst>
            </p:cNvPr>
            <p:cNvSpPr/>
            <p:nvPr/>
          </p:nvSpPr>
          <p:spPr>
            <a:xfrm>
              <a:off x="0" y="0"/>
              <a:ext cx="732155" cy="732155"/>
            </a:xfrm>
            <a:custGeom>
              <a:avLst/>
              <a:gdLst/>
              <a:ahLst/>
              <a:cxnLst/>
              <a:rect l="l" t="t" r="r" b="b"/>
              <a:pathLst>
                <a:path w="732155" h="732155">
                  <a:moveTo>
                    <a:pt x="0" y="0"/>
                  </a:moveTo>
                  <a:lnTo>
                    <a:pt x="732155" y="0"/>
                  </a:lnTo>
                  <a:lnTo>
                    <a:pt x="732155" y="732155"/>
                  </a:lnTo>
                  <a:lnTo>
                    <a:pt x="0" y="732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8" b="8"/>
              </a:stretch>
            </a:blipFill>
          </p:spPr>
        </p:sp>
      </p:grpSp>
      <p:grpSp>
        <p:nvGrpSpPr>
          <p:cNvPr id="12" name="Group 26">
            <a:extLst>
              <a:ext uri="{FF2B5EF4-FFF2-40B4-BE49-F238E27FC236}">
                <a16:creationId xmlns:a16="http://schemas.microsoft.com/office/drawing/2014/main" id="{1A5487F5-4664-4CD3-2CE9-F2155FDEC6EA}"/>
              </a:ext>
            </a:extLst>
          </p:cNvPr>
          <p:cNvGrpSpPr/>
          <p:nvPr/>
        </p:nvGrpSpPr>
        <p:grpSpPr>
          <a:xfrm>
            <a:off x="377486" y="4118020"/>
            <a:ext cx="8393892" cy="652020"/>
            <a:chOff x="0" y="0"/>
            <a:chExt cx="22383712" cy="1738719"/>
          </a:xfrm>
        </p:grpSpPr>
        <p:sp>
          <p:nvSpPr>
            <p:cNvPr id="13" name="Freeform 27">
              <a:extLst>
                <a:ext uri="{FF2B5EF4-FFF2-40B4-BE49-F238E27FC236}">
                  <a16:creationId xmlns:a16="http://schemas.microsoft.com/office/drawing/2014/main" id="{288D239D-C0B6-4D56-B4A2-621ED44F0E8D}"/>
                </a:ext>
              </a:extLst>
            </p:cNvPr>
            <p:cNvSpPr/>
            <p:nvPr/>
          </p:nvSpPr>
          <p:spPr>
            <a:xfrm>
              <a:off x="0" y="0"/>
              <a:ext cx="22383750" cy="1738757"/>
            </a:xfrm>
            <a:custGeom>
              <a:avLst/>
              <a:gdLst/>
              <a:ahLst/>
              <a:cxnLst/>
              <a:rect l="l" t="t" r="r" b="b"/>
              <a:pathLst>
                <a:path w="22383750" h="1738757">
                  <a:moveTo>
                    <a:pt x="0" y="289814"/>
                  </a:moveTo>
                  <a:cubicBezTo>
                    <a:pt x="0" y="129794"/>
                    <a:pt x="129794" y="0"/>
                    <a:pt x="289814" y="0"/>
                  </a:cubicBezTo>
                  <a:lnTo>
                    <a:pt x="22093937" y="0"/>
                  </a:lnTo>
                  <a:cubicBezTo>
                    <a:pt x="22253956" y="0"/>
                    <a:pt x="22383750" y="129794"/>
                    <a:pt x="22383750" y="289814"/>
                  </a:cubicBezTo>
                  <a:lnTo>
                    <a:pt x="22383750" y="1448943"/>
                  </a:lnTo>
                  <a:cubicBezTo>
                    <a:pt x="22383750" y="1608963"/>
                    <a:pt x="22253956" y="1738757"/>
                    <a:pt x="22093937" y="1738757"/>
                  </a:cubicBezTo>
                  <a:lnTo>
                    <a:pt x="289814" y="1738757"/>
                  </a:lnTo>
                  <a:cubicBezTo>
                    <a:pt x="129794" y="1738757"/>
                    <a:pt x="0" y="1608963"/>
                    <a:pt x="0" y="1448943"/>
                  </a:cubicBezTo>
                  <a:close/>
                </a:path>
              </a:pathLst>
            </a:custGeom>
            <a:solidFill>
              <a:srgbClr val="EDEFE3"/>
            </a:solidFill>
          </p:spPr>
        </p:sp>
      </p:grpSp>
      <p:grpSp>
        <p:nvGrpSpPr>
          <p:cNvPr id="14" name="Group 28">
            <a:extLst>
              <a:ext uri="{FF2B5EF4-FFF2-40B4-BE49-F238E27FC236}">
                <a16:creationId xmlns:a16="http://schemas.microsoft.com/office/drawing/2014/main" id="{E977954F-086D-E23A-8E70-1BA9316801B2}"/>
              </a:ext>
            </a:extLst>
          </p:cNvPr>
          <p:cNvGrpSpPr/>
          <p:nvPr/>
        </p:nvGrpSpPr>
        <p:grpSpPr>
          <a:xfrm>
            <a:off x="652020" y="4200378"/>
            <a:ext cx="5010255" cy="514752"/>
            <a:chOff x="0" y="0"/>
            <a:chExt cx="13360679" cy="1372672"/>
          </a:xfrm>
        </p:grpSpPr>
        <p:sp>
          <p:nvSpPr>
            <p:cNvPr id="15" name="Freeform 29">
              <a:extLst>
                <a:ext uri="{FF2B5EF4-FFF2-40B4-BE49-F238E27FC236}">
                  <a16:creationId xmlns:a16="http://schemas.microsoft.com/office/drawing/2014/main" id="{EA352FF5-A80E-12C5-411A-3E6858DA3FDC}"/>
                </a:ext>
              </a:extLst>
            </p:cNvPr>
            <p:cNvSpPr/>
            <p:nvPr/>
          </p:nvSpPr>
          <p:spPr>
            <a:xfrm>
              <a:off x="0" y="0"/>
              <a:ext cx="13360678" cy="1372678"/>
            </a:xfrm>
            <a:custGeom>
              <a:avLst/>
              <a:gdLst/>
              <a:ahLst/>
              <a:cxnLst/>
              <a:rect l="l" t="t" r="r" b="b"/>
              <a:pathLst>
                <a:path w="13360678" h="1372678">
                  <a:moveTo>
                    <a:pt x="0" y="0"/>
                  </a:moveTo>
                  <a:lnTo>
                    <a:pt x="13360678" y="0"/>
                  </a:lnTo>
                  <a:lnTo>
                    <a:pt x="13360678" y="1372678"/>
                  </a:lnTo>
                  <a:lnTo>
                    <a:pt x="0" y="137267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39654" b="-139653"/>
              </a:stretch>
            </a:blipFill>
          </p:spPr>
        </p:sp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4DBC3B41-C1D8-9338-2A07-6EAC0F158439}"/>
                </a:ext>
              </a:extLst>
            </p:cNvPr>
            <p:cNvSpPr txBox="1"/>
            <p:nvPr/>
          </p:nvSpPr>
          <p:spPr>
            <a:xfrm>
              <a:off x="0" y="0"/>
              <a:ext cx="13360679" cy="1372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26"/>
                </a:lnSpc>
              </a:pPr>
              <a:r>
                <a:rPr lang="en-US" sz="938" b="1">
                  <a:solidFill>
                    <a:srgbClr val="4B57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 Medium"/>
                </a:rPr>
                <a:t>• </a:t>
              </a:r>
              <a:r>
                <a:rPr lang="en-US" sz="938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2Z"/>
                </a:rPr>
                <a:t>조기 경보 가능성은 확인 → 실운영형 시스템으로 고도화 필요 </a:t>
              </a:r>
            </a:p>
          </p:txBody>
        </p:sp>
      </p:grpSp>
      <p:grpSp>
        <p:nvGrpSpPr>
          <p:cNvPr id="17" name="Group 31">
            <a:extLst>
              <a:ext uri="{FF2B5EF4-FFF2-40B4-BE49-F238E27FC236}">
                <a16:creationId xmlns:a16="http://schemas.microsoft.com/office/drawing/2014/main" id="{9DA98B2C-96DD-BB4B-6CC5-5532B098611B}"/>
              </a:ext>
            </a:extLst>
          </p:cNvPr>
          <p:cNvGrpSpPr/>
          <p:nvPr/>
        </p:nvGrpSpPr>
        <p:grpSpPr>
          <a:xfrm>
            <a:off x="4553843" y="4361665"/>
            <a:ext cx="480436" cy="192177"/>
            <a:chOff x="0" y="0"/>
            <a:chExt cx="1281163" cy="512470"/>
          </a:xfrm>
        </p:grpSpPr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0DC1EBAD-9693-45EB-541E-DA74680BDABE}"/>
                </a:ext>
              </a:extLst>
            </p:cNvPr>
            <p:cNvSpPr/>
            <p:nvPr/>
          </p:nvSpPr>
          <p:spPr>
            <a:xfrm>
              <a:off x="0" y="0"/>
              <a:ext cx="1281176" cy="512445"/>
            </a:xfrm>
            <a:custGeom>
              <a:avLst/>
              <a:gdLst/>
              <a:ahLst/>
              <a:cxnLst/>
              <a:rect l="l" t="t" r="r" b="b"/>
              <a:pathLst>
                <a:path w="1281176" h="512445">
                  <a:moveTo>
                    <a:pt x="0" y="128143"/>
                  </a:moveTo>
                  <a:lnTo>
                    <a:pt x="1024890" y="128143"/>
                  </a:lnTo>
                  <a:lnTo>
                    <a:pt x="1024890" y="0"/>
                  </a:lnTo>
                  <a:lnTo>
                    <a:pt x="1281176" y="256286"/>
                  </a:lnTo>
                  <a:lnTo>
                    <a:pt x="1024890" y="512445"/>
                  </a:lnTo>
                  <a:lnTo>
                    <a:pt x="1024890" y="384302"/>
                  </a:lnTo>
                  <a:lnTo>
                    <a:pt x="0" y="384302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9" name="Group 33">
            <a:extLst>
              <a:ext uri="{FF2B5EF4-FFF2-40B4-BE49-F238E27FC236}">
                <a16:creationId xmlns:a16="http://schemas.microsoft.com/office/drawing/2014/main" id="{E98CC946-213E-CEF7-5563-B3E5A086E7C6}"/>
              </a:ext>
            </a:extLst>
          </p:cNvPr>
          <p:cNvGrpSpPr/>
          <p:nvPr/>
        </p:nvGrpSpPr>
        <p:grpSpPr>
          <a:xfrm>
            <a:off x="6268124" y="4118020"/>
            <a:ext cx="2230593" cy="652020"/>
            <a:chOff x="0" y="0"/>
            <a:chExt cx="5948248" cy="1738718"/>
          </a:xfrm>
        </p:grpSpPr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6DB8E5AE-5209-6296-376E-488552093900}"/>
                </a:ext>
              </a:extLst>
            </p:cNvPr>
            <p:cNvSpPr/>
            <p:nvPr/>
          </p:nvSpPr>
          <p:spPr>
            <a:xfrm>
              <a:off x="0" y="0"/>
              <a:ext cx="5948247" cy="1738718"/>
            </a:xfrm>
            <a:custGeom>
              <a:avLst/>
              <a:gdLst/>
              <a:ahLst/>
              <a:cxnLst/>
              <a:rect l="l" t="t" r="r" b="b"/>
              <a:pathLst>
                <a:path w="5948247" h="1738718">
                  <a:moveTo>
                    <a:pt x="0" y="0"/>
                  </a:moveTo>
                  <a:lnTo>
                    <a:pt x="5948247" y="0"/>
                  </a:lnTo>
                  <a:lnTo>
                    <a:pt x="5948247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6659" b="-16659"/>
              </a:stretch>
            </a:blipFill>
          </p:spPr>
        </p:sp>
        <p:sp>
          <p:nvSpPr>
            <p:cNvPr id="21" name="TextBox 35">
              <a:extLst>
                <a:ext uri="{FF2B5EF4-FFF2-40B4-BE49-F238E27FC236}">
                  <a16:creationId xmlns:a16="http://schemas.microsoft.com/office/drawing/2014/main" id="{01774A9A-E1D8-7D20-D39B-8AF3E50CEA35}"/>
                </a:ext>
              </a:extLst>
            </p:cNvPr>
            <p:cNvSpPr txBox="1"/>
            <p:nvPr/>
          </p:nvSpPr>
          <p:spPr>
            <a:xfrm>
              <a:off x="0" y="-38100"/>
              <a:ext cx="5948248" cy="17768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0"/>
                </a:lnSpc>
              </a:pPr>
              <a:r>
                <a:rPr lang="en-US" sz="1476" b="1">
                  <a:solidFill>
                    <a:srgbClr val="333D1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검증에서 운영으로</a:t>
              </a:r>
            </a:p>
          </p:txBody>
        </p:sp>
      </p:grpSp>
      <p:sp>
        <p:nvSpPr>
          <p:cNvPr id="22" name="TextBox 36">
            <a:extLst>
              <a:ext uri="{FF2B5EF4-FFF2-40B4-BE49-F238E27FC236}">
                <a16:creationId xmlns:a16="http://schemas.microsoft.com/office/drawing/2014/main" id="{94F99E4F-50DA-900C-634D-4D59FC3E8BED}"/>
              </a:ext>
            </a:extLst>
          </p:cNvPr>
          <p:cNvSpPr txBox="1"/>
          <p:nvPr/>
        </p:nvSpPr>
        <p:spPr>
          <a:xfrm>
            <a:off x="377486" y="4831809"/>
            <a:ext cx="6177025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1"/>
              </a:lnSpc>
            </a:pPr>
            <a:r>
              <a:rPr lang="en-US" sz="676">
                <a:solidFill>
                  <a:srgbClr val="8B946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표본(특히 불량) 추가 확보 시 신뢰구간 축소·임계값 재보정 권장</a:t>
            </a:r>
          </a:p>
        </p:txBody>
      </p:sp>
      <p:grpSp>
        <p:nvGrpSpPr>
          <p:cNvPr id="23" name="Group 37">
            <a:extLst>
              <a:ext uri="{FF2B5EF4-FFF2-40B4-BE49-F238E27FC236}">
                <a16:creationId xmlns:a16="http://schemas.microsoft.com/office/drawing/2014/main" id="{29AF511C-C497-77F3-234E-6CA0BB3764AF}"/>
              </a:ext>
            </a:extLst>
          </p:cNvPr>
          <p:cNvGrpSpPr/>
          <p:nvPr/>
        </p:nvGrpSpPr>
        <p:grpSpPr>
          <a:xfrm>
            <a:off x="3789814" y="4368533"/>
            <a:ext cx="175965" cy="185309"/>
            <a:chOff x="0" y="0"/>
            <a:chExt cx="469240" cy="494157"/>
          </a:xfrm>
        </p:grpSpPr>
        <p:sp>
          <p:nvSpPr>
            <p:cNvPr id="24" name="Freeform 38" descr="warn.png">
              <a:extLst>
                <a:ext uri="{FF2B5EF4-FFF2-40B4-BE49-F238E27FC236}">
                  <a16:creationId xmlns:a16="http://schemas.microsoft.com/office/drawing/2014/main" id="{70A670C8-2E6E-55F8-7199-BCE2EDAE999F}"/>
                </a:ext>
              </a:extLst>
            </p:cNvPr>
            <p:cNvSpPr/>
            <p:nvPr/>
          </p:nvSpPr>
          <p:spPr>
            <a:xfrm>
              <a:off x="0" y="0"/>
              <a:ext cx="469240" cy="494157"/>
            </a:xfrm>
            <a:custGeom>
              <a:avLst/>
              <a:gdLst/>
              <a:ahLst/>
              <a:cxnLst/>
              <a:rect l="l" t="t" r="r" b="b"/>
              <a:pathLst>
                <a:path w="469240" h="494157">
                  <a:moveTo>
                    <a:pt x="0" y="0"/>
                  </a:moveTo>
                  <a:lnTo>
                    <a:pt x="469240" y="0"/>
                  </a:lnTo>
                  <a:lnTo>
                    <a:pt x="469240" y="494157"/>
                  </a:lnTo>
                  <a:lnTo>
                    <a:pt x="0" y="494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655" r="-2655"/>
              </a:stretch>
            </a:blipFill>
          </p:spPr>
        </p:sp>
      </p:grpSp>
      <p:grpSp>
        <p:nvGrpSpPr>
          <p:cNvPr id="25" name="Group 39">
            <a:extLst>
              <a:ext uri="{FF2B5EF4-FFF2-40B4-BE49-F238E27FC236}">
                <a16:creationId xmlns:a16="http://schemas.microsoft.com/office/drawing/2014/main" id="{41D23053-F435-9464-F3BD-D67357B6282C}"/>
              </a:ext>
            </a:extLst>
          </p:cNvPr>
          <p:cNvGrpSpPr/>
          <p:nvPr/>
        </p:nvGrpSpPr>
        <p:grpSpPr>
          <a:xfrm>
            <a:off x="401315" y="1319210"/>
            <a:ext cx="3476482" cy="799772"/>
            <a:chOff x="0" y="0"/>
            <a:chExt cx="9270619" cy="2132724"/>
          </a:xfrm>
        </p:grpSpPr>
        <p:sp>
          <p:nvSpPr>
            <p:cNvPr id="26" name="Freeform 40">
              <a:extLst>
                <a:ext uri="{FF2B5EF4-FFF2-40B4-BE49-F238E27FC236}">
                  <a16:creationId xmlns:a16="http://schemas.microsoft.com/office/drawing/2014/main" id="{D575057C-4A07-5BFD-E511-CAF2B87664FE}"/>
                </a:ext>
              </a:extLst>
            </p:cNvPr>
            <p:cNvSpPr/>
            <p:nvPr/>
          </p:nvSpPr>
          <p:spPr>
            <a:xfrm>
              <a:off x="0" y="0"/>
              <a:ext cx="9270619" cy="2132711"/>
            </a:xfrm>
            <a:custGeom>
              <a:avLst/>
              <a:gdLst/>
              <a:ahLst/>
              <a:cxnLst/>
              <a:rect l="l" t="t" r="r" b="b"/>
              <a:pathLst>
                <a:path w="9270619" h="2132711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8915146" y="0"/>
                  </a:lnTo>
                  <a:cubicBezTo>
                    <a:pt x="9111488" y="0"/>
                    <a:pt x="9270619" y="159131"/>
                    <a:pt x="9270619" y="355473"/>
                  </a:cubicBezTo>
                  <a:lnTo>
                    <a:pt x="9270619" y="1777238"/>
                  </a:lnTo>
                  <a:cubicBezTo>
                    <a:pt x="9270619" y="1973580"/>
                    <a:pt x="9111488" y="2132711"/>
                    <a:pt x="8915146" y="2132711"/>
                  </a:cubicBezTo>
                  <a:lnTo>
                    <a:pt x="355473" y="2132711"/>
                  </a:lnTo>
                  <a:cubicBezTo>
                    <a:pt x="159131" y="2132711"/>
                    <a:pt x="0" y="1973580"/>
                    <a:pt x="0" y="1777238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91A1DED4-7B80-3C13-3C31-C55825A113AC}"/>
              </a:ext>
            </a:extLst>
          </p:cNvPr>
          <p:cNvGrpSpPr/>
          <p:nvPr/>
        </p:nvGrpSpPr>
        <p:grpSpPr>
          <a:xfrm>
            <a:off x="406558" y="1324454"/>
            <a:ext cx="68633" cy="789285"/>
            <a:chOff x="0" y="0"/>
            <a:chExt cx="183020" cy="2104758"/>
          </a:xfrm>
        </p:grpSpPr>
        <p:sp>
          <p:nvSpPr>
            <p:cNvPr id="28" name="Freeform 42">
              <a:extLst>
                <a:ext uri="{FF2B5EF4-FFF2-40B4-BE49-F238E27FC236}">
                  <a16:creationId xmlns:a16="http://schemas.microsoft.com/office/drawing/2014/main" id="{A2FE7329-D0A8-1229-F33B-DF37C0641AFD}"/>
                </a:ext>
              </a:extLst>
            </p:cNvPr>
            <p:cNvSpPr/>
            <p:nvPr/>
          </p:nvSpPr>
          <p:spPr>
            <a:xfrm>
              <a:off x="0" y="0"/>
              <a:ext cx="183007" cy="2104771"/>
            </a:xfrm>
            <a:custGeom>
              <a:avLst/>
              <a:gdLst/>
              <a:ahLst/>
              <a:cxnLst/>
              <a:rect l="l" t="t" r="r" b="b"/>
              <a:pathLst>
                <a:path w="183007" h="2104771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2074291"/>
                  </a:lnTo>
                  <a:cubicBezTo>
                    <a:pt x="183007" y="2091182"/>
                    <a:pt x="169291" y="2104771"/>
                    <a:pt x="152527" y="2104771"/>
                  </a:cubicBezTo>
                  <a:lnTo>
                    <a:pt x="30480" y="2104771"/>
                  </a:lnTo>
                  <a:cubicBezTo>
                    <a:pt x="13589" y="2104771"/>
                    <a:pt x="0" y="2091055"/>
                    <a:pt x="0" y="2074291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sp>
        <p:nvSpPr>
          <p:cNvPr id="29" name="TextBox 43">
            <a:extLst>
              <a:ext uri="{FF2B5EF4-FFF2-40B4-BE49-F238E27FC236}">
                <a16:creationId xmlns:a16="http://schemas.microsoft.com/office/drawing/2014/main" id="{56F1D55F-9C5C-0076-C8D7-9EDE0F3DFB07}"/>
              </a:ext>
            </a:extLst>
          </p:cNvPr>
          <p:cNvSpPr txBox="1"/>
          <p:nvPr/>
        </p:nvSpPr>
        <p:spPr>
          <a:xfrm>
            <a:off x="617704" y="1488438"/>
            <a:ext cx="319146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데이터 · 라벨</a:t>
            </a:r>
          </a:p>
        </p:txBody>
      </p:sp>
      <p:grpSp>
        <p:nvGrpSpPr>
          <p:cNvPr id="30" name="Group 44">
            <a:extLst>
              <a:ext uri="{FF2B5EF4-FFF2-40B4-BE49-F238E27FC236}">
                <a16:creationId xmlns:a16="http://schemas.microsoft.com/office/drawing/2014/main" id="{09F3D7D1-8D9F-EF1F-20ED-C68598160C9C}"/>
              </a:ext>
            </a:extLst>
          </p:cNvPr>
          <p:cNvGrpSpPr/>
          <p:nvPr/>
        </p:nvGrpSpPr>
        <p:grpSpPr>
          <a:xfrm>
            <a:off x="3996097" y="1602422"/>
            <a:ext cx="288260" cy="233353"/>
            <a:chOff x="0" y="0"/>
            <a:chExt cx="768693" cy="622275"/>
          </a:xfrm>
        </p:grpSpPr>
        <p:sp>
          <p:nvSpPr>
            <p:cNvPr id="31" name="Freeform 45">
              <a:extLst>
                <a:ext uri="{FF2B5EF4-FFF2-40B4-BE49-F238E27FC236}">
                  <a16:creationId xmlns:a16="http://schemas.microsoft.com/office/drawing/2014/main" id="{BD8C73CF-903D-E986-E74D-D524D8CC0BD8}"/>
                </a:ext>
              </a:extLst>
            </p:cNvPr>
            <p:cNvSpPr/>
            <p:nvPr/>
          </p:nvSpPr>
          <p:spPr>
            <a:xfrm>
              <a:off x="0" y="0"/>
              <a:ext cx="768731" cy="622300"/>
            </a:xfrm>
            <a:custGeom>
              <a:avLst/>
              <a:gdLst/>
              <a:ahLst/>
              <a:cxnLst/>
              <a:rect l="l" t="t" r="r" b="b"/>
              <a:pathLst>
                <a:path w="768731" h="622300">
                  <a:moveTo>
                    <a:pt x="0" y="155575"/>
                  </a:moveTo>
                  <a:lnTo>
                    <a:pt x="457581" y="155575"/>
                  </a:lnTo>
                  <a:lnTo>
                    <a:pt x="457581" y="0"/>
                  </a:lnTo>
                  <a:lnTo>
                    <a:pt x="768731" y="311150"/>
                  </a:lnTo>
                  <a:lnTo>
                    <a:pt x="457581" y="622300"/>
                  </a:lnTo>
                  <a:lnTo>
                    <a:pt x="457581" y="466725"/>
                  </a:lnTo>
                  <a:lnTo>
                    <a:pt x="0" y="466725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64" name="Group 46">
            <a:extLst>
              <a:ext uri="{FF2B5EF4-FFF2-40B4-BE49-F238E27FC236}">
                <a16:creationId xmlns:a16="http://schemas.microsoft.com/office/drawing/2014/main" id="{C16A5E33-9B85-DF3F-A00F-BC03C6C816B0}"/>
              </a:ext>
            </a:extLst>
          </p:cNvPr>
          <p:cNvGrpSpPr/>
          <p:nvPr/>
        </p:nvGrpSpPr>
        <p:grpSpPr>
          <a:xfrm>
            <a:off x="4519334" y="1319210"/>
            <a:ext cx="4265772" cy="799772"/>
            <a:chOff x="0" y="0"/>
            <a:chExt cx="11375390" cy="2132724"/>
          </a:xfrm>
        </p:grpSpPr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20013D67-AE7A-05E1-01AA-8E48FC15DD9D}"/>
                </a:ext>
              </a:extLst>
            </p:cNvPr>
            <p:cNvSpPr/>
            <p:nvPr/>
          </p:nvSpPr>
          <p:spPr>
            <a:xfrm>
              <a:off x="0" y="0"/>
              <a:ext cx="11375390" cy="2132711"/>
            </a:xfrm>
            <a:custGeom>
              <a:avLst/>
              <a:gdLst/>
              <a:ahLst/>
              <a:cxnLst/>
              <a:rect l="l" t="t" r="r" b="b"/>
              <a:pathLst>
                <a:path w="11375390" h="2132711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11019917" y="0"/>
                  </a:lnTo>
                  <a:cubicBezTo>
                    <a:pt x="11216260" y="0"/>
                    <a:pt x="11375390" y="159131"/>
                    <a:pt x="11375390" y="355473"/>
                  </a:cubicBezTo>
                  <a:lnTo>
                    <a:pt x="11375390" y="1777238"/>
                  </a:lnTo>
                  <a:cubicBezTo>
                    <a:pt x="11375390" y="1973580"/>
                    <a:pt x="11216260" y="2132711"/>
                    <a:pt x="11019917" y="2132711"/>
                  </a:cubicBezTo>
                  <a:lnTo>
                    <a:pt x="355473" y="2132711"/>
                  </a:lnTo>
                  <a:cubicBezTo>
                    <a:pt x="159131" y="2132711"/>
                    <a:pt x="0" y="1973580"/>
                    <a:pt x="0" y="1777238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66" name="Group 48">
            <a:extLst>
              <a:ext uri="{FF2B5EF4-FFF2-40B4-BE49-F238E27FC236}">
                <a16:creationId xmlns:a16="http://schemas.microsoft.com/office/drawing/2014/main" id="{F18DF22B-4503-F997-E8A4-6755CD5DB353}"/>
              </a:ext>
            </a:extLst>
          </p:cNvPr>
          <p:cNvGrpSpPr/>
          <p:nvPr/>
        </p:nvGrpSpPr>
        <p:grpSpPr>
          <a:xfrm>
            <a:off x="4524573" y="1324454"/>
            <a:ext cx="68633" cy="789285"/>
            <a:chOff x="0" y="0"/>
            <a:chExt cx="183020" cy="2104758"/>
          </a:xfrm>
        </p:grpSpPr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260E1B46-5316-66A0-941D-76947C15EE53}"/>
                </a:ext>
              </a:extLst>
            </p:cNvPr>
            <p:cNvSpPr/>
            <p:nvPr/>
          </p:nvSpPr>
          <p:spPr>
            <a:xfrm>
              <a:off x="0" y="0"/>
              <a:ext cx="183007" cy="2104771"/>
            </a:xfrm>
            <a:custGeom>
              <a:avLst/>
              <a:gdLst/>
              <a:ahLst/>
              <a:cxnLst/>
              <a:rect l="l" t="t" r="r" b="b"/>
              <a:pathLst>
                <a:path w="183007" h="2104771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2074291"/>
                  </a:lnTo>
                  <a:cubicBezTo>
                    <a:pt x="183007" y="2091182"/>
                    <a:pt x="169291" y="2104771"/>
                    <a:pt x="152527" y="2104771"/>
                  </a:cubicBezTo>
                  <a:lnTo>
                    <a:pt x="30480" y="2104771"/>
                  </a:lnTo>
                  <a:cubicBezTo>
                    <a:pt x="13589" y="2104771"/>
                    <a:pt x="0" y="2091055"/>
                    <a:pt x="0" y="2074291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sp>
        <p:nvSpPr>
          <p:cNvPr id="68" name="TextBox 50">
            <a:extLst>
              <a:ext uri="{FF2B5EF4-FFF2-40B4-BE49-F238E27FC236}">
                <a16:creationId xmlns:a16="http://schemas.microsoft.com/office/drawing/2014/main" id="{48366B17-431C-052B-77A8-FB4D08E9E5D2}"/>
              </a:ext>
            </a:extLst>
          </p:cNvPr>
          <p:cNvSpPr txBox="1"/>
          <p:nvPr/>
        </p:nvSpPr>
        <p:spPr>
          <a:xfrm>
            <a:off x="4735718" y="1488438"/>
            <a:ext cx="39807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Active Learning</a:t>
            </a:r>
          </a:p>
        </p:txBody>
      </p:sp>
      <p:grpSp>
        <p:nvGrpSpPr>
          <p:cNvPr id="69" name="Group 51">
            <a:extLst>
              <a:ext uri="{FF2B5EF4-FFF2-40B4-BE49-F238E27FC236}">
                <a16:creationId xmlns:a16="http://schemas.microsoft.com/office/drawing/2014/main" id="{7F3C863C-9FD2-560F-73C4-105E3213CA82}"/>
              </a:ext>
            </a:extLst>
          </p:cNvPr>
          <p:cNvGrpSpPr/>
          <p:nvPr/>
        </p:nvGrpSpPr>
        <p:grpSpPr>
          <a:xfrm>
            <a:off x="401315" y="2232039"/>
            <a:ext cx="3476482" cy="799772"/>
            <a:chOff x="0" y="0"/>
            <a:chExt cx="9270619" cy="2132724"/>
          </a:xfrm>
        </p:grpSpPr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BBF32B0D-3E74-67A1-7A8C-9547E227D75F}"/>
                </a:ext>
              </a:extLst>
            </p:cNvPr>
            <p:cNvSpPr/>
            <p:nvPr/>
          </p:nvSpPr>
          <p:spPr>
            <a:xfrm>
              <a:off x="0" y="0"/>
              <a:ext cx="9270619" cy="2132711"/>
            </a:xfrm>
            <a:custGeom>
              <a:avLst/>
              <a:gdLst/>
              <a:ahLst/>
              <a:cxnLst/>
              <a:rect l="l" t="t" r="r" b="b"/>
              <a:pathLst>
                <a:path w="9270619" h="2132711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8915146" y="0"/>
                  </a:lnTo>
                  <a:cubicBezTo>
                    <a:pt x="9111488" y="0"/>
                    <a:pt x="9270619" y="159131"/>
                    <a:pt x="9270619" y="355473"/>
                  </a:cubicBezTo>
                  <a:lnTo>
                    <a:pt x="9270619" y="1777238"/>
                  </a:lnTo>
                  <a:cubicBezTo>
                    <a:pt x="9270619" y="1973580"/>
                    <a:pt x="9111488" y="2132711"/>
                    <a:pt x="8915146" y="2132711"/>
                  </a:cubicBezTo>
                  <a:lnTo>
                    <a:pt x="355473" y="2132711"/>
                  </a:lnTo>
                  <a:cubicBezTo>
                    <a:pt x="159131" y="2132711"/>
                    <a:pt x="0" y="1973580"/>
                    <a:pt x="0" y="1777238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71" name="Group 53">
            <a:extLst>
              <a:ext uri="{FF2B5EF4-FFF2-40B4-BE49-F238E27FC236}">
                <a16:creationId xmlns:a16="http://schemas.microsoft.com/office/drawing/2014/main" id="{EC54E02D-770B-1A88-B145-B44D74F6B725}"/>
              </a:ext>
            </a:extLst>
          </p:cNvPr>
          <p:cNvGrpSpPr/>
          <p:nvPr/>
        </p:nvGrpSpPr>
        <p:grpSpPr>
          <a:xfrm>
            <a:off x="406558" y="2237282"/>
            <a:ext cx="68633" cy="789285"/>
            <a:chOff x="0" y="0"/>
            <a:chExt cx="183020" cy="2104758"/>
          </a:xfrm>
        </p:grpSpPr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2B3DFCD2-3AF4-98B6-D6A1-3A0A25A6B16C}"/>
                </a:ext>
              </a:extLst>
            </p:cNvPr>
            <p:cNvSpPr/>
            <p:nvPr/>
          </p:nvSpPr>
          <p:spPr>
            <a:xfrm>
              <a:off x="0" y="0"/>
              <a:ext cx="183007" cy="2104771"/>
            </a:xfrm>
            <a:custGeom>
              <a:avLst/>
              <a:gdLst/>
              <a:ahLst/>
              <a:cxnLst/>
              <a:rect l="l" t="t" r="r" b="b"/>
              <a:pathLst>
                <a:path w="183007" h="2104771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2074291"/>
                  </a:lnTo>
                  <a:cubicBezTo>
                    <a:pt x="183007" y="2091182"/>
                    <a:pt x="169291" y="2104771"/>
                    <a:pt x="152527" y="2104771"/>
                  </a:cubicBezTo>
                  <a:lnTo>
                    <a:pt x="30480" y="2104771"/>
                  </a:lnTo>
                  <a:cubicBezTo>
                    <a:pt x="13589" y="2104771"/>
                    <a:pt x="0" y="2091055"/>
                    <a:pt x="0" y="2074291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sp>
        <p:nvSpPr>
          <p:cNvPr id="73" name="TextBox 55">
            <a:extLst>
              <a:ext uri="{FF2B5EF4-FFF2-40B4-BE49-F238E27FC236}">
                <a16:creationId xmlns:a16="http://schemas.microsoft.com/office/drawing/2014/main" id="{69EC9800-03E5-3912-BAA0-C0023B97CA38}"/>
              </a:ext>
            </a:extLst>
          </p:cNvPr>
          <p:cNvSpPr txBox="1"/>
          <p:nvPr/>
        </p:nvSpPr>
        <p:spPr>
          <a:xfrm>
            <a:off x="617704" y="2401261"/>
            <a:ext cx="319146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일반화</a:t>
            </a:r>
          </a:p>
        </p:txBody>
      </p:sp>
      <p:grpSp>
        <p:nvGrpSpPr>
          <p:cNvPr id="74" name="Group 56">
            <a:extLst>
              <a:ext uri="{FF2B5EF4-FFF2-40B4-BE49-F238E27FC236}">
                <a16:creationId xmlns:a16="http://schemas.microsoft.com/office/drawing/2014/main" id="{4B6D017E-4896-675E-F0F8-32CFFA9164C7}"/>
              </a:ext>
            </a:extLst>
          </p:cNvPr>
          <p:cNvGrpSpPr/>
          <p:nvPr/>
        </p:nvGrpSpPr>
        <p:grpSpPr>
          <a:xfrm>
            <a:off x="3996097" y="2515246"/>
            <a:ext cx="288260" cy="233353"/>
            <a:chOff x="0" y="0"/>
            <a:chExt cx="768693" cy="622275"/>
          </a:xfrm>
        </p:grpSpPr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30F66225-0350-C681-2C23-7BA3176A7D40}"/>
                </a:ext>
              </a:extLst>
            </p:cNvPr>
            <p:cNvSpPr/>
            <p:nvPr/>
          </p:nvSpPr>
          <p:spPr>
            <a:xfrm>
              <a:off x="0" y="0"/>
              <a:ext cx="768731" cy="622300"/>
            </a:xfrm>
            <a:custGeom>
              <a:avLst/>
              <a:gdLst/>
              <a:ahLst/>
              <a:cxnLst/>
              <a:rect l="l" t="t" r="r" b="b"/>
              <a:pathLst>
                <a:path w="768731" h="622300">
                  <a:moveTo>
                    <a:pt x="0" y="155575"/>
                  </a:moveTo>
                  <a:lnTo>
                    <a:pt x="457581" y="155575"/>
                  </a:lnTo>
                  <a:lnTo>
                    <a:pt x="457581" y="0"/>
                  </a:lnTo>
                  <a:lnTo>
                    <a:pt x="768731" y="311150"/>
                  </a:lnTo>
                  <a:lnTo>
                    <a:pt x="457581" y="622300"/>
                  </a:lnTo>
                  <a:lnTo>
                    <a:pt x="457581" y="466725"/>
                  </a:lnTo>
                  <a:lnTo>
                    <a:pt x="0" y="466725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76" name="Group 58">
            <a:extLst>
              <a:ext uri="{FF2B5EF4-FFF2-40B4-BE49-F238E27FC236}">
                <a16:creationId xmlns:a16="http://schemas.microsoft.com/office/drawing/2014/main" id="{11A0974D-099A-BA78-9E65-A69A3D62B5E7}"/>
              </a:ext>
            </a:extLst>
          </p:cNvPr>
          <p:cNvGrpSpPr/>
          <p:nvPr/>
        </p:nvGrpSpPr>
        <p:grpSpPr>
          <a:xfrm>
            <a:off x="4519334" y="2232039"/>
            <a:ext cx="4265772" cy="799772"/>
            <a:chOff x="0" y="0"/>
            <a:chExt cx="11375390" cy="2132724"/>
          </a:xfrm>
        </p:grpSpPr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F4CE38D-EDC2-2108-F08D-DD5427CAE5D0}"/>
                </a:ext>
              </a:extLst>
            </p:cNvPr>
            <p:cNvSpPr/>
            <p:nvPr/>
          </p:nvSpPr>
          <p:spPr>
            <a:xfrm>
              <a:off x="0" y="0"/>
              <a:ext cx="11375390" cy="2132711"/>
            </a:xfrm>
            <a:custGeom>
              <a:avLst/>
              <a:gdLst/>
              <a:ahLst/>
              <a:cxnLst/>
              <a:rect l="l" t="t" r="r" b="b"/>
              <a:pathLst>
                <a:path w="11375390" h="2132711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11019917" y="0"/>
                  </a:lnTo>
                  <a:cubicBezTo>
                    <a:pt x="11216260" y="0"/>
                    <a:pt x="11375390" y="159131"/>
                    <a:pt x="11375390" y="355473"/>
                  </a:cubicBezTo>
                  <a:lnTo>
                    <a:pt x="11375390" y="1777238"/>
                  </a:lnTo>
                  <a:cubicBezTo>
                    <a:pt x="11375390" y="1973580"/>
                    <a:pt x="11216260" y="2132711"/>
                    <a:pt x="11019917" y="2132711"/>
                  </a:cubicBezTo>
                  <a:lnTo>
                    <a:pt x="355473" y="2132711"/>
                  </a:lnTo>
                  <a:cubicBezTo>
                    <a:pt x="159131" y="2132711"/>
                    <a:pt x="0" y="1973580"/>
                    <a:pt x="0" y="1777238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78" name="Group 60">
            <a:extLst>
              <a:ext uri="{FF2B5EF4-FFF2-40B4-BE49-F238E27FC236}">
                <a16:creationId xmlns:a16="http://schemas.microsoft.com/office/drawing/2014/main" id="{265926B6-8083-F31C-1961-19C295430715}"/>
              </a:ext>
            </a:extLst>
          </p:cNvPr>
          <p:cNvGrpSpPr/>
          <p:nvPr/>
        </p:nvGrpSpPr>
        <p:grpSpPr>
          <a:xfrm>
            <a:off x="4524573" y="2237282"/>
            <a:ext cx="68633" cy="789285"/>
            <a:chOff x="0" y="0"/>
            <a:chExt cx="183020" cy="2104758"/>
          </a:xfrm>
        </p:grpSpPr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71069657-7FDF-5695-ED4B-2BFF3F0C7E07}"/>
                </a:ext>
              </a:extLst>
            </p:cNvPr>
            <p:cNvSpPr/>
            <p:nvPr/>
          </p:nvSpPr>
          <p:spPr>
            <a:xfrm>
              <a:off x="0" y="0"/>
              <a:ext cx="183007" cy="2104771"/>
            </a:xfrm>
            <a:custGeom>
              <a:avLst/>
              <a:gdLst/>
              <a:ahLst/>
              <a:cxnLst/>
              <a:rect l="l" t="t" r="r" b="b"/>
              <a:pathLst>
                <a:path w="183007" h="2104771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2074291"/>
                  </a:lnTo>
                  <a:cubicBezTo>
                    <a:pt x="183007" y="2091182"/>
                    <a:pt x="169291" y="2104771"/>
                    <a:pt x="152527" y="2104771"/>
                  </a:cubicBezTo>
                  <a:lnTo>
                    <a:pt x="30480" y="2104771"/>
                  </a:lnTo>
                  <a:cubicBezTo>
                    <a:pt x="13589" y="2104771"/>
                    <a:pt x="0" y="2091055"/>
                    <a:pt x="0" y="2074291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sp>
        <p:nvSpPr>
          <p:cNvPr id="80" name="TextBox 62">
            <a:extLst>
              <a:ext uri="{FF2B5EF4-FFF2-40B4-BE49-F238E27FC236}">
                <a16:creationId xmlns:a16="http://schemas.microsoft.com/office/drawing/2014/main" id="{A2578F77-5698-1B92-12D3-DF8E62C4F064}"/>
              </a:ext>
            </a:extLst>
          </p:cNvPr>
          <p:cNvSpPr txBox="1"/>
          <p:nvPr/>
        </p:nvSpPr>
        <p:spPr>
          <a:xfrm>
            <a:off x="4744832" y="2401261"/>
            <a:ext cx="39807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선순환 재학습</a:t>
            </a:r>
          </a:p>
        </p:txBody>
      </p:sp>
      <p:grpSp>
        <p:nvGrpSpPr>
          <p:cNvPr id="81" name="Group 63">
            <a:extLst>
              <a:ext uri="{FF2B5EF4-FFF2-40B4-BE49-F238E27FC236}">
                <a16:creationId xmlns:a16="http://schemas.microsoft.com/office/drawing/2014/main" id="{A14407D0-6078-4728-5F8F-C76DD9D10788}"/>
              </a:ext>
            </a:extLst>
          </p:cNvPr>
          <p:cNvGrpSpPr/>
          <p:nvPr/>
        </p:nvGrpSpPr>
        <p:grpSpPr>
          <a:xfrm>
            <a:off x="401315" y="3144867"/>
            <a:ext cx="3476482" cy="799772"/>
            <a:chOff x="0" y="0"/>
            <a:chExt cx="9270619" cy="2132724"/>
          </a:xfrm>
        </p:grpSpPr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330DA675-364A-3665-0AAE-88D8C2A48E59}"/>
                </a:ext>
              </a:extLst>
            </p:cNvPr>
            <p:cNvSpPr/>
            <p:nvPr/>
          </p:nvSpPr>
          <p:spPr>
            <a:xfrm>
              <a:off x="0" y="0"/>
              <a:ext cx="9270619" cy="2132711"/>
            </a:xfrm>
            <a:custGeom>
              <a:avLst/>
              <a:gdLst/>
              <a:ahLst/>
              <a:cxnLst/>
              <a:rect l="l" t="t" r="r" b="b"/>
              <a:pathLst>
                <a:path w="9270619" h="2132711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8915146" y="0"/>
                  </a:lnTo>
                  <a:cubicBezTo>
                    <a:pt x="9111488" y="0"/>
                    <a:pt x="9270619" y="159131"/>
                    <a:pt x="9270619" y="355473"/>
                  </a:cubicBezTo>
                  <a:lnTo>
                    <a:pt x="9270619" y="1777238"/>
                  </a:lnTo>
                  <a:cubicBezTo>
                    <a:pt x="9270619" y="1973580"/>
                    <a:pt x="9111488" y="2132711"/>
                    <a:pt x="8915146" y="2132711"/>
                  </a:cubicBezTo>
                  <a:lnTo>
                    <a:pt x="355473" y="2132711"/>
                  </a:lnTo>
                  <a:cubicBezTo>
                    <a:pt x="159131" y="2132711"/>
                    <a:pt x="0" y="1973580"/>
                    <a:pt x="0" y="1777238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83" name="Group 65">
            <a:extLst>
              <a:ext uri="{FF2B5EF4-FFF2-40B4-BE49-F238E27FC236}">
                <a16:creationId xmlns:a16="http://schemas.microsoft.com/office/drawing/2014/main" id="{DB2991D8-6777-F7A2-7C00-69C01ED11B53}"/>
              </a:ext>
            </a:extLst>
          </p:cNvPr>
          <p:cNvGrpSpPr/>
          <p:nvPr/>
        </p:nvGrpSpPr>
        <p:grpSpPr>
          <a:xfrm>
            <a:off x="406558" y="3150111"/>
            <a:ext cx="68633" cy="789285"/>
            <a:chOff x="0" y="0"/>
            <a:chExt cx="183020" cy="2104758"/>
          </a:xfrm>
        </p:grpSpPr>
        <p:sp>
          <p:nvSpPr>
            <p:cNvPr id="85" name="Freeform 66">
              <a:extLst>
                <a:ext uri="{FF2B5EF4-FFF2-40B4-BE49-F238E27FC236}">
                  <a16:creationId xmlns:a16="http://schemas.microsoft.com/office/drawing/2014/main" id="{442A733F-BAEA-E060-1649-ECF7FA4A1DDF}"/>
                </a:ext>
              </a:extLst>
            </p:cNvPr>
            <p:cNvSpPr/>
            <p:nvPr/>
          </p:nvSpPr>
          <p:spPr>
            <a:xfrm>
              <a:off x="0" y="0"/>
              <a:ext cx="183007" cy="2104771"/>
            </a:xfrm>
            <a:custGeom>
              <a:avLst/>
              <a:gdLst/>
              <a:ahLst/>
              <a:cxnLst/>
              <a:rect l="l" t="t" r="r" b="b"/>
              <a:pathLst>
                <a:path w="183007" h="2104771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2074291"/>
                  </a:lnTo>
                  <a:cubicBezTo>
                    <a:pt x="183007" y="2091182"/>
                    <a:pt x="169291" y="2104771"/>
                    <a:pt x="152527" y="2104771"/>
                  </a:cubicBezTo>
                  <a:lnTo>
                    <a:pt x="30480" y="2104771"/>
                  </a:lnTo>
                  <a:cubicBezTo>
                    <a:pt x="13589" y="2104771"/>
                    <a:pt x="0" y="2091055"/>
                    <a:pt x="0" y="2074291"/>
                  </a:cubicBezTo>
                  <a:close/>
                </a:path>
              </a:pathLst>
            </a:custGeom>
            <a:solidFill>
              <a:srgbClr val="8B9462"/>
            </a:solidFill>
          </p:spPr>
        </p:sp>
      </p:grpSp>
      <p:sp>
        <p:nvSpPr>
          <p:cNvPr id="86" name="TextBox 67">
            <a:extLst>
              <a:ext uri="{FF2B5EF4-FFF2-40B4-BE49-F238E27FC236}">
                <a16:creationId xmlns:a16="http://schemas.microsoft.com/office/drawing/2014/main" id="{58FC0AE4-0BE4-289B-F3FA-6A95A31193C0}"/>
              </a:ext>
            </a:extLst>
          </p:cNvPr>
          <p:cNvSpPr txBox="1"/>
          <p:nvPr/>
        </p:nvSpPr>
        <p:spPr>
          <a:xfrm>
            <a:off x="617704" y="3314090"/>
            <a:ext cx="3191461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운영 검증</a:t>
            </a:r>
          </a:p>
        </p:txBody>
      </p:sp>
      <p:grpSp>
        <p:nvGrpSpPr>
          <p:cNvPr id="87" name="Group 68">
            <a:extLst>
              <a:ext uri="{FF2B5EF4-FFF2-40B4-BE49-F238E27FC236}">
                <a16:creationId xmlns:a16="http://schemas.microsoft.com/office/drawing/2014/main" id="{D6232E0D-A117-5430-1A20-00138414AA9A}"/>
              </a:ext>
            </a:extLst>
          </p:cNvPr>
          <p:cNvGrpSpPr/>
          <p:nvPr/>
        </p:nvGrpSpPr>
        <p:grpSpPr>
          <a:xfrm>
            <a:off x="3996097" y="3428074"/>
            <a:ext cx="288260" cy="233353"/>
            <a:chOff x="0" y="0"/>
            <a:chExt cx="768693" cy="622275"/>
          </a:xfrm>
        </p:grpSpPr>
        <p:sp>
          <p:nvSpPr>
            <p:cNvPr id="88" name="Freeform 69">
              <a:extLst>
                <a:ext uri="{FF2B5EF4-FFF2-40B4-BE49-F238E27FC236}">
                  <a16:creationId xmlns:a16="http://schemas.microsoft.com/office/drawing/2014/main" id="{B822A17E-B3DD-3E0C-751B-AA22F5BB7E96}"/>
                </a:ext>
              </a:extLst>
            </p:cNvPr>
            <p:cNvSpPr/>
            <p:nvPr/>
          </p:nvSpPr>
          <p:spPr>
            <a:xfrm>
              <a:off x="0" y="0"/>
              <a:ext cx="768731" cy="622300"/>
            </a:xfrm>
            <a:custGeom>
              <a:avLst/>
              <a:gdLst/>
              <a:ahLst/>
              <a:cxnLst/>
              <a:rect l="l" t="t" r="r" b="b"/>
              <a:pathLst>
                <a:path w="768731" h="622300">
                  <a:moveTo>
                    <a:pt x="0" y="155575"/>
                  </a:moveTo>
                  <a:lnTo>
                    <a:pt x="457581" y="155575"/>
                  </a:lnTo>
                  <a:lnTo>
                    <a:pt x="457581" y="0"/>
                  </a:lnTo>
                  <a:lnTo>
                    <a:pt x="768731" y="311150"/>
                  </a:lnTo>
                  <a:lnTo>
                    <a:pt x="457581" y="622300"/>
                  </a:lnTo>
                  <a:lnTo>
                    <a:pt x="457581" y="466725"/>
                  </a:lnTo>
                  <a:lnTo>
                    <a:pt x="0" y="466725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89" name="Group 70">
            <a:extLst>
              <a:ext uri="{FF2B5EF4-FFF2-40B4-BE49-F238E27FC236}">
                <a16:creationId xmlns:a16="http://schemas.microsoft.com/office/drawing/2014/main" id="{75B7D50E-70A0-3EC0-3554-A8DB1FC3AE58}"/>
              </a:ext>
            </a:extLst>
          </p:cNvPr>
          <p:cNvGrpSpPr/>
          <p:nvPr/>
        </p:nvGrpSpPr>
        <p:grpSpPr>
          <a:xfrm>
            <a:off x="4519334" y="3144867"/>
            <a:ext cx="4265772" cy="799772"/>
            <a:chOff x="0" y="0"/>
            <a:chExt cx="11375390" cy="2132724"/>
          </a:xfrm>
        </p:grpSpPr>
        <p:sp>
          <p:nvSpPr>
            <p:cNvPr id="90" name="Freeform 71">
              <a:extLst>
                <a:ext uri="{FF2B5EF4-FFF2-40B4-BE49-F238E27FC236}">
                  <a16:creationId xmlns:a16="http://schemas.microsoft.com/office/drawing/2014/main" id="{FC84BDBE-3751-A1FA-73F0-55B281FABA06}"/>
                </a:ext>
              </a:extLst>
            </p:cNvPr>
            <p:cNvSpPr/>
            <p:nvPr/>
          </p:nvSpPr>
          <p:spPr>
            <a:xfrm>
              <a:off x="0" y="0"/>
              <a:ext cx="11375390" cy="2132711"/>
            </a:xfrm>
            <a:custGeom>
              <a:avLst/>
              <a:gdLst/>
              <a:ahLst/>
              <a:cxnLst/>
              <a:rect l="l" t="t" r="r" b="b"/>
              <a:pathLst>
                <a:path w="11375390" h="2132711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11019917" y="0"/>
                  </a:lnTo>
                  <a:cubicBezTo>
                    <a:pt x="11216260" y="0"/>
                    <a:pt x="11375390" y="159131"/>
                    <a:pt x="11375390" y="355473"/>
                  </a:cubicBezTo>
                  <a:lnTo>
                    <a:pt x="11375390" y="1777238"/>
                  </a:lnTo>
                  <a:cubicBezTo>
                    <a:pt x="11375390" y="1973580"/>
                    <a:pt x="11216260" y="2132711"/>
                    <a:pt x="11019917" y="2132711"/>
                  </a:cubicBezTo>
                  <a:lnTo>
                    <a:pt x="355473" y="2132711"/>
                  </a:lnTo>
                  <a:cubicBezTo>
                    <a:pt x="159131" y="2132711"/>
                    <a:pt x="0" y="1973580"/>
                    <a:pt x="0" y="1777238"/>
                  </a:cubicBezTo>
                  <a:close/>
                </a:path>
              </a:pathLst>
            </a:custGeom>
            <a:solidFill>
              <a:srgbClr val="FFFFFF"/>
            </a:solidFill>
            <a:ln w="20971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91" name="Group 72">
            <a:extLst>
              <a:ext uri="{FF2B5EF4-FFF2-40B4-BE49-F238E27FC236}">
                <a16:creationId xmlns:a16="http://schemas.microsoft.com/office/drawing/2014/main" id="{B06E83E7-E662-ED56-5925-CD95824E66F2}"/>
              </a:ext>
            </a:extLst>
          </p:cNvPr>
          <p:cNvGrpSpPr/>
          <p:nvPr/>
        </p:nvGrpSpPr>
        <p:grpSpPr>
          <a:xfrm>
            <a:off x="4524573" y="3150111"/>
            <a:ext cx="68633" cy="789285"/>
            <a:chOff x="0" y="0"/>
            <a:chExt cx="183020" cy="2104758"/>
          </a:xfrm>
        </p:grpSpPr>
        <p:sp>
          <p:nvSpPr>
            <p:cNvPr id="92" name="Freeform 73">
              <a:extLst>
                <a:ext uri="{FF2B5EF4-FFF2-40B4-BE49-F238E27FC236}">
                  <a16:creationId xmlns:a16="http://schemas.microsoft.com/office/drawing/2014/main" id="{A8EC47C3-76C1-8A95-C56B-618702302C58}"/>
                </a:ext>
              </a:extLst>
            </p:cNvPr>
            <p:cNvSpPr/>
            <p:nvPr/>
          </p:nvSpPr>
          <p:spPr>
            <a:xfrm>
              <a:off x="0" y="0"/>
              <a:ext cx="183007" cy="2104771"/>
            </a:xfrm>
            <a:custGeom>
              <a:avLst/>
              <a:gdLst/>
              <a:ahLst/>
              <a:cxnLst/>
              <a:rect l="l" t="t" r="r" b="b"/>
              <a:pathLst>
                <a:path w="183007" h="2104771">
                  <a:moveTo>
                    <a:pt x="0" y="30480"/>
                  </a:moveTo>
                  <a:cubicBezTo>
                    <a:pt x="0" y="13716"/>
                    <a:pt x="13716" y="0"/>
                    <a:pt x="30480" y="0"/>
                  </a:cubicBezTo>
                  <a:lnTo>
                    <a:pt x="152527" y="0"/>
                  </a:lnTo>
                  <a:cubicBezTo>
                    <a:pt x="169418" y="0"/>
                    <a:pt x="183007" y="13716"/>
                    <a:pt x="183007" y="30480"/>
                  </a:cubicBezTo>
                  <a:lnTo>
                    <a:pt x="183007" y="2074291"/>
                  </a:lnTo>
                  <a:cubicBezTo>
                    <a:pt x="183007" y="2091182"/>
                    <a:pt x="169291" y="2104771"/>
                    <a:pt x="152527" y="2104771"/>
                  </a:cubicBezTo>
                  <a:lnTo>
                    <a:pt x="30480" y="2104771"/>
                  </a:lnTo>
                  <a:cubicBezTo>
                    <a:pt x="13589" y="2104771"/>
                    <a:pt x="0" y="2091055"/>
                    <a:pt x="0" y="2074291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sp>
        <p:nvSpPr>
          <p:cNvPr id="93" name="TextBox 74">
            <a:extLst>
              <a:ext uri="{FF2B5EF4-FFF2-40B4-BE49-F238E27FC236}">
                <a16:creationId xmlns:a16="http://schemas.microsoft.com/office/drawing/2014/main" id="{6AFAC028-B7BE-83AE-7C2B-805679ED8079}"/>
              </a:ext>
            </a:extLst>
          </p:cNvPr>
          <p:cNvSpPr txBox="1"/>
          <p:nvPr/>
        </p:nvSpPr>
        <p:spPr>
          <a:xfrm>
            <a:off x="4735718" y="3314090"/>
            <a:ext cx="3980750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333D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현장 검증</a:t>
            </a:r>
          </a:p>
        </p:txBody>
      </p:sp>
      <p:sp>
        <p:nvSpPr>
          <p:cNvPr id="94" name="TextBox 75">
            <a:extLst>
              <a:ext uri="{FF2B5EF4-FFF2-40B4-BE49-F238E27FC236}">
                <a16:creationId xmlns:a16="http://schemas.microsoft.com/office/drawing/2014/main" id="{063B4B9A-F6E9-DEF7-D5A6-90350268CB64}"/>
              </a:ext>
            </a:extLst>
          </p:cNvPr>
          <p:cNvSpPr txBox="1"/>
          <p:nvPr/>
        </p:nvSpPr>
        <p:spPr>
          <a:xfrm>
            <a:off x="627708" y="1747669"/>
            <a:ext cx="2741001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불량 표본 극소수, 라벨이 run 단위라 시점 시차</a:t>
            </a:r>
          </a:p>
        </p:txBody>
      </p:sp>
      <p:sp>
        <p:nvSpPr>
          <p:cNvPr id="95" name="TextBox 76">
            <a:extLst>
              <a:ext uri="{FF2B5EF4-FFF2-40B4-BE49-F238E27FC236}">
                <a16:creationId xmlns:a16="http://schemas.microsoft.com/office/drawing/2014/main" id="{E4F6982F-3CC7-9E64-BEE9-3B20BBF9B51D}"/>
              </a:ext>
            </a:extLst>
          </p:cNvPr>
          <p:cNvSpPr txBox="1"/>
          <p:nvPr/>
        </p:nvSpPr>
        <p:spPr>
          <a:xfrm>
            <a:off x="617704" y="2690482"/>
            <a:ext cx="2346855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설비·제품·조건 변화 시 분포·임계값 변동</a:t>
            </a:r>
          </a:p>
        </p:txBody>
      </p:sp>
      <p:sp>
        <p:nvSpPr>
          <p:cNvPr id="96" name="TextBox 77">
            <a:extLst>
              <a:ext uri="{FF2B5EF4-FFF2-40B4-BE49-F238E27FC236}">
                <a16:creationId xmlns:a16="http://schemas.microsoft.com/office/drawing/2014/main" id="{9B2DCFF3-0F94-1802-0513-3743D143DF4A}"/>
              </a:ext>
            </a:extLst>
          </p:cNvPr>
          <p:cNvSpPr txBox="1"/>
          <p:nvPr/>
        </p:nvSpPr>
        <p:spPr>
          <a:xfrm>
            <a:off x="627708" y="3589023"/>
            <a:ext cx="2133534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실시간 알람 빈도·현장 활용성 미검증</a:t>
            </a:r>
          </a:p>
        </p:txBody>
      </p:sp>
      <p:sp>
        <p:nvSpPr>
          <p:cNvPr id="97" name="TextBox 78">
            <a:extLst>
              <a:ext uri="{FF2B5EF4-FFF2-40B4-BE49-F238E27FC236}">
                <a16:creationId xmlns:a16="http://schemas.microsoft.com/office/drawing/2014/main" id="{8C8A30B2-EBE8-9128-725C-F0AA1DFE66FF}"/>
              </a:ext>
            </a:extLst>
          </p:cNvPr>
          <p:cNvSpPr txBox="1"/>
          <p:nvPr/>
        </p:nvSpPr>
        <p:spPr>
          <a:xfrm>
            <a:off x="4712268" y="1741305"/>
            <a:ext cx="2624993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불확실 구간 우선 재라벨링으로 시점 정밀화</a:t>
            </a:r>
          </a:p>
        </p:txBody>
      </p:sp>
      <p:sp>
        <p:nvSpPr>
          <p:cNvPr id="100" name="TextBox 79">
            <a:extLst>
              <a:ext uri="{FF2B5EF4-FFF2-40B4-BE49-F238E27FC236}">
                <a16:creationId xmlns:a16="http://schemas.microsoft.com/office/drawing/2014/main" id="{4674DE61-DF6B-E7D6-D944-12119866D703}"/>
              </a:ext>
            </a:extLst>
          </p:cNvPr>
          <p:cNvSpPr txBox="1"/>
          <p:nvPr/>
        </p:nvSpPr>
        <p:spPr>
          <a:xfrm>
            <a:off x="4744832" y="2690482"/>
            <a:ext cx="1834886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오탐·미탐 사례를 재학습에 반영</a:t>
            </a:r>
          </a:p>
        </p:txBody>
      </p:sp>
      <p:sp>
        <p:nvSpPr>
          <p:cNvPr id="101" name="TextBox 80">
            <a:extLst>
              <a:ext uri="{FF2B5EF4-FFF2-40B4-BE49-F238E27FC236}">
                <a16:creationId xmlns:a16="http://schemas.microsoft.com/office/drawing/2014/main" id="{B12C8AF7-4CFF-57FA-1736-F75EA2920078}"/>
              </a:ext>
            </a:extLst>
          </p:cNvPr>
          <p:cNvSpPr txBox="1"/>
          <p:nvPr/>
        </p:nvSpPr>
        <p:spPr>
          <a:xfrm>
            <a:off x="4745605" y="3589023"/>
            <a:ext cx="2560258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대시보드 기반 알람 적정 수준·프로세스 점검</a:t>
            </a:r>
          </a:p>
        </p:txBody>
      </p:sp>
      <p:grpSp>
        <p:nvGrpSpPr>
          <p:cNvPr id="102" name="Group 81">
            <a:extLst>
              <a:ext uri="{FF2B5EF4-FFF2-40B4-BE49-F238E27FC236}">
                <a16:creationId xmlns:a16="http://schemas.microsoft.com/office/drawing/2014/main" id="{8257E079-2A6F-CB49-F501-692525928F51}"/>
              </a:ext>
            </a:extLst>
          </p:cNvPr>
          <p:cNvGrpSpPr/>
          <p:nvPr/>
        </p:nvGrpSpPr>
        <p:grpSpPr>
          <a:xfrm>
            <a:off x="475191" y="955278"/>
            <a:ext cx="2244259" cy="233629"/>
            <a:chOff x="0" y="0"/>
            <a:chExt cx="5984689" cy="623011"/>
          </a:xfrm>
        </p:grpSpPr>
        <p:grpSp>
          <p:nvGrpSpPr>
            <p:cNvPr id="103" name="Group 82">
              <a:extLst>
                <a:ext uri="{FF2B5EF4-FFF2-40B4-BE49-F238E27FC236}">
                  <a16:creationId xmlns:a16="http://schemas.microsoft.com/office/drawing/2014/main" id="{DA5044EA-98F0-F00F-77B3-DAA3B8E5F2F2}"/>
                </a:ext>
              </a:extLst>
            </p:cNvPr>
            <p:cNvGrpSpPr/>
            <p:nvPr/>
          </p:nvGrpSpPr>
          <p:grpSpPr>
            <a:xfrm>
              <a:off x="0" y="0"/>
              <a:ext cx="5984689" cy="623011"/>
              <a:chOff x="0" y="0"/>
              <a:chExt cx="9517190" cy="990747"/>
            </a:xfrm>
          </p:grpSpPr>
          <p:sp>
            <p:nvSpPr>
              <p:cNvPr id="105" name="Freeform 83">
                <a:extLst>
                  <a:ext uri="{FF2B5EF4-FFF2-40B4-BE49-F238E27FC236}">
                    <a16:creationId xmlns:a16="http://schemas.microsoft.com/office/drawing/2014/main" id="{2BAFBEFF-09E1-BF3B-2D52-89C96A60EEE4}"/>
                  </a:ext>
                </a:extLst>
              </p:cNvPr>
              <p:cNvSpPr/>
              <p:nvPr/>
            </p:nvSpPr>
            <p:spPr>
              <a:xfrm>
                <a:off x="0" y="0"/>
                <a:ext cx="9517126" cy="990798"/>
              </a:xfrm>
              <a:custGeom>
                <a:avLst/>
                <a:gdLst/>
                <a:ahLst/>
                <a:cxnLst/>
                <a:rect l="l" t="t" r="r" b="b"/>
                <a:pathLst>
                  <a:path w="9517126" h="990798">
                    <a:moveTo>
                      <a:pt x="0" y="495401"/>
                    </a:moveTo>
                    <a:lnTo>
                      <a:pt x="228727" y="0"/>
                    </a:lnTo>
                    <a:lnTo>
                      <a:pt x="9288399" y="0"/>
                    </a:lnTo>
                    <a:lnTo>
                      <a:pt x="9517126" y="495401"/>
                    </a:lnTo>
                    <a:lnTo>
                      <a:pt x="9288399" y="990798"/>
                    </a:lnTo>
                    <a:lnTo>
                      <a:pt x="228727" y="990798"/>
                    </a:lnTo>
                    <a:close/>
                  </a:path>
                </a:pathLst>
              </a:custGeom>
              <a:solidFill>
                <a:srgbClr val="4C5733"/>
              </a:solidFill>
            </p:spPr>
          </p:sp>
        </p:grpSp>
        <p:sp>
          <p:nvSpPr>
            <p:cNvPr id="104" name="TextBox 84">
              <a:extLst>
                <a:ext uri="{FF2B5EF4-FFF2-40B4-BE49-F238E27FC236}">
                  <a16:creationId xmlns:a16="http://schemas.microsoft.com/office/drawing/2014/main" id="{68C78EE4-E561-440D-1FB5-6F17D937B7CF}"/>
                </a:ext>
              </a:extLst>
            </p:cNvPr>
            <p:cNvSpPr txBox="1"/>
            <p:nvPr/>
          </p:nvSpPr>
          <p:spPr>
            <a:xfrm>
              <a:off x="853677" y="19416"/>
              <a:ext cx="4277335" cy="518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48"/>
                </a:lnSpc>
                <a:spcBef>
                  <a:spcPct val="0"/>
                </a:spcBef>
              </a:pPr>
              <a:r>
                <a:rPr lang="en-US" sz="130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한계</a:t>
              </a:r>
            </a:p>
          </p:txBody>
        </p:sp>
      </p:grpSp>
      <p:grpSp>
        <p:nvGrpSpPr>
          <p:cNvPr id="106" name="Group 85">
            <a:extLst>
              <a:ext uri="{FF2B5EF4-FFF2-40B4-BE49-F238E27FC236}">
                <a16:creationId xmlns:a16="http://schemas.microsoft.com/office/drawing/2014/main" id="{DC20D6CA-D6E7-70CC-24D0-4856907135AA}"/>
              </a:ext>
            </a:extLst>
          </p:cNvPr>
          <p:cNvGrpSpPr/>
          <p:nvPr/>
        </p:nvGrpSpPr>
        <p:grpSpPr>
          <a:xfrm>
            <a:off x="4593205" y="955278"/>
            <a:ext cx="2244259" cy="233629"/>
            <a:chOff x="0" y="0"/>
            <a:chExt cx="5984689" cy="623011"/>
          </a:xfrm>
        </p:grpSpPr>
        <p:grpSp>
          <p:nvGrpSpPr>
            <p:cNvPr id="107" name="Group 86">
              <a:extLst>
                <a:ext uri="{FF2B5EF4-FFF2-40B4-BE49-F238E27FC236}">
                  <a16:creationId xmlns:a16="http://schemas.microsoft.com/office/drawing/2014/main" id="{2C377099-307E-C94D-F5B9-C1A2BEA6EA0E}"/>
                </a:ext>
              </a:extLst>
            </p:cNvPr>
            <p:cNvGrpSpPr/>
            <p:nvPr/>
          </p:nvGrpSpPr>
          <p:grpSpPr>
            <a:xfrm>
              <a:off x="0" y="0"/>
              <a:ext cx="5984689" cy="623011"/>
              <a:chOff x="0" y="0"/>
              <a:chExt cx="9517190" cy="990747"/>
            </a:xfrm>
          </p:grpSpPr>
          <p:sp>
            <p:nvSpPr>
              <p:cNvPr id="109" name="Freeform 87">
                <a:extLst>
                  <a:ext uri="{FF2B5EF4-FFF2-40B4-BE49-F238E27FC236}">
                    <a16:creationId xmlns:a16="http://schemas.microsoft.com/office/drawing/2014/main" id="{EA9A7519-A8FF-4EF7-6A7F-DF4D4776A1E2}"/>
                  </a:ext>
                </a:extLst>
              </p:cNvPr>
              <p:cNvSpPr/>
              <p:nvPr/>
            </p:nvSpPr>
            <p:spPr>
              <a:xfrm>
                <a:off x="0" y="0"/>
                <a:ext cx="9517126" cy="990798"/>
              </a:xfrm>
              <a:custGeom>
                <a:avLst/>
                <a:gdLst/>
                <a:ahLst/>
                <a:cxnLst/>
                <a:rect l="l" t="t" r="r" b="b"/>
                <a:pathLst>
                  <a:path w="9517126" h="990798">
                    <a:moveTo>
                      <a:pt x="0" y="495401"/>
                    </a:moveTo>
                    <a:lnTo>
                      <a:pt x="228727" y="0"/>
                    </a:lnTo>
                    <a:lnTo>
                      <a:pt x="9288399" y="0"/>
                    </a:lnTo>
                    <a:lnTo>
                      <a:pt x="9517126" y="495401"/>
                    </a:lnTo>
                    <a:lnTo>
                      <a:pt x="9288399" y="990798"/>
                    </a:lnTo>
                    <a:lnTo>
                      <a:pt x="228727" y="990798"/>
                    </a:lnTo>
                    <a:close/>
                  </a:path>
                </a:pathLst>
              </a:custGeom>
              <a:solidFill>
                <a:srgbClr val="4B5733"/>
              </a:solidFill>
            </p:spPr>
          </p:sp>
        </p:grpSp>
        <p:sp>
          <p:nvSpPr>
            <p:cNvPr id="108" name="TextBox 88">
              <a:extLst>
                <a:ext uri="{FF2B5EF4-FFF2-40B4-BE49-F238E27FC236}">
                  <a16:creationId xmlns:a16="http://schemas.microsoft.com/office/drawing/2014/main" id="{0BDCDC20-6F3D-2A4C-300A-0AE0733E2301}"/>
                </a:ext>
              </a:extLst>
            </p:cNvPr>
            <p:cNvSpPr txBox="1"/>
            <p:nvPr/>
          </p:nvSpPr>
          <p:spPr>
            <a:xfrm>
              <a:off x="853677" y="19416"/>
              <a:ext cx="4277335" cy="518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48"/>
                </a:lnSpc>
                <a:spcBef>
                  <a:spcPct val="0"/>
                </a:spcBef>
              </a:pPr>
              <a:r>
                <a:rPr lang="en-US" sz="1308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개선 방향</a:t>
              </a:r>
            </a:p>
          </p:txBody>
        </p:sp>
      </p:grpSp>
      <p:pic>
        <p:nvPicPr>
          <p:cNvPr id="110" name="Image 1" descr="preencoded.png">
            <a:extLst>
              <a:ext uri="{FF2B5EF4-FFF2-40B4-BE49-F238E27FC236}">
                <a16:creationId xmlns:a16="http://schemas.microsoft.com/office/drawing/2014/main" id="{32A30900-3380-115E-94E7-0BFC6208DA8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111" name="Text 2">
            <a:extLst>
              <a:ext uri="{FF2B5EF4-FFF2-40B4-BE49-F238E27FC236}">
                <a16:creationId xmlns:a16="http://schemas.microsoft.com/office/drawing/2014/main" id="{531BF0AC-7ACC-895A-2FC3-BD0C7E7C66E9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112" name="Text 9">
            <a:extLst>
              <a:ext uri="{FF2B5EF4-FFF2-40B4-BE49-F238E27FC236}">
                <a16:creationId xmlns:a16="http://schemas.microsoft.com/office/drawing/2014/main" id="{ECB6CA97-3A64-3833-2AEF-C3D63F3258C3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731548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6AE3B-750D-CA58-79AE-6137B01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F885659-3E83-1B2B-7A22-E5426231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E2689EA-DD82-F1AD-42F4-B2BF00F4F4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31A8140-E8B7-68F3-7FCF-A0BF0F9A97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44BC853-466A-FEE0-3B10-06493508BC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8"/>
          <a:stretch/>
        </p:blipFill>
        <p:spPr>
          <a:xfrm>
            <a:off x="18217" y="-34"/>
            <a:ext cx="9107616" cy="58102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F40F917E-FEAF-9421-5D44-3A6517CE95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84" name="Text 26">
            <a:extLst>
              <a:ext uri="{FF2B5EF4-FFF2-40B4-BE49-F238E27FC236}">
                <a16:creationId xmlns:a16="http://schemas.microsoft.com/office/drawing/2014/main" id="{7EAB050B-010F-384C-2EF5-085C891A3A74}"/>
              </a:ext>
            </a:extLst>
          </p:cNvPr>
          <p:cNvSpPr/>
          <p:nvPr/>
        </p:nvSpPr>
        <p:spPr>
          <a:xfrm>
            <a:off x="3005137" y="276225"/>
            <a:ext cx="53244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ts val="985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문헌 </a:t>
            </a:r>
            <a:r>
              <a:rPr lang="en-US" altLang="ko-KR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&amp; </a:t>
            </a:r>
            <a:r>
              <a:rPr lang="ko-KR" altLang="en-US" sz="12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endParaRPr lang="en-US" sz="1200" dirty="0"/>
          </a:p>
        </p:txBody>
      </p:sp>
      <p:pic>
        <p:nvPicPr>
          <p:cNvPr id="99" name="Image 56" descr="preencoded.png">
            <a:extLst>
              <a:ext uri="{FF2B5EF4-FFF2-40B4-BE49-F238E27FC236}">
                <a16:creationId xmlns:a16="http://schemas.microsoft.com/office/drawing/2014/main" id="{E3F452C9-14F9-9BA6-D61D-0A26F2959E4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58200" y="309563"/>
            <a:ext cx="300038" cy="300038"/>
          </a:xfrm>
          <a:prstGeom prst="rect">
            <a:avLst/>
          </a:prstGeom>
        </p:spPr>
      </p:pic>
      <p:grpSp>
        <p:nvGrpSpPr>
          <p:cNvPr id="8" name="Group 5">
            <a:extLst>
              <a:ext uri="{FF2B5EF4-FFF2-40B4-BE49-F238E27FC236}">
                <a16:creationId xmlns:a16="http://schemas.microsoft.com/office/drawing/2014/main" id="{2554EABF-AAA8-8DDD-A15D-C51B8D44EEC2}"/>
              </a:ext>
            </a:extLst>
          </p:cNvPr>
          <p:cNvGrpSpPr/>
          <p:nvPr/>
        </p:nvGrpSpPr>
        <p:grpSpPr>
          <a:xfrm>
            <a:off x="377486" y="809878"/>
            <a:ext cx="8393892" cy="15097"/>
            <a:chOff x="0" y="0"/>
            <a:chExt cx="22383712" cy="40259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F6BEF27-7E78-8F16-6A36-C6DAE0D500E9}"/>
                </a:ext>
              </a:extLst>
            </p:cNvPr>
            <p:cNvSpPr/>
            <p:nvPr/>
          </p:nvSpPr>
          <p:spPr>
            <a:xfrm>
              <a:off x="0" y="0"/>
              <a:ext cx="22383750" cy="40259"/>
            </a:xfrm>
            <a:custGeom>
              <a:avLst/>
              <a:gdLst/>
              <a:ahLst/>
              <a:cxnLst/>
              <a:rect l="l" t="t" r="r" b="b"/>
              <a:pathLst>
                <a:path w="22383750" h="40259">
                  <a:moveTo>
                    <a:pt x="0" y="0"/>
                  </a:moveTo>
                  <a:lnTo>
                    <a:pt x="22383750" y="0"/>
                  </a:lnTo>
                  <a:lnTo>
                    <a:pt x="22383750" y="40259"/>
                  </a:lnTo>
                  <a:lnTo>
                    <a:pt x="0" y="40259"/>
                  </a:ln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ED216B-FD89-A7A1-F51B-7739D9235E56}"/>
              </a:ext>
            </a:extLst>
          </p:cNvPr>
          <p:cNvGrpSpPr/>
          <p:nvPr/>
        </p:nvGrpSpPr>
        <p:grpSpPr>
          <a:xfrm>
            <a:off x="376197" y="1334577"/>
            <a:ext cx="2722469" cy="3031317"/>
            <a:chOff x="0" y="0"/>
            <a:chExt cx="7259917" cy="80835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E9E45F9-D24E-8562-35CE-C17CF54BFB01}"/>
                </a:ext>
              </a:extLst>
            </p:cNvPr>
            <p:cNvSpPr/>
            <p:nvPr/>
          </p:nvSpPr>
          <p:spPr>
            <a:xfrm>
              <a:off x="0" y="0"/>
              <a:ext cx="7259955" cy="8083550"/>
            </a:xfrm>
            <a:custGeom>
              <a:avLst/>
              <a:gdLst/>
              <a:ahLst/>
              <a:cxnLst/>
              <a:rect l="l" t="t" r="r" b="b"/>
              <a:pathLst>
                <a:path w="7259955" h="8083550">
                  <a:moveTo>
                    <a:pt x="0" y="1210056"/>
                  </a:moveTo>
                  <a:cubicBezTo>
                    <a:pt x="0" y="541782"/>
                    <a:pt x="541782" y="0"/>
                    <a:pt x="1210056" y="0"/>
                  </a:cubicBezTo>
                  <a:lnTo>
                    <a:pt x="6049899" y="0"/>
                  </a:lnTo>
                  <a:cubicBezTo>
                    <a:pt x="6718173" y="0"/>
                    <a:pt x="7259955" y="541782"/>
                    <a:pt x="7259955" y="1210056"/>
                  </a:cubicBezTo>
                  <a:lnTo>
                    <a:pt x="7259955" y="6873494"/>
                  </a:lnTo>
                  <a:cubicBezTo>
                    <a:pt x="7259955" y="7541768"/>
                    <a:pt x="6718173" y="8083550"/>
                    <a:pt x="6049899" y="8083550"/>
                  </a:cubicBezTo>
                  <a:lnTo>
                    <a:pt x="1210056" y="8083550"/>
                  </a:lnTo>
                  <a:cubicBezTo>
                    <a:pt x="541782" y="8083550"/>
                    <a:pt x="0" y="7541768"/>
                    <a:pt x="0" y="6873494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160F7B-B547-5301-D084-94397F547FD7}"/>
              </a:ext>
            </a:extLst>
          </p:cNvPr>
          <p:cNvGrpSpPr/>
          <p:nvPr/>
        </p:nvGrpSpPr>
        <p:grpSpPr>
          <a:xfrm>
            <a:off x="381917" y="1340297"/>
            <a:ext cx="2711030" cy="343167"/>
            <a:chOff x="0" y="0"/>
            <a:chExt cx="7229412" cy="91511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497B8F7-06BE-07FA-C642-A786F1D6C9AF}"/>
                </a:ext>
              </a:extLst>
            </p:cNvPr>
            <p:cNvSpPr/>
            <p:nvPr/>
          </p:nvSpPr>
          <p:spPr>
            <a:xfrm>
              <a:off x="0" y="0"/>
              <a:ext cx="7229475" cy="915162"/>
            </a:xfrm>
            <a:custGeom>
              <a:avLst/>
              <a:gdLst/>
              <a:ahLst/>
              <a:cxnLst/>
              <a:rect l="l" t="t" r="r" b="b"/>
              <a:pathLst>
                <a:path w="7229475" h="915162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7076948" y="0"/>
                  </a:lnTo>
                  <a:cubicBezTo>
                    <a:pt x="7161149" y="0"/>
                    <a:pt x="7229475" y="68326"/>
                    <a:pt x="7229475" y="152527"/>
                  </a:cubicBezTo>
                  <a:lnTo>
                    <a:pt x="7229475" y="762635"/>
                  </a:lnTo>
                  <a:cubicBezTo>
                    <a:pt x="7229475" y="846836"/>
                    <a:pt x="7161149" y="915162"/>
                    <a:pt x="7076948" y="915162"/>
                  </a:cubicBezTo>
                  <a:lnTo>
                    <a:pt x="152527" y="915162"/>
                  </a:lnTo>
                  <a:cubicBezTo>
                    <a:pt x="68326" y="915162"/>
                    <a:pt x="0" y="846836"/>
                    <a:pt x="0" y="762635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1791272-E602-D829-4034-2BF7EFAA8DD2}"/>
              </a:ext>
            </a:extLst>
          </p:cNvPr>
          <p:cNvGrpSpPr/>
          <p:nvPr/>
        </p:nvGrpSpPr>
        <p:grpSpPr>
          <a:xfrm>
            <a:off x="381917" y="1340297"/>
            <a:ext cx="2711030" cy="343168"/>
            <a:chOff x="0" y="0"/>
            <a:chExt cx="7229412" cy="915115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492EE5A-0382-5F4B-C3D3-CA08E0BC1C41}"/>
                </a:ext>
              </a:extLst>
            </p:cNvPr>
            <p:cNvSpPr/>
            <p:nvPr/>
          </p:nvSpPr>
          <p:spPr>
            <a:xfrm>
              <a:off x="0" y="0"/>
              <a:ext cx="7229408" cy="915119"/>
            </a:xfrm>
            <a:custGeom>
              <a:avLst/>
              <a:gdLst/>
              <a:ahLst/>
              <a:cxnLst/>
              <a:rect l="l" t="t" r="r" b="b"/>
              <a:pathLst>
                <a:path w="7229408" h="915119">
                  <a:moveTo>
                    <a:pt x="0" y="0"/>
                  </a:moveTo>
                  <a:lnTo>
                    <a:pt x="7229408" y="0"/>
                  </a:lnTo>
                  <a:lnTo>
                    <a:pt x="722940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3931" b="-103930"/>
              </a:stretch>
            </a:blipFill>
          </p:spPr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2392A5-C416-F152-E976-CD02442914C0}"/>
                </a:ext>
              </a:extLst>
            </p:cNvPr>
            <p:cNvSpPr txBox="1"/>
            <p:nvPr/>
          </p:nvSpPr>
          <p:spPr>
            <a:xfrm>
              <a:off x="0" y="-9525"/>
              <a:ext cx="7229412" cy="92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71"/>
                </a:lnSpc>
              </a:pPr>
              <a:r>
                <a:rPr lang="en-US" sz="122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통계 · 방법론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4E4789-05AD-C1B3-A0D6-B56531655EF0}"/>
              </a:ext>
            </a:extLst>
          </p:cNvPr>
          <p:cNvGrpSpPr/>
          <p:nvPr/>
        </p:nvGrpSpPr>
        <p:grpSpPr>
          <a:xfrm>
            <a:off x="3210766" y="1334577"/>
            <a:ext cx="2722469" cy="3031317"/>
            <a:chOff x="0" y="0"/>
            <a:chExt cx="7259917" cy="8083512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DB18DF2-B15D-C244-6C12-B2AB723C942A}"/>
                </a:ext>
              </a:extLst>
            </p:cNvPr>
            <p:cNvSpPr/>
            <p:nvPr/>
          </p:nvSpPr>
          <p:spPr>
            <a:xfrm>
              <a:off x="0" y="0"/>
              <a:ext cx="7259955" cy="8083550"/>
            </a:xfrm>
            <a:custGeom>
              <a:avLst/>
              <a:gdLst/>
              <a:ahLst/>
              <a:cxnLst/>
              <a:rect l="l" t="t" r="r" b="b"/>
              <a:pathLst>
                <a:path w="7259955" h="8083550">
                  <a:moveTo>
                    <a:pt x="0" y="1210056"/>
                  </a:moveTo>
                  <a:cubicBezTo>
                    <a:pt x="0" y="541782"/>
                    <a:pt x="541782" y="0"/>
                    <a:pt x="1210056" y="0"/>
                  </a:cubicBezTo>
                  <a:lnTo>
                    <a:pt x="6049899" y="0"/>
                  </a:lnTo>
                  <a:cubicBezTo>
                    <a:pt x="6718173" y="0"/>
                    <a:pt x="7259955" y="541782"/>
                    <a:pt x="7259955" y="1210056"/>
                  </a:cubicBezTo>
                  <a:lnTo>
                    <a:pt x="7259955" y="6873494"/>
                  </a:lnTo>
                  <a:cubicBezTo>
                    <a:pt x="7259955" y="7541768"/>
                    <a:pt x="6718173" y="8083550"/>
                    <a:pt x="6049899" y="8083550"/>
                  </a:cubicBezTo>
                  <a:lnTo>
                    <a:pt x="1210056" y="8083550"/>
                  </a:lnTo>
                  <a:cubicBezTo>
                    <a:pt x="541782" y="8083550"/>
                    <a:pt x="0" y="7541768"/>
                    <a:pt x="0" y="6873494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319AD4-51BB-E760-4654-5E4FE0E59294}"/>
              </a:ext>
            </a:extLst>
          </p:cNvPr>
          <p:cNvGrpSpPr/>
          <p:nvPr/>
        </p:nvGrpSpPr>
        <p:grpSpPr>
          <a:xfrm>
            <a:off x="3216486" y="1340297"/>
            <a:ext cx="2711030" cy="343167"/>
            <a:chOff x="0" y="0"/>
            <a:chExt cx="7229412" cy="91511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0DEB191-FD07-682B-675F-E7BA994F4E8C}"/>
                </a:ext>
              </a:extLst>
            </p:cNvPr>
            <p:cNvSpPr/>
            <p:nvPr/>
          </p:nvSpPr>
          <p:spPr>
            <a:xfrm>
              <a:off x="0" y="0"/>
              <a:ext cx="7229475" cy="915162"/>
            </a:xfrm>
            <a:custGeom>
              <a:avLst/>
              <a:gdLst/>
              <a:ahLst/>
              <a:cxnLst/>
              <a:rect l="l" t="t" r="r" b="b"/>
              <a:pathLst>
                <a:path w="7229475" h="915162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7076948" y="0"/>
                  </a:lnTo>
                  <a:cubicBezTo>
                    <a:pt x="7161149" y="0"/>
                    <a:pt x="7229475" y="68326"/>
                    <a:pt x="7229475" y="152527"/>
                  </a:cubicBezTo>
                  <a:lnTo>
                    <a:pt x="7229475" y="762635"/>
                  </a:lnTo>
                  <a:cubicBezTo>
                    <a:pt x="7229475" y="846836"/>
                    <a:pt x="7161149" y="915162"/>
                    <a:pt x="7076948" y="915162"/>
                  </a:cubicBezTo>
                  <a:lnTo>
                    <a:pt x="152527" y="915162"/>
                  </a:lnTo>
                  <a:cubicBezTo>
                    <a:pt x="68326" y="915162"/>
                    <a:pt x="0" y="846836"/>
                    <a:pt x="0" y="762635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6EAA74-9DED-22B7-7EA4-E3E457663F03}"/>
              </a:ext>
            </a:extLst>
          </p:cNvPr>
          <p:cNvGrpSpPr/>
          <p:nvPr/>
        </p:nvGrpSpPr>
        <p:grpSpPr>
          <a:xfrm>
            <a:off x="3216486" y="1340297"/>
            <a:ext cx="2711030" cy="343168"/>
            <a:chOff x="0" y="0"/>
            <a:chExt cx="7229412" cy="915115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737541C-E429-77CF-D633-A79C86CB39D4}"/>
                </a:ext>
              </a:extLst>
            </p:cNvPr>
            <p:cNvSpPr/>
            <p:nvPr/>
          </p:nvSpPr>
          <p:spPr>
            <a:xfrm>
              <a:off x="0" y="0"/>
              <a:ext cx="7229408" cy="915119"/>
            </a:xfrm>
            <a:custGeom>
              <a:avLst/>
              <a:gdLst/>
              <a:ahLst/>
              <a:cxnLst/>
              <a:rect l="l" t="t" r="r" b="b"/>
              <a:pathLst>
                <a:path w="7229408" h="915119">
                  <a:moveTo>
                    <a:pt x="0" y="0"/>
                  </a:moveTo>
                  <a:lnTo>
                    <a:pt x="7229408" y="0"/>
                  </a:lnTo>
                  <a:lnTo>
                    <a:pt x="722940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3931" b="-103930"/>
              </a:stretch>
            </a:blipFill>
          </p:spPr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6568CB-EF8D-85B3-272F-90F4FC7DF5EA}"/>
                </a:ext>
              </a:extLst>
            </p:cNvPr>
            <p:cNvSpPr txBox="1"/>
            <p:nvPr/>
          </p:nvSpPr>
          <p:spPr>
            <a:xfrm>
              <a:off x="0" y="-9525"/>
              <a:ext cx="7229412" cy="92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71"/>
                </a:lnSpc>
              </a:pPr>
              <a:r>
                <a:rPr lang="en-US" sz="122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이상탐지 알고리즘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5EF758-84EB-266A-7E05-9E79897EB7B4}"/>
              </a:ext>
            </a:extLst>
          </p:cNvPr>
          <p:cNvGrpSpPr/>
          <p:nvPr/>
        </p:nvGrpSpPr>
        <p:grpSpPr>
          <a:xfrm>
            <a:off x="6045334" y="1334577"/>
            <a:ext cx="2722469" cy="3031317"/>
            <a:chOff x="0" y="0"/>
            <a:chExt cx="7259917" cy="8083512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134B5D6-F2F5-20D3-D786-BBC05273FB00}"/>
                </a:ext>
              </a:extLst>
            </p:cNvPr>
            <p:cNvSpPr/>
            <p:nvPr/>
          </p:nvSpPr>
          <p:spPr>
            <a:xfrm>
              <a:off x="0" y="0"/>
              <a:ext cx="7259955" cy="8083550"/>
            </a:xfrm>
            <a:custGeom>
              <a:avLst/>
              <a:gdLst/>
              <a:ahLst/>
              <a:cxnLst/>
              <a:rect l="l" t="t" r="r" b="b"/>
              <a:pathLst>
                <a:path w="7259955" h="8083550">
                  <a:moveTo>
                    <a:pt x="0" y="1210056"/>
                  </a:moveTo>
                  <a:cubicBezTo>
                    <a:pt x="0" y="541782"/>
                    <a:pt x="541782" y="0"/>
                    <a:pt x="1210056" y="0"/>
                  </a:cubicBezTo>
                  <a:lnTo>
                    <a:pt x="6049899" y="0"/>
                  </a:lnTo>
                  <a:cubicBezTo>
                    <a:pt x="6718173" y="0"/>
                    <a:pt x="7259955" y="541782"/>
                    <a:pt x="7259955" y="1210056"/>
                  </a:cubicBezTo>
                  <a:lnTo>
                    <a:pt x="7259955" y="6873494"/>
                  </a:lnTo>
                  <a:cubicBezTo>
                    <a:pt x="7259955" y="7541768"/>
                    <a:pt x="6718173" y="8083550"/>
                    <a:pt x="6049899" y="8083550"/>
                  </a:cubicBezTo>
                  <a:lnTo>
                    <a:pt x="1210056" y="8083550"/>
                  </a:lnTo>
                  <a:cubicBezTo>
                    <a:pt x="541782" y="8083550"/>
                    <a:pt x="0" y="7541768"/>
                    <a:pt x="0" y="6873494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D9DBC8"/>
              </a:solidFill>
              <a:prstDash val="solid"/>
              <a:miter/>
            </a:ln>
          </p:spPr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8DDE99-9911-1A0F-A6E2-803F6BCB685E}"/>
              </a:ext>
            </a:extLst>
          </p:cNvPr>
          <p:cNvGrpSpPr/>
          <p:nvPr/>
        </p:nvGrpSpPr>
        <p:grpSpPr>
          <a:xfrm>
            <a:off x="6051054" y="1340297"/>
            <a:ext cx="2711030" cy="343167"/>
            <a:chOff x="0" y="0"/>
            <a:chExt cx="7229412" cy="915111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61DAC23-BA71-CC83-6333-61E70859AADA}"/>
                </a:ext>
              </a:extLst>
            </p:cNvPr>
            <p:cNvSpPr/>
            <p:nvPr/>
          </p:nvSpPr>
          <p:spPr>
            <a:xfrm>
              <a:off x="0" y="0"/>
              <a:ext cx="7229475" cy="915162"/>
            </a:xfrm>
            <a:custGeom>
              <a:avLst/>
              <a:gdLst/>
              <a:ahLst/>
              <a:cxnLst/>
              <a:rect l="l" t="t" r="r" b="b"/>
              <a:pathLst>
                <a:path w="7229475" h="915162">
                  <a:moveTo>
                    <a:pt x="0" y="152527"/>
                  </a:moveTo>
                  <a:cubicBezTo>
                    <a:pt x="0" y="68326"/>
                    <a:pt x="68326" y="0"/>
                    <a:pt x="152527" y="0"/>
                  </a:cubicBezTo>
                  <a:lnTo>
                    <a:pt x="7076948" y="0"/>
                  </a:lnTo>
                  <a:cubicBezTo>
                    <a:pt x="7161149" y="0"/>
                    <a:pt x="7229475" y="68326"/>
                    <a:pt x="7229475" y="152527"/>
                  </a:cubicBezTo>
                  <a:lnTo>
                    <a:pt x="7229475" y="762635"/>
                  </a:lnTo>
                  <a:cubicBezTo>
                    <a:pt x="7229475" y="846836"/>
                    <a:pt x="7161149" y="915162"/>
                    <a:pt x="7076948" y="915162"/>
                  </a:cubicBezTo>
                  <a:lnTo>
                    <a:pt x="152527" y="915162"/>
                  </a:lnTo>
                  <a:cubicBezTo>
                    <a:pt x="68326" y="915162"/>
                    <a:pt x="0" y="846836"/>
                    <a:pt x="0" y="762635"/>
                  </a:cubicBezTo>
                  <a:close/>
                </a:path>
              </a:pathLst>
            </a:custGeom>
            <a:solidFill>
              <a:srgbClr val="4B5733"/>
            </a:solidFill>
          </p:spPr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026DFC8-0160-E38F-6D9F-0A624B72E9FE}"/>
              </a:ext>
            </a:extLst>
          </p:cNvPr>
          <p:cNvGrpSpPr/>
          <p:nvPr/>
        </p:nvGrpSpPr>
        <p:grpSpPr>
          <a:xfrm>
            <a:off x="6051054" y="1340297"/>
            <a:ext cx="2711030" cy="343168"/>
            <a:chOff x="0" y="0"/>
            <a:chExt cx="7229412" cy="91511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9BB5941F-A152-982D-9B6C-70CB3FDA58B8}"/>
                </a:ext>
              </a:extLst>
            </p:cNvPr>
            <p:cNvSpPr/>
            <p:nvPr/>
          </p:nvSpPr>
          <p:spPr>
            <a:xfrm>
              <a:off x="0" y="0"/>
              <a:ext cx="7229408" cy="915119"/>
            </a:xfrm>
            <a:custGeom>
              <a:avLst/>
              <a:gdLst/>
              <a:ahLst/>
              <a:cxnLst/>
              <a:rect l="l" t="t" r="r" b="b"/>
              <a:pathLst>
                <a:path w="7229408" h="915119">
                  <a:moveTo>
                    <a:pt x="0" y="0"/>
                  </a:moveTo>
                  <a:lnTo>
                    <a:pt x="7229408" y="0"/>
                  </a:lnTo>
                  <a:lnTo>
                    <a:pt x="722940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03931" b="-103930"/>
              </a:stretch>
            </a:blipFill>
          </p:spPr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ECCC67C-9390-47EF-14DB-1CFC252CF6B8}"/>
                </a:ext>
              </a:extLst>
            </p:cNvPr>
            <p:cNvSpPr txBox="1"/>
            <p:nvPr/>
          </p:nvSpPr>
          <p:spPr>
            <a:xfrm>
              <a:off x="0" y="-9525"/>
              <a:ext cx="7229412" cy="924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71"/>
                </a:lnSpc>
              </a:pPr>
              <a:r>
                <a:rPr lang="en-US" sz="1226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도메인 · 데이터 · 도구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C9986F4A-2E94-B1ED-ED50-FF13238DC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62571" y="3637720"/>
            <a:ext cx="577427" cy="597034"/>
          </a:xfrm>
          <a:prstGeom prst="rect">
            <a:avLst/>
          </a:prstGeom>
        </p:spPr>
      </p:pic>
      <p:grpSp>
        <p:nvGrpSpPr>
          <p:cNvPr id="64" name="Group 31">
            <a:extLst>
              <a:ext uri="{FF2B5EF4-FFF2-40B4-BE49-F238E27FC236}">
                <a16:creationId xmlns:a16="http://schemas.microsoft.com/office/drawing/2014/main" id="{A35B839C-D371-E3FB-E4F0-DC7BDC7FE8FB}"/>
              </a:ext>
            </a:extLst>
          </p:cNvPr>
          <p:cNvGrpSpPr/>
          <p:nvPr/>
        </p:nvGrpSpPr>
        <p:grpSpPr>
          <a:xfrm>
            <a:off x="2434962" y="3715688"/>
            <a:ext cx="428126" cy="441099"/>
            <a:chOff x="0" y="0"/>
            <a:chExt cx="1141668" cy="1176264"/>
          </a:xfrm>
        </p:grpSpPr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BF0B8A2B-6DA0-427F-F1E8-419DED0BF7F8}"/>
                </a:ext>
              </a:extLst>
            </p:cNvPr>
            <p:cNvSpPr/>
            <p:nvPr/>
          </p:nvSpPr>
          <p:spPr>
            <a:xfrm>
              <a:off x="0" y="0"/>
              <a:ext cx="1141668" cy="1176264"/>
            </a:xfrm>
            <a:custGeom>
              <a:avLst/>
              <a:gdLst/>
              <a:ahLst/>
              <a:cxnLst/>
              <a:rect l="l" t="t" r="r" b="b"/>
              <a:pathLst>
                <a:path w="1141668" h="1176264">
                  <a:moveTo>
                    <a:pt x="0" y="0"/>
                  </a:moveTo>
                  <a:lnTo>
                    <a:pt x="1141668" y="0"/>
                  </a:lnTo>
                  <a:lnTo>
                    <a:pt x="1141668" y="1176264"/>
                  </a:lnTo>
                  <a:lnTo>
                    <a:pt x="0" y="1176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66" name="TextBox 34">
            <a:extLst>
              <a:ext uri="{FF2B5EF4-FFF2-40B4-BE49-F238E27FC236}">
                <a16:creationId xmlns:a16="http://schemas.microsoft.com/office/drawing/2014/main" id="{6C0C80FE-1B1A-B335-4189-1D4D143B933C}"/>
              </a:ext>
            </a:extLst>
          </p:cNvPr>
          <p:cNvSpPr txBox="1"/>
          <p:nvPr/>
        </p:nvSpPr>
        <p:spPr>
          <a:xfrm>
            <a:off x="553500" y="1820171"/>
            <a:ext cx="2402177" cy="82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Benjamini &amp; Hochberg (1995) — FDR 보정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Ojala &amp; Garriga (2010) — Permutation Tests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Kerby (2014) — 비모수 상관(simple difference)</a:t>
            </a:r>
          </a:p>
        </p:txBody>
      </p:sp>
      <p:sp>
        <p:nvSpPr>
          <p:cNvPr id="67" name="TextBox 35">
            <a:extLst>
              <a:ext uri="{FF2B5EF4-FFF2-40B4-BE49-F238E27FC236}">
                <a16:creationId xmlns:a16="http://schemas.microsoft.com/office/drawing/2014/main" id="{2715AF7D-5CA6-308E-2431-681DD39DB6F4}"/>
              </a:ext>
            </a:extLst>
          </p:cNvPr>
          <p:cNvSpPr txBox="1"/>
          <p:nvPr/>
        </p:nvSpPr>
        <p:spPr>
          <a:xfrm>
            <a:off x="3388069" y="1820171"/>
            <a:ext cx="2402177" cy="82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Liu, Ting &amp; Zhou (2008) — Isolation Forest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Breunig et al. (2000) — LOF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Schölkopf et al. (2001) — One-Class SVM</a:t>
            </a:r>
          </a:p>
        </p:txBody>
      </p:sp>
      <p:sp>
        <p:nvSpPr>
          <p:cNvPr id="68" name="TextBox 36">
            <a:extLst>
              <a:ext uri="{FF2B5EF4-FFF2-40B4-BE49-F238E27FC236}">
                <a16:creationId xmlns:a16="http://schemas.microsoft.com/office/drawing/2014/main" id="{0C893668-7D59-3A66-38EF-253D1B02DE9C}"/>
              </a:ext>
            </a:extLst>
          </p:cNvPr>
          <p:cNvSpPr txBox="1"/>
          <p:nvPr/>
        </p:nvSpPr>
        <p:spPr>
          <a:xfrm>
            <a:off x="6222638" y="1820171"/>
            <a:ext cx="2402177" cy="65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MIL-A-8625F — Anodize Type 규격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everyspec / nprocessing — Anodizing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dataPARC — SPC Alarms</a:t>
            </a:r>
          </a:p>
          <a:p>
            <a:pPr>
              <a:lnSpc>
                <a:spcPts val="1344"/>
              </a:lnSpc>
            </a:pPr>
            <a:r>
              <a:rPr lang="en-US" sz="999" b="1">
                <a:solidFill>
                  <a:srgbClr val="4B57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 Medium"/>
              </a:rPr>
              <a:t>· </a:t>
            </a:r>
            <a:r>
              <a:rPr lang="en-US" sz="999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2Z"/>
              </a:rPr>
              <a:t>Tableau Public — Industrial Dashboard</a:t>
            </a:r>
          </a:p>
        </p:txBody>
      </p:sp>
      <p:grpSp>
        <p:nvGrpSpPr>
          <p:cNvPr id="69" name="Group 37">
            <a:extLst>
              <a:ext uri="{FF2B5EF4-FFF2-40B4-BE49-F238E27FC236}">
                <a16:creationId xmlns:a16="http://schemas.microsoft.com/office/drawing/2014/main" id="{2D6B3370-87A0-AFC9-9B93-5BE828A8170B}"/>
              </a:ext>
            </a:extLst>
          </p:cNvPr>
          <p:cNvGrpSpPr/>
          <p:nvPr/>
        </p:nvGrpSpPr>
        <p:grpSpPr>
          <a:xfrm>
            <a:off x="8101776" y="3766617"/>
            <a:ext cx="470732" cy="390170"/>
            <a:chOff x="0" y="0"/>
            <a:chExt cx="1255284" cy="1040454"/>
          </a:xfrm>
        </p:grpSpPr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D22CC98F-148F-5EBC-75D9-B8D5385F2D6C}"/>
                </a:ext>
              </a:extLst>
            </p:cNvPr>
            <p:cNvSpPr/>
            <p:nvPr/>
          </p:nvSpPr>
          <p:spPr>
            <a:xfrm>
              <a:off x="0" y="0"/>
              <a:ext cx="1255284" cy="1040454"/>
            </a:xfrm>
            <a:custGeom>
              <a:avLst/>
              <a:gdLst/>
              <a:ahLst/>
              <a:cxnLst/>
              <a:rect l="l" t="t" r="r" b="b"/>
              <a:pathLst>
                <a:path w="1255284" h="1040454">
                  <a:moveTo>
                    <a:pt x="0" y="0"/>
                  </a:moveTo>
                  <a:lnTo>
                    <a:pt x="1255284" y="0"/>
                  </a:lnTo>
                  <a:lnTo>
                    <a:pt x="1255284" y="1040454"/>
                  </a:lnTo>
                  <a:lnTo>
                    <a:pt x="0" y="1040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pic>
        <p:nvPicPr>
          <p:cNvPr id="71" name="Image 1" descr="preencoded.png">
            <a:extLst>
              <a:ext uri="{FF2B5EF4-FFF2-40B4-BE49-F238E27FC236}">
                <a16:creationId xmlns:a16="http://schemas.microsoft.com/office/drawing/2014/main" id="{5BF41868-A238-B5A4-6933-5B8F6A0EB0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42900" y="342900"/>
            <a:ext cx="342900" cy="257175"/>
          </a:xfrm>
          <a:prstGeom prst="rect">
            <a:avLst/>
          </a:prstGeom>
        </p:spPr>
      </p:pic>
      <p:sp>
        <p:nvSpPr>
          <p:cNvPr id="72" name="Text 2">
            <a:extLst>
              <a:ext uri="{FF2B5EF4-FFF2-40B4-BE49-F238E27FC236}">
                <a16:creationId xmlns:a16="http://schemas.microsoft.com/office/drawing/2014/main" id="{59AAD288-829E-250D-893B-06F1E104E4BD}"/>
              </a:ext>
            </a:extLst>
          </p:cNvPr>
          <p:cNvSpPr/>
          <p:nvPr/>
        </p:nvSpPr>
        <p:spPr>
          <a:xfrm>
            <a:off x="797589" y="299276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0"/>
              </a:lnSpc>
              <a:buNone/>
            </a:pPr>
            <a:r>
              <a:rPr lang="ko-KR" alt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sz="1568" b="1" kern="0" spc="6" dirty="0">
                <a:solidFill>
                  <a:srgbClr val="1A1A1A">
                    <a:alpha val="99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수행 경과</a:t>
            </a:r>
            <a:endParaRPr lang="en-US" sz="1568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AF3734CD-A31D-8F61-08D2-30B6892FA721}"/>
              </a:ext>
            </a:extLst>
          </p:cNvPr>
          <p:cNvSpPr/>
          <p:nvPr/>
        </p:nvSpPr>
        <p:spPr>
          <a:xfrm>
            <a:off x="428625" y="377856"/>
            <a:ext cx="204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0"/>
              </a:lnSpc>
              <a:buNone/>
            </a:pPr>
            <a:r>
              <a:rPr lang="en-US" sz="1140" b="1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40" dirty="0"/>
          </a:p>
        </p:txBody>
      </p:sp>
    </p:spTree>
    <p:extLst>
      <p:ext uri="{BB962C8B-B14F-4D97-AF65-F5344CB8AC3E}">
        <p14:creationId xmlns:p14="http://schemas.microsoft.com/office/powerpoint/2010/main" val="2241192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12" y="-34"/>
            <a:ext cx="9107610" cy="58103"/>
            <a:chOff x="0" y="0"/>
            <a:chExt cx="24286959" cy="15494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286972" cy="154940"/>
            </a:xfrm>
            <a:custGeom>
              <a:avLst/>
              <a:gdLst/>
              <a:ahLst/>
              <a:cxnLst/>
              <a:rect l="l" t="t" r="r" b="b"/>
              <a:pathLst>
                <a:path w="24286972" h="154940">
                  <a:moveTo>
                    <a:pt x="0" y="0"/>
                  </a:moveTo>
                  <a:lnTo>
                    <a:pt x="24286972" y="0"/>
                  </a:lnTo>
                  <a:lnTo>
                    <a:pt x="24286972" y="154940"/>
                  </a:lnTo>
                  <a:lnTo>
                    <a:pt x="0" y="154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5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900" y="342900"/>
            <a:ext cx="342900" cy="257175"/>
            <a:chOff x="0" y="0"/>
            <a:chExt cx="914400" cy="6858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0" y="0"/>
                  </a:moveTo>
                  <a:lnTo>
                    <a:pt x="914400" y="0"/>
                  </a:lnTo>
                  <a:lnTo>
                    <a:pt x="914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42900" y="771525"/>
            <a:ext cx="4114800" cy="4029075"/>
            <a:chOff x="0" y="0"/>
            <a:chExt cx="10972800" cy="107442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0972800" cy="10744200"/>
            </a:xfrm>
            <a:custGeom>
              <a:avLst/>
              <a:gdLst/>
              <a:ahLst/>
              <a:cxnLst/>
              <a:rect l="l" t="t" r="r" b="b"/>
              <a:pathLst>
                <a:path w="10972800" h="10744200">
                  <a:moveTo>
                    <a:pt x="0" y="0"/>
                  </a:moveTo>
                  <a:lnTo>
                    <a:pt x="10972800" y="0"/>
                  </a:lnTo>
                  <a:lnTo>
                    <a:pt x="10972800" y="10744200"/>
                  </a:lnTo>
                  <a:lnTo>
                    <a:pt x="0" y="1074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349753" y="1235583"/>
            <a:ext cx="4099946" cy="14859"/>
            <a:chOff x="0" y="0"/>
            <a:chExt cx="10933189" cy="39624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933176" cy="39624"/>
            </a:xfrm>
            <a:custGeom>
              <a:avLst/>
              <a:gdLst/>
              <a:ahLst/>
              <a:cxnLst/>
              <a:rect l="l" t="t" r="r" b="b"/>
              <a:pathLst>
                <a:path w="10933176" h="39624">
                  <a:moveTo>
                    <a:pt x="0" y="0"/>
                  </a:moveTo>
                  <a:lnTo>
                    <a:pt x="10933176" y="0"/>
                  </a:lnTo>
                  <a:lnTo>
                    <a:pt x="10933176" y="39624"/>
                  </a:lnTo>
                  <a:lnTo>
                    <a:pt x="0" y="39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21203" y="892683"/>
            <a:ext cx="228600" cy="228600"/>
            <a:chOff x="0" y="0"/>
            <a:chExt cx="609600" cy="6096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64647" y="950052"/>
            <a:ext cx="142875" cy="113891"/>
            <a:chOff x="0" y="0"/>
            <a:chExt cx="381000" cy="30370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381000" cy="303657"/>
            </a:xfrm>
            <a:custGeom>
              <a:avLst/>
              <a:gdLst/>
              <a:ahLst/>
              <a:cxnLst/>
              <a:rect l="l" t="t" r="r" b="b"/>
              <a:pathLst>
                <a:path w="381000" h="303657">
                  <a:moveTo>
                    <a:pt x="0" y="0"/>
                  </a:moveTo>
                  <a:lnTo>
                    <a:pt x="381000" y="0"/>
                  </a:lnTo>
                  <a:lnTo>
                    <a:pt x="381000" y="303657"/>
                  </a:lnTo>
                  <a:lnTo>
                    <a:pt x="0" y="303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506" b="-1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19150" y="923925"/>
            <a:ext cx="695325" cy="180975"/>
            <a:chOff x="0" y="0"/>
            <a:chExt cx="1854200" cy="482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54200" cy="482600"/>
            </a:xfrm>
            <a:custGeom>
              <a:avLst/>
              <a:gdLst/>
              <a:ahLst/>
              <a:cxnLst/>
              <a:rect l="l" t="t" r="r" b="b"/>
              <a:pathLst>
                <a:path w="1854200" h="482600">
                  <a:moveTo>
                    <a:pt x="0" y="0"/>
                  </a:moveTo>
                  <a:lnTo>
                    <a:pt x="1854200" y="0"/>
                  </a:lnTo>
                  <a:lnTo>
                    <a:pt x="18542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863" b="-2486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8542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피드백 반영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21203" y="1421892"/>
            <a:ext cx="3766571" cy="1459992"/>
            <a:chOff x="0" y="0"/>
            <a:chExt cx="10044189" cy="389331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0044176" cy="3893312"/>
            </a:xfrm>
            <a:custGeom>
              <a:avLst/>
              <a:gdLst/>
              <a:ahLst/>
              <a:cxnLst/>
              <a:rect l="l" t="t" r="r" b="b"/>
              <a:pathLst>
                <a:path w="10044176" h="3893312">
                  <a:moveTo>
                    <a:pt x="0" y="0"/>
                  </a:moveTo>
                  <a:lnTo>
                    <a:pt x="10044176" y="0"/>
                  </a:lnTo>
                  <a:lnTo>
                    <a:pt x="10044176" y="3893312"/>
                  </a:lnTo>
                  <a:lnTo>
                    <a:pt x="0" y="389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71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529204" y="1428750"/>
            <a:ext cx="3742182" cy="307467"/>
            <a:chOff x="0" y="0"/>
            <a:chExt cx="9979152" cy="81991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9979152" cy="819912"/>
            </a:xfrm>
            <a:custGeom>
              <a:avLst/>
              <a:gdLst/>
              <a:ahLst/>
              <a:cxnLst/>
              <a:rect l="l" t="t" r="r" b="b"/>
              <a:pathLst>
                <a:path w="9979152" h="819912">
                  <a:moveTo>
                    <a:pt x="0" y="0"/>
                  </a:moveTo>
                  <a:lnTo>
                    <a:pt x="9979152" y="0"/>
                  </a:lnTo>
                  <a:lnTo>
                    <a:pt x="9979152" y="819912"/>
                  </a:lnTo>
                  <a:lnTo>
                    <a:pt x="0" y="819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7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807877" y="1513332"/>
            <a:ext cx="400050" cy="123825"/>
            <a:chOff x="0" y="0"/>
            <a:chExt cx="1066800" cy="330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6800" cy="330200"/>
            </a:xfrm>
            <a:custGeom>
              <a:avLst/>
              <a:gdLst/>
              <a:ahLst/>
              <a:cxnLst/>
              <a:rect l="l" t="t" r="r" b="b"/>
              <a:pathLst>
                <a:path w="1066800" h="330200">
                  <a:moveTo>
                    <a:pt x="0" y="0"/>
                  </a:moveTo>
                  <a:lnTo>
                    <a:pt x="1066800" y="0"/>
                  </a:lnTo>
                  <a:lnTo>
                    <a:pt x="10668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066800" cy="33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39"/>
                </a:lnSpc>
              </a:pPr>
              <a:r>
                <a:rPr lang="en-US" sz="787" b="1">
                  <a:solidFill>
                    <a:srgbClr val="666666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BEFORE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3504" y="1528191"/>
            <a:ext cx="106299" cy="106299"/>
            <a:chOff x="0" y="0"/>
            <a:chExt cx="283464" cy="283464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283464" cy="283464"/>
            </a:xfrm>
            <a:custGeom>
              <a:avLst/>
              <a:gdLst/>
              <a:ahLst/>
              <a:cxnLst/>
              <a:rect l="l" t="t" r="r" b="b"/>
              <a:pathLst>
                <a:path w="283464" h="283464">
                  <a:moveTo>
                    <a:pt x="0" y="0"/>
                  </a:moveTo>
                  <a:lnTo>
                    <a:pt x="283464" y="0"/>
                  </a:lnTo>
                  <a:lnTo>
                    <a:pt x="283464" y="283464"/>
                  </a:lnTo>
                  <a:lnTo>
                    <a:pt x="0" y="283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3783330" y="1509903"/>
            <a:ext cx="378328" cy="141732"/>
            <a:chOff x="0" y="0"/>
            <a:chExt cx="1008875" cy="377952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008888" cy="377952"/>
            </a:xfrm>
            <a:custGeom>
              <a:avLst/>
              <a:gdLst/>
              <a:ahLst/>
              <a:cxnLst/>
              <a:rect l="l" t="t" r="r" b="b"/>
              <a:pathLst>
                <a:path w="1008888" h="377952">
                  <a:moveTo>
                    <a:pt x="0" y="0"/>
                  </a:moveTo>
                  <a:lnTo>
                    <a:pt x="1008888" y="0"/>
                  </a:lnTo>
                  <a:lnTo>
                    <a:pt x="1008888" y="377952"/>
                  </a:lnTo>
                  <a:lnTo>
                    <a:pt x="0" y="377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760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3840480" y="1525429"/>
            <a:ext cx="152400" cy="100013"/>
            <a:chOff x="0" y="0"/>
            <a:chExt cx="406400" cy="266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6400" cy="266701"/>
            </a:xfrm>
            <a:custGeom>
              <a:avLst/>
              <a:gdLst/>
              <a:ahLst/>
              <a:cxnLst/>
              <a:rect l="l" t="t" r="r" b="b"/>
              <a:pathLst>
                <a:path w="406400" h="266701">
                  <a:moveTo>
                    <a:pt x="0" y="0"/>
                  </a:moveTo>
                  <a:lnTo>
                    <a:pt x="406400" y="0"/>
                  </a:lnTo>
                  <a:lnTo>
                    <a:pt x="406400" y="266701"/>
                  </a:lnTo>
                  <a:lnTo>
                    <a:pt x="0" y="2667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r="-3419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064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65"/>
                </a:lnSpc>
              </a:pPr>
              <a:r>
                <a:rPr lang="en-US" sz="641" b="1">
                  <a:solidFill>
                    <a:srgbClr val="4B556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개선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016497" y="1525429"/>
            <a:ext cx="76200" cy="100013"/>
            <a:chOff x="0" y="0"/>
            <a:chExt cx="203200" cy="2667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200" cy="266701"/>
            </a:xfrm>
            <a:custGeom>
              <a:avLst/>
              <a:gdLst/>
              <a:ahLst/>
              <a:cxnLst/>
              <a:rect l="l" t="t" r="r" b="b"/>
              <a:pathLst>
                <a:path w="203200" h="266701">
                  <a:moveTo>
                    <a:pt x="0" y="0"/>
                  </a:moveTo>
                  <a:lnTo>
                    <a:pt x="203200" y="0"/>
                  </a:lnTo>
                  <a:lnTo>
                    <a:pt x="203200" y="266701"/>
                  </a:lnTo>
                  <a:lnTo>
                    <a:pt x="0" y="2667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8398" r="-11839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032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65"/>
                </a:lnSpc>
              </a:pPr>
              <a:r>
                <a:rPr lang="en-US" sz="641" b="1">
                  <a:solidFill>
                    <a:srgbClr val="4B556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전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9204" y="1732788"/>
            <a:ext cx="3742182" cy="1128141"/>
            <a:chOff x="0" y="0"/>
            <a:chExt cx="9979152" cy="3008376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9979152" cy="3008376"/>
            </a:xfrm>
            <a:custGeom>
              <a:avLst/>
              <a:gdLst/>
              <a:ahLst/>
              <a:cxnLst/>
              <a:rect l="l" t="t" r="r" b="b"/>
              <a:pathLst>
                <a:path w="9979152" h="3008376">
                  <a:moveTo>
                    <a:pt x="0" y="0"/>
                  </a:moveTo>
                  <a:lnTo>
                    <a:pt x="9979152" y="0"/>
                  </a:lnTo>
                  <a:lnTo>
                    <a:pt x="9979152" y="3008376"/>
                  </a:lnTo>
                  <a:lnTo>
                    <a:pt x="0" y="300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20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43504" y="2025396"/>
            <a:ext cx="3514725" cy="6858"/>
            <a:chOff x="0" y="0"/>
            <a:chExt cx="9372600" cy="18288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9372600" cy="18288"/>
            </a:xfrm>
            <a:custGeom>
              <a:avLst/>
              <a:gdLst/>
              <a:ahLst/>
              <a:cxnLst/>
              <a:rect l="l" t="t" r="r" b="b"/>
              <a:pathLst>
                <a:path w="9372600" h="18288">
                  <a:moveTo>
                    <a:pt x="0" y="0"/>
                  </a:moveTo>
                  <a:lnTo>
                    <a:pt x="9372600" y="0"/>
                  </a:lnTo>
                  <a:lnTo>
                    <a:pt x="937260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38888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643281" y="1866710"/>
            <a:ext cx="862013" cy="114300"/>
            <a:chOff x="0" y="0"/>
            <a:chExt cx="2298700" cy="304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98701" cy="304800"/>
            </a:xfrm>
            <a:custGeom>
              <a:avLst/>
              <a:gdLst/>
              <a:ahLst/>
              <a:cxnLst/>
              <a:rect l="l" t="t" r="r" b="b"/>
              <a:pathLst>
                <a:path w="2298701" h="304800">
                  <a:moveTo>
                    <a:pt x="0" y="0"/>
                  </a:moveTo>
                  <a:lnTo>
                    <a:pt x="2298701" y="0"/>
                  </a:lnTo>
                  <a:lnTo>
                    <a:pt x="229870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96949" b="-96949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22987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피드백 내용 / 문제 상황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7556" y="2447354"/>
            <a:ext cx="19050" cy="66675"/>
            <a:chOff x="0" y="0"/>
            <a:chExt cx="50800" cy="177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0800" cy="177800"/>
            </a:xfrm>
            <a:custGeom>
              <a:avLst/>
              <a:gdLst/>
              <a:ahLst/>
              <a:cxnLst/>
              <a:rect l="l" t="t" r="r" b="b"/>
              <a:pathLst>
                <a:path w="50800" h="177800">
                  <a:moveTo>
                    <a:pt x="0" y="0"/>
                  </a:moveTo>
                  <a:lnTo>
                    <a:pt x="50800" y="0"/>
                  </a:lnTo>
                  <a:lnTo>
                    <a:pt x="50800" y="177800"/>
                  </a:lnTo>
                  <a:lnTo>
                    <a:pt x="0" y="177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9062" r="-399062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50800" cy="196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0"/>
                </a:lnSpc>
              </a:pPr>
              <a:r>
                <a:rPr lang="en-US" sz="426">
                  <a:solidFill>
                    <a:srgbClr val="AAAAAA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1203" y="3175254"/>
            <a:ext cx="3766571" cy="1459992"/>
            <a:chOff x="0" y="0"/>
            <a:chExt cx="10044189" cy="3893312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10044176" cy="3893312"/>
            </a:xfrm>
            <a:custGeom>
              <a:avLst/>
              <a:gdLst/>
              <a:ahLst/>
              <a:cxnLst/>
              <a:rect l="l" t="t" r="r" b="b"/>
              <a:pathLst>
                <a:path w="10044176" h="3893312">
                  <a:moveTo>
                    <a:pt x="0" y="0"/>
                  </a:moveTo>
                  <a:lnTo>
                    <a:pt x="10044176" y="0"/>
                  </a:lnTo>
                  <a:lnTo>
                    <a:pt x="10044176" y="3893312"/>
                  </a:lnTo>
                  <a:lnTo>
                    <a:pt x="0" y="3893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71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529204" y="3183255"/>
            <a:ext cx="3742182" cy="306324"/>
            <a:chOff x="0" y="0"/>
            <a:chExt cx="9979152" cy="816864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9979152" cy="816864"/>
            </a:xfrm>
            <a:custGeom>
              <a:avLst/>
              <a:gdLst/>
              <a:ahLst/>
              <a:cxnLst/>
              <a:rect l="l" t="t" r="r" b="b"/>
              <a:pathLst>
                <a:path w="9979152" h="816864">
                  <a:moveTo>
                    <a:pt x="0" y="0"/>
                  </a:moveTo>
                  <a:lnTo>
                    <a:pt x="9979152" y="0"/>
                  </a:lnTo>
                  <a:lnTo>
                    <a:pt x="9979152" y="816864"/>
                  </a:lnTo>
                  <a:lnTo>
                    <a:pt x="0" y="816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9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807877" y="3267361"/>
            <a:ext cx="333375" cy="123825"/>
            <a:chOff x="0" y="0"/>
            <a:chExt cx="889000" cy="330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89000" cy="330200"/>
            </a:xfrm>
            <a:custGeom>
              <a:avLst/>
              <a:gdLst/>
              <a:ahLst/>
              <a:cxnLst/>
              <a:rect l="l" t="t" r="r" b="b"/>
              <a:pathLst>
                <a:path w="889000" h="330200">
                  <a:moveTo>
                    <a:pt x="0" y="0"/>
                  </a:moveTo>
                  <a:lnTo>
                    <a:pt x="889000" y="0"/>
                  </a:lnTo>
                  <a:lnTo>
                    <a:pt x="889000" y="330200"/>
                  </a:lnTo>
                  <a:lnTo>
                    <a:pt x="0" y="330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9" b="-2459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9525"/>
              <a:ext cx="889000" cy="339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939"/>
                </a:lnSpc>
              </a:pPr>
              <a:r>
                <a:rPr lang="en-US" sz="787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AFTER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3504" y="3281553"/>
            <a:ext cx="106299" cy="107442"/>
            <a:chOff x="0" y="0"/>
            <a:chExt cx="283464" cy="286512"/>
          </a:xfrm>
        </p:grpSpPr>
        <p:sp>
          <p:nvSpPr>
            <p:cNvPr id="52" name="Freeform 52" descr="preencoded.png"/>
            <p:cNvSpPr/>
            <p:nvPr/>
          </p:nvSpPr>
          <p:spPr>
            <a:xfrm>
              <a:off x="0" y="0"/>
              <a:ext cx="283464" cy="286512"/>
            </a:xfrm>
            <a:custGeom>
              <a:avLst/>
              <a:gdLst/>
              <a:ahLst/>
              <a:cxnLst/>
              <a:rect l="l" t="t" r="r" b="b"/>
              <a:pathLst>
                <a:path w="283464" h="286512">
                  <a:moveTo>
                    <a:pt x="0" y="0"/>
                  </a:moveTo>
                  <a:lnTo>
                    <a:pt x="283464" y="0"/>
                  </a:lnTo>
                  <a:lnTo>
                    <a:pt x="283464" y="286512"/>
                  </a:lnTo>
                  <a:lnTo>
                    <a:pt x="0" y="286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1075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3783330" y="3263265"/>
            <a:ext cx="378328" cy="142875"/>
            <a:chOff x="0" y="0"/>
            <a:chExt cx="1008875" cy="381000"/>
          </a:xfrm>
        </p:grpSpPr>
        <p:sp>
          <p:nvSpPr>
            <p:cNvPr id="54" name="Freeform 54" descr="preencoded.png"/>
            <p:cNvSpPr/>
            <p:nvPr/>
          </p:nvSpPr>
          <p:spPr>
            <a:xfrm>
              <a:off x="0" y="0"/>
              <a:ext cx="1008888" cy="381000"/>
            </a:xfrm>
            <a:custGeom>
              <a:avLst/>
              <a:gdLst/>
              <a:ahLst/>
              <a:cxnLst/>
              <a:rect l="l" t="t" r="r" b="b"/>
              <a:pathLst>
                <a:path w="1008888" h="381000">
                  <a:moveTo>
                    <a:pt x="0" y="0"/>
                  </a:moveTo>
                  <a:lnTo>
                    <a:pt x="1008888" y="0"/>
                  </a:lnTo>
                  <a:lnTo>
                    <a:pt x="1008888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-556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3840480" y="3279267"/>
            <a:ext cx="152400" cy="100013"/>
            <a:chOff x="0" y="0"/>
            <a:chExt cx="406400" cy="2667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06400" cy="266701"/>
            </a:xfrm>
            <a:custGeom>
              <a:avLst/>
              <a:gdLst/>
              <a:ahLst/>
              <a:cxnLst/>
              <a:rect l="l" t="t" r="r" b="b"/>
              <a:pathLst>
                <a:path w="406400" h="266701">
                  <a:moveTo>
                    <a:pt x="0" y="0"/>
                  </a:moveTo>
                  <a:lnTo>
                    <a:pt x="406400" y="0"/>
                  </a:lnTo>
                  <a:lnTo>
                    <a:pt x="406400" y="266701"/>
                  </a:lnTo>
                  <a:lnTo>
                    <a:pt x="0" y="2667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r="-34199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4064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65"/>
                </a:lnSpc>
              </a:pPr>
              <a:r>
                <a:rPr lang="en-US" sz="641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개선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016497" y="3279267"/>
            <a:ext cx="76200" cy="100013"/>
            <a:chOff x="0" y="0"/>
            <a:chExt cx="203200" cy="2667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3200" cy="266701"/>
            </a:xfrm>
            <a:custGeom>
              <a:avLst/>
              <a:gdLst/>
              <a:ahLst/>
              <a:cxnLst/>
              <a:rect l="l" t="t" r="r" b="b"/>
              <a:pathLst>
                <a:path w="203200" h="266701">
                  <a:moveTo>
                    <a:pt x="0" y="0"/>
                  </a:moveTo>
                  <a:lnTo>
                    <a:pt x="203200" y="0"/>
                  </a:lnTo>
                  <a:lnTo>
                    <a:pt x="203200" y="266701"/>
                  </a:lnTo>
                  <a:lnTo>
                    <a:pt x="0" y="2667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8398" r="-118398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2032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65"/>
                </a:lnSpc>
              </a:pPr>
              <a:r>
                <a:rPr lang="en-US" sz="641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후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9204" y="3486150"/>
            <a:ext cx="3742182" cy="1128141"/>
            <a:chOff x="0" y="0"/>
            <a:chExt cx="9979152" cy="3008376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9979152" cy="3008376"/>
            </a:xfrm>
            <a:custGeom>
              <a:avLst/>
              <a:gdLst/>
              <a:ahLst/>
              <a:cxnLst/>
              <a:rect l="l" t="t" r="r" b="b"/>
              <a:pathLst>
                <a:path w="9979152" h="3008376">
                  <a:moveTo>
                    <a:pt x="0" y="0"/>
                  </a:moveTo>
                  <a:lnTo>
                    <a:pt x="9979152" y="0"/>
                  </a:lnTo>
                  <a:lnTo>
                    <a:pt x="9979152" y="3008376"/>
                  </a:lnTo>
                  <a:lnTo>
                    <a:pt x="0" y="300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20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643504" y="3779901"/>
            <a:ext cx="3514725" cy="6858"/>
            <a:chOff x="0" y="0"/>
            <a:chExt cx="9372600" cy="18288"/>
          </a:xfrm>
        </p:grpSpPr>
        <p:sp>
          <p:nvSpPr>
            <p:cNvPr id="64" name="Freeform 64" descr="preencoded.png"/>
            <p:cNvSpPr/>
            <p:nvPr/>
          </p:nvSpPr>
          <p:spPr>
            <a:xfrm>
              <a:off x="0" y="0"/>
              <a:ext cx="9372600" cy="18288"/>
            </a:xfrm>
            <a:custGeom>
              <a:avLst/>
              <a:gdLst/>
              <a:ahLst/>
              <a:cxnLst/>
              <a:rect l="l" t="t" r="r" b="b"/>
              <a:pathLst>
                <a:path w="9372600" h="18288">
                  <a:moveTo>
                    <a:pt x="0" y="0"/>
                  </a:moveTo>
                  <a:lnTo>
                    <a:pt x="9372600" y="0"/>
                  </a:lnTo>
                  <a:lnTo>
                    <a:pt x="937260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b="-38888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643281" y="3620548"/>
            <a:ext cx="166688" cy="114300"/>
            <a:chOff x="0" y="0"/>
            <a:chExt cx="444500" cy="304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44501" cy="304800"/>
            </a:xfrm>
            <a:custGeom>
              <a:avLst/>
              <a:gdLst/>
              <a:ahLst/>
              <a:cxnLst/>
              <a:rect l="l" t="t" r="r" b="b"/>
              <a:pathLst>
                <a:path w="444501" h="304800">
                  <a:moveTo>
                    <a:pt x="0" y="0"/>
                  </a:moveTo>
                  <a:lnTo>
                    <a:pt x="444501" y="0"/>
                  </a:lnTo>
                  <a:lnTo>
                    <a:pt x="44450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7979" r="-37979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9525"/>
              <a:ext cx="4445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개선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41253" y="3620548"/>
            <a:ext cx="166688" cy="114300"/>
            <a:chOff x="0" y="0"/>
            <a:chExt cx="444500" cy="304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44501" cy="304800"/>
            </a:xfrm>
            <a:custGeom>
              <a:avLst/>
              <a:gdLst/>
              <a:ahLst/>
              <a:cxnLst/>
              <a:rect l="l" t="t" r="r" b="b"/>
              <a:pathLst>
                <a:path w="444501" h="304800">
                  <a:moveTo>
                    <a:pt x="0" y="0"/>
                  </a:moveTo>
                  <a:lnTo>
                    <a:pt x="444501" y="0"/>
                  </a:lnTo>
                  <a:lnTo>
                    <a:pt x="44450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7979" r="-37979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445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결과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38987" y="3620548"/>
            <a:ext cx="38100" cy="114300"/>
            <a:chOff x="0" y="0"/>
            <a:chExt cx="101600" cy="3048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01600" cy="304800"/>
            </a:xfrm>
            <a:custGeom>
              <a:avLst/>
              <a:gdLst/>
              <a:ahLst/>
              <a:cxnLst/>
              <a:rect l="l" t="t" r="r" b="b"/>
              <a:pathLst>
                <a:path w="101600" h="304800">
                  <a:moveTo>
                    <a:pt x="0" y="0"/>
                  </a:moveTo>
                  <a:lnTo>
                    <a:pt x="101600" y="0"/>
                  </a:lnTo>
                  <a:lnTo>
                    <a:pt x="1016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910" r="-334910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1016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A003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/ 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097280" y="3620548"/>
            <a:ext cx="166688" cy="114300"/>
            <a:chOff x="0" y="0"/>
            <a:chExt cx="444500" cy="3048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44501" cy="304800"/>
            </a:xfrm>
            <a:custGeom>
              <a:avLst/>
              <a:gdLst/>
              <a:ahLst/>
              <a:cxnLst/>
              <a:rect l="l" t="t" r="r" b="b"/>
              <a:pathLst>
                <a:path w="444501" h="304800">
                  <a:moveTo>
                    <a:pt x="0" y="0"/>
                  </a:moveTo>
                  <a:lnTo>
                    <a:pt x="444501" y="0"/>
                  </a:lnTo>
                  <a:lnTo>
                    <a:pt x="44450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7979" r="-37979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4445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반영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95019" y="3620548"/>
            <a:ext cx="166688" cy="114300"/>
            <a:chOff x="0" y="0"/>
            <a:chExt cx="444500" cy="3048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44501" cy="304800"/>
            </a:xfrm>
            <a:custGeom>
              <a:avLst/>
              <a:gdLst/>
              <a:ahLst/>
              <a:cxnLst/>
              <a:rect l="l" t="t" r="r" b="b"/>
              <a:pathLst>
                <a:path w="444501" h="304800">
                  <a:moveTo>
                    <a:pt x="0" y="0"/>
                  </a:moveTo>
                  <a:lnTo>
                    <a:pt x="444501" y="0"/>
                  </a:lnTo>
                  <a:lnTo>
                    <a:pt x="444501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7979" r="-3797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4445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내용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3400868" y="4142004"/>
            <a:ext cx="19050" cy="66675"/>
            <a:chOff x="0" y="0"/>
            <a:chExt cx="50800" cy="1778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0800" cy="177800"/>
            </a:xfrm>
            <a:custGeom>
              <a:avLst/>
              <a:gdLst/>
              <a:ahLst/>
              <a:cxnLst/>
              <a:rect l="l" t="t" r="r" b="b"/>
              <a:pathLst>
                <a:path w="50800" h="177800">
                  <a:moveTo>
                    <a:pt x="0" y="0"/>
                  </a:moveTo>
                  <a:lnTo>
                    <a:pt x="50800" y="0"/>
                  </a:lnTo>
                  <a:lnTo>
                    <a:pt x="50800" y="177800"/>
                  </a:lnTo>
                  <a:lnTo>
                    <a:pt x="0" y="177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9062" r="-399062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50800" cy="196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0"/>
                </a:lnSpc>
              </a:pPr>
              <a:r>
                <a:rPr lang="en-US" sz="426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693153" y="708025"/>
            <a:ext cx="4114800" cy="4029075"/>
            <a:chOff x="0" y="0"/>
            <a:chExt cx="10972800" cy="10744200"/>
          </a:xfrm>
        </p:grpSpPr>
        <p:sp>
          <p:nvSpPr>
            <p:cNvPr id="84" name="Freeform 84" descr="preencoded.png"/>
            <p:cNvSpPr/>
            <p:nvPr/>
          </p:nvSpPr>
          <p:spPr>
            <a:xfrm>
              <a:off x="0" y="0"/>
              <a:ext cx="10972800" cy="10744200"/>
            </a:xfrm>
            <a:custGeom>
              <a:avLst/>
              <a:gdLst/>
              <a:ahLst/>
              <a:cxnLst/>
              <a:rect l="l" t="t" r="r" b="b"/>
              <a:pathLst>
                <a:path w="10972800" h="10744200">
                  <a:moveTo>
                    <a:pt x="0" y="0"/>
                  </a:moveTo>
                  <a:lnTo>
                    <a:pt x="10972800" y="0"/>
                  </a:lnTo>
                  <a:lnTo>
                    <a:pt x="10972800" y="10744200"/>
                  </a:lnTo>
                  <a:lnTo>
                    <a:pt x="0" y="10744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4693153" y="1235583"/>
            <a:ext cx="4101079" cy="14859"/>
            <a:chOff x="0" y="0"/>
            <a:chExt cx="10936211" cy="39624"/>
          </a:xfrm>
        </p:grpSpPr>
        <p:sp>
          <p:nvSpPr>
            <p:cNvPr id="86" name="Freeform 86" descr="preencoded.png"/>
            <p:cNvSpPr/>
            <p:nvPr/>
          </p:nvSpPr>
          <p:spPr>
            <a:xfrm>
              <a:off x="0" y="0"/>
              <a:ext cx="10936224" cy="39624"/>
            </a:xfrm>
            <a:custGeom>
              <a:avLst/>
              <a:gdLst/>
              <a:ahLst/>
              <a:cxnLst/>
              <a:rect l="l" t="t" r="r" b="b"/>
              <a:pathLst>
                <a:path w="10936224" h="39624">
                  <a:moveTo>
                    <a:pt x="0" y="0"/>
                  </a:moveTo>
                  <a:lnTo>
                    <a:pt x="10936224" y="0"/>
                  </a:lnTo>
                  <a:lnTo>
                    <a:pt x="10936224" y="39624"/>
                  </a:lnTo>
                  <a:lnTo>
                    <a:pt x="0" y="39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4864603" y="892683"/>
            <a:ext cx="228600" cy="228600"/>
            <a:chOff x="0" y="0"/>
            <a:chExt cx="609600" cy="609600"/>
          </a:xfrm>
        </p:grpSpPr>
        <p:sp>
          <p:nvSpPr>
            <p:cNvPr id="88" name="Freeform 88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4921753" y="949833"/>
            <a:ext cx="114300" cy="114300"/>
            <a:chOff x="0" y="0"/>
            <a:chExt cx="304800" cy="304800"/>
          </a:xfrm>
        </p:grpSpPr>
        <p:sp>
          <p:nvSpPr>
            <p:cNvPr id="90" name="Freeform 90" descr="preencoded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4864603" y="1421892"/>
            <a:ext cx="3758179" cy="864108"/>
            <a:chOff x="0" y="0"/>
            <a:chExt cx="10021811" cy="2304288"/>
          </a:xfrm>
        </p:grpSpPr>
        <p:sp>
          <p:nvSpPr>
            <p:cNvPr id="92" name="Freeform 92" descr="preencoded.png"/>
            <p:cNvSpPr/>
            <p:nvPr/>
          </p:nvSpPr>
          <p:spPr>
            <a:xfrm>
              <a:off x="0" y="0"/>
              <a:ext cx="10021824" cy="2304288"/>
            </a:xfrm>
            <a:custGeom>
              <a:avLst/>
              <a:gdLst/>
              <a:ahLst/>
              <a:cxnLst/>
              <a:rect l="l" t="t" r="r" b="b"/>
              <a:pathLst>
                <a:path w="10021824" h="2304288">
                  <a:moveTo>
                    <a:pt x="0" y="0"/>
                  </a:moveTo>
                  <a:lnTo>
                    <a:pt x="10021824" y="0"/>
                  </a:lnTo>
                  <a:lnTo>
                    <a:pt x="10021824" y="2304288"/>
                  </a:lnTo>
                  <a:lnTo>
                    <a:pt x="0" y="2304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00"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>
            <a:off x="4864603" y="1421892"/>
            <a:ext cx="3767704" cy="873633"/>
            <a:chOff x="0" y="0"/>
            <a:chExt cx="10047211" cy="2329688"/>
          </a:xfrm>
        </p:grpSpPr>
        <p:sp>
          <p:nvSpPr>
            <p:cNvPr id="94" name="Freeform 94" descr="preencoded.png"/>
            <p:cNvSpPr/>
            <p:nvPr/>
          </p:nvSpPr>
          <p:spPr>
            <a:xfrm>
              <a:off x="0" y="0"/>
              <a:ext cx="10047224" cy="2329688"/>
            </a:xfrm>
            <a:custGeom>
              <a:avLst/>
              <a:gdLst/>
              <a:ahLst/>
              <a:cxnLst/>
              <a:rect l="l" t="t" r="r" b="b"/>
              <a:pathLst>
                <a:path w="10047224" h="2329688">
                  <a:moveTo>
                    <a:pt x="0" y="0"/>
                  </a:moveTo>
                  <a:lnTo>
                    <a:pt x="10047224" y="0"/>
                  </a:lnTo>
                  <a:lnTo>
                    <a:pt x="10047224" y="2329688"/>
                  </a:lnTo>
                  <a:lnTo>
                    <a:pt x="0" y="2329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-98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>
            <a:off x="4871471" y="1428750"/>
            <a:ext cx="428568" cy="846963"/>
            <a:chOff x="0" y="0"/>
            <a:chExt cx="1142848" cy="2258568"/>
          </a:xfrm>
        </p:grpSpPr>
        <p:sp>
          <p:nvSpPr>
            <p:cNvPr id="96" name="Freeform 96" descr="preencoded.png"/>
            <p:cNvSpPr/>
            <p:nvPr/>
          </p:nvSpPr>
          <p:spPr>
            <a:xfrm>
              <a:off x="0" y="0"/>
              <a:ext cx="1142873" cy="2258568"/>
            </a:xfrm>
            <a:custGeom>
              <a:avLst/>
              <a:gdLst/>
              <a:ahLst/>
              <a:cxnLst/>
              <a:rect l="l" t="t" r="r" b="b"/>
              <a:pathLst>
                <a:path w="1142873" h="2258568">
                  <a:moveTo>
                    <a:pt x="0" y="0"/>
                  </a:moveTo>
                  <a:lnTo>
                    <a:pt x="1142873" y="0"/>
                  </a:lnTo>
                  <a:lnTo>
                    <a:pt x="1142873" y="2258568"/>
                  </a:lnTo>
                  <a:lnTo>
                    <a:pt x="0" y="225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r="2" b="-64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5015479" y="1780794"/>
            <a:ext cx="142875" cy="142875"/>
            <a:chOff x="0" y="0"/>
            <a:chExt cx="381000" cy="381000"/>
          </a:xfrm>
        </p:grpSpPr>
        <p:sp>
          <p:nvSpPr>
            <p:cNvPr id="98" name="Freeform 98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</p:sp>
      </p:grpSp>
      <p:grpSp>
        <p:nvGrpSpPr>
          <p:cNvPr id="99" name="Group 99"/>
          <p:cNvGrpSpPr/>
          <p:nvPr/>
        </p:nvGrpSpPr>
        <p:grpSpPr>
          <a:xfrm>
            <a:off x="5300186" y="1428750"/>
            <a:ext cx="3314515" cy="846963"/>
            <a:chOff x="0" y="0"/>
            <a:chExt cx="8838705" cy="2258568"/>
          </a:xfrm>
        </p:grpSpPr>
        <p:sp>
          <p:nvSpPr>
            <p:cNvPr id="100" name="Freeform 100" descr="preencoded.png"/>
            <p:cNvSpPr/>
            <p:nvPr/>
          </p:nvSpPr>
          <p:spPr>
            <a:xfrm>
              <a:off x="0" y="0"/>
              <a:ext cx="8838692" cy="2258568"/>
            </a:xfrm>
            <a:custGeom>
              <a:avLst/>
              <a:gdLst/>
              <a:ahLst/>
              <a:cxnLst/>
              <a:rect l="l" t="t" r="r" b="b"/>
              <a:pathLst>
                <a:path w="8838692" h="2258568">
                  <a:moveTo>
                    <a:pt x="0" y="0"/>
                  </a:moveTo>
                  <a:lnTo>
                    <a:pt x="8838692" y="0"/>
                  </a:lnTo>
                  <a:lnTo>
                    <a:pt x="8838692" y="2258568"/>
                  </a:lnTo>
                  <a:lnTo>
                    <a:pt x="0" y="225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r="-47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5415529" y="1842516"/>
            <a:ext cx="3086100" cy="6858"/>
            <a:chOff x="0" y="0"/>
            <a:chExt cx="8229600" cy="18288"/>
          </a:xfrm>
        </p:grpSpPr>
        <p:sp>
          <p:nvSpPr>
            <p:cNvPr id="102" name="Freeform 102" descr="preencoded.png"/>
            <p:cNvSpPr/>
            <p:nvPr/>
          </p:nvSpPr>
          <p:spPr>
            <a:xfrm>
              <a:off x="0" y="0"/>
              <a:ext cx="8229600" cy="18288"/>
            </a:xfrm>
            <a:custGeom>
              <a:avLst/>
              <a:gdLst/>
              <a:ahLst/>
              <a:cxnLst/>
              <a:rect l="l" t="t" r="r" b="b"/>
              <a:pathLst>
                <a:path w="8229600" h="18288">
                  <a:moveTo>
                    <a:pt x="0" y="0"/>
                  </a:moveTo>
                  <a:lnTo>
                    <a:pt x="8229600" y="0"/>
                  </a:lnTo>
                  <a:lnTo>
                    <a:pt x="822960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b="-38888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5415725" y="1603661"/>
            <a:ext cx="200025" cy="138113"/>
            <a:chOff x="0" y="0"/>
            <a:chExt cx="533400" cy="368300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33400" cy="368301"/>
            </a:xfrm>
            <a:custGeom>
              <a:avLst/>
              <a:gdLst/>
              <a:ahLst/>
              <a:cxnLst/>
              <a:rect l="l" t="t" r="r" b="b"/>
              <a:pathLst>
                <a:path w="533400" h="368301">
                  <a:moveTo>
                    <a:pt x="0" y="0"/>
                  </a:moveTo>
                  <a:lnTo>
                    <a:pt x="533400" y="0"/>
                  </a:lnTo>
                  <a:lnTo>
                    <a:pt x="533400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8590" r="-38590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5334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문제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5651183" y="1603661"/>
            <a:ext cx="538163" cy="138113"/>
            <a:chOff x="0" y="0"/>
            <a:chExt cx="1435100" cy="36830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435101" cy="368301"/>
            </a:xfrm>
            <a:custGeom>
              <a:avLst/>
              <a:gdLst/>
              <a:ahLst/>
              <a:cxnLst/>
              <a:rect l="l" t="t" r="r" b="b"/>
              <a:pathLst>
                <a:path w="1435101" h="368301">
                  <a:moveTo>
                    <a:pt x="0" y="0"/>
                  </a:moveTo>
                  <a:lnTo>
                    <a:pt x="1435101" y="0"/>
                  </a:lnTo>
                  <a:lnTo>
                    <a:pt x="14351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5924" b="-25924"/>
              </a:stretch>
            </a:blipFill>
          </p:spPr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14351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(Problem)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5447181" y="1913810"/>
            <a:ext cx="3152071" cy="294657"/>
            <a:chOff x="0" y="350307"/>
            <a:chExt cx="8405521" cy="785752"/>
          </a:xfrm>
        </p:grpSpPr>
        <p:sp>
          <p:nvSpPr>
            <p:cNvPr id="110" name="Freeform 110"/>
            <p:cNvSpPr/>
            <p:nvPr/>
          </p:nvSpPr>
          <p:spPr>
            <a:xfrm>
              <a:off x="51880" y="374587"/>
              <a:ext cx="8353641" cy="761472"/>
            </a:xfrm>
            <a:custGeom>
              <a:avLst/>
              <a:gdLst/>
              <a:ahLst/>
              <a:cxnLst/>
              <a:rect l="l" t="t" r="r" b="b"/>
              <a:pathLst>
                <a:path w="8353640" h="761473">
                  <a:moveTo>
                    <a:pt x="0" y="0"/>
                  </a:moveTo>
                  <a:lnTo>
                    <a:pt x="8353640" y="0"/>
                  </a:lnTo>
                  <a:lnTo>
                    <a:pt x="8353640" y="761473"/>
                  </a:lnTo>
                  <a:lnTo>
                    <a:pt x="0" y="76147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95225" b="-132291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350307"/>
              <a:ext cx="8353641" cy="732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9"/>
                </a:lnSpc>
              </a:pP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VIT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단일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변수로는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정상과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불량이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구분되지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않았고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전체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피처를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모두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투입한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초기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모델의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PR-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AUC가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0.41에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그쳤다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.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002681" y="1888427"/>
            <a:ext cx="19050" cy="66675"/>
            <a:chOff x="0" y="0"/>
            <a:chExt cx="50800" cy="17780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0800" cy="177800"/>
            </a:xfrm>
            <a:custGeom>
              <a:avLst/>
              <a:gdLst/>
              <a:ahLst/>
              <a:cxnLst/>
              <a:rect l="l" t="t" r="r" b="b"/>
              <a:pathLst>
                <a:path w="50800" h="177800">
                  <a:moveTo>
                    <a:pt x="0" y="0"/>
                  </a:moveTo>
                  <a:lnTo>
                    <a:pt x="50800" y="0"/>
                  </a:lnTo>
                  <a:lnTo>
                    <a:pt x="50800" y="177800"/>
                  </a:lnTo>
                  <a:lnTo>
                    <a:pt x="0" y="177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9062" r="-399062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19050"/>
              <a:ext cx="50800" cy="196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0"/>
                </a:lnSpc>
              </a:pPr>
              <a:r>
                <a:rPr lang="en-US" sz="426">
                  <a:solidFill>
                    <a:srgbClr val="AAAAAA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4864603" y="2591181"/>
            <a:ext cx="3758179" cy="864108"/>
            <a:chOff x="0" y="0"/>
            <a:chExt cx="10021811" cy="2304288"/>
          </a:xfrm>
        </p:grpSpPr>
        <p:sp>
          <p:nvSpPr>
            <p:cNvPr id="116" name="Freeform 116" descr="preencoded.png"/>
            <p:cNvSpPr/>
            <p:nvPr/>
          </p:nvSpPr>
          <p:spPr>
            <a:xfrm>
              <a:off x="0" y="0"/>
              <a:ext cx="10021824" cy="2304288"/>
            </a:xfrm>
            <a:custGeom>
              <a:avLst/>
              <a:gdLst/>
              <a:ahLst/>
              <a:cxnLst/>
              <a:rect l="l" t="t" r="r" b="b"/>
              <a:pathLst>
                <a:path w="10021824" h="2304288">
                  <a:moveTo>
                    <a:pt x="0" y="0"/>
                  </a:moveTo>
                  <a:lnTo>
                    <a:pt x="10021824" y="0"/>
                  </a:lnTo>
                  <a:lnTo>
                    <a:pt x="10021824" y="2304288"/>
                  </a:lnTo>
                  <a:lnTo>
                    <a:pt x="0" y="2304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00"/>
              </a:stretch>
            </a:blipFill>
          </p:spPr>
        </p:sp>
      </p:grpSp>
      <p:grpSp>
        <p:nvGrpSpPr>
          <p:cNvPr id="117" name="Group 117"/>
          <p:cNvGrpSpPr/>
          <p:nvPr/>
        </p:nvGrpSpPr>
        <p:grpSpPr>
          <a:xfrm>
            <a:off x="4864603" y="2591181"/>
            <a:ext cx="3767704" cy="873633"/>
            <a:chOff x="0" y="0"/>
            <a:chExt cx="10047211" cy="2329688"/>
          </a:xfrm>
        </p:grpSpPr>
        <p:sp>
          <p:nvSpPr>
            <p:cNvPr id="118" name="Freeform 118" descr="preencoded.png"/>
            <p:cNvSpPr/>
            <p:nvPr/>
          </p:nvSpPr>
          <p:spPr>
            <a:xfrm>
              <a:off x="0" y="0"/>
              <a:ext cx="10047224" cy="2329688"/>
            </a:xfrm>
            <a:custGeom>
              <a:avLst/>
              <a:gdLst/>
              <a:ahLst/>
              <a:cxnLst/>
              <a:rect l="l" t="t" r="r" b="b"/>
              <a:pathLst>
                <a:path w="10047224" h="2329688">
                  <a:moveTo>
                    <a:pt x="0" y="0"/>
                  </a:moveTo>
                  <a:lnTo>
                    <a:pt x="10047224" y="0"/>
                  </a:lnTo>
                  <a:lnTo>
                    <a:pt x="10047224" y="2329688"/>
                  </a:lnTo>
                  <a:lnTo>
                    <a:pt x="0" y="2329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98"/>
              </a:stretch>
            </a:blipFill>
          </p:spPr>
        </p:sp>
      </p:grpSp>
      <p:grpSp>
        <p:nvGrpSpPr>
          <p:cNvPr id="119" name="Group 119"/>
          <p:cNvGrpSpPr/>
          <p:nvPr/>
        </p:nvGrpSpPr>
        <p:grpSpPr>
          <a:xfrm>
            <a:off x="4871471" y="2598039"/>
            <a:ext cx="428568" cy="846963"/>
            <a:chOff x="0" y="0"/>
            <a:chExt cx="1142848" cy="2258568"/>
          </a:xfrm>
        </p:grpSpPr>
        <p:sp>
          <p:nvSpPr>
            <p:cNvPr id="120" name="Freeform 120" descr="preencoded.png"/>
            <p:cNvSpPr/>
            <p:nvPr/>
          </p:nvSpPr>
          <p:spPr>
            <a:xfrm>
              <a:off x="0" y="0"/>
              <a:ext cx="1142873" cy="2258568"/>
            </a:xfrm>
            <a:custGeom>
              <a:avLst/>
              <a:gdLst/>
              <a:ahLst/>
              <a:cxnLst/>
              <a:rect l="l" t="t" r="r" b="b"/>
              <a:pathLst>
                <a:path w="1142873" h="2258568">
                  <a:moveTo>
                    <a:pt x="0" y="0"/>
                  </a:moveTo>
                  <a:lnTo>
                    <a:pt x="1142873" y="0"/>
                  </a:lnTo>
                  <a:lnTo>
                    <a:pt x="1142873" y="2258568"/>
                  </a:lnTo>
                  <a:lnTo>
                    <a:pt x="0" y="225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r="2" b="-64"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5015479" y="2950083"/>
            <a:ext cx="142875" cy="142875"/>
            <a:chOff x="0" y="0"/>
            <a:chExt cx="381000" cy="381000"/>
          </a:xfrm>
        </p:grpSpPr>
        <p:sp>
          <p:nvSpPr>
            <p:cNvPr id="122" name="Freeform 122" descr="preencoded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  <p:grpSp>
        <p:nvGrpSpPr>
          <p:cNvPr id="123" name="Group 123"/>
          <p:cNvGrpSpPr/>
          <p:nvPr/>
        </p:nvGrpSpPr>
        <p:grpSpPr>
          <a:xfrm>
            <a:off x="5300186" y="2598039"/>
            <a:ext cx="3314515" cy="1079659"/>
            <a:chOff x="0" y="0"/>
            <a:chExt cx="8838705" cy="2879090"/>
          </a:xfrm>
        </p:grpSpPr>
        <p:sp>
          <p:nvSpPr>
            <p:cNvPr id="124" name="Freeform 124" descr="preencoded.png"/>
            <p:cNvSpPr/>
            <p:nvPr/>
          </p:nvSpPr>
          <p:spPr>
            <a:xfrm>
              <a:off x="0" y="0"/>
              <a:ext cx="8838692" cy="2879090"/>
            </a:xfrm>
            <a:custGeom>
              <a:avLst/>
              <a:gdLst/>
              <a:ahLst/>
              <a:cxnLst/>
              <a:rect l="l" t="t" r="r" b="b"/>
              <a:pathLst>
                <a:path w="8838692" h="2879090">
                  <a:moveTo>
                    <a:pt x="0" y="0"/>
                  </a:moveTo>
                  <a:lnTo>
                    <a:pt x="8838692" y="0"/>
                  </a:lnTo>
                  <a:lnTo>
                    <a:pt x="8838692" y="2879090"/>
                  </a:lnTo>
                  <a:lnTo>
                    <a:pt x="0" y="2879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13737" r="-13797"/>
              </a:stretch>
            </a:blipFill>
          </p:spPr>
        </p:sp>
      </p:grpSp>
      <p:grpSp>
        <p:nvGrpSpPr>
          <p:cNvPr id="125" name="Group 125"/>
          <p:cNvGrpSpPr/>
          <p:nvPr/>
        </p:nvGrpSpPr>
        <p:grpSpPr>
          <a:xfrm>
            <a:off x="5415529" y="3011805"/>
            <a:ext cx="3086100" cy="6858"/>
            <a:chOff x="0" y="0"/>
            <a:chExt cx="8229600" cy="18288"/>
          </a:xfrm>
        </p:grpSpPr>
        <p:sp>
          <p:nvSpPr>
            <p:cNvPr id="126" name="Freeform 126" descr="preencoded.png"/>
            <p:cNvSpPr/>
            <p:nvPr/>
          </p:nvSpPr>
          <p:spPr>
            <a:xfrm>
              <a:off x="0" y="0"/>
              <a:ext cx="8229600" cy="18288"/>
            </a:xfrm>
            <a:custGeom>
              <a:avLst/>
              <a:gdLst/>
              <a:ahLst/>
              <a:cxnLst/>
              <a:rect l="l" t="t" r="r" b="b"/>
              <a:pathLst>
                <a:path w="8229600" h="18288">
                  <a:moveTo>
                    <a:pt x="0" y="0"/>
                  </a:moveTo>
                  <a:lnTo>
                    <a:pt x="8229600" y="0"/>
                  </a:lnTo>
                  <a:lnTo>
                    <a:pt x="822960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b="-38888"/>
              </a:stretch>
            </a:blipFill>
          </p:spPr>
        </p:sp>
      </p:grpSp>
      <p:grpSp>
        <p:nvGrpSpPr>
          <p:cNvPr id="127" name="Group 127"/>
          <p:cNvGrpSpPr/>
          <p:nvPr/>
        </p:nvGrpSpPr>
        <p:grpSpPr>
          <a:xfrm>
            <a:off x="5415725" y="2773236"/>
            <a:ext cx="200025" cy="138113"/>
            <a:chOff x="0" y="0"/>
            <a:chExt cx="533400" cy="3683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533400" cy="368301"/>
            </a:xfrm>
            <a:custGeom>
              <a:avLst/>
              <a:gdLst/>
              <a:ahLst/>
              <a:cxnLst/>
              <a:rect l="l" t="t" r="r" b="b"/>
              <a:pathLst>
                <a:path w="533400" h="368301">
                  <a:moveTo>
                    <a:pt x="0" y="0"/>
                  </a:moveTo>
                  <a:lnTo>
                    <a:pt x="533400" y="0"/>
                  </a:lnTo>
                  <a:lnTo>
                    <a:pt x="533400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8590" r="-38590"/>
              </a:stretch>
            </a:blipFill>
          </p:spPr>
        </p:sp>
        <p:sp>
          <p:nvSpPr>
            <p:cNvPr id="129" name="TextBox 129"/>
            <p:cNvSpPr txBox="1"/>
            <p:nvPr/>
          </p:nvSpPr>
          <p:spPr>
            <a:xfrm>
              <a:off x="0" y="-19050"/>
              <a:ext cx="5334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원인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5651183" y="2773236"/>
            <a:ext cx="433388" cy="138113"/>
            <a:chOff x="0" y="0"/>
            <a:chExt cx="1155700" cy="3683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1155701" cy="368301"/>
            </a:xfrm>
            <a:custGeom>
              <a:avLst/>
              <a:gdLst/>
              <a:ahLst/>
              <a:cxnLst/>
              <a:rect l="l" t="t" r="r" b="b"/>
              <a:pathLst>
                <a:path w="1155701" h="368301">
                  <a:moveTo>
                    <a:pt x="0" y="0"/>
                  </a:moveTo>
                  <a:lnTo>
                    <a:pt x="1155701" y="0"/>
                  </a:lnTo>
                  <a:lnTo>
                    <a:pt x="11557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1142" b="-11142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19050"/>
              <a:ext cx="11557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(Cause)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7871041" y="3058002"/>
            <a:ext cx="19050" cy="66675"/>
            <a:chOff x="0" y="0"/>
            <a:chExt cx="50800" cy="17780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50800" cy="177800"/>
            </a:xfrm>
            <a:custGeom>
              <a:avLst/>
              <a:gdLst/>
              <a:ahLst/>
              <a:cxnLst/>
              <a:rect l="l" t="t" r="r" b="b"/>
              <a:pathLst>
                <a:path w="50800" h="177800">
                  <a:moveTo>
                    <a:pt x="0" y="0"/>
                  </a:moveTo>
                  <a:lnTo>
                    <a:pt x="50800" y="0"/>
                  </a:lnTo>
                  <a:lnTo>
                    <a:pt x="50800" y="177800"/>
                  </a:lnTo>
                  <a:lnTo>
                    <a:pt x="0" y="177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9062" r="-399062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19050"/>
              <a:ext cx="50800" cy="196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0"/>
                </a:lnSpc>
              </a:pPr>
              <a:r>
                <a:rPr lang="en-US" sz="426">
                  <a:solidFill>
                    <a:srgbClr val="AAAAAA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4864603" y="3760470"/>
            <a:ext cx="3758179" cy="864108"/>
            <a:chOff x="0" y="0"/>
            <a:chExt cx="10021811" cy="2304288"/>
          </a:xfrm>
        </p:grpSpPr>
        <p:sp>
          <p:nvSpPr>
            <p:cNvPr id="137" name="Freeform 137" descr="preencoded.png"/>
            <p:cNvSpPr/>
            <p:nvPr/>
          </p:nvSpPr>
          <p:spPr>
            <a:xfrm>
              <a:off x="0" y="0"/>
              <a:ext cx="10021824" cy="2304288"/>
            </a:xfrm>
            <a:custGeom>
              <a:avLst/>
              <a:gdLst/>
              <a:ahLst/>
              <a:cxnLst/>
              <a:rect l="l" t="t" r="r" b="b"/>
              <a:pathLst>
                <a:path w="10021824" h="2304288">
                  <a:moveTo>
                    <a:pt x="0" y="0"/>
                  </a:moveTo>
                  <a:lnTo>
                    <a:pt x="10021824" y="0"/>
                  </a:lnTo>
                  <a:lnTo>
                    <a:pt x="10021824" y="2304288"/>
                  </a:lnTo>
                  <a:lnTo>
                    <a:pt x="0" y="2304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r="-100"/>
              </a:stretch>
            </a:blipFill>
          </p:spPr>
        </p:sp>
      </p:grpSp>
      <p:grpSp>
        <p:nvGrpSpPr>
          <p:cNvPr id="138" name="Group 138"/>
          <p:cNvGrpSpPr/>
          <p:nvPr/>
        </p:nvGrpSpPr>
        <p:grpSpPr>
          <a:xfrm>
            <a:off x="4864603" y="3760470"/>
            <a:ext cx="3767704" cy="873633"/>
            <a:chOff x="0" y="0"/>
            <a:chExt cx="10047211" cy="2329688"/>
          </a:xfrm>
        </p:grpSpPr>
        <p:sp>
          <p:nvSpPr>
            <p:cNvPr id="139" name="Freeform 139" descr="preencoded.png"/>
            <p:cNvSpPr/>
            <p:nvPr/>
          </p:nvSpPr>
          <p:spPr>
            <a:xfrm>
              <a:off x="0" y="0"/>
              <a:ext cx="10047224" cy="2329688"/>
            </a:xfrm>
            <a:custGeom>
              <a:avLst/>
              <a:gdLst/>
              <a:ahLst/>
              <a:cxnLst/>
              <a:rect l="l" t="t" r="r" b="b"/>
              <a:pathLst>
                <a:path w="10047224" h="2329688">
                  <a:moveTo>
                    <a:pt x="0" y="0"/>
                  </a:moveTo>
                  <a:lnTo>
                    <a:pt x="10047224" y="0"/>
                  </a:lnTo>
                  <a:lnTo>
                    <a:pt x="10047224" y="2329688"/>
                  </a:lnTo>
                  <a:lnTo>
                    <a:pt x="0" y="2329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r="-98"/>
              </a:stretch>
            </a:blipFill>
          </p:spPr>
        </p:sp>
      </p:grpSp>
      <p:grpSp>
        <p:nvGrpSpPr>
          <p:cNvPr id="140" name="Group 140"/>
          <p:cNvGrpSpPr/>
          <p:nvPr/>
        </p:nvGrpSpPr>
        <p:grpSpPr>
          <a:xfrm>
            <a:off x="4871471" y="3767328"/>
            <a:ext cx="428568" cy="846963"/>
            <a:chOff x="0" y="0"/>
            <a:chExt cx="1142848" cy="2258568"/>
          </a:xfrm>
        </p:grpSpPr>
        <p:sp>
          <p:nvSpPr>
            <p:cNvPr id="141" name="Freeform 141" descr="preencoded.png"/>
            <p:cNvSpPr/>
            <p:nvPr/>
          </p:nvSpPr>
          <p:spPr>
            <a:xfrm>
              <a:off x="0" y="0"/>
              <a:ext cx="1142873" cy="2258568"/>
            </a:xfrm>
            <a:custGeom>
              <a:avLst/>
              <a:gdLst/>
              <a:ahLst/>
              <a:cxnLst/>
              <a:rect l="l" t="t" r="r" b="b"/>
              <a:pathLst>
                <a:path w="1142873" h="2258568">
                  <a:moveTo>
                    <a:pt x="0" y="0"/>
                  </a:moveTo>
                  <a:lnTo>
                    <a:pt x="1142873" y="0"/>
                  </a:lnTo>
                  <a:lnTo>
                    <a:pt x="1142873" y="2258568"/>
                  </a:lnTo>
                  <a:lnTo>
                    <a:pt x="0" y="225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r="2" b="-64"/>
              </a:stretch>
            </a:blipFill>
          </p:spPr>
        </p:sp>
      </p:grpSp>
      <p:grpSp>
        <p:nvGrpSpPr>
          <p:cNvPr id="142" name="Group 142"/>
          <p:cNvGrpSpPr/>
          <p:nvPr/>
        </p:nvGrpSpPr>
        <p:grpSpPr>
          <a:xfrm>
            <a:off x="5024438" y="4119372"/>
            <a:ext cx="125035" cy="142875"/>
            <a:chOff x="0" y="0"/>
            <a:chExt cx="333426" cy="381000"/>
          </a:xfrm>
        </p:grpSpPr>
        <p:sp>
          <p:nvSpPr>
            <p:cNvPr id="143" name="Freeform 143" descr="preencoded.png"/>
            <p:cNvSpPr/>
            <p:nvPr/>
          </p:nvSpPr>
          <p:spPr>
            <a:xfrm>
              <a:off x="0" y="0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0" y="0"/>
                  </a:moveTo>
                  <a:lnTo>
                    <a:pt x="333375" y="0"/>
                  </a:lnTo>
                  <a:lnTo>
                    <a:pt x="333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r="-15" b="-976"/>
              </a:stretch>
            </a:blipFill>
          </p:spPr>
        </p:sp>
      </p:grpSp>
      <p:grpSp>
        <p:nvGrpSpPr>
          <p:cNvPr id="144" name="Group 144"/>
          <p:cNvGrpSpPr/>
          <p:nvPr/>
        </p:nvGrpSpPr>
        <p:grpSpPr>
          <a:xfrm>
            <a:off x="5300186" y="3767328"/>
            <a:ext cx="3314515" cy="846963"/>
            <a:chOff x="0" y="0"/>
            <a:chExt cx="8838705" cy="2258568"/>
          </a:xfrm>
        </p:grpSpPr>
        <p:sp>
          <p:nvSpPr>
            <p:cNvPr id="145" name="Freeform 145" descr="preencoded.png"/>
            <p:cNvSpPr/>
            <p:nvPr/>
          </p:nvSpPr>
          <p:spPr>
            <a:xfrm>
              <a:off x="0" y="0"/>
              <a:ext cx="8838692" cy="2258568"/>
            </a:xfrm>
            <a:custGeom>
              <a:avLst/>
              <a:gdLst/>
              <a:ahLst/>
              <a:cxnLst/>
              <a:rect l="l" t="t" r="r" b="b"/>
              <a:pathLst>
                <a:path w="8838692" h="2258568">
                  <a:moveTo>
                    <a:pt x="0" y="0"/>
                  </a:moveTo>
                  <a:lnTo>
                    <a:pt x="8838692" y="0"/>
                  </a:lnTo>
                  <a:lnTo>
                    <a:pt x="8838692" y="2258568"/>
                  </a:lnTo>
                  <a:lnTo>
                    <a:pt x="0" y="225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r="-47"/>
              </a:stretch>
            </a:blipFill>
          </p:spPr>
        </p:sp>
      </p:grpSp>
      <p:grpSp>
        <p:nvGrpSpPr>
          <p:cNvPr id="146" name="Group 146"/>
          <p:cNvGrpSpPr/>
          <p:nvPr/>
        </p:nvGrpSpPr>
        <p:grpSpPr>
          <a:xfrm>
            <a:off x="5415529" y="4095369"/>
            <a:ext cx="3086100" cy="6858"/>
            <a:chOff x="0" y="0"/>
            <a:chExt cx="8229600" cy="18288"/>
          </a:xfrm>
        </p:grpSpPr>
        <p:sp>
          <p:nvSpPr>
            <p:cNvPr id="147" name="Freeform 147" descr="preencoded.png"/>
            <p:cNvSpPr/>
            <p:nvPr/>
          </p:nvSpPr>
          <p:spPr>
            <a:xfrm>
              <a:off x="0" y="0"/>
              <a:ext cx="8229600" cy="18288"/>
            </a:xfrm>
            <a:custGeom>
              <a:avLst/>
              <a:gdLst/>
              <a:ahLst/>
              <a:cxnLst/>
              <a:rect l="l" t="t" r="r" b="b"/>
              <a:pathLst>
                <a:path w="8229600" h="18288">
                  <a:moveTo>
                    <a:pt x="0" y="0"/>
                  </a:moveTo>
                  <a:lnTo>
                    <a:pt x="8229600" y="0"/>
                  </a:lnTo>
                  <a:lnTo>
                    <a:pt x="8229600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b="-38888"/>
              </a:stretch>
            </a:blipFill>
          </p:spPr>
        </p:sp>
      </p:grpSp>
      <p:grpSp>
        <p:nvGrpSpPr>
          <p:cNvPr id="148" name="Group 148"/>
          <p:cNvGrpSpPr/>
          <p:nvPr/>
        </p:nvGrpSpPr>
        <p:grpSpPr>
          <a:xfrm>
            <a:off x="5415725" y="3849846"/>
            <a:ext cx="206375" cy="208757"/>
            <a:chOff x="0" y="-188385"/>
            <a:chExt cx="550333" cy="556686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533400" cy="368301"/>
            </a:xfrm>
            <a:custGeom>
              <a:avLst/>
              <a:gdLst/>
              <a:ahLst/>
              <a:cxnLst/>
              <a:rect l="l" t="t" r="r" b="b"/>
              <a:pathLst>
                <a:path w="533400" h="368301">
                  <a:moveTo>
                    <a:pt x="0" y="0"/>
                  </a:moveTo>
                  <a:lnTo>
                    <a:pt x="533400" y="0"/>
                  </a:lnTo>
                  <a:lnTo>
                    <a:pt x="533400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8590" r="-38590"/>
              </a:stretch>
            </a:blipFill>
          </p:spPr>
        </p:sp>
        <p:sp>
          <p:nvSpPr>
            <p:cNvPr id="150" name="TextBox 150"/>
            <p:cNvSpPr txBox="1"/>
            <p:nvPr/>
          </p:nvSpPr>
          <p:spPr>
            <a:xfrm>
              <a:off x="16933" y="-188385"/>
              <a:ext cx="533400" cy="3873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 dirty="0" err="1">
                  <a:solidFill>
                    <a:srgbClr val="15803D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해결</a:t>
              </a:r>
              <a:endParaRPr lang="en-US" sz="855" b="1" dirty="0">
                <a:solidFill>
                  <a:srgbClr val="15803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endParaRPr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5651183" y="3856990"/>
            <a:ext cx="538163" cy="138113"/>
            <a:chOff x="0" y="0"/>
            <a:chExt cx="1435100" cy="368300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435101" cy="368301"/>
            </a:xfrm>
            <a:custGeom>
              <a:avLst/>
              <a:gdLst/>
              <a:ahLst/>
              <a:cxnLst/>
              <a:rect l="l" t="t" r="r" b="b"/>
              <a:pathLst>
                <a:path w="1435101" h="368301">
                  <a:moveTo>
                    <a:pt x="0" y="0"/>
                  </a:moveTo>
                  <a:lnTo>
                    <a:pt x="1435101" y="0"/>
                  </a:lnTo>
                  <a:lnTo>
                    <a:pt x="143510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5924" b="-25924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-19050"/>
              <a:ext cx="143510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 b="1">
                  <a:solidFill>
                    <a:srgbClr val="15803D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(Solution)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8447304" y="4227500"/>
            <a:ext cx="19050" cy="66675"/>
            <a:chOff x="0" y="0"/>
            <a:chExt cx="50800" cy="17780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50800" cy="177800"/>
            </a:xfrm>
            <a:custGeom>
              <a:avLst/>
              <a:gdLst/>
              <a:ahLst/>
              <a:cxnLst/>
              <a:rect l="l" t="t" r="r" b="b"/>
              <a:pathLst>
                <a:path w="50800" h="177800">
                  <a:moveTo>
                    <a:pt x="0" y="0"/>
                  </a:moveTo>
                  <a:lnTo>
                    <a:pt x="50800" y="0"/>
                  </a:lnTo>
                  <a:lnTo>
                    <a:pt x="50800" y="177800"/>
                  </a:lnTo>
                  <a:lnTo>
                    <a:pt x="0" y="177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99062" r="-399062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19050"/>
              <a:ext cx="50800" cy="196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10"/>
                </a:lnSpc>
              </a:pPr>
              <a:r>
                <a:rPr lang="en-US" sz="426">
                  <a:solidFill>
                    <a:srgbClr val="333333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2351728" y="2962656"/>
            <a:ext cx="97136" cy="129159"/>
            <a:chOff x="0" y="0"/>
            <a:chExt cx="259029" cy="344424"/>
          </a:xfrm>
        </p:grpSpPr>
        <p:sp>
          <p:nvSpPr>
            <p:cNvPr id="158" name="Freeform 158" descr="preencoded.png"/>
            <p:cNvSpPr/>
            <p:nvPr/>
          </p:nvSpPr>
          <p:spPr>
            <a:xfrm>
              <a:off x="0" y="0"/>
              <a:ext cx="259080" cy="344424"/>
            </a:xfrm>
            <a:custGeom>
              <a:avLst/>
              <a:gdLst/>
              <a:ahLst/>
              <a:cxnLst/>
              <a:rect l="l" t="t" r="r" b="b"/>
              <a:pathLst>
                <a:path w="259080" h="344424">
                  <a:moveTo>
                    <a:pt x="0" y="0"/>
                  </a:moveTo>
                  <a:lnTo>
                    <a:pt x="259080" y="0"/>
                  </a:lnTo>
                  <a:lnTo>
                    <a:pt x="259080" y="344424"/>
                  </a:lnTo>
                  <a:lnTo>
                    <a:pt x="0" y="34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r="19" b="-1530"/>
              </a:stretch>
            </a:blipFill>
          </p:spPr>
        </p:sp>
      </p:grpSp>
      <p:grpSp>
        <p:nvGrpSpPr>
          <p:cNvPr id="159" name="Group 159"/>
          <p:cNvGrpSpPr/>
          <p:nvPr/>
        </p:nvGrpSpPr>
        <p:grpSpPr>
          <a:xfrm>
            <a:off x="6695128" y="2378583"/>
            <a:ext cx="97136" cy="129159"/>
            <a:chOff x="0" y="0"/>
            <a:chExt cx="259029" cy="344424"/>
          </a:xfrm>
        </p:grpSpPr>
        <p:sp>
          <p:nvSpPr>
            <p:cNvPr id="160" name="Freeform 160" descr="preencoded.png"/>
            <p:cNvSpPr/>
            <p:nvPr/>
          </p:nvSpPr>
          <p:spPr>
            <a:xfrm>
              <a:off x="0" y="0"/>
              <a:ext cx="259080" cy="344424"/>
            </a:xfrm>
            <a:custGeom>
              <a:avLst/>
              <a:gdLst/>
              <a:ahLst/>
              <a:cxnLst/>
              <a:rect l="l" t="t" r="r" b="b"/>
              <a:pathLst>
                <a:path w="259080" h="344424">
                  <a:moveTo>
                    <a:pt x="0" y="0"/>
                  </a:moveTo>
                  <a:lnTo>
                    <a:pt x="259080" y="0"/>
                  </a:lnTo>
                  <a:lnTo>
                    <a:pt x="259080" y="344424"/>
                  </a:lnTo>
                  <a:lnTo>
                    <a:pt x="0" y="34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r="19" b="-1530"/>
              </a:stretch>
            </a:blipFill>
          </p:spPr>
        </p:sp>
      </p:grpSp>
      <p:grpSp>
        <p:nvGrpSpPr>
          <p:cNvPr id="161" name="Group 161"/>
          <p:cNvGrpSpPr/>
          <p:nvPr/>
        </p:nvGrpSpPr>
        <p:grpSpPr>
          <a:xfrm>
            <a:off x="6695128" y="3547872"/>
            <a:ext cx="97136" cy="129159"/>
            <a:chOff x="0" y="0"/>
            <a:chExt cx="259029" cy="344424"/>
          </a:xfrm>
        </p:grpSpPr>
        <p:sp>
          <p:nvSpPr>
            <p:cNvPr id="162" name="Freeform 162" descr="preencoded.png"/>
            <p:cNvSpPr/>
            <p:nvPr/>
          </p:nvSpPr>
          <p:spPr>
            <a:xfrm>
              <a:off x="0" y="0"/>
              <a:ext cx="259080" cy="344424"/>
            </a:xfrm>
            <a:custGeom>
              <a:avLst/>
              <a:gdLst/>
              <a:ahLst/>
              <a:cxnLst/>
              <a:rect l="l" t="t" r="r" b="b"/>
              <a:pathLst>
                <a:path w="259080" h="344424">
                  <a:moveTo>
                    <a:pt x="0" y="0"/>
                  </a:moveTo>
                  <a:lnTo>
                    <a:pt x="259080" y="0"/>
                  </a:lnTo>
                  <a:lnTo>
                    <a:pt x="259080" y="344424"/>
                  </a:lnTo>
                  <a:lnTo>
                    <a:pt x="0" y="34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r="19" b="-1530"/>
              </a:stretch>
            </a:blipFill>
          </p:spPr>
        </p:sp>
      </p:grpSp>
      <p:grpSp>
        <p:nvGrpSpPr>
          <p:cNvPr id="163" name="Group 163"/>
          <p:cNvGrpSpPr/>
          <p:nvPr/>
        </p:nvGrpSpPr>
        <p:grpSpPr>
          <a:xfrm>
            <a:off x="5195888" y="914400"/>
            <a:ext cx="695325" cy="180975"/>
            <a:chOff x="0" y="0"/>
            <a:chExt cx="1854200" cy="482600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854200" cy="482600"/>
            </a:xfrm>
            <a:custGeom>
              <a:avLst/>
              <a:gdLst/>
              <a:ahLst/>
              <a:cxnLst/>
              <a:rect l="l" t="t" r="r" b="b"/>
              <a:pathLst>
                <a:path w="1854200" h="482600">
                  <a:moveTo>
                    <a:pt x="0" y="0"/>
                  </a:moveTo>
                  <a:lnTo>
                    <a:pt x="1854200" y="0"/>
                  </a:lnTo>
                  <a:lnTo>
                    <a:pt x="18542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863" b="-24863"/>
              </a:stretch>
            </a:blipFill>
          </p:spPr>
        </p:sp>
        <p:sp>
          <p:nvSpPr>
            <p:cNvPr id="165" name="TextBox 165"/>
            <p:cNvSpPr txBox="1"/>
            <p:nvPr/>
          </p:nvSpPr>
          <p:spPr>
            <a:xfrm>
              <a:off x="0" y="-19050"/>
              <a:ext cx="18542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트러블 슈팅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726624" y="2208467"/>
            <a:ext cx="3544762" cy="430300"/>
            <a:chOff x="0" y="0"/>
            <a:chExt cx="9452699" cy="1147465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9452702" cy="1147465"/>
            </a:xfrm>
            <a:custGeom>
              <a:avLst/>
              <a:gdLst/>
              <a:ahLst/>
              <a:cxnLst/>
              <a:rect l="l" t="t" r="r" b="b"/>
              <a:pathLst>
                <a:path w="9452702" h="1147465">
                  <a:moveTo>
                    <a:pt x="0" y="0"/>
                  </a:moveTo>
                  <a:lnTo>
                    <a:pt x="9452702" y="0"/>
                  </a:lnTo>
                  <a:lnTo>
                    <a:pt x="9452702" y="1147465"/>
                  </a:lnTo>
                  <a:lnTo>
                    <a:pt x="0" y="11474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40309" r="8591" b="-53139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-152400"/>
              <a:ext cx="9452699" cy="1299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00"/>
                </a:lnSpc>
              </a:pPr>
              <a:r>
                <a:rPr lang="en-US" sz="100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Calibri (MS)"/>
                </a:rPr>
                <a:t>기존 모델링에서의 EDA 및 전처리 과정 부족, 문제 정의 및 가설 설정 부족, 대시보드 내에서의 디테일 보완, 발표 흐름 정리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428625" y="377857"/>
            <a:ext cx="204788" cy="180975"/>
            <a:chOff x="0" y="0"/>
            <a:chExt cx="546100" cy="482600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546101" cy="482600"/>
            </a:xfrm>
            <a:custGeom>
              <a:avLst/>
              <a:gdLst/>
              <a:ahLst/>
              <a:cxnLst/>
              <a:rect l="l" t="t" r="r" b="b"/>
              <a:pathLst>
                <a:path w="546101" h="482600">
                  <a:moveTo>
                    <a:pt x="0" y="0"/>
                  </a:moveTo>
                  <a:lnTo>
                    <a:pt x="546101" y="0"/>
                  </a:lnTo>
                  <a:lnTo>
                    <a:pt x="546101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63384" r="-63384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-19050"/>
              <a:ext cx="5461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726624" y="3811190"/>
            <a:ext cx="3431605" cy="661628"/>
            <a:chOff x="0" y="0"/>
            <a:chExt cx="9150947" cy="1764341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9150939" cy="1764341"/>
            </a:xfrm>
            <a:custGeom>
              <a:avLst/>
              <a:gdLst/>
              <a:ahLst/>
              <a:cxnLst/>
              <a:rect l="l" t="t" r="r" b="b"/>
              <a:pathLst>
                <a:path w="9150939" h="1764341">
                  <a:moveTo>
                    <a:pt x="0" y="0"/>
                  </a:moveTo>
                  <a:lnTo>
                    <a:pt x="9150939" y="0"/>
                  </a:lnTo>
                  <a:lnTo>
                    <a:pt x="9150939" y="1764341"/>
                  </a:lnTo>
                  <a:lnTo>
                    <a:pt x="0" y="176434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71925" r="18857" b="7919"/>
              </a:stretch>
            </a:blipFill>
          </p:spPr>
        </p:sp>
        <p:sp>
          <p:nvSpPr>
            <p:cNvPr id="174" name="TextBox 174"/>
            <p:cNvSpPr txBox="1"/>
            <p:nvPr/>
          </p:nvSpPr>
          <p:spPr>
            <a:xfrm>
              <a:off x="0" y="-123825"/>
              <a:ext cx="9150947" cy="18881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00"/>
                </a:lnSpc>
              </a:pP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각종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EDA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추가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분석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및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새로운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모델링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파생변수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선택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근거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확보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문제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및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가설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설정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및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검증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대시보드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보완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및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발표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스토리라인</a:t>
              </a:r>
              <a:r>
                <a:rPr lang="en-US" sz="1000" dirty="0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1000" dirty="0" err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구성</a:t>
              </a:r>
              <a:endParaRPr lang="en-US" sz="1000" dirty="0">
                <a:solidFill>
                  <a:srgbClr val="33333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endParaRPr>
            </a:p>
          </p:txBody>
        </p:sp>
      </p:grpSp>
      <p:grpSp>
        <p:nvGrpSpPr>
          <p:cNvPr id="175" name="Group 175"/>
          <p:cNvGrpSpPr/>
          <p:nvPr/>
        </p:nvGrpSpPr>
        <p:grpSpPr>
          <a:xfrm>
            <a:off x="5357189" y="2998026"/>
            <a:ext cx="3055996" cy="495069"/>
            <a:chOff x="0" y="0"/>
            <a:chExt cx="8149323" cy="1320184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8149325" cy="1320174"/>
            </a:xfrm>
            <a:custGeom>
              <a:avLst/>
              <a:gdLst/>
              <a:ahLst/>
              <a:cxnLst/>
              <a:rect l="l" t="t" r="r" b="b"/>
              <a:pathLst>
                <a:path w="8149325" h="1320174">
                  <a:moveTo>
                    <a:pt x="0" y="0"/>
                  </a:moveTo>
                  <a:lnTo>
                    <a:pt x="8149325" y="0"/>
                  </a:lnTo>
                  <a:lnTo>
                    <a:pt x="8149325" y="1320174"/>
                  </a:lnTo>
                  <a:lnTo>
                    <a:pt x="0" y="132017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06311" b="-34247"/>
              </a:stretch>
            </a:blipFill>
          </p:spPr>
        </p:sp>
        <p:sp>
          <p:nvSpPr>
            <p:cNvPr id="177" name="TextBox 177"/>
            <p:cNvSpPr txBox="1"/>
            <p:nvPr/>
          </p:nvSpPr>
          <p:spPr>
            <a:xfrm>
              <a:off x="0" y="28575"/>
              <a:ext cx="8149323" cy="12916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9"/>
                </a:lnSpc>
              </a:pP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불량은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정상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기준보다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단순히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"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낮은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"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것이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아니라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위아래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양방향으로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흩어져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방향성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있는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원변수로는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신호가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상쇄되었고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전류·전력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간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상관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0.97의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다중공선성과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노이즈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변수가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분리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성능을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떨어뜨렸다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.</a:t>
              </a:r>
            </a:p>
          </p:txBody>
        </p:sp>
      </p:grpSp>
      <p:grpSp>
        <p:nvGrpSpPr>
          <p:cNvPr id="178" name="Group 178"/>
          <p:cNvGrpSpPr/>
          <p:nvPr/>
        </p:nvGrpSpPr>
        <p:grpSpPr>
          <a:xfrm>
            <a:off x="5390436" y="4059405"/>
            <a:ext cx="3113161" cy="592657"/>
            <a:chOff x="0" y="0"/>
            <a:chExt cx="8301761" cy="1580419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8301765" cy="1580413"/>
            </a:xfrm>
            <a:custGeom>
              <a:avLst/>
              <a:gdLst/>
              <a:ahLst/>
              <a:cxnLst/>
              <a:rect l="l" t="t" r="r" b="b"/>
              <a:pathLst>
                <a:path w="8301765" h="1580413">
                  <a:moveTo>
                    <a:pt x="0" y="0"/>
                  </a:moveTo>
                  <a:lnTo>
                    <a:pt x="8301765" y="0"/>
                  </a:lnTo>
                  <a:lnTo>
                    <a:pt x="8301765" y="1580413"/>
                  </a:lnTo>
                  <a:lnTo>
                    <a:pt x="0" y="158041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83135" r="2420" b="-16616"/>
              </a:stretch>
            </a:blipFill>
          </p:spPr>
        </p:sp>
        <p:sp>
          <p:nvSpPr>
            <p:cNvPr id="180" name="TextBox 180"/>
            <p:cNvSpPr txBox="1"/>
            <p:nvPr/>
          </p:nvSpPr>
          <p:spPr>
            <a:xfrm>
              <a:off x="0" y="-123825"/>
              <a:ext cx="8301761" cy="17042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20"/>
                </a:lnSpc>
              </a:pP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정상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기준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절대이탈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(|z|)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변수를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설계해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양방향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불량을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동시에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포착하고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,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다중공선성을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제거한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컴팩트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피처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5종만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채택하여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PR-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AUC가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0.91로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상승하고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재현율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1.0의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전수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검출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운영점을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</a:t>
              </a:r>
              <a:r>
                <a:rPr lang="en-US" sz="900" dirty="0" err="1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확보했다</a:t>
              </a:r>
              <a:r>
                <a:rPr lang="en-US" sz="900" dirty="0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.</a:t>
              </a:r>
            </a:p>
          </p:txBody>
        </p:sp>
      </p:grpSp>
      <p:grpSp>
        <p:nvGrpSpPr>
          <p:cNvPr id="181" name="Group 181"/>
          <p:cNvGrpSpPr/>
          <p:nvPr/>
        </p:nvGrpSpPr>
        <p:grpSpPr>
          <a:xfrm>
            <a:off x="797590" y="293309"/>
            <a:ext cx="1651273" cy="316733"/>
            <a:chOff x="0" y="0"/>
            <a:chExt cx="4403395" cy="844621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4403396" cy="844621"/>
            </a:xfrm>
            <a:custGeom>
              <a:avLst/>
              <a:gdLst/>
              <a:ahLst/>
              <a:cxnLst/>
              <a:rect l="l" t="t" r="r" b="b"/>
              <a:pathLst>
                <a:path w="4403396" h="844621">
                  <a:moveTo>
                    <a:pt x="0" y="0"/>
                  </a:moveTo>
                  <a:lnTo>
                    <a:pt x="4403396" y="0"/>
                  </a:lnTo>
                  <a:lnTo>
                    <a:pt x="4403396" y="844621"/>
                  </a:lnTo>
                  <a:lnTo>
                    <a:pt x="0" y="84462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47689" r="5688" b="-43921"/>
              </a:stretch>
            </a:blipFill>
          </p:spPr>
        </p:sp>
        <p:sp>
          <p:nvSpPr>
            <p:cNvPr id="183" name="TextBox 183"/>
            <p:cNvSpPr txBox="1"/>
            <p:nvPr/>
          </p:nvSpPr>
          <p:spPr>
            <a:xfrm>
              <a:off x="0" y="-95250"/>
              <a:ext cx="4403395" cy="9398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280"/>
                </a:lnSpc>
              </a:pPr>
              <a:r>
                <a:rPr lang="en-US" sz="1568" b="1" spc="6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프로젝트 수행 경과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8458200" y="309563"/>
            <a:ext cx="300038" cy="300038"/>
            <a:chOff x="0" y="0"/>
            <a:chExt cx="800100" cy="800100"/>
          </a:xfrm>
        </p:grpSpPr>
        <p:sp>
          <p:nvSpPr>
            <p:cNvPr id="185" name="Freeform 185" descr="preencoded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212" y="-34"/>
            <a:ext cx="9107610" cy="58103"/>
            <a:chOff x="0" y="0"/>
            <a:chExt cx="24286959" cy="15494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286972" cy="154940"/>
            </a:xfrm>
            <a:custGeom>
              <a:avLst/>
              <a:gdLst/>
              <a:ahLst/>
              <a:cxnLst/>
              <a:rect l="l" t="t" r="r" b="b"/>
              <a:pathLst>
                <a:path w="24286972" h="154940">
                  <a:moveTo>
                    <a:pt x="0" y="0"/>
                  </a:moveTo>
                  <a:lnTo>
                    <a:pt x="24286972" y="0"/>
                  </a:lnTo>
                  <a:lnTo>
                    <a:pt x="24286972" y="154940"/>
                  </a:lnTo>
                  <a:lnTo>
                    <a:pt x="0" y="154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5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42900" y="342900"/>
            <a:ext cx="342900" cy="257175"/>
            <a:chOff x="0" y="0"/>
            <a:chExt cx="914400" cy="685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0" y="0"/>
                  </a:moveTo>
                  <a:lnTo>
                    <a:pt x="914400" y="0"/>
                  </a:lnTo>
                  <a:lnTo>
                    <a:pt x="914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97590" y="334423"/>
            <a:ext cx="533624" cy="247650"/>
            <a:chOff x="0" y="0"/>
            <a:chExt cx="1422997" cy="660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2997" cy="660400"/>
            </a:xfrm>
            <a:custGeom>
              <a:avLst/>
              <a:gdLst/>
              <a:ahLst/>
              <a:cxnLst/>
              <a:rect l="l" t="t" r="r" b="b"/>
              <a:pathLst>
                <a:path w="1422997" h="660400">
                  <a:moveTo>
                    <a:pt x="0" y="0"/>
                  </a:moveTo>
                  <a:lnTo>
                    <a:pt x="1422997" y="0"/>
                  </a:lnTo>
                  <a:lnTo>
                    <a:pt x="142299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544" r="-954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422997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자체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1011" y="334423"/>
            <a:ext cx="433192" cy="247650"/>
            <a:chOff x="0" y="0"/>
            <a:chExt cx="1155179" cy="660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5179" cy="660400"/>
            </a:xfrm>
            <a:custGeom>
              <a:avLst/>
              <a:gdLst/>
              <a:ahLst/>
              <a:cxnLst/>
              <a:rect l="l" t="t" r="r" b="b"/>
              <a:pathLst>
                <a:path w="1155179" h="660400">
                  <a:moveTo>
                    <a:pt x="0" y="0"/>
                  </a:moveTo>
                  <a:lnTo>
                    <a:pt x="1155179" y="0"/>
                  </a:lnTo>
                  <a:lnTo>
                    <a:pt x="1155179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49" r="-2334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155179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64203" y="334423"/>
            <a:ext cx="464596" cy="247650"/>
            <a:chOff x="0" y="0"/>
            <a:chExt cx="1238923" cy="660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8925" cy="660400"/>
            </a:xfrm>
            <a:custGeom>
              <a:avLst/>
              <a:gdLst/>
              <a:ahLst/>
              <a:cxnLst/>
              <a:rect l="l" t="t" r="r" b="b"/>
              <a:pathLst>
                <a:path w="1238925" h="660400">
                  <a:moveTo>
                    <a:pt x="0" y="0"/>
                  </a:moveTo>
                  <a:lnTo>
                    <a:pt x="1238925" y="0"/>
                  </a:lnTo>
                  <a:lnTo>
                    <a:pt x="1238925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391" r="-1839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238923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의견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2900" y="803529"/>
            <a:ext cx="28575" cy="129159"/>
            <a:chOff x="0" y="0"/>
            <a:chExt cx="76200" cy="344424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6200" cy="344424"/>
            </a:xfrm>
            <a:custGeom>
              <a:avLst/>
              <a:gdLst/>
              <a:ahLst/>
              <a:cxnLst/>
              <a:rect l="l" t="t" r="r" b="b"/>
              <a:pathLst>
                <a:path w="76200" h="344424">
                  <a:moveTo>
                    <a:pt x="0" y="0"/>
                  </a:moveTo>
                  <a:lnTo>
                    <a:pt x="76200" y="0"/>
                  </a:lnTo>
                  <a:lnTo>
                    <a:pt x="76200" y="344424"/>
                  </a:lnTo>
                  <a:lnTo>
                    <a:pt x="0" y="34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450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428625" y="787337"/>
            <a:ext cx="371475" cy="160782"/>
            <a:chOff x="0" y="0"/>
            <a:chExt cx="990600" cy="428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0600" cy="428747"/>
            </a:xfrm>
            <a:custGeom>
              <a:avLst/>
              <a:gdLst/>
              <a:ahLst/>
              <a:cxnLst/>
              <a:rect l="l" t="t" r="r" b="b"/>
              <a:pathLst>
                <a:path w="990600" h="428747">
                  <a:moveTo>
                    <a:pt x="0" y="0"/>
                  </a:moveTo>
                  <a:lnTo>
                    <a:pt x="990600" y="0"/>
                  </a:lnTo>
                  <a:lnTo>
                    <a:pt x="990600" y="428747"/>
                  </a:lnTo>
                  <a:lnTo>
                    <a:pt x="0" y="42874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32" r="-5532" b="-1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990600" cy="457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완성도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97590" y="812754"/>
            <a:ext cx="314325" cy="114872"/>
            <a:chOff x="0" y="0"/>
            <a:chExt cx="838200" cy="3063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38200" cy="306323"/>
            </a:xfrm>
            <a:custGeom>
              <a:avLst/>
              <a:gdLst/>
              <a:ahLst/>
              <a:cxnLst/>
              <a:rect l="l" t="t" r="r" b="b"/>
              <a:pathLst>
                <a:path w="838200" h="306323">
                  <a:moveTo>
                    <a:pt x="0" y="0"/>
                  </a:moveTo>
                  <a:lnTo>
                    <a:pt x="838200" y="0"/>
                  </a:lnTo>
                  <a:lnTo>
                    <a:pt x="838200" y="306323"/>
                  </a:lnTo>
                  <a:lnTo>
                    <a:pt x="0" y="30632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317" b="-331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838200" cy="334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2900" y="1049960"/>
            <a:ext cx="1688397" cy="396507"/>
            <a:chOff x="0" y="0"/>
            <a:chExt cx="4502391" cy="1057351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4502404" cy="1057402"/>
            </a:xfrm>
            <a:custGeom>
              <a:avLst/>
              <a:gdLst/>
              <a:ahLst/>
              <a:cxnLst/>
              <a:rect l="l" t="t" r="r" b="b"/>
              <a:pathLst>
                <a:path w="4502404" h="1057402">
                  <a:moveTo>
                    <a:pt x="0" y="0"/>
                  </a:moveTo>
                  <a:lnTo>
                    <a:pt x="4502404" y="0"/>
                  </a:lnTo>
                  <a:lnTo>
                    <a:pt x="4502404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161" b="4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2031297" y="1049960"/>
            <a:ext cx="1266640" cy="396507"/>
            <a:chOff x="0" y="0"/>
            <a:chExt cx="3377705" cy="1057351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3377692" cy="1057402"/>
            </a:xfrm>
            <a:custGeom>
              <a:avLst/>
              <a:gdLst/>
              <a:ahLst/>
              <a:cxnLst/>
              <a:rect l="l" t="t" r="r" b="b"/>
              <a:pathLst>
                <a:path w="3377692" h="1057402">
                  <a:moveTo>
                    <a:pt x="0" y="0"/>
                  </a:moveTo>
                  <a:lnTo>
                    <a:pt x="3377692" y="0"/>
                  </a:lnTo>
                  <a:lnTo>
                    <a:pt x="3377692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49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3298031" y="1049960"/>
            <a:ext cx="5488491" cy="396507"/>
            <a:chOff x="0" y="0"/>
            <a:chExt cx="14635975" cy="1057351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14635987" cy="1057402"/>
            </a:xfrm>
            <a:custGeom>
              <a:avLst/>
              <a:gdLst/>
              <a:ahLst/>
              <a:cxnLst/>
              <a:rect l="l" t="t" r="r" b="b"/>
              <a:pathLst>
                <a:path w="14635987" h="1057402">
                  <a:moveTo>
                    <a:pt x="0" y="0"/>
                  </a:moveTo>
                  <a:lnTo>
                    <a:pt x="14635987" y="0"/>
                  </a:lnTo>
                  <a:lnTo>
                    <a:pt x="14635987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9" b="4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2031297" y="1446486"/>
            <a:ext cx="1266640" cy="396507"/>
            <a:chOff x="0" y="0"/>
            <a:chExt cx="3377705" cy="1057351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3377692" cy="1057402"/>
            </a:xfrm>
            <a:custGeom>
              <a:avLst/>
              <a:gdLst/>
              <a:ahLst/>
              <a:cxnLst/>
              <a:rect l="l" t="t" r="r" b="b"/>
              <a:pathLst>
                <a:path w="3377692" h="1057402">
                  <a:moveTo>
                    <a:pt x="0" y="0"/>
                  </a:moveTo>
                  <a:lnTo>
                    <a:pt x="3377692" y="0"/>
                  </a:lnTo>
                  <a:lnTo>
                    <a:pt x="3377692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49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3298031" y="1446486"/>
            <a:ext cx="5488491" cy="396507"/>
            <a:chOff x="0" y="0"/>
            <a:chExt cx="14635975" cy="1057351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14635987" cy="1057402"/>
            </a:xfrm>
            <a:custGeom>
              <a:avLst/>
              <a:gdLst/>
              <a:ahLst/>
              <a:cxnLst/>
              <a:rect l="l" t="t" r="r" b="b"/>
              <a:pathLst>
                <a:path w="14635987" h="1057402">
                  <a:moveTo>
                    <a:pt x="0" y="0"/>
                  </a:moveTo>
                  <a:lnTo>
                    <a:pt x="14635987" y="0"/>
                  </a:lnTo>
                  <a:lnTo>
                    <a:pt x="14635987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9" b="4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342900" y="1843012"/>
            <a:ext cx="1688397" cy="396507"/>
            <a:chOff x="0" y="0"/>
            <a:chExt cx="4502391" cy="1057351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4502404" cy="1057402"/>
            </a:xfrm>
            <a:custGeom>
              <a:avLst/>
              <a:gdLst/>
              <a:ahLst/>
              <a:cxnLst/>
              <a:rect l="l" t="t" r="r" b="b"/>
              <a:pathLst>
                <a:path w="4502404" h="1057402">
                  <a:moveTo>
                    <a:pt x="0" y="0"/>
                  </a:moveTo>
                  <a:lnTo>
                    <a:pt x="4502404" y="0"/>
                  </a:lnTo>
                  <a:lnTo>
                    <a:pt x="4502404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161" b="4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2031297" y="1843012"/>
            <a:ext cx="1266640" cy="396507"/>
            <a:chOff x="0" y="0"/>
            <a:chExt cx="3377705" cy="1057351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3377692" cy="1057402"/>
            </a:xfrm>
            <a:custGeom>
              <a:avLst/>
              <a:gdLst/>
              <a:ahLst/>
              <a:cxnLst/>
              <a:rect l="l" t="t" r="r" b="b"/>
              <a:pathLst>
                <a:path w="3377692" h="1057402">
                  <a:moveTo>
                    <a:pt x="0" y="0"/>
                  </a:moveTo>
                  <a:lnTo>
                    <a:pt x="3377692" y="0"/>
                  </a:lnTo>
                  <a:lnTo>
                    <a:pt x="3377692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49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3298031" y="1843012"/>
            <a:ext cx="5488491" cy="396507"/>
            <a:chOff x="0" y="0"/>
            <a:chExt cx="14635975" cy="1057351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14635987" cy="1057402"/>
            </a:xfrm>
            <a:custGeom>
              <a:avLst/>
              <a:gdLst/>
              <a:ahLst/>
              <a:cxnLst/>
              <a:rect l="l" t="t" r="r" b="b"/>
              <a:pathLst>
                <a:path w="14635987" h="1057402">
                  <a:moveTo>
                    <a:pt x="0" y="0"/>
                  </a:moveTo>
                  <a:lnTo>
                    <a:pt x="14635987" y="0"/>
                  </a:lnTo>
                  <a:lnTo>
                    <a:pt x="14635987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9" b="4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342900" y="2239442"/>
            <a:ext cx="1688397" cy="396507"/>
            <a:chOff x="0" y="0"/>
            <a:chExt cx="4502391" cy="1057351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4502404" cy="1057402"/>
            </a:xfrm>
            <a:custGeom>
              <a:avLst/>
              <a:gdLst/>
              <a:ahLst/>
              <a:cxnLst/>
              <a:rect l="l" t="t" r="r" b="b"/>
              <a:pathLst>
                <a:path w="4502404" h="1057402">
                  <a:moveTo>
                    <a:pt x="0" y="0"/>
                  </a:moveTo>
                  <a:lnTo>
                    <a:pt x="4502404" y="0"/>
                  </a:lnTo>
                  <a:lnTo>
                    <a:pt x="4502404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61" b="4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2031297" y="2239442"/>
            <a:ext cx="1266640" cy="396507"/>
            <a:chOff x="0" y="0"/>
            <a:chExt cx="3377705" cy="1057351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3377692" cy="1057402"/>
            </a:xfrm>
            <a:custGeom>
              <a:avLst/>
              <a:gdLst/>
              <a:ahLst/>
              <a:cxnLst/>
              <a:rect l="l" t="t" r="r" b="b"/>
              <a:pathLst>
                <a:path w="3377692" h="1057402">
                  <a:moveTo>
                    <a:pt x="0" y="0"/>
                  </a:moveTo>
                  <a:lnTo>
                    <a:pt x="3377692" y="0"/>
                  </a:lnTo>
                  <a:lnTo>
                    <a:pt x="3377692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49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298031" y="2239442"/>
            <a:ext cx="5488491" cy="396507"/>
            <a:chOff x="0" y="0"/>
            <a:chExt cx="14635975" cy="1057351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14635987" cy="1057402"/>
            </a:xfrm>
            <a:custGeom>
              <a:avLst/>
              <a:gdLst/>
              <a:ahLst/>
              <a:cxnLst/>
              <a:rect l="l" t="t" r="r" b="b"/>
              <a:pathLst>
                <a:path w="14635987" h="1057402">
                  <a:moveTo>
                    <a:pt x="0" y="0"/>
                  </a:moveTo>
                  <a:lnTo>
                    <a:pt x="14635987" y="0"/>
                  </a:lnTo>
                  <a:lnTo>
                    <a:pt x="14635987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9" b="4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342900" y="2635968"/>
            <a:ext cx="1688397" cy="396507"/>
            <a:chOff x="0" y="0"/>
            <a:chExt cx="4502391" cy="1057351"/>
          </a:xfrm>
        </p:grpSpPr>
        <p:sp>
          <p:nvSpPr>
            <p:cNvPr id="52" name="Freeform 52" descr="preencoded.png"/>
            <p:cNvSpPr/>
            <p:nvPr/>
          </p:nvSpPr>
          <p:spPr>
            <a:xfrm>
              <a:off x="0" y="0"/>
              <a:ext cx="4502404" cy="1057402"/>
            </a:xfrm>
            <a:custGeom>
              <a:avLst/>
              <a:gdLst/>
              <a:ahLst/>
              <a:cxnLst/>
              <a:rect l="l" t="t" r="r" b="b"/>
              <a:pathLst>
                <a:path w="4502404" h="1057402">
                  <a:moveTo>
                    <a:pt x="0" y="0"/>
                  </a:moveTo>
                  <a:lnTo>
                    <a:pt x="4502404" y="0"/>
                  </a:lnTo>
                  <a:lnTo>
                    <a:pt x="4502404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161" b="4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2031297" y="2635968"/>
            <a:ext cx="1266640" cy="396507"/>
            <a:chOff x="0" y="0"/>
            <a:chExt cx="3377705" cy="1057351"/>
          </a:xfrm>
        </p:grpSpPr>
        <p:sp>
          <p:nvSpPr>
            <p:cNvPr id="54" name="Freeform 54" descr="preencoded.png"/>
            <p:cNvSpPr/>
            <p:nvPr/>
          </p:nvSpPr>
          <p:spPr>
            <a:xfrm>
              <a:off x="0" y="0"/>
              <a:ext cx="3377692" cy="1057402"/>
            </a:xfrm>
            <a:custGeom>
              <a:avLst/>
              <a:gdLst/>
              <a:ahLst/>
              <a:cxnLst/>
              <a:rect l="l" t="t" r="r" b="b"/>
              <a:pathLst>
                <a:path w="3377692" h="1057402">
                  <a:moveTo>
                    <a:pt x="0" y="0"/>
                  </a:moveTo>
                  <a:lnTo>
                    <a:pt x="3377692" y="0"/>
                  </a:lnTo>
                  <a:lnTo>
                    <a:pt x="3377692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b="-49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3298031" y="2635968"/>
            <a:ext cx="5488491" cy="396507"/>
            <a:chOff x="0" y="0"/>
            <a:chExt cx="14635975" cy="1057351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14635987" cy="1057402"/>
            </a:xfrm>
            <a:custGeom>
              <a:avLst/>
              <a:gdLst/>
              <a:ahLst/>
              <a:cxnLst/>
              <a:rect l="l" t="t" r="r" b="b"/>
              <a:pathLst>
                <a:path w="14635987" h="1057402">
                  <a:moveTo>
                    <a:pt x="0" y="0"/>
                  </a:moveTo>
                  <a:lnTo>
                    <a:pt x="14635987" y="0"/>
                  </a:lnTo>
                  <a:lnTo>
                    <a:pt x="14635987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r="-9" b="4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342900" y="3032494"/>
            <a:ext cx="1688397" cy="396507"/>
            <a:chOff x="0" y="0"/>
            <a:chExt cx="4502391" cy="1057351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4502404" cy="1057402"/>
            </a:xfrm>
            <a:custGeom>
              <a:avLst/>
              <a:gdLst/>
              <a:ahLst/>
              <a:cxnLst/>
              <a:rect l="l" t="t" r="r" b="b"/>
              <a:pathLst>
                <a:path w="4502404" h="1057402">
                  <a:moveTo>
                    <a:pt x="0" y="0"/>
                  </a:moveTo>
                  <a:lnTo>
                    <a:pt x="4502404" y="0"/>
                  </a:lnTo>
                  <a:lnTo>
                    <a:pt x="4502404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161" b="4"/>
              </a:stretch>
            </a:blipFill>
          </p:spPr>
        </p:sp>
      </p:grpSp>
      <p:grpSp>
        <p:nvGrpSpPr>
          <p:cNvPr id="59" name="Group 59"/>
          <p:cNvGrpSpPr/>
          <p:nvPr/>
        </p:nvGrpSpPr>
        <p:grpSpPr>
          <a:xfrm>
            <a:off x="2031297" y="3032494"/>
            <a:ext cx="1266640" cy="396507"/>
            <a:chOff x="0" y="0"/>
            <a:chExt cx="3377705" cy="1057351"/>
          </a:xfrm>
        </p:grpSpPr>
        <p:sp>
          <p:nvSpPr>
            <p:cNvPr id="60" name="Freeform 60" descr="preencoded.png"/>
            <p:cNvSpPr/>
            <p:nvPr/>
          </p:nvSpPr>
          <p:spPr>
            <a:xfrm>
              <a:off x="0" y="0"/>
              <a:ext cx="3377692" cy="1057402"/>
            </a:xfrm>
            <a:custGeom>
              <a:avLst/>
              <a:gdLst/>
              <a:ahLst/>
              <a:cxnLst/>
              <a:rect l="l" t="t" r="r" b="b"/>
              <a:pathLst>
                <a:path w="3377692" h="1057402">
                  <a:moveTo>
                    <a:pt x="0" y="0"/>
                  </a:moveTo>
                  <a:lnTo>
                    <a:pt x="3377692" y="0"/>
                  </a:lnTo>
                  <a:lnTo>
                    <a:pt x="3377692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49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3298031" y="3032494"/>
            <a:ext cx="5488491" cy="396507"/>
            <a:chOff x="0" y="0"/>
            <a:chExt cx="14635975" cy="1057351"/>
          </a:xfrm>
        </p:grpSpPr>
        <p:sp>
          <p:nvSpPr>
            <p:cNvPr id="62" name="Freeform 62" descr="preencoded.png"/>
            <p:cNvSpPr/>
            <p:nvPr/>
          </p:nvSpPr>
          <p:spPr>
            <a:xfrm>
              <a:off x="0" y="0"/>
              <a:ext cx="14635987" cy="1057402"/>
            </a:xfrm>
            <a:custGeom>
              <a:avLst/>
              <a:gdLst/>
              <a:ahLst/>
              <a:cxnLst/>
              <a:rect l="l" t="t" r="r" b="b"/>
              <a:pathLst>
                <a:path w="14635987" h="1057402">
                  <a:moveTo>
                    <a:pt x="0" y="0"/>
                  </a:moveTo>
                  <a:lnTo>
                    <a:pt x="14635987" y="0"/>
                  </a:lnTo>
                  <a:lnTo>
                    <a:pt x="14635987" y="1057402"/>
                  </a:lnTo>
                  <a:lnTo>
                    <a:pt x="0" y="1057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9" b="4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2031297" y="1046417"/>
            <a:ext cx="7144" cy="2386108"/>
            <a:chOff x="0" y="0"/>
            <a:chExt cx="19050" cy="6362954"/>
          </a:xfrm>
        </p:grpSpPr>
        <p:sp>
          <p:nvSpPr>
            <p:cNvPr id="64" name="Freeform 64" descr="preencoded.png"/>
            <p:cNvSpPr/>
            <p:nvPr/>
          </p:nvSpPr>
          <p:spPr>
            <a:xfrm>
              <a:off x="0" y="0"/>
              <a:ext cx="19050" cy="6362954"/>
            </a:xfrm>
            <a:custGeom>
              <a:avLst/>
              <a:gdLst/>
              <a:ahLst/>
              <a:cxnLst/>
              <a:rect l="l" t="t" r="r" b="b"/>
              <a:pathLst>
                <a:path w="19050" h="6362954">
                  <a:moveTo>
                    <a:pt x="0" y="0"/>
                  </a:moveTo>
                  <a:lnTo>
                    <a:pt x="19050" y="0"/>
                  </a:lnTo>
                  <a:lnTo>
                    <a:pt x="19050" y="6362954"/>
                  </a:lnTo>
                  <a:lnTo>
                    <a:pt x="0" y="636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33066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3298031" y="1046417"/>
            <a:ext cx="7144" cy="2386108"/>
            <a:chOff x="0" y="0"/>
            <a:chExt cx="19050" cy="6362954"/>
          </a:xfrm>
        </p:grpSpPr>
        <p:sp>
          <p:nvSpPr>
            <p:cNvPr id="66" name="Freeform 66" descr="preencoded.png"/>
            <p:cNvSpPr/>
            <p:nvPr/>
          </p:nvSpPr>
          <p:spPr>
            <a:xfrm>
              <a:off x="0" y="0"/>
              <a:ext cx="19050" cy="6362954"/>
            </a:xfrm>
            <a:custGeom>
              <a:avLst/>
              <a:gdLst/>
              <a:ahLst/>
              <a:cxnLst/>
              <a:rect l="l" t="t" r="r" b="b"/>
              <a:pathLst>
                <a:path w="19050" h="6362954">
                  <a:moveTo>
                    <a:pt x="0" y="0"/>
                  </a:moveTo>
                  <a:lnTo>
                    <a:pt x="19050" y="0"/>
                  </a:lnTo>
                  <a:lnTo>
                    <a:pt x="19050" y="6362954"/>
                  </a:lnTo>
                  <a:lnTo>
                    <a:pt x="0" y="636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33066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339328" y="1446467"/>
            <a:ext cx="8450723" cy="7144"/>
            <a:chOff x="0" y="0"/>
            <a:chExt cx="22535261" cy="19050"/>
          </a:xfrm>
        </p:grpSpPr>
        <p:sp>
          <p:nvSpPr>
            <p:cNvPr id="68" name="Freeform 68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339328" y="1842992"/>
            <a:ext cx="8450723" cy="7144"/>
            <a:chOff x="0" y="0"/>
            <a:chExt cx="22535261" cy="19050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339328" y="2239518"/>
            <a:ext cx="8450723" cy="7144"/>
            <a:chOff x="0" y="0"/>
            <a:chExt cx="22535261" cy="19050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339328" y="2635949"/>
            <a:ext cx="8450723" cy="7144"/>
            <a:chOff x="0" y="0"/>
            <a:chExt cx="22535261" cy="1905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339328" y="3032474"/>
            <a:ext cx="8450723" cy="7144"/>
            <a:chOff x="0" y="0"/>
            <a:chExt cx="22535261" cy="19050"/>
          </a:xfrm>
        </p:grpSpPr>
        <p:sp>
          <p:nvSpPr>
            <p:cNvPr id="76" name="Freeform 76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342900" y="1046417"/>
            <a:ext cx="7144" cy="2386108"/>
            <a:chOff x="0" y="0"/>
            <a:chExt cx="19050" cy="6362954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19050" cy="6362954"/>
            </a:xfrm>
            <a:custGeom>
              <a:avLst/>
              <a:gdLst/>
              <a:ahLst/>
              <a:cxnLst/>
              <a:rect l="l" t="t" r="r" b="b"/>
              <a:pathLst>
                <a:path w="19050" h="6362954">
                  <a:moveTo>
                    <a:pt x="0" y="0"/>
                  </a:moveTo>
                  <a:lnTo>
                    <a:pt x="19050" y="0"/>
                  </a:lnTo>
                  <a:lnTo>
                    <a:pt x="19050" y="6362954"/>
                  </a:lnTo>
                  <a:lnTo>
                    <a:pt x="0" y="636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33066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8786432" y="1046417"/>
            <a:ext cx="7144" cy="2386108"/>
            <a:chOff x="0" y="0"/>
            <a:chExt cx="19050" cy="6362954"/>
          </a:xfrm>
        </p:grpSpPr>
        <p:sp>
          <p:nvSpPr>
            <p:cNvPr id="80" name="Freeform 80" descr="preencoded.png"/>
            <p:cNvSpPr/>
            <p:nvPr/>
          </p:nvSpPr>
          <p:spPr>
            <a:xfrm>
              <a:off x="0" y="0"/>
              <a:ext cx="19050" cy="6362954"/>
            </a:xfrm>
            <a:custGeom>
              <a:avLst/>
              <a:gdLst/>
              <a:ahLst/>
              <a:cxnLst/>
              <a:rect l="l" t="t" r="r" b="b"/>
              <a:pathLst>
                <a:path w="19050" h="6362954">
                  <a:moveTo>
                    <a:pt x="0" y="0"/>
                  </a:moveTo>
                  <a:lnTo>
                    <a:pt x="19050" y="0"/>
                  </a:lnTo>
                  <a:lnTo>
                    <a:pt x="19050" y="6362954"/>
                  </a:lnTo>
                  <a:lnTo>
                    <a:pt x="0" y="6362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33066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339328" y="1049941"/>
            <a:ext cx="8450723" cy="7144"/>
            <a:chOff x="0" y="0"/>
            <a:chExt cx="22535261" cy="19050"/>
          </a:xfrm>
        </p:grpSpPr>
        <p:sp>
          <p:nvSpPr>
            <p:cNvPr id="82" name="Freeform 82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339328" y="3429000"/>
            <a:ext cx="8450723" cy="7144"/>
            <a:chOff x="0" y="0"/>
            <a:chExt cx="22535261" cy="19050"/>
          </a:xfrm>
        </p:grpSpPr>
        <p:sp>
          <p:nvSpPr>
            <p:cNvPr id="84" name="Freeform 84" descr="preencoded.png"/>
            <p:cNvSpPr/>
            <p:nvPr/>
          </p:nvSpPr>
          <p:spPr>
            <a:xfrm>
              <a:off x="0" y="0"/>
              <a:ext cx="22535262" cy="19050"/>
            </a:xfrm>
            <a:custGeom>
              <a:avLst/>
              <a:gdLst/>
              <a:ahLst/>
              <a:cxnLst/>
              <a:rect l="l" t="t" r="r" b="b"/>
              <a:pathLst>
                <a:path w="22535262" h="19050">
                  <a:moveTo>
                    <a:pt x="0" y="0"/>
                  </a:moveTo>
                  <a:lnTo>
                    <a:pt x="22535262" y="0"/>
                  </a:lnTo>
                  <a:lnTo>
                    <a:pt x="22535262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8559374" b="-12704533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1076325" y="1176338"/>
            <a:ext cx="300833" cy="129540"/>
            <a:chOff x="0" y="0"/>
            <a:chExt cx="802221" cy="3454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802216" cy="345437"/>
            </a:xfrm>
            <a:custGeom>
              <a:avLst/>
              <a:gdLst/>
              <a:ahLst/>
              <a:cxnLst/>
              <a:rect l="l" t="t" r="r" b="b"/>
              <a:pathLst>
                <a:path w="802216" h="345437">
                  <a:moveTo>
                    <a:pt x="0" y="0"/>
                  </a:moveTo>
                  <a:lnTo>
                    <a:pt x="802216" y="0"/>
                  </a:lnTo>
                  <a:lnTo>
                    <a:pt x="802216" y="345437"/>
                  </a:lnTo>
                  <a:lnTo>
                    <a:pt x="0" y="34543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248" r="-5248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802221" cy="364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2"/>
                </a:lnSpc>
              </a:pPr>
              <a:r>
                <a:rPr lang="en-US" sz="857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이름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2543175" y="1176338"/>
            <a:ext cx="321469" cy="138113"/>
            <a:chOff x="0" y="0"/>
            <a:chExt cx="857250" cy="3683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857251" cy="368301"/>
            </a:xfrm>
            <a:custGeom>
              <a:avLst/>
              <a:gdLst/>
              <a:ahLst/>
              <a:cxnLst/>
              <a:rect l="l" t="t" r="r" b="b"/>
              <a:pathLst>
                <a:path w="857251" h="368301">
                  <a:moveTo>
                    <a:pt x="0" y="0"/>
                  </a:moveTo>
                  <a:lnTo>
                    <a:pt x="857251" y="0"/>
                  </a:lnTo>
                  <a:lnTo>
                    <a:pt x="857251" y="368301"/>
                  </a:lnTo>
                  <a:lnTo>
                    <a:pt x="0" y="368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123" r="-5122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857250" cy="387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2"/>
                </a:lnSpc>
              </a:pPr>
              <a:r>
                <a:rPr lang="en-US" sz="857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점수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819775" y="1176338"/>
            <a:ext cx="510383" cy="105537"/>
            <a:chOff x="0" y="0"/>
            <a:chExt cx="1361021" cy="28143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361016" cy="281432"/>
            </a:xfrm>
            <a:custGeom>
              <a:avLst/>
              <a:gdLst/>
              <a:ahLst/>
              <a:cxnLst/>
              <a:rect l="l" t="t" r="r" b="b"/>
              <a:pathLst>
                <a:path w="1361016" h="281432">
                  <a:moveTo>
                    <a:pt x="0" y="0"/>
                  </a:moveTo>
                  <a:lnTo>
                    <a:pt x="1361016" y="0"/>
                  </a:lnTo>
                  <a:lnTo>
                    <a:pt x="1361016" y="281432"/>
                  </a:lnTo>
                  <a:lnTo>
                    <a:pt x="0" y="2814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230" b="-44230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1361021" cy="3004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2"/>
                </a:lnSpc>
              </a:pPr>
              <a:r>
                <a:rPr lang="en-US" sz="857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평가 사유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479478" y="1567911"/>
            <a:ext cx="370878" cy="173834"/>
            <a:chOff x="0" y="0"/>
            <a:chExt cx="989009" cy="46355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989008" cy="463556"/>
            </a:xfrm>
            <a:custGeom>
              <a:avLst/>
              <a:gdLst/>
              <a:ahLst/>
              <a:cxnLst/>
              <a:rect l="l" t="t" r="r" b="b"/>
              <a:pathLst>
                <a:path w="989008" h="463556">
                  <a:moveTo>
                    <a:pt x="0" y="0"/>
                  </a:moveTo>
                  <a:lnTo>
                    <a:pt x="989008" y="0"/>
                  </a:lnTo>
                  <a:lnTo>
                    <a:pt x="989008" y="463556"/>
                  </a:lnTo>
                  <a:lnTo>
                    <a:pt x="0" y="4635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0485" r="6688" b="13699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989009" cy="482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>
                  <a:solidFill>
                    <a:srgbClr val="9CA3A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10 / 10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2485934" y="2350038"/>
            <a:ext cx="443096" cy="175315"/>
            <a:chOff x="0" y="0"/>
            <a:chExt cx="819150" cy="32410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819149" cy="324107"/>
            </a:xfrm>
            <a:custGeom>
              <a:avLst/>
              <a:gdLst/>
              <a:ahLst/>
              <a:cxnLst/>
              <a:rect l="l" t="t" r="r" b="b"/>
              <a:pathLst>
                <a:path w="819149" h="324107">
                  <a:moveTo>
                    <a:pt x="0" y="0"/>
                  </a:moveTo>
                  <a:lnTo>
                    <a:pt x="819149" y="0"/>
                  </a:lnTo>
                  <a:lnTo>
                    <a:pt x="819149" y="324107"/>
                  </a:lnTo>
                  <a:lnTo>
                    <a:pt x="0" y="3241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64" r="-764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819150" cy="3431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>
                  <a:solidFill>
                    <a:srgbClr val="9CA3A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9 / 10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2459234" y="2743105"/>
            <a:ext cx="418004" cy="173834"/>
            <a:chOff x="0" y="0"/>
            <a:chExt cx="1114675" cy="463555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114671" cy="463560"/>
            </a:xfrm>
            <a:custGeom>
              <a:avLst/>
              <a:gdLst/>
              <a:ahLst/>
              <a:cxnLst/>
              <a:rect l="l" t="t" r="r" b="b"/>
              <a:pathLst>
                <a:path w="1114671" h="463560">
                  <a:moveTo>
                    <a:pt x="0" y="0"/>
                  </a:moveTo>
                  <a:lnTo>
                    <a:pt x="1114671" y="0"/>
                  </a:lnTo>
                  <a:lnTo>
                    <a:pt x="1114671" y="463560"/>
                  </a:lnTo>
                  <a:lnTo>
                    <a:pt x="0" y="463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278" r="14233" b="8125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1114675" cy="482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>
                  <a:solidFill>
                    <a:srgbClr val="9CA3A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9 / 10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2459234" y="3139631"/>
            <a:ext cx="371567" cy="173817"/>
            <a:chOff x="0" y="0"/>
            <a:chExt cx="990844" cy="463511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990839" cy="463517"/>
            </a:xfrm>
            <a:custGeom>
              <a:avLst/>
              <a:gdLst/>
              <a:ahLst/>
              <a:cxnLst/>
              <a:rect l="l" t="t" r="r" b="b"/>
              <a:pathLst>
                <a:path w="990839" h="463517">
                  <a:moveTo>
                    <a:pt x="0" y="0"/>
                  </a:moveTo>
                  <a:lnTo>
                    <a:pt x="990839" y="0"/>
                  </a:lnTo>
                  <a:lnTo>
                    <a:pt x="990839" y="463517"/>
                  </a:lnTo>
                  <a:lnTo>
                    <a:pt x="0" y="4635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486" r="6763" b="11928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990844" cy="4825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>
                  <a:solidFill>
                    <a:srgbClr val="9CA3A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10 / 10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232034" y="3797056"/>
            <a:ext cx="4329684" cy="1346445"/>
            <a:chOff x="0" y="0"/>
            <a:chExt cx="11545824" cy="3590519"/>
          </a:xfrm>
        </p:grpSpPr>
        <p:sp>
          <p:nvSpPr>
            <p:cNvPr id="107" name="Freeform 107" descr="preencoded.png"/>
            <p:cNvSpPr/>
            <p:nvPr/>
          </p:nvSpPr>
          <p:spPr>
            <a:xfrm>
              <a:off x="0" y="0"/>
              <a:ext cx="11545824" cy="3590544"/>
            </a:xfrm>
            <a:custGeom>
              <a:avLst/>
              <a:gdLst/>
              <a:ahLst/>
              <a:cxnLst/>
              <a:rect l="l" t="t" r="r" b="b"/>
              <a:pathLst>
                <a:path w="11545824" h="3590544">
                  <a:moveTo>
                    <a:pt x="0" y="0"/>
                  </a:moveTo>
                  <a:lnTo>
                    <a:pt x="11545824" y="0"/>
                  </a:lnTo>
                  <a:lnTo>
                    <a:pt x="11545824" y="3590544"/>
                  </a:lnTo>
                  <a:lnTo>
                    <a:pt x="0" y="3590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105" b="-7300"/>
              </a:stretch>
            </a:blipFill>
          </p:spPr>
        </p:sp>
      </p:grpSp>
      <p:grpSp>
        <p:nvGrpSpPr>
          <p:cNvPr id="108" name="Group 108"/>
          <p:cNvGrpSpPr/>
          <p:nvPr/>
        </p:nvGrpSpPr>
        <p:grpSpPr>
          <a:xfrm>
            <a:off x="342900" y="3590925"/>
            <a:ext cx="4114800" cy="1552575"/>
            <a:chOff x="0" y="0"/>
            <a:chExt cx="10972800" cy="4140200"/>
          </a:xfrm>
        </p:grpSpPr>
        <p:sp>
          <p:nvSpPr>
            <p:cNvPr id="109" name="Freeform 109" descr="preencoded.png"/>
            <p:cNvSpPr/>
            <p:nvPr/>
          </p:nvSpPr>
          <p:spPr>
            <a:xfrm>
              <a:off x="0" y="0"/>
              <a:ext cx="10972800" cy="4140200"/>
            </a:xfrm>
            <a:custGeom>
              <a:avLst/>
              <a:gdLst/>
              <a:ahLst/>
              <a:cxnLst/>
              <a:rect l="l" t="t" r="r" b="b"/>
              <a:pathLst>
                <a:path w="10972800" h="4140200">
                  <a:moveTo>
                    <a:pt x="0" y="0"/>
                  </a:moveTo>
                  <a:lnTo>
                    <a:pt x="10972800" y="0"/>
                  </a:lnTo>
                  <a:lnTo>
                    <a:pt x="10972800" y="4140200"/>
                  </a:lnTo>
                  <a:lnTo>
                    <a:pt x="0" y="414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b="-33129"/>
              </a:stretch>
            </a:blipFill>
          </p:spPr>
        </p:sp>
      </p:grpSp>
      <p:grpSp>
        <p:nvGrpSpPr>
          <p:cNvPr id="110" name="Group 110"/>
          <p:cNvGrpSpPr/>
          <p:nvPr/>
        </p:nvGrpSpPr>
        <p:grpSpPr>
          <a:xfrm>
            <a:off x="342900" y="3590925"/>
            <a:ext cx="4124325" cy="1557338"/>
            <a:chOff x="0" y="0"/>
            <a:chExt cx="10998200" cy="4152900"/>
          </a:xfrm>
        </p:grpSpPr>
        <p:sp>
          <p:nvSpPr>
            <p:cNvPr id="111" name="Freeform 111" descr="preencoded.png"/>
            <p:cNvSpPr/>
            <p:nvPr/>
          </p:nvSpPr>
          <p:spPr>
            <a:xfrm>
              <a:off x="0" y="0"/>
              <a:ext cx="10998200" cy="4152900"/>
            </a:xfrm>
            <a:custGeom>
              <a:avLst/>
              <a:gdLst/>
              <a:ahLst/>
              <a:cxnLst/>
              <a:rect l="l" t="t" r="r" b="b"/>
              <a:pathLst>
                <a:path w="10998200" h="4152900">
                  <a:moveTo>
                    <a:pt x="0" y="0"/>
                  </a:moveTo>
                  <a:lnTo>
                    <a:pt x="10998200" y="0"/>
                  </a:lnTo>
                  <a:lnTo>
                    <a:pt x="10998200" y="4152900"/>
                  </a:lnTo>
                  <a:lnTo>
                    <a:pt x="0" y="41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230" b="-32876"/>
              </a:stretch>
            </a:blipFill>
          </p:spPr>
        </p:sp>
      </p:grpSp>
      <p:grpSp>
        <p:nvGrpSpPr>
          <p:cNvPr id="112" name="Group 112"/>
          <p:cNvGrpSpPr/>
          <p:nvPr/>
        </p:nvGrpSpPr>
        <p:grpSpPr>
          <a:xfrm>
            <a:off x="490538" y="3938588"/>
            <a:ext cx="3819525" cy="4763"/>
            <a:chOff x="0" y="0"/>
            <a:chExt cx="10185400" cy="12700"/>
          </a:xfrm>
        </p:grpSpPr>
        <p:sp>
          <p:nvSpPr>
            <p:cNvPr id="113" name="Freeform 113" descr="preencoded.png"/>
            <p:cNvSpPr/>
            <p:nvPr/>
          </p:nvSpPr>
          <p:spPr>
            <a:xfrm>
              <a:off x="0" y="0"/>
              <a:ext cx="10185400" cy="12700"/>
            </a:xfrm>
            <a:custGeom>
              <a:avLst/>
              <a:gdLst/>
              <a:ahLst/>
              <a:cxnLst/>
              <a:rect l="l" t="t" r="r" b="b"/>
              <a:pathLst>
                <a:path w="10185400" h="12700">
                  <a:moveTo>
                    <a:pt x="0" y="0"/>
                  </a:moveTo>
                  <a:lnTo>
                    <a:pt x="10185400" y="0"/>
                  </a:lnTo>
                  <a:lnTo>
                    <a:pt x="10185400" y="12700"/>
                  </a:lnTo>
                  <a:lnTo>
                    <a:pt x="0" y="1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b="-299"/>
              </a:stretch>
            </a:blipFill>
          </p:spPr>
        </p:sp>
      </p:grpSp>
      <p:grpSp>
        <p:nvGrpSpPr>
          <p:cNvPr id="114" name="Group 114"/>
          <p:cNvGrpSpPr/>
          <p:nvPr/>
        </p:nvGrpSpPr>
        <p:grpSpPr>
          <a:xfrm>
            <a:off x="492628" y="3676650"/>
            <a:ext cx="228600" cy="228600"/>
            <a:chOff x="0" y="0"/>
            <a:chExt cx="609600" cy="609600"/>
          </a:xfrm>
        </p:grpSpPr>
        <p:sp>
          <p:nvSpPr>
            <p:cNvPr id="115" name="Freeform 115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</p:grpSp>
      <p:grpSp>
        <p:nvGrpSpPr>
          <p:cNvPr id="116" name="Group 116"/>
          <p:cNvGrpSpPr/>
          <p:nvPr/>
        </p:nvGrpSpPr>
        <p:grpSpPr>
          <a:xfrm>
            <a:off x="490538" y="3943350"/>
            <a:ext cx="3819525" cy="1033463"/>
            <a:chOff x="0" y="0"/>
            <a:chExt cx="10185400" cy="2755900"/>
          </a:xfrm>
        </p:grpSpPr>
        <p:sp>
          <p:nvSpPr>
            <p:cNvPr id="117" name="Freeform 117" descr="preencoded.png"/>
            <p:cNvSpPr/>
            <p:nvPr/>
          </p:nvSpPr>
          <p:spPr>
            <a:xfrm>
              <a:off x="0" y="0"/>
              <a:ext cx="10185400" cy="2755900"/>
            </a:xfrm>
            <a:custGeom>
              <a:avLst/>
              <a:gdLst/>
              <a:ahLst/>
              <a:cxnLst/>
              <a:rect l="l" t="t" r="r" b="b"/>
              <a:pathLst>
                <a:path w="10185400" h="2755900">
                  <a:moveTo>
                    <a:pt x="0" y="0"/>
                  </a:moveTo>
                  <a:lnTo>
                    <a:pt x="10185400" y="0"/>
                  </a:lnTo>
                  <a:lnTo>
                    <a:pt x="10185400" y="2755900"/>
                  </a:lnTo>
                  <a:lnTo>
                    <a:pt x="0" y="275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b="-35484"/>
              </a:stretch>
            </a:blipFill>
          </p:spPr>
        </p:sp>
      </p:grpSp>
      <p:grpSp>
        <p:nvGrpSpPr>
          <p:cNvPr id="118" name="Group 118"/>
          <p:cNvGrpSpPr/>
          <p:nvPr/>
        </p:nvGrpSpPr>
        <p:grpSpPr>
          <a:xfrm>
            <a:off x="4575434" y="3797056"/>
            <a:ext cx="4329684" cy="1346445"/>
            <a:chOff x="0" y="0"/>
            <a:chExt cx="11545824" cy="3590519"/>
          </a:xfrm>
        </p:grpSpPr>
        <p:sp>
          <p:nvSpPr>
            <p:cNvPr id="119" name="Freeform 119" descr="preencoded.png"/>
            <p:cNvSpPr/>
            <p:nvPr/>
          </p:nvSpPr>
          <p:spPr>
            <a:xfrm>
              <a:off x="0" y="0"/>
              <a:ext cx="11545824" cy="3590544"/>
            </a:xfrm>
            <a:custGeom>
              <a:avLst/>
              <a:gdLst/>
              <a:ahLst/>
              <a:cxnLst/>
              <a:rect l="l" t="t" r="r" b="b"/>
              <a:pathLst>
                <a:path w="11545824" h="3590544">
                  <a:moveTo>
                    <a:pt x="0" y="0"/>
                  </a:moveTo>
                  <a:lnTo>
                    <a:pt x="11545824" y="0"/>
                  </a:lnTo>
                  <a:lnTo>
                    <a:pt x="11545824" y="3590544"/>
                  </a:lnTo>
                  <a:lnTo>
                    <a:pt x="0" y="35905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105" b="-7300"/>
              </a:stretch>
            </a:blipFill>
          </p:spPr>
        </p:sp>
      </p:grpSp>
      <p:grpSp>
        <p:nvGrpSpPr>
          <p:cNvPr id="120" name="Group 120"/>
          <p:cNvGrpSpPr/>
          <p:nvPr/>
        </p:nvGrpSpPr>
        <p:grpSpPr>
          <a:xfrm>
            <a:off x="4686300" y="3590925"/>
            <a:ext cx="4114800" cy="1552575"/>
            <a:chOff x="0" y="0"/>
            <a:chExt cx="10972800" cy="4140200"/>
          </a:xfrm>
        </p:grpSpPr>
        <p:sp>
          <p:nvSpPr>
            <p:cNvPr id="121" name="Freeform 121" descr="preencoded.png"/>
            <p:cNvSpPr/>
            <p:nvPr/>
          </p:nvSpPr>
          <p:spPr>
            <a:xfrm>
              <a:off x="0" y="0"/>
              <a:ext cx="10972800" cy="4140200"/>
            </a:xfrm>
            <a:custGeom>
              <a:avLst/>
              <a:gdLst/>
              <a:ahLst/>
              <a:cxnLst/>
              <a:rect l="l" t="t" r="r" b="b"/>
              <a:pathLst>
                <a:path w="10972800" h="4140200">
                  <a:moveTo>
                    <a:pt x="0" y="0"/>
                  </a:moveTo>
                  <a:lnTo>
                    <a:pt x="10972800" y="0"/>
                  </a:lnTo>
                  <a:lnTo>
                    <a:pt x="10972800" y="4140200"/>
                  </a:lnTo>
                  <a:lnTo>
                    <a:pt x="0" y="414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b="-33129"/>
              </a:stretch>
            </a:blipFill>
          </p:spPr>
        </p:sp>
      </p:grpSp>
      <p:grpSp>
        <p:nvGrpSpPr>
          <p:cNvPr id="122" name="Group 122"/>
          <p:cNvGrpSpPr/>
          <p:nvPr/>
        </p:nvGrpSpPr>
        <p:grpSpPr>
          <a:xfrm>
            <a:off x="4686300" y="3590925"/>
            <a:ext cx="4124325" cy="1557338"/>
            <a:chOff x="0" y="0"/>
            <a:chExt cx="10998200" cy="4152900"/>
          </a:xfrm>
        </p:grpSpPr>
        <p:sp>
          <p:nvSpPr>
            <p:cNvPr id="123" name="Freeform 123" descr="preencoded.png"/>
            <p:cNvSpPr/>
            <p:nvPr/>
          </p:nvSpPr>
          <p:spPr>
            <a:xfrm>
              <a:off x="0" y="0"/>
              <a:ext cx="10998200" cy="4152900"/>
            </a:xfrm>
            <a:custGeom>
              <a:avLst/>
              <a:gdLst/>
              <a:ahLst/>
              <a:cxnLst/>
              <a:rect l="l" t="t" r="r" b="b"/>
              <a:pathLst>
                <a:path w="10998200" h="4152900">
                  <a:moveTo>
                    <a:pt x="0" y="0"/>
                  </a:moveTo>
                  <a:lnTo>
                    <a:pt x="10998200" y="0"/>
                  </a:lnTo>
                  <a:lnTo>
                    <a:pt x="10998200" y="4152900"/>
                  </a:lnTo>
                  <a:lnTo>
                    <a:pt x="0" y="415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230" b="-32876"/>
              </a:stretch>
            </a:blipFill>
          </p:spPr>
        </p:sp>
      </p:grpSp>
      <p:grpSp>
        <p:nvGrpSpPr>
          <p:cNvPr id="124" name="Group 124"/>
          <p:cNvGrpSpPr/>
          <p:nvPr/>
        </p:nvGrpSpPr>
        <p:grpSpPr>
          <a:xfrm>
            <a:off x="4686300" y="3593592"/>
            <a:ext cx="4114800" cy="28575"/>
            <a:chOff x="0" y="0"/>
            <a:chExt cx="10972800" cy="76200"/>
          </a:xfrm>
        </p:grpSpPr>
        <p:sp>
          <p:nvSpPr>
            <p:cNvPr id="125" name="Freeform 125" descr="preencoded.png"/>
            <p:cNvSpPr/>
            <p:nvPr/>
          </p:nvSpPr>
          <p:spPr>
            <a:xfrm>
              <a:off x="0" y="0"/>
              <a:ext cx="10972800" cy="76200"/>
            </a:xfrm>
            <a:custGeom>
              <a:avLst/>
              <a:gdLst/>
              <a:ahLst/>
              <a:cxnLst/>
              <a:rect l="l" t="t" r="r" b="b"/>
              <a:pathLst>
                <a:path w="10972800" h="76200">
                  <a:moveTo>
                    <a:pt x="0" y="0"/>
                  </a:moveTo>
                  <a:lnTo>
                    <a:pt x="10972800" y="0"/>
                  </a:lnTo>
                  <a:lnTo>
                    <a:pt x="10972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grpSp>
        <p:nvGrpSpPr>
          <p:cNvPr id="126" name="Group 126"/>
          <p:cNvGrpSpPr/>
          <p:nvPr/>
        </p:nvGrpSpPr>
        <p:grpSpPr>
          <a:xfrm>
            <a:off x="4836028" y="3922205"/>
            <a:ext cx="3815329" cy="6858"/>
            <a:chOff x="0" y="0"/>
            <a:chExt cx="10174211" cy="18288"/>
          </a:xfrm>
        </p:grpSpPr>
        <p:sp>
          <p:nvSpPr>
            <p:cNvPr id="127" name="Freeform 127" descr="preencoded.png"/>
            <p:cNvSpPr/>
            <p:nvPr/>
          </p:nvSpPr>
          <p:spPr>
            <a:xfrm>
              <a:off x="0" y="0"/>
              <a:ext cx="10174224" cy="18288"/>
            </a:xfrm>
            <a:custGeom>
              <a:avLst/>
              <a:gdLst/>
              <a:ahLst/>
              <a:cxnLst/>
              <a:rect l="l" t="t" r="r" b="b"/>
              <a:pathLst>
                <a:path w="10174224" h="18288">
                  <a:moveTo>
                    <a:pt x="0" y="0"/>
                  </a:moveTo>
                  <a:lnTo>
                    <a:pt x="10174224" y="0"/>
                  </a:lnTo>
                  <a:lnTo>
                    <a:pt x="10174224" y="18288"/>
                  </a:lnTo>
                  <a:lnTo>
                    <a:pt x="0" y="1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b="-39097"/>
              </a:stretch>
            </a:blipFill>
          </p:spPr>
        </p:sp>
      </p:grpSp>
      <p:grpSp>
        <p:nvGrpSpPr>
          <p:cNvPr id="128" name="Group 128"/>
          <p:cNvGrpSpPr/>
          <p:nvPr/>
        </p:nvGrpSpPr>
        <p:grpSpPr>
          <a:xfrm>
            <a:off x="4836028" y="3662363"/>
            <a:ext cx="228600" cy="228600"/>
            <a:chOff x="0" y="0"/>
            <a:chExt cx="609600" cy="609600"/>
          </a:xfrm>
        </p:grpSpPr>
        <p:sp>
          <p:nvSpPr>
            <p:cNvPr id="129" name="Freeform 129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</p:grpSp>
      <p:grpSp>
        <p:nvGrpSpPr>
          <p:cNvPr id="130" name="Group 130"/>
          <p:cNvGrpSpPr/>
          <p:nvPr/>
        </p:nvGrpSpPr>
        <p:grpSpPr>
          <a:xfrm>
            <a:off x="4891088" y="3733800"/>
            <a:ext cx="114300" cy="114300"/>
            <a:chOff x="0" y="0"/>
            <a:chExt cx="304800" cy="304800"/>
          </a:xfrm>
        </p:grpSpPr>
        <p:sp>
          <p:nvSpPr>
            <p:cNvPr id="131" name="Freeform 131" descr="preencoded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</p:grpSp>
      <p:grpSp>
        <p:nvGrpSpPr>
          <p:cNvPr id="132" name="Group 132"/>
          <p:cNvGrpSpPr/>
          <p:nvPr/>
        </p:nvGrpSpPr>
        <p:grpSpPr>
          <a:xfrm>
            <a:off x="5133975" y="3714750"/>
            <a:ext cx="593727" cy="169355"/>
            <a:chOff x="0" y="0"/>
            <a:chExt cx="1583271" cy="451612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583267" cy="451611"/>
            </a:xfrm>
            <a:custGeom>
              <a:avLst/>
              <a:gdLst/>
              <a:ahLst/>
              <a:cxnLst/>
              <a:rect l="l" t="t" r="r" b="b"/>
              <a:pathLst>
                <a:path w="1583267" h="451611">
                  <a:moveTo>
                    <a:pt x="0" y="0"/>
                  </a:moveTo>
                  <a:lnTo>
                    <a:pt x="1583267" y="0"/>
                  </a:lnTo>
                  <a:lnTo>
                    <a:pt x="1583267" y="451611"/>
                  </a:lnTo>
                  <a:lnTo>
                    <a:pt x="0" y="45161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8311" b="-18311"/>
              </a:stretch>
            </a:blipFill>
          </p:spPr>
        </p:sp>
        <p:sp>
          <p:nvSpPr>
            <p:cNvPr id="134" name="TextBox 134"/>
            <p:cNvSpPr txBox="1"/>
            <p:nvPr/>
          </p:nvSpPr>
          <p:spPr>
            <a:xfrm>
              <a:off x="0" y="-28575"/>
              <a:ext cx="1583271" cy="4801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FA003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아쉬운 점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4833938" y="3922205"/>
            <a:ext cx="3819525" cy="1033463"/>
            <a:chOff x="0" y="0"/>
            <a:chExt cx="10185400" cy="2755900"/>
          </a:xfrm>
        </p:grpSpPr>
        <p:sp>
          <p:nvSpPr>
            <p:cNvPr id="136" name="Freeform 136" descr="preencoded.png"/>
            <p:cNvSpPr/>
            <p:nvPr/>
          </p:nvSpPr>
          <p:spPr>
            <a:xfrm>
              <a:off x="0" y="0"/>
              <a:ext cx="10185400" cy="2755900"/>
            </a:xfrm>
            <a:custGeom>
              <a:avLst/>
              <a:gdLst/>
              <a:ahLst/>
              <a:cxnLst/>
              <a:rect l="l" t="t" r="r" b="b"/>
              <a:pathLst>
                <a:path w="10185400" h="2755900">
                  <a:moveTo>
                    <a:pt x="0" y="0"/>
                  </a:moveTo>
                  <a:lnTo>
                    <a:pt x="10185400" y="0"/>
                  </a:lnTo>
                  <a:lnTo>
                    <a:pt x="10185400" y="2755900"/>
                  </a:lnTo>
                  <a:lnTo>
                    <a:pt x="0" y="2755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b="-35484"/>
              </a:stretch>
            </a:blipFill>
          </p:spPr>
        </p:sp>
      </p:grpSp>
      <p:grpSp>
        <p:nvGrpSpPr>
          <p:cNvPr id="137" name="Group 137"/>
          <p:cNvGrpSpPr/>
          <p:nvPr/>
        </p:nvGrpSpPr>
        <p:grpSpPr>
          <a:xfrm>
            <a:off x="762000" y="3719513"/>
            <a:ext cx="569214" cy="147638"/>
            <a:chOff x="0" y="0"/>
            <a:chExt cx="1517904" cy="39370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517901" cy="393701"/>
            </a:xfrm>
            <a:custGeom>
              <a:avLst/>
              <a:gdLst/>
              <a:ahLst/>
              <a:cxnLst/>
              <a:rect l="l" t="t" r="r" b="b"/>
              <a:pathLst>
                <a:path w="1517901" h="393701">
                  <a:moveTo>
                    <a:pt x="0" y="0"/>
                  </a:moveTo>
                  <a:lnTo>
                    <a:pt x="1517901" y="0"/>
                  </a:lnTo>
                  <a:lnTo>
                    <a:pt x="1517901" y="393701"/>
                  </a:lnTo>
                  <a:lnTo>
                    <a:pt x="0" y="3937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5124" b="-25123"/>
              </a:stretch>
            </a:blipFill>
          </p:spPr>
        </p:sp>
        <p:sp>
          <p:nvSpPr>
            <p:cNvPr id="139" name="TextBox 139"/>
            <p:cNvSpPr txBox="1"/>
            <p:nvPr/>
          </p:nvSpPr>
          <p:spPr>
            <a:xfrm>
              <a:off x="0" y="-28575"/>
              <a:ext cx="1517904" cy="4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2563E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잘한 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542925" y="3733800"/>
            <a:ext cx="114300" cy="114300"/>
            <a:chOff x="0" y="0"/>
            <a:chExt cx="304800" cy="304800"/>
          </a:xfrm>
        </p:grpSpPr>
        <p:sp>
          <p:nvSpPr>
            <p:cNvPr id="141" name="Freeform 141" descr="preencoded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</p:sp>
      </p:grpSp>
      <p:grpSp>
        <p:nvGrpSpPr>
          <p:cNvPr id="142" name="Group 142"/>
          <p:cNvGrpSpPr/>
          <p:nvPr/>
        </p:nvGrpSpPr>
        <p:grpSpPr>
          <a:xfrm>
            <a:off x="342900" y="3590925"/>
            <a:ext cx="4114800" cy="28575"/>
            <a:chOff x="0" y="0"/>
            <a:chExt cx="10972800" cy="76200"/>
          </a:xfrm>
        </p:grpSpPr>
        <p:sp>
          <p:nvSpPr>
            <p:cNvPr id="143" name="Freeform 143" descr="preencoded.png"/>
            <p:cNvSpPr/>
            <p:nvPr/>
          </p:nvSpPr>
          <p:spPr>
            <a:xfrm>
              <a:off x="0" y="0"/>
              <a:ext cx="10972800" cy="76200"/>
            </a:xfrm>
            <a:custGeom>
              <a:avLst/>
              <a:gdLst/>
              <a:ahLst/>
              <a:cxnLst/>
              <a:rect l="l" t="t" r="r" b="b"/>
              <a:pathLst>
                <a:path w="10972800" h="76200">
                  <a:moveTo>
                    <a:pt x="0" y="0"/>
                  </a:moveTo>
                  <a:lnTo>
                    <a:pt x="10972800" y="0"/>
                  </a:lnTo>
                  <a:lnTo>
                    <a:pt x="10972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</p:grpSp>
      <p:grpSp>
        <p:nvGrpSpPr>
          <p:cNvPr id="144" name="Group 144"/>
          <p:cNvGrpSpPr/>
          <p:nvPr/>
        </p:nvGrpSpPr>
        <p:grpSpPr>
          <a:xfrm>
            <a:off x="428625" y="377857"/>
            <a:ext cx="200025" cy="180975"/>
            <a:chOff x="0" y="0"/>
            <a:chExt cx="533400" cy="482600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533400" cy="482600"/>
            </a:xfrm>
            <a:custGeom>
              <a:avLst/>
              <a:gdLst/>
              <a:ahLst/>
              <a:cxnLst/>
              <a:rect l="l" t="t" r="r" b="b"/>
              <a:pathLst>
                <a:path w="533400" h="4826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6084" r="-66084"/>
              </a:stretch>
            </a:blipFill>
          </p:spPr>
        </p:sp>
        <p:sp>
          <p:nvSpPr>
            <p:cNvPr id="146" name="TextBox 146"/>
            <p:cNvSpPr txBox="1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grpSp>
        <p:nvGrpSpPr>
          <p:cNvPr id="147" name="Group 147"/>
          <p:cNvGrpSpPr/>
          <p:nvPr/>
        </p:nvGrpSpPr>
        <p:grpSpPr>
          <a:xfrm>
            <a:off x="8458200" y="309563"/>
            <a:ext cx="300038" cy="300038"/>
            <a:chOff x="0" y="0"/>
            <a:chExt cx="800100" cy="800100"/>
          </a:xfrm>
        </p:grpSpPr>
        <p:sp>
          <p:nvSpPr>
            <p:cNvPr id="148" name="Freeform 148" descr="preencoded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</p:sp>
      </p:grpSp>
      <p:sp>
        <p:nvSpPr>
          <p:cNvPr id="149" name="TextBox 149"/>
          <p:cNvSpPr txBox="1"/>
          <p:nvPr/>
        </p:nvSpPr>
        <p:spPr>
          <a:xfrm>
            <a:off x="955015" y="1544327"/>
            <a:ext cx="79696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모상혁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964745" y="1923703"/>
            <a:ext cx="79696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이채준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974474" y="2348475"/>
            <a:ext cx="79696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정의조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984204" y="2734332"/>
            <a:ext cx="79696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최지호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980961" y="3139655"/>
            <a:ext cx="796962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홍상훈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500225" y="3954647"/>
            <a:ext cx="3824235" cy="69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3040" lvl="1" indent="-96520">
              <a:lnSpc>
                <a:spcPts val="144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방향이 불명확한 출발에서 튜터님의 피드백을 받고 빠르게 반영해 절대이탈(|z|) 중심으로 분석 축을 재정립하여 좋은 결과물을 도출하였음</a:t>
            </a:r>
          </a:p>
          <a:p>
            <a:pPr marL="193040" lvl="1" indent="-96520">
              <a:lnSpc>
                <a:spcPts val="144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적은 데이터로도 PR-AUC를 0.41에서 0.91로 끌어올리고, 지도학습과 이상탐지를 상호 검증 구조로 묶어 신뢰도를 높임.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4847220" y="3950332"/>
            <a:ext cx="3819563" cy="518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3040" lvl="1" indent="-96520">
              <a:lnSpc>
                <a:spcPts val="1440"/>
              </a:lnSpc>
              <a:buFont typeface="Arial"/>
              <a:buChar char="•"/>
            </a:pPr>
            <a:r>
              <a:rPr lang="en-US" sz="80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새로운 유형의 불량이 나왔을 때의 대응 방법의 부재</a:t>
            </a:r>
          </a:p>
          <a:p>
            <a:pPr marL="193040" lvl="1" indent="-96520">
              <a:lnSpc>
                <a:spcPts val="1440"/>
              </a:lnSpc>
              <a:buFont typeface="Arial"/>
              <a:buChar char="•"/>
            </a:pPr>
            <a:r>
              <a:rPr lang="en-US" sz="80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 양 부족</a:t>
            </a:r>
          </a:p>
          <a:p>
            <a:pPr marL="193040" lvl="1" indent="-96520">
              <a:lnSpc>
                <a:spcPts val="1440"/>
              </a:lnSpc>
              <a:buFont typeface="Arial"/>
              <a:buChar char="•"/>
            </a:pPr>
            <a:r>
              <a:rPr lang="en-US" sz="80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피막 두께 등 품질 직결 변수가 제공되지 않아 분석 범위도 제한된 점.</a:t>
            </a:r>
          </a:p>
        </p:txBody>
      </p:sp>
      <p:sp>
        <p:nvSpPr>
          <p:cNvPr id="156" name="TextBox 156"/>
          <p:cNvSpPr txBox="1"/>
          <p:nvPr/>
        </p:nvSpPr>
        <p:spPr>
          <a:xfrm>
            <a:off x="3419904" y="2357552"/>
            <a:ext cx="5382578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머신러닝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모델의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성능도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잘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나왔고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부족한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데이터에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비해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좋은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분석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결과를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얻었다고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생각함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3418232" y="3078233"/>
            <a:ext cx="541236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불균형·소표본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데이터에서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통계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검증부터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이중모델,대시보드까지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모든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과정이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만족스러웠다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  <a:p>
            <a:pPr>
              <a:lnSpc>
                <a:spcPts val="1200"/>
              </a:lnSpc>
            </a:pP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어려운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부분이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많았지만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,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분석의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전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과정을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일관된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근거로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연결하여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이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점수를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부여함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3424824" y="1572830"/>
            <a:ext cx="491847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피드백을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잘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반영해서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분석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과정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전반을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잘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수행했고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,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대시보드까지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잘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마무리지었음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</p:txBody>
      </p:sp>
      <p:sp>
        <p:nvSpPr>
          <p:cNvPr id="159" name="TextBox 159"/>
          <p:cNvSpPr txBox="1"/>
          <p:nvPr/>
        </p:nvSpPr>
        <p:spPr>
          <a:xfrm>
            <a:off x="3421952" y="2757140"/>
            <a:ext cx="518626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피처와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양의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부족과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돌발상황이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있었어도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,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목적에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부합하고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좋은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모델을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만들었다고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생각함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3419042" y="1899400"/>
            <a:ext cx="538257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데이터의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양과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통계적으로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데이터를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묶어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분석하기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힘들었지만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다양한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시각으로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바라봐서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좋은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결과가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나왔다고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10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생각함</a:t>
            </a:r>
            <a:r>
              <a:rPr lang="en-US" sz="10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</p:txBody>
      </p:sp>
      <p:grpSp>
        <p:nvGrpSpPr>
          <p:cNvPr id="161" name="Group 161"/>
          <p:cNvGrpSpPr/>
          <p:nvPr/>
        </p:nvGrpSpPr>
        <p:grpSpPr>
          <a:xfrm>
            <a:off x="2479178" y="1941799"/>
            <a:ext cx="370878" cy="173834"/>
            <a:chOff x="0" y="0"/>
            <a:chExt cx="989009" cy="463555"/>
          </a:xfrm>
        </p:grpSpPr>
        <p:sp>
          <p:nvSpPr>
            <p:cNvPr id="162" name="Freeform 162"/>
            <p:cNvSpPr/>
            <p:nvPr/>
          </p:nvSpPr>
          <p:spPr>
            <a:xfrm>
              <a:off x="0" y="0"/>
              <a:ext cx="989008" cy="463556"/>
            </a:xfrm>
            <a:custGeom>
              <a:avLst/>
              <a:gdLst/>
              <a:ahLst/>
              <a:cxnLst/>
              <a:rect l="l" t="t" r="r" b="b"/>
              <a:pathLst>
                <a:path w="989008" h="463556">
                  <a:moveTo>
                    <a:pt x="0" y="0"/>
                  </a:moveTo>
                  <a:lnTo>
                    <a:pt x="989008" y="0"/>
                  </a:lnTo>
                  <a:lnTo>
                    <a:pt x="989008" y="463556"/>
                  </a:lnTo>
                  <a:lnTo>
                    <a:pt x="0" y="4635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0485" r="6688" b="13699"/>
              </a:stretch>
            </a:blipFill>
          </p:spPr>
        </p:sp>
        <p:sp>
          <p:nvSpPr>
            <p:cNvPr id="163" name="TextBox 163"/>
            <p:cNvSpPr txBox="1"/>
            <p:nvPr/>
          </p:nvSpPr>
          <p:spPr>
            <a:xfrm>
              <a:off x="0" y="-19050"/>
              <a:ext cx="989009" cy="482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020"/>
                </a:lnSpc>
              </a:pPr>
              <a:r>
                <a:rPr lang="en-US" sz="855">
                  <a:solidFill>
                    <a:srgbClr val="9CA3A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"/>
                </a:rPr>
                <a:t> 10 / 10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9144000" cy="5143500"/>
            <a:chOff x="0" y="0"/>
            <a:chExt cx="2438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8212" y="-34"/>
            <a:ext cx="9107610" cy="58103"/>
            <a:chOff x="0" y="0"/>
            <a:chExt cx="24286959" cy="15494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286972" cy="154940"/>
            </a:xfrm>
            <a:custGeom>
              <a:avLst/>
              <a:gdLst/>
              <a:ahLst/>
              <a:cxnLst/>
              <a:rect l="l" t="t" r="r" b="b"/>
              <a:pathLst>
                <a:path w="24286972" h="154940">
                  <a:moveTo>
                    <a:pt x="0" y="0"/>
                  </a:moveTo>
                  <a:lnTo>
                    <a:pt x="24286972" y="0"/>
                  </a:lnTo>
                  <a:lnTo>
                    <a:pt x="24286972" y="154940"/>
                  </a:lnTo>
                  <a:lnTo>
                    <a:pt x="0" y="154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" b="-5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42900" y="342900"/>
            <a:ext cx="342900" cy="257175"/>
            <a:chOff x="0" y="0"/>
            <a:chExt cx="914400" cy="6858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0" y="0"/>
                  </a:moveTo>
                  <a:lnTo>
                    <a:pt x="914400" y="0"/>
                  </a:lnTo>
                  <a:lnTo>
                    <a:pt x="9144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97590" y="334423"/>
            <a:ext cx="533624" cy="247650"/>
            <a:chOff x="0" y="0"/>
            <a:chExt cx="1422997" cy="660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22997" cy="660400"/>
            </a:xfrm>
            <a:custGeom>
              <a:avLst/>
              <a:gdLst/>
              <a:ahLst/>
              <a:cxnLst/>
              <a:rect l="l" t="t" r="r" b="b"/>
              <a:pathLst>
                <a:path w="1422997" h="660400">
                  <a:moveTo>
                    <a:pt x="0" y="0"/>
                  </a:moveTo>
                  <a:lnTo>
                    <a:pt x="1422997" y="0"/>
                  </a:lnTo>
                  <a:lnTo>
                    <a:pt x="1422997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9544" r="-954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422997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자체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1011" y="334423"/>
            <a:ext cx="433202" cy="247650"/>
            <a:chOff x="0" y="0"/>
            <a:chExt cx="1155205" cy="660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55205" cy="660400"/>
            </a:xfrm>
            <a:custGeom>
              <a:avLst/>
              <a:gdLst/>
              <a:ahLst/>
              <a:cxnLst/>
              <a:rect l="l" t="t" r="r" b="b"/>
              <a:pathLst>
                <a:path w="1155205" h="660400">
                  <a:moveTo>
                    <a:pt x="0" y="0"/>
                  </a:moveTo>
                  <a:lnTo>
                    <a:pt x="1155205" y="0"/>
                  </a:lnTo>
                  <a:lnTo>
                    <a:pt x="1155205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3347" r="-23347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155205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평가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64213" y="334423"/>
            <a:ext cx="464587" cy="247650"/>
            <a:chOff x="0" y="0"/>
            <a:chExt cx="1238898" cy="660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8899" cy="660400"/>
            </a:xfrm>
            <a:custGeom>
              <a:avLst/>
              <a:gdLst/>
              <a:ahLst/>
              <a:cxnLst/>
              <a:rect l="l" t="t" r="r" b="b"/>
              <a:pathLst>
                <a:path w="1238899" h="660400">
                  <a:moveTo>
                    <a:pt x="0" y="0"/>
                  </a:moveTo>
                  <a:lnTo>
                    <a:pt x="1238899" y="0"/>
                  </a:lnTo>
                  <a:lnTo>
                    <a:pt x="1238899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392" r="-18392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238898" cy="679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867"/>
                </a:lnSpc>
              </a:pPr>
              <a:r>
                <a:rPr lang="en-US" sz="1565" b="1">
                  <a:solidFill>
                    <a:srgbClr val="1A1A1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의견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2900" y="803529"/>
            <a:ext cx="28575" cy="129159"/>
            <a:chOff x="0" y="0"/>
            <a:chExt cx="76200" cy="344424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6200" cy="344424"/>
            </a:xfrm>
            <a:custGeom>
              <a:avLst/>
              <a:gdLst/>
              <a:ahLst/>
              <a:cxnLst/>
              <a:rect l="l" t="t" r="r" b="b"/>
              <a:pathLst>
                <a:path w="76200" h="344424">
                  <a:moveTo>
                    <a:pt x="0" y="0"/>
                  </a:moveTo>
                  <a:lnTo>
                    <a:pt x="76200" y="0"/>
                  </a:lnTo>
                  <a:lnTo>
                    <a:pt x="76200" y="344424"/>
                  </a:lnTo>
                  <a:lnTo>
                    <a:pt x="0" y="34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450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428625" y="787337"/>
            <a:ext cx="876300" cy="141637"/>
            <a:chOff x="0" y="0"/>
            <a:chExt cx="2336800" cy="37769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36800" cy="377696"/>
            </a:xfrm>
            <a:custGeom>
              <a:avLst/>
              <a:gdLst/>
              <a:ahLst/>
              <a:cxnLst/>
              <a:rect l="l" t="t" r="r" b="b"/>
              <a:pathLst>
                <a:path w="2336800" h="377696">
                  <a:moveTo>
                    <a:pt x="0" y="0"/>
                  </a:moveTo>
                  <a:lnTo>
                    <a:pt x="2336800" y="0"/>
                  </a:lnTo>
                  <a:lnTo>
                    <a:pt x="2336800" y="377696"/>
                  </a:lnTo>
                  <a:lnTo>
                    <a:pt x="0" y="3776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70553" b="-7055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336800" cy="4062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느낀 점 / 성과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42900" y="1050417"/>
            <a:ext cx="1429336" cy="1664208"/>
            <a:chOff x="0" y="0"/>
            <a:chExt cx="3811562" cy="4437888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3811524" cy="4437888"/>
            </a:xfrm>
            <a:custGeom>
              <a:avLst/>
              <a:gdLst/>
              <a:ahLst/>
              <a:cxnLst/>
              <a:rect l="l" t="t" r="r" b="b"/>
              <a:pathLst>
                <a:path w="3811524" h="4437888">
                  <a:moveTo>
                    <a:pt x="0" y="0"/>
                  </a:moveTo>
                  <a:lnTo>
                    <a:pt x="3811524" y="0"/>
                  </a:lnTo>
                  <a:lnTo>
                    <a:pt x="3811524" y="4437888"/>
                  </a:lnTo>
                  <a:lnTo>
                    <a:pt x="0" y="4437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4212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342900" y="2975229"/>
            <a:ext cx="28575" cy="129159"/>
            <a:chOff x="0" y="0"/>
            <a:chExt cx="76200" cy="344424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76200" cy="344424"/>
            </a:xfrm>
            <a:custGeom>
              <a:avLst/>
              <a:gdLst/>
              <a:ahLst/>
              <a:cxnLst/>
              <a:rect l="l" t="t" r="r" b="b"/>
              <a:pathLst>
                <a:path w="76200" h="344424">
                  <a:moveTo>
                    <a:pt x="0" y="0"/>
                  </a:moveTo>
                  <a:lnTo>
                    <a:pt x="76200" y="0"/>
                  </a:lnTo>
                  <a:lnTo>
                    <a:pt x="76200" y="344424"/>
                  </a:lnTo>
                  <a:lnTo>
                    <a:pt x="0" y="344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450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428625" y="2959703"/>
            <a:ext cx="876300" cy="141256"/>
            <a:chOff x="0" y="0"/>
            <a:chExt cx="2336800" cy="3766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36800" cy="376683"/>
            </a:xfrm>
            <a:custGeom>
              <a:avLst/>
              <a:gdLst/>
              <a:ahLst/>
              <a:cxnLst/>
              <a:rect l="l" t="t" r="r" b="b"/>
              <a:pathLst>
                <a:path w="2336800" h="376683">
                  <a:moveTo>
                    <a:pt x="0" y="0"/>
                  </a:moveTo>
                  <a:lnTo>
                    <a:pt x="2336800" y="0"/>
                  </a:lnTo>
                  <a:lnTo>
                    <a:pt x="2336800" y="376683"/>
                  </a:lnTo>
                  <a:lnTo>
                    <a:pt x="0" y="37668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70878" b="-7087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2336800" cy="4052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102"/>
                </a:lnSpc>
              </a:pPr>
              <a:r>
                <a:rPr lang="en-US" sz="923" b="1">
                  <a:solidFill>
                    <a:srgbClr val="333333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mo Bold"/>
                </a:rPr>
                <a:t>개선점 / 보완점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626398" y="2977515"/>
            <a:ext cx="28575" cy="114300"/>
            <a:chOff x="0" y="0"/>
            <a:chExt cx="76200" cy="304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0" y="0"/>
                  </a:moveTo>
                  <a:lnTo>
                    <a:pt x="76200" y="0"/>
                  </a:lnTo>
                  <a:lnTo>
                    <a:pt x="762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3214" r="-46321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762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>
                  <a:solidFill>
                    <a:srgbClr val="9CA3AF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42900" y="3222117"/>
            <a:ext cx="8458200" cy="528066"/>
            <a:chOff x="0" y="0"/>
            <a:chExt cx="22555200" cy="1408176"/>
          </a:xfrm>
        </p:grpSpPr>
        <p:sp>
          <p:nvSpPr>
            <p:cNvPr id="37" name="Freeform 37" descr="preencoded.png"/>
            <p:cNvSpPr/>
            <p:nvPr/>
          </p:nvSpPr>
          <p:spPr>
            <a:xfrm>
              <a:off x="0" y="0"/>
              <a:ext cx="22555200" cy="1408176"/>
            </a:xfrm>
            <a:custGeom>
              <a:avLst/>
              <a:gdLst/>
              <a:ahLst/>
              <a:cxnLst/>
              <a:rect l="l" t="t" r="r" b="b"/>
              <a:pathLst>
                <a:path w="22555200" h="1408176">
                  <a:moveTo>
                    <a:pt x="0" y="0"/>
                  </a:moveTo>
                  <a:lnTo>
                    <a:pt x="22555200" y="0"/>
                  </a:lnTo>
                  <a:lnTo>
                    <a:pt x="22555200" y="1408176"/>
                  </a:lnTo>
                  <a:lnTo>
                    <a:pt x="0" y="1408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5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342900" y="3222117"/>
            <a:ext cx="8467725" cy="537591"/>
            <a:chOff x="0" y="0"/>
            <a:chExt cx="22580600" cy="1433576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22580600" cy="1433576"/>
            </a:xfrm>
            <a:custGeom>
              <a:avLst/>
              <a:gdLst/>
              <a:ahLst/>
              <a:cxnLst/>
              <a:rect l="l" t="t" r="r" b="b"/>
              <a:pathLst>
                <a:path w="22580600" h="1433576">
                  <a:moveTo>
                    <a:pt x="0" y="0"/>
                  </a:moveTo>
                  <a:lnTo>
                    <a:pt x="22580600" y="0"/>
                  </a:lnTo>
                  <a:lnTo>
                    <a:pt x="22580600" y="1433576"/>
                  </a:lnTo>
                  <a:lnTo>
                    <a:pt x="0" y="1433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48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492628" y="3343275"/>
            <a:ext cx="201168" cy="200025"/>
            <a:chOff x="0" y="0"/>
            <a:chExt cx="536448" cy="533400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536448" cy="533400"/>
            </a:xfrm>
            <a:custGeom>
              <a:avLst/>
              <a:gdLst/>
              <a:ahLst/>
              <a:cxnLst/>
              <a:rect l="l" t="t" r="r" b="b"/>
              <a:pathLst>
                <a:path w="536448" h="533400">
                  <a:moveTo>
                    <a:pt x="0" y="0"/>
                  </a:moveTo>
                  <a:lnTo>
                    <a:pt x="536448" y="0"/>
                  </a:lnTo>
                  <a:lnTo>
                    <a:pt x="53644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57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564866" y="3381185"/>
            <a:ext cx="47625" cy="114300"/>
            <a:chOff x="0" y="0"/>
            <a:chExt cx="127000" cy="304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7000" cy="304800"/>
            </a:xfrm>
            <a:custGeom>
              <a:avLst/>
              <a:gdLst/>
              <a:ahLst/>
              <a:cxnLst/>
              <a:rect l="l" t="t" r="r" b="b"/>
              <a:pathLst>
                <a:path w="127000" h="304800">
                  <a:moveTo>
                    <a:pt x="0" y="0"/>
                  </a:moveTo>
                  <a:lnTo>
                    <a:pt x="127000" y="0"/>
                  </a:lnTo>
                  <a:lnTo>
                    <a:pt x="127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57928" r="-25792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270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2900" y="3835908"/>
            <a:ext cx="8458200" cy="529209"/>
            <a:chOff x="0" y="0"/>
            <a:chExt cx="22555200" cy="1411224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22555200" cy="1411224"/>
            </a:xfrm>
            <a:custGeom>
              <a:avLst/>
              <a:gdLst/>
              <a:ahLst/>
              <a:cxnLst/>
              <a:rect l="l" t="t" r="r" b="b"/>
              <a:pathLst>
                <a:path w="22555200" h="1411224">
                  <a:moveTo>
                    <a:pt x="0" y="0"/>
                  </a:moveTo>
                  <a:lnTo>
                    <a:pt x="22555200" y="0"/>
                  </a:lnTo>
                  <a:lnTo>
                    <a:pt x="22555200" y="1411224"/>
                  </a:lnTo>
                  <a:lnTo>
                    <a:pt x="0" y="1411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51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342900" y="3835908"/>
            <a:ext cx="8467725" cy="538734"/>
            <a:chOff x="0" y="0"/>
            <a:chExt cx="22580600" cy="1436624"/>
          </a:xfrm>
        </p:grpSpPr>
        <p:sp>
          <p:nvSpPr>
            <p:cNvPr id="48" name="Freeform 48" descr="preencoded.png"/>
            <p:cNvSpPr/>
            <p:nvPr/>
          </p:nvSpPr>
          <p:spPr>
            <a:xfrm>
              <a:off x="0" y="0"/>
              <a:ext cx="22580600" cy="1436624"/>
            </a:xfrm>
            <a:custGeom>
              <a:avLst/>
              <a:gdLst/>
              <a:ahLst/>
              <a:cxnLst/>
              <a:rect l="l" t="t" r="r" b="b"/>
              <a:pathLst>
                <a:path w="22580600" h="1436624">
                  <a:moveTo>
                    <a:pt x="0" y="0"/>
                  </a:moveTo>
                  <a:lnTo>
                    <a:pt x="22580600" y="0"/>
                  </a:lnTo>
                  <a:lnTo>
                    <a:pt x="22580600" y="1436624"/>
                  </a:lnTo>
                  <a:lnTo>
                    <a:pt x="0" y="1436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r="-49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492628" y="3958209"/>
            <a:ext cx="201168" cy="200025"/>
            <a:chOff x="0" y="0"/>
            <a:chExt cx="536448" cy="533400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536448" cy="533400"/>
            </a:xfrm>
            <a:custGeom>
              <a:avLst/>
              <a:gdLst/>
              <a:ahLst/>
              <a:cxnLst/>
              <a:rect l="l" t="t" r="r" b="b"/>
              <a:pathLst>
                <a:path w="536448" h="533400">
                  <a:moveTo>
                    <a:pt x="0" y="0"/>
                  </a:moveTo>
                  <a:lnTo>
                    <a:pt x="536448" y="0"/>
                  </a:lnTo>
                  <a:lnTo>
                    <a:pt x="53644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571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564866" y="3995928"/>
            <a:ext cx="61913" cy="114300"/>
            <a:chOff x="0" y="0"/>
            <a:chExt cx="165100" cy="304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65099" cy="304800"/>
            </a:xfrm>
            <a:custGeom>
              <a:avLst/>
              <a:gdLst/>
              <a:ahLst/>
              <a:cxnLst/>
              <a:rect l="l" t="t" r="r" b="b"/>
              <a:pathLst>
                <a:path w="165099" h="304800">
                  <a:moveTo>
                    <a:pt x="0" y="0"/>
                  </a:moveTo>
                  <a:lnTo>
                    <a:pt x="165099" y="0"/>
                  </a:lnTo>
                  <a:lnTo>
                    <a:pt x="16509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6869" r="-18687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1651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42900" y="4450842"/>
            <a:ext cx="8458200" cy="529209"/>
            <a:chOff x="0" y="0"/>
            <a:chExt cx="22555200" cy="1411224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22555200" cy="1411224"/>
            </a:xfrm>
            <a:custGeom>
              <a:avLst/>
              <a:gdLst/>
              <a:ahLst/>
              <a:cxnLst/>
              <a:rect l="l" t="t" r="r" b="b"/>
              <a:pathLst>
                <a:path w="22555200" h="1411224">
                  <a:moveTo>
                    <a:pt x="0" y="0"/>
                  </a:moveTo>
                  <a:lnTo>
                    <a:pt x="22555200" y="0"/>
                  </a:lnTo>
                  <a:lnTo>
                    <a:pt x="22555200" y="1411224"/>
                  </a:lnTo>
                  <a:lnTo>
                    <a:pt x="0" y="1411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51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342900" y="4450842"/>
            <a:ext cx="8467725" cy="538734"/>
            <a:chOff x="0" y="0"/>
            <a:chExt cx="22580600" cy="1436624"/>
          </a:xfrm>
        </p:grpSpPr>
        <p:sp>
          <p:nvSpPr>
            <p:cNvPr id="57" name="Freeform 57" descr="preencoded.png"/>
            <p:cNvSpPr/>
            <p:nvPr/>
          </p:nvSpPr>
          <p:spPr>
            <a:xfrm>
              <a:off x="0" y="0"/>
              <a:ext cx="22580600" cy="1436624"/>
            </a:xfrm>
            <a:custGeom>
              <a:avLst/>
              <a:gdLst/>
              <a:ahLst/>
              <a:cxnLst/>
              <a:rect l="l" t="t" r="r" b="b"/>
              <a:pathLst>
                <a:path w="22580600" h="1436624">
                  <a:moveTo>
                    <a:pt x="0" y="0"/>
                  </a:moveTo>
                  <a:lnTo>
                    <a:pt x="22580600" y="0"/>
                  </a:lnTo>
                  <a:lnTo>
                    <a:pt x="22580600" y="1436624"/>
                  </a:lnTo>
                  <a:lnTo>
                    <a:pt x="0" y="1436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-49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492628" y="4589250"/>
            <a:ext cx="201168" cy="200025"/>
            <a:chOff x="0" y="0"/>
            <a:chExt cx="536448" cy="533400"/>
          </a:xfrm>
        </p:grpSpPr>
        <p:sp>
          <p:nvSpPr>
            <p:cNvPr id="59" name="Freeform 59" descr="preencoded.png"/>
            <p:cNvSpPr/>
            <p:nvPr/>
          </p:nvSpPr>
          <p:spPr>
            <a:xfrm>
              <a:off x="0" y="0"/>
              <a:ext cx="536448" cy="533400"/>
            </a:xfrm>
            <a:custGeom>
              <a:avLst/>
              <a:gdLst/>
              <a:ahLst/>
              <a:cxnLst/>
              <a:rect l="l" t="t" r="r" b="b"/>
              <a:pathLst>
                <a:path w="536448" h="533400">
                  <a:moveTo>
                    <a:pt x="0" y="0"/>
                  </a:moveTo>
                  <a:lnTo>
                    <a:pt x="536448" y="0"/>
                  </a:lnTo>
                  <a:lnTo>
                    <a:pt x="536448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571"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564866" y="4627660"/>
            <a:ext cx="61913" cy="114300"/>
            <a:chOff x="0" y="0"/>
            <a:chExt cx="165100" cy="3048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65099" cy="304800"/>
            </a:xfrm>
            <a:custGeom>
              <a:avLst/>
              <a:gdLst/>
              <a:ahLst/>
              <a:cxnLst/>
              <a:rect l="l" t="t" r="r" b="b"/>
              <a:pathLst>
                <a:path w="165099" h="304800">
                  <a:moveTo>
                    <a:pt x="0" y="0"/>
                  </a:moveTo>
                  <a:lnTo>
                    <a:pt x="165099" y="0"/>
                  </a:lnTo>
                  <a:lnTo>
                    <a:pt x="165099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86869" r="-186870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16510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7"/>
                </a:lnSpc>
              </a:pPr>
              <a:r>
                <a:rPr lang="en-US" sz="71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8625" y="377857"/>
            <a:ext cx="200025" cy="180975"/>
            <a:chOff x="0" y="0"/>
            <a:chExt cx="533400" cy="4826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33400" cy="482600"/>
            </a:xfrm>
            <a:custGeom>
              <a:avLst/>
              <a:gdLst/>
              <a:ahLst/>
              <a:cxnLst/>
              <a:rect l="l" t="t" r="r" b="b"/>
              <a:pathLst>
                <a:path w="533400" h="482600">
                  <a:moveTo>
                    <a:pt x="0" y="0"/>
                  </a:moveTo>
                  <a:lnTo>
                    <a:pt x="533400" y="0"/>
                  </a:lnTo>
                  <a:lnTo>
                    <a:pt x="533400" y="482600"/>
                  </a:lnTo>
                  <a:lnTo>
                    <a:pt x="0" y="4826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66084" r="-66084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33400" cy="501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360"/>
                </a:lnSpc>
              </a:pPr>
              <a:r>
                <a:rPr lang="en-US" sz="114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458200" y="309563"/>
            <a:ext cx="300038" cy="300038"/>
            <a:chOff x="0" y="0"/>
            <a:chExt cx="800100" cy="800100"/>
          </a:xfrm>
        </p:grpSpPr>
        <p:sp>
          <p:nvSpPr>
            <p:cNvPr id="67" name="Freeform 67" descr="preencoded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68" name="TextBox 68"/>
          <p:cNvSpPr txBox="1"/>
          <p:nvPr/>
        </p:nvSpPr>
        <p:spPr>
          <a:xfrm>
            <a:off x="771111" y="3334588"/>
            <a:ext cx="7793893" cy="181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라벨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정밀도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개선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현재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라벨은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run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단위라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실제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불량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발생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시점과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시차가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존재한다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 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불확실한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구간을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우선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재라벨링하는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능동학습을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도입해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시점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정밀도를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높일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필요가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있다</a:t>
            </a:r>
            <a:r>
              <a:rPr lang="en-US" sz="9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.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418476" y="1034839"/>
            <a:ext cx="1578574" cy="1876859"/>
            <a:chOff x="0" y="0"/>
            <a:chExt cx="4209529" cy="5004956"/>
          </a:xfrm>
        </p:grpSpPr>
        <p:sp>
          <p:nvSpPr>
            <p:cNvPr id="70" name="Freeform 70" descr="preencoded.png"/>
            <p:cNvSpPr/>
            <p:nvPr/>
          </p:nvSpPr>
          <p:spPr>
            <a:xfrm>
              <a:off x="0" y="0"/>
              <a:ext cx="4209542" cy="5004943"/>
            </a:xfrm>
            <a:custGeom>
              <a:avLst/>
              <a:gdLst/>
              <a:ahLst/>
              <a:cxnLst/>
              <a:rect l="l" t="t" r="r" b="b"/>
              <a:pathLst>
                <a:path w="4209542" h="5004943">
                  <a:moveTo>
                    <a:pt x="0" y="0"/>
                  </a:moveTo>
                  <a:lnTo>
                    <a:pt x="4209542" y="0"/>
                  </a:lnTo>
                  <a:lnTo>
                    <a:pt x="4209542" y="5004943"/>
                  </a:lnTo>
                  <a:lnTo>
                    <a:pt x="0" y="500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44977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409771" y="1049365"/>
            <a:ext cx="1571197" cy="32042"/>
            <a:chOff x="0" y="0"/>
            <a:chExt cx="4189857" cy="85446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4189857" cy="85471"/>
            </a:xfrm>
            <a:custGeom>
              <a:avLst/>
              <a:gdLst/>
              <a:ahLst/>
              <a:cxnLst/>
              <a:rect l="l" t="t" r="r" b="b"/>
              <a:pathLst>
                <a:path w="4189857" h="85471">
                  <a:moveTo>
                    <a:pt x="0" y="0"/>
                  </a:moveTo>
                  <a:lnTo>
                    <a:pt x="4189857" y="0"/>
                  </a:lnTo>
                  <a:lnTo>
                    <a:pt x="4189857" y="85471"/>
                  </a:lnTo>
                  <a:lnTo>
                    <a:pt x="0" y="8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44796" b="29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503601" y="1530011"/>
            <a:ext cx="1383535" cy="7692"/>
            <a:chOff x="0" y="0"/>
            <a:chExt cx="3689426" cy="20510"/>
          </a:xfrm>
        </p:grpSpPr>
        <p:sp>
          <p:nvSpPr>
            <p:cNvPr id="74" name="Freeform 74" descr="preencoded.png"/>
            <p:cNvSpPr/>
            <p:nvPr/>
          </p:nvSpPr>
          <p:spPr>
            <a:xfrm>
              <a:off x="0" y="0"/>
              <a:ext cx="3689477" cy="20447"/>
            </a:xfrm>
            <a:custGeom>
              <a:avLst/>
              <a:gdLst/>
              <a:ahLst/>
              <a:cxnLst/>
              <a:rect l="l" t="t" r="r" b="b"/>
              <a:pathLst>
                <a:path w="3689477" h="20447">
                  <a:moveTo>
                    <a:pt x="0" y="0"/>
                  </a:moveTo>
                  <a:lnTo>
                    <a:pt x="3689477" y="0"/>
                  </a:lnTo>
                  <a:lnTo>
                    <a:pt x="3689477" y="20447"/>
                  </a:lnTo>
                  <a:lnTo>
                    <a:pt x="0" y="2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4497" b="-310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503601" y="1209580"/>
            <a:ext cx="154901" cy="256342"/>
            <a:chOff x="0" y="0"/>
            <a:chExt cx="413068" cy="683578"/>
          </a:xfrm>
        </p:grpSpPr>
        <p:sp>
          <p:nvSpPr>
            <p:cNvPr id="76" name="Freeform 76" descr="preencoded.png"/>
            <p:cNvSpPr/>
            <p:nvPr/>
          </p:nvSpPr>
          <p:spPr>
            <a:xfrm>
              <a:off x="0" y="0"/>
              <a:ext cx="413004" cy="683641"/>
            </a:xfrm>
            <a:custGeom>
              <a:avLst/>
              <a:gdLst/>
              <a:ahLst/>
              <a:cxnLst/>
              <a:rect l="l" t="t" r="r" b="b"/>
              <a:pathLst>
                <a:path w="413004" h="683641">
                  <a:moveTo>
                    <a:pt x="0" y="0"/>
                  </a:moveTo>
                  <a:lnTo>
                    <a:pt x="413004" y="0"/>
                  </a:lnTo>
                  <a:lnTo>
                    <a:pt x="413004" y="683641"/>
                  </a:lnTo>
                  <a:lnTo>
                    <a:pt x="0" y="683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44824" b="9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503601" y="1633828"/>
            <a:ext cx="1383535" cy="1145853"/>
            <a:chOff x="0" y="0"/>
            <a:chExt cx="3689426" cy="3055607"/>
          </a:xfrm>
        </p:grpSpPr>
        <p:sp>
          <p:nvSpPr>
            <p:cNvPr id="78" name="Freeform 78" descr="preencoded.png"/>
            <p:cNvSpPr/>
            <p:nvPr/>
          </p:nvSpPr>
          <p:spPr>
            <a:xfrm>
              <a:off x="0" y="0"/>
              <a:ext cx="3689477" cy="3055620"/>
            </a:xfrm>
            <a:custGeom>
              <a:avLst/>
              <a:gdLst/>
              <a:ahLst/>
              <a:cxnLst/>
              <a:rect l="l" t="t" r="r" b="b"/>
              <a:pathLst>
                <a:path w="3689477" h="3055620">
                  <a:moveTo>
                    <a:pt x="0" y="0"/>
                  </a:moveTo>
                  <a:lnTo>
                    <a:pt x="3689477" y="0"/>
                  </a:lnTo>
                  <a:lnTo>
                    <a:pt x="3689477" y="3055620"/>
                  </a:lnTo>
                  <a:lnTo>
                    <a:pt x="0" y="30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45127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544411" y="1279917"/>
            <a:ext cx="66389" cy="109104"/>
            <a:chOff x="0" y="0"/>
            <a:chExt cx="177038" cy="290944"/>
          </a:xfrm>
        </p:grpSpPr>
        <p:sp>
          <p:nvSpPr>
            <p:cNvPr id="80" name="Freeform 80" descr="preencoded.png"/>
            <p:cNvSpPr/>
            <p:nvPr/>
          </p:nvSpPr>
          <p:spPr>
            <a:xfrm>
              <a:off x="0" y="0"/>
              <a:ext cx="177038" cy="290957"/>
            </a:xfrm>
            <a:custGeom>
              <a:avLst/>
              <a:gdLst/>
              <a:ahLst/>
              <a:cxnLst/>
              <a:rect l="l" t="t" r="r" b="b"/>
              <a:pathLst>
                <a:path w="177038" h="290957">
                  <a:moveTo>
                    <a:pt x="0" y="0"/>
                  </a:moveTo>
                  <a:lnTo>
                    <a:pt x="177038" y="0"/>
                  </a:lnTo>
                  <a:lnTo>
                    <a:pt x="177038" y="290957"/>
                  </a:lnTo>
                  <a:lnTo>
                    <a:pt x="0" y="290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47905" b="4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2100496" y="1031563"/>
            <a:ext cx="1578574" cy="1876859"/>
            <a:chOff x="0" y="0"/>
            <a:chExt cx="4209529" cy="5004956"/>
          </a:xfrm>
        </p:grpSpPr>
        <p:sp>
          <p:nvSpPr>
            <p:cNvPr id="82" name="Freeform 82" descr="preencoded.png"/>
            <p:cNvSpPr/>
            <p:nvPr/>
          </p:nvSpPr>
          <p:spPr>
            <a:xfrm>
              <a:off x="0" y="0"/>
              <a:ext cx="4209542" cy="5004943"/>
            </a:xfrm>
            <a:custGeom>
              <a:avLst/>
              <a:gdLst/>
              <a:ahLst/>
              <a:cxnLst/>
              <a:rect l="l" t="t" r="r" b="b"/>
              <a:pathLst>
                <a:path w="4209542" h="5004943">
                  <a:moveTo>
                    <a:pt x="0" y="0"/>
                  </a:moveTo>
                  <a:lnTo>
                    <a:pt x="4209542" y="0"/>
                  </a:lnTo>
                  <a:lnTo>
                    <a:pt x="4209542" y="5004943"/>
                  </a:lnTo>
                  <a:lnTo>
                    <a:pt x="0" y="500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44977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2091795" y="1046088"/>
            <a:ext cx="1571197" cy="32042"/>
            <a:chOff x="0" y="0"/>
            <a:chExt cx="4189857" cy="85446"/>
          </a:xfrm>
        </p:grpSpPr>
        <p:sp>
          <p:nvSpPr>
            <p:cNvPr id="84" name="Freeform 84" descr="preencoded.png"/>
            <p:cNvSpPr/>
            <p:nvPr/>
          </p:nvSpPr>
          <p:spPr>
            <a:xfrm>
              <a:off x="0" y="0"/>
              <a:ext cx="4189857" cy="85471"/>
            </a:xfrm>
            <a:custGeom>
              <a:avLst/>
              <a:gdLst/>
              <a:ahLst/>
              <a:cxnLst/>
              <a:rect l="l" t="t" r="r" b="b"/>
              <a:pathLst>
                <a:path w="4189857" h="85471">
                  <a:moveTo>
                    <a:pt x="0" y="0"/>
                  </a:moveTo>
                  <a:lnTo>
                    <a:pt x="4189857" y="0"/>
                  </a:lnTo>
                  <a:lnTo>
                    <a:pt x="4189857" y="85471"/>
                  </a:lnTo>
                  <a:lnTo>
                    <a:pt x="0" y="8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44797" b="29"/>
              </a:stretch>
            </a:blipFill>
          </p:spPr>
        </p:sp>
      </p:grpSp>
      <p:grpSp>
        <p:nvGrpSpPr>
          <p:cNvPr id="85" name="Group 85"/>
          <p:cNvGrpSpPr/>
          <p:nvPr/>
        </p:nvGrpSpPr>
        <p:grpSpPr>
          <a:xfrm>
            <a:off x="2185621" y="1526734"/>
            <a:ext cx="1383535" cy="7692"/>
            <a:chOff x="0" y="0"/>
            <a:chExt cx="3689426" cy="20510"/>
          </a:xfrm>
        </p:grpSpPr>
        <p:sp>
          <p:nvSpPr>
            <p:cNvPr id="86" name="Freeform 86" descr="preencoded.png"/>
            <p:cNvSpPr/>
            <p:nvPr/>
          </p:nvSpPr>
          <p:spPr>
            <a:xfrm>
              <a:off x="0" y="0"/>
              <a:ext cx="3689477" cy="20447"/>
            </a:xfrm>
            <a:custGeom>
              <a:avLst/>
              <a:gdLst/>
              <a:ahLst/>
              <a:cxnLst/>
              <a:rect l="l" t="t" r="r" b="b"/>
              <a:pathLst>
                <a:path w="3689477" h="20447">
                  <a:moveTo>
                    <a:pt x="0" y="0"/>
                  </a:moveTo>
                  <a:lnTo>
                    <a:pt x="3689477" y="0"/>
                  </a:lnTo>
                  <a:lnTo>
                    <a:pt x="3689477" y="20447"/>
                  </a:lnTo>
                  <a:lnTo>
                    <a:pt x="0" y="2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4497" b="-310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2185621" y="1206303"/>
            <a:ext cx="154901" cy="256342"/>
            <a:chOff x="0" y="0"/>
            <a:chExt cx="413068" cy="683578"/>
          </a:xfrm>
        </p:grpSpPr>
        <p:sp>
          <p:nvSpPr>
            <p:cNvPr id="88" name="Freeform 88" descr="preencoded.png"/>
            <p:cNvSpPr/>
            <p:nvPr/>
          </p:nvSpPr>
          <p:spPr>
            <a:xfrm>
              <a:off x="0" y="0"/>
              <a:ext cx="413004" cy="683641"/>
            </a:xfrm>
            <a:custGeom>
              <a:avLst/>
              <a:gdLst/>
              <a:ahLst/>
              <a:cxnLst/>
              <a:rect l="l" t="t" r="r" b="b"/>
              <a:pathLst>
                <a:path w="413004" h="683641">
                  <a:moveTo>
                    <a:pt x="0" y="0"/>
                  </a:moveTo>
                  <a:lnTo>
                    <a:pt x="413004" y="0"/>
                  </a:lnTo>
                  <a:lnTo>
                    <a:pt x="413004" y="683641"/>
                  </a:lnTo>
                  <a:lnTo>
                    <a:pt x="0" y="683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44824" b="9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2185621" y="1630552"/>
            <a:ext cx="1383535" cy="1145853"/>
            <a:chOff x="0" y="0"/>
            <a:chExt cx="3689426" cy="3055607"/>
          </a:xfrm>
        </p:grpSpPr>
        <p:sp>
          <p:nvSpPr>
            <p:cNvPr id="90" name="Freeform 90" descr="preencoded.png"/>
            <p:cNvSpPr/>
            <p:nvPr/>
          </p:nvSpPr>
          <p:spPr>
            <a:xfrm>
              <a:off x="0" y="0"/>
              <a:ext cx="3689477" cy="3055620"/>
            </a:xfrm>
            <a:custGeom>
              <a:avLst/>
              <a:gdLst/>
              <a:ahLst/>
              <a:cxnLst/>
              <a:rect l="l" t="t" r="r" b="b"/>
              <a:pathLst>
                <a:path w="3689477" h="3055620">
                  <a:moveTo>
                    <a:pt x="0" y="0"/>
                  </a:moveTo>
                  <a:lnTo>
                    <a:pt x="3689477" y="0"/>
                  </a:lnTo>
                  <a:lnTo>
                    <a:pt x="3689477" y="3055620"/>
                  </a:lnTo>
                  <a:lnTo>
                    <a:pt x="0" y="30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45127"/>
              </a:stretch>
            </a:blipFill>
          </p:spPr>
        </p:sp>
      </p:grpSp>
      <p:grpSp>
        <p:nvGrpSpPr>
          <p:cNvPr id="91" name="Group 91"/>
          <p:cNvGrpSpPr/>
          <p:nvPr/>
        </p:nvGrpSpPr>
        <p:grpSpPr>
          <a:xfrm>
            <a:off x="2226436" y="1276641"/>
            <a:ext cx="66389" cy="109104"/>
            <a:chOff x="0" y="0"/>
            <a:chExt cx="177038" cy="290944"/>
          </a:xfrm>
        </p:grpSpPr>
        <p:sp>
          <p:nvSpPr>
            <p:cNvPr id="92" name="Freeform 92" descr="preencoded.png"/>
            <p:cNvSpPr/>
            <p:nvPr/>
          </p:nvSpPr>
          <p:spPr>
            <a:xfrm>
              <a:off x="0" y="0"/>
              <a:ext cx="177038" cy="290957"/>
            </a:xfrm>
            <a:custGeom>
              <a:avLst/>
              <a:gdLst/>
              <a:ahLst/>
              <a:cxnLst/>
              <a:rect l="l" t="t" r="r" b="b"/>
              <a:pathLst>
                <a:path w="177038" h="290957">
                  <a:moveTo>
                    <a:pt x="0" y="0"/>
                  </a:moveTo>
                  <a:lnTo>
                    <a:pt x="177038" y="0"/>
                  </a:lnTo>
                  <a:lnTo>
                    <a:pt x="177038" y="290957"/>
                  </a:lnTo>
                  <a:lnTo>
                    <a:pt x="0" y="290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47905" b="4"/>
              </a:stretch>
            </a:blipFill>
          </p:spPr>
        </p:sp>
      </p:grpSp>
      <p:grpSp>
        <p:nvGrpSpPr>
          <p:cNvPr id="93" name="Group 93"/>
          <p:cNvGrpSpPr/>
          <p:nvPr/>
        </p:nvGrpSpPr>
        <p:grpSpPr>
          <a:xfrm>
            <a:off x="3772900" y="1021733"/>
            <a:ext cx="1578574" cy="1876859"/>
            <a:chOff x="0" y="0"/>
            <a:chExt cx="4209529" cy="5004956"/>
          </a:xfrm>
        </p:grpSpPr>
        <p:sp>
          <p:nvSpPr>
            <p:cNvPr id="94" name="Freeform 94" descr="preencoded.png"/>
            <p:cNvSpPr/>
            <p:nvPr/>
          </p:nvSpPr>
          <p:spPr>
            <a:xfrm>
              <a:off x="0" y="0"/>
              <a:ext cx="4209542" cy="5004943"/>
            </a:xfrm>
            <a:custGeom>
              <a:avLst/>
              <a:gdLst/>
              <a:ahLst/>
              <a:cxnLst/>
              <a:rect l="l" t="t" r="r" b="b"/>
              <a:pathLst>
                <a:path w="4209542" h="5004943">
                  <a:moveTo>
                    <a:pt x="0" y="0"/>
                  </a:moveTo>
                  <a:lnTo>
                    <a:pt x="4209542" y="0"/>
                  </a:lnTo>
                  <a:lnTo>
                    <a:pt x="4209542" y="5004943"/>
                  </a:lnTo>
                  <a:lnTo>
                    <a:pt x="0" y="500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44977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>
            <a:off x="3764195" y="1036258"/>
            <a:ext cx="1571197" cy="32042"/>
            <a:chOff x="0" y="0"/>
            <a:chExt cx="4189857" cy="85446"/>
          </a:xfrm>
        </p:grpSpPr>
        <p:sp>
          <p:nvSpPr>
            <p:cNvPr id="96" name="Freeform 96" descr="preencoded.png"/>
            <p:cNvSpPr/>
            <p:nvPr/>
          </p:nvSpPr>
          <p:spPr>
            <a:xfrm>
              <a:off x="0" y="0"/>
              <a:ext cx="4189857" cy="85471"/>
            </a:xfrm>
            <a:custGeom>
              <a:avLst/>
              <a:gdLst/>
              <a:ahLst/>
              <a:cxnLst/>
              <a:rect l="l" t="t" r="r" b="b"/>
              <a:pathLst>
                <a:path w="4189857" h="85471">
                  <a:moveTo>
                    <a:pt x="0" y="0"/>
                  </a:moveTo>
                  <a:lnTo>
                    <a:pt x="4189857" y="0"/>
                  </a:lnTo>
                  <a:lnTo>
                    <a:pt x="4189857" y="85471"/>
                  </a:lnTo>
                  <a:lnTo>
                    <a:pt x="0" y="85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44797" b="29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3858025" y="1516899"/>
            <a:ext cx="1383535" cy="7692"/>
            <a:chOff x="0" y="0"/>
            <a:chExt cx="3689426" cy="20510"/>
          </a:xfrm>
        </p:grpSpPr>
        <p:sp>
          <p:nvSpPr>
            <p:cNvPr id="98" name="Freeform 98" descr="preencoded.png"/>
            <p:cNvSpPr/>
            <p:nvPr/>
          </p:nvSpPr>
          <p:spPr>
            <a:xfrm>
              <a:off x="0" y="0"/>
              <a:ext cx="3689477" cy="20447"/>
            </a:xfrm>
            <a:custGeom>
              <a:avLst/>
              <a:gdLst/>
              <a:ahLst/>
              <a:cxnLst/>
              <a:rect l="l" t="t" r="r" b="b"/>
              <a:pathLst>
                <a:path w="3689477" h="20447">
                  <a:moveTo>
                    <a:pt x="0" y="0"/>
                  </a:moveTo>
                  <a:lnTo>
                    <a:pt x="3689477" y="0"/>
                  </a:lnTo>
                  <a:lnTo>
                    <a:pt x="3689477" y="20447"/>
                  </a:lnTo>
                  <a:lnTo>
                    <a:pt x="0" y="2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4497" b="-310"/>
              </a:stretch>
            </a:blipFill>
          </p:spPr>
        </p:sp>
      </p:grpSp>
      <p:grpSp>
        <p:nvGrpSpPr>
          <p:cNvPr id="99" name="Group 99"/>
          <p:cNvGrpSpPr/>
          <p:nvPr/>
        </p:nvGrpSpPr>
        <p:grpSpPr>
          <a:xfrm>
            <a:off x="3858025" y="1196474"/>
            <a:ext cx="154901" cy="256342"/>
            <a:chOff x="0" y="0"/>
            <a:chExt cx="413068" cy="683578"/>
          </a:xfrm>
        </p:grpSpPr>
        <p:sp>
          <p:nvSpPr>
            <p:cNvPr id="100" name="Freeform 100" descr="preencoded.png"/>
            <p:cNvSpPr/>
            <p:nvPr/>
          </p:nvSpPr>
          <p:spPr>
            <a:xfrm>
              <a:off x="0" y="0"/>
              <a:ext cx="413004" cy="683641"/>
            </a:xfrm>
            <a:custGeom>
              <a:avLst/>
              <a:gdLst/>
              <a:ahLst/>
              <a:cxnLst/>
              <a:rect l="l" t="t" r="r" b="b"/>
              <a:pathLst>
                <a:path w="413004" h="683641">
                  <a:moveTo>
                    <a:pt x="0" y="0"/>
                  </a:moveTo>
                  <a:lnTo>
                    <a:pt x="413004" y="0"/>
                  </a:lnTo>
                  <a:lnTo>
                    <a:pt x="413004" y="683641"/>
                  </a:lnTo>
                  <a:lnTo>
                    <a:pt x="0" y="683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44824" b="9"/>
              </a:stretch>
            </a:blipFill>
          </p:spPr>
        </p:sp>
      </p:grpSp>
      <p:grpSp>
        <p:nvGrpSpPr>
          <p:cNvPr id="101" name="Group 101"/>
          <p:cNvGrpSpPr/>
          <p:nvPr/>
        </p:nvGrpSpPr>
        <p:grpSpPr>
          <a:xfrm>
            <a:off x="3858025" y="1620722"/>
            <a:ext cx="1383535" cy="1145853"/>
            <a:chOff x="0" y="0"/>
            <a:chExt cx="3689426" cy="3055607"/>
          </a:xfrm>
        </p:grpSpPr>
        <p:sp>
          <p:nvSpPr>
            <p:cNvPr id="102" name="Freeform 102" descr="preencoded.png"/>
            <p:cNvSpPr/>
            <p:nvPr/>
          </p:nvSpPr>
          <p:spPr>
            <a:xfrm>
              <a:off x="0" y="0"/>
              <a:ext cx="3689477" cy="3055620"/>
            </a:xfrm>
            <a:custGeom>
              <a:avLst/>
              <a:gdLst/>
              <a:ahLst/>
              <a:cxnLst/>
              <a:rect l="l" t="t" r="r" b="b"/>
              <a:pathLst>
                <a:path w="3689477" h="3055620">
                  <a:moveTo>
                    <a:pt x="0" y="0"/>
                  </a:moveTo>
                  <a:lnTo>
                    <a:pt x="3689477" y="0"/>
                  </a:lnTo>
                  <a:lnTo>
                    <a:pt x="3689477" y="3055620"/>
                  </a:lnTo>
                  <a:lnTo>
                    <a:pt x="0" y="3055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45127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3898835" y="1266811"/>
            <a:ext cx="66389" cy="109104"/>
            <a:chOff x="0" y="0"/>
            <a:chExt cx="177038" cy="290944"/>
          </a:xfrm>
        </p:grpSpPr>
        <p:sp>
          <p:nvSpPr>
            <p:cNvPr id="104" name="Freeform 104" descr="preencoded.png"/>
            <p:cNvSpPr/>
            <p:nvPr/>
          </p:nvSpPr>
          <p:spPr>
            <a:xfrm>
              <a:off x="0" y="0"/>
              <a:ext cx="177038" cy="290957"/>
            </a:xfrm>
            <a:custGeom>
              <a:avLst/>
              <a:gdLst/>
              <a:ahLst/>
              <a:cxnLst/>
              <a:rect l="l" t="t" r="r" b="b"/>
              <a:pathLst>
                <a:path w="177038" h="290957">
                  <a:moveTo>
                    <a:pt x="0" y="0"/>
                  </a:moveTo>
                  <a:lnTo>
                    <a:pt x="177038" y="0"/>
                  </a:lnTo>
                  <a:lnTo>
                    <a:pt x="177038" y="290957"/>
                  </a:lnTo>
                  <a:lnTo>
                    <a:pt x="0" y="2909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47905" b="4"/>
              </a:stretch>
            </a:blipFill>
          </p:spPr>
        </p:sp>
      </p:grpSp>
      <p:grpSp>
        <p:nvGrpSpPr>
          <p:cNvPr id="105" name="Group 105"/>
          <p:cNvGrpSpPr/>
          <p:nvPr/>
        </p:nvGrpSpPr>
        <p:grpSpPr>
          <a:xfrm>
            <a:off x="5454196" y="1026100"/>
            <a:ext cx="1578574" cy="1872491"/>
            <a:chOff x="0" y="0"/>
            <a:chExt cx="4209529" cy="4993310"/>
          </a:xfrm>
        </p:grpSpPr>
        <p:sp>
          <p:nvSpPr>
            <p:cNvPr id="106" name="Freeform 106" descr="preencoded.png"/>
            <p:cNvSpPr/>
            <p:nvPr/>
          </p:nvSpPr>
          <p:spPr>
            <a:xfrm>
              <a:off x="0" y="0"/>
              <a:ext cx="4209542" cy="4993259"/>
            </a:xfrm>
            <a:custGeom>
              <a:avLst/>
              <a:gdLst/>
              <a:ahLst/>
              <a:cxnLst/>
              <a:rect l="l" t="t" r="r" b="b"/>
              <a:pathLst>
                <a:path w="4209542" h="4993259">
                  <a:moveTo>
                    <a:pt x="0" y="0"/>
                  </a:moveTo>
                  <a:lnTo>
                    <a:pt x="4209542" y="0"/>
                  </a:lnTo>
                  <a:lnTo>
                    <a:pt x="4209542" y="4993259"/>
                  </a:lnTo>
                  <a:lnTo>
                    <a:pt x="0" y="4993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44640" b="-1"/>
              </a:stretch>
            </a:blipFill>
          </p:spPr>
        </p:sp>
      </p:grpSp>
      <p:grpSp>
        <p:nvGrpSpPr>
          <p:cNvPr id="107" name="Group 107"/>
          <p:cNvGrpSpPr/>
          <p:nvPr/>
        </p:nvGrpSpPr>
        <p:grpSpPr>
          <a:xfrm>
            <a:off x="5445495" y="1040592"/>
            <a:ext cx="1571197" cy="31971"/>
            <a:chOff x="0" y="0"/>
            <a:chExt cx="4189857" cy="85255"/>
          </a:xfrm>
        </p:grpSpPr>
        <p:sp>
          <p:nvSpPr>
            <p:cNvPr id="108" name="Freeform 108" descr="preencoded.png"/>
            <p:cNvSpPr/>
            <p:nvPr/>
          </p:nvSpPr>
          <p:spPr>
            <a:xfrm>
              <a:off x="0" y="0"/>
              <a:ext cx="4189857" cy="85217"/>
            </a:xfrm>
            <a:custGeom>
              <a:avLst/>
              <a:gdLst/>
              <a:ahLst/>
              <a:cxnLst/>
              <a:rect l="l" t="t" r="r" b="b"/>
              <a:pathLst>
                <a:path w="4189857" h="85217">
                  <a:moveTo>
                    <a:pt x="0" y="0"/>
                  </a:moveTo>
                  <a:lnTo>
                    <a:pt x="4189857" y="0"/>
                  </a:lnTo>
                  <a:lnTo>
                    <a:pt x="4189857" y="85217"/>
                  </a:lnTo>
                  <a:lnTo>
                    <a:pt x="0" y="85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44460" b="-44"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5539321" y="1520119"/>
            <a:ext cx="1383535" cy="7673"/>
            <a:chOff x="0" y="0"/>
            <a:chExt cx="3689426" cy="20460"/>
          </a:xfrm>
        </p:grpSpPr>
        <p:sp>
          <p:nvSpPr>
            <p:cNvPr id="110" name="Freeform 110" descr="preencoded.png"/>
            <p:cNvSpPr/>
            <p:nvPr/>
          </p:nvSpPr>
          <p:spPr>
            <a:xfrm>
              <a:off x="0" y="0"/>
              <a:ext cx="3689477" cy="20447"/>
            </a:xfrm>
            <a:custGeom>
              <a:avLst/>
              <a:gdLst/>
              <a:ahLst/>
              <a:cxnLst/>
              <a:rect l="l" t="t" r="r" b="b"/>
              <a:pathLst>
                <a:path w="3689477" h="20447">
                  <a:moveTo>
                    <a:pt x="0" y="0"/>
                  </a:moveTo>
                  <a:lnTo>
                    <a:pt x="3689477" y="0"/>
                  </a:lnTo>
                  <a:lnTo>
                    <a:pt x="3689477" y="20447"/>
                  </a:lnTo>
                  <a:lnTo>
                    <a:pt x="0" y="2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4253" b="-62"/>
              </a:stretch>
            </a:blipFill>
          </p:spPr>
        </p:sp>
      </p:grpSp>
      <p:grpSp>
        <p:nvGrpSpPr>
          <p:cNvPr id="111" name="Group 111"/>
          <p:cNvGrpSpPr/>
          <p:nvPr/>
        </p:nvGrpSpPr>
        <p:grpSpPr>
          <a:xfrm>
            <a:off x="5539321" y="1200436"/>
            <a:ext cx="154901" cy="255747"/>
            <a:chOff x="0" y="0"/>
            <a:chExt cx="413068" cy="681990"/>
          </a:xfrm>
        </p:grpSpPr>
        <p:sp>
          <p:nvSpPr>
            <p:cNvPr id="112" name="Freeform 112" descr="preencoded.png"/>
            <p:cNvSpPr/>
            <p:nvPr/>
          </p:nvSpPr>
          <p:spPr>
            <a:xfrm>
              <a:off x="0" y="0"/>
              <a:ext cx="413004" cy="681990"/>
            </a:xfrm>
            <a:custGeom>
              <a:avLst/>
              <a:gdLst/>
              <a:ahLst/>
              <a:cxnLst/>
              <a:rect l="l" t="t" r="r" b="b"/>
              <a:pathLst>
                <a:path w="413004" h="681990">
                  <a:moveTo>
                    <a:pt x="0" y="0"/>
                  </a:moveTo>
                  <a:lnTo>
                    <a:pt x="413004" y="0"/>
                  </a:lnTo>
                  <a:lnTo>
                    <a:pt x="413004" y="681990"/>
                  </a:lnTo>
                  <a:lnTo>
                    <a:pt x="0" y="681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44489"/>
              </a:stretch>
            </a:blipFill>
          </p:spPr>
        </p:sp>
      </p:grpSp>
      <p:grpSp>
        <p:nvGrpSpPr>
          <p:cNvPr id="113" name="Group 113"/>
          <p:cNvGrpSpPr/>
          <p:nvPr/>
        </p:nvGrpSpPr>
        <p:grpSpPr>
          <a:xfrm>
            <a:off x="5539321" y="1623694"/>
            <a:ext cx="1383535" cy="1143186"/>
            <a:chOff x="0" y="0"/>
            <a:chExt cx="3689426" cy="3048495"/>
          </a:xfrm>
        </p:grpSpPr>
        <p:sp>
          <p:nvSpPr>
            <p:cNvPr id="114" name="Freeform 114" descr="preencoded.png"/>
            <p:cNvSpPr/>
            <p:nvPr/>
          </p:nvSpPr>
          <p:spPr>
            <a:xfrm>
              <a:off x="0" y="0"/>
              <a:ext cx="3689477" cy="3048508"/>
            </a:xfrm>
            <a:custGeom>
              <a:avLst/>
              <a:gdLst/>
              <a:ahLst/>
              <a:cxnLst/>
              <a:rect l="l" t="t" r="r" b="b"/>
              <a:pathLst>
                <a:path w="3689477" h="3048508">
                  <a:moveTo>
                    <a:pt x="0" y="0"/>
                  </a:moveTo>
                  <a:lnTo>
                    <a:pt x="3689477" y="0"/>
                  </a:lnTo>
                  <a:lnTo>
                    <a:pt x="3689477" y="3048508"/>
                  </a:lnTo>
                  <a:lnTo>
                    <a:pt x="0" y="3048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44789"/>
              </a:stretch>
            </a:blipFill>
          </p:spPr>
        </p:sp>
      </p:grpSp>
      <p:grpSp>
        <p:nvGrpSpPr>
          <p:cNvPr id="115" name="Group 115"/>
          <p:cNvGrpSpPr/>
          <p:nvPr/>
        </p:nvGrpSpPr>
        <p:grpSpPr>
          <a:xfrm>
            <a:off x="5580131" y="1270607"/>
            <a:ext cx="66389" cy="108852"/>
            <a:chOff x="0" y="0"/>
            <a:chExt cx="177038" cy="290271"/>
          </a:xfrm>
        </p:grpSpPr>
        <p:sp>
          <p:nvSpPr>
            <p:cNvPr id="116" name="Freeform 116" descr="preencoded.png"/>
            <p:cNvSpPr/>
            <p:nvPr/>
          </p:nvSpPr>
          <p:spPr>
            <a:xfrm>
              <a:off x="0" y="0"/>
              <a:ext cx="177038" cy="290322"/>
            </a:xfrm>
            <a:custGeom>
              <a:avLst/>
              <a:gdLst/>
              <a:ahLst/>
              <a:cxnLst/>
              <a:rect l="l" t="t" r="r" b="b"/>
              <a:pathLst>
                <a:path w="177038" h="290322">
                  <a:moveTo>
                    <a:pt x="0" y="0"/>
                  </a:moveTo>
                  <a:lnTo>
                    <a:pt x="177038" y="0"/>
                  </a:lnTo>
                  <a:lnTo>
                    <a:pt x="177038" y="290322"/>
                  </a:lnTo>
                  <a:lnTo>
                    <a:pt x="0" y="290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47560" b="17"/>
              </a:stretch>
            </a:blipFill>
          </p:spPr>
        </p:sp>
      </p:grpSp>
      <p:grpSp>
        <p:nvGrpSpPr>
          <p:cNvPr id="117" name="Group 117"/>
          <p:cNvGrpSpPr/>
          <p:nvPr/>
        </p:nvGrpSpPr>
        <p:grpSpPr>
          <a:xfrm>
            <a:off x="7147903" y="1010427"/>
            <a:ext cx="1578574" cy="1888165"/>
            <a:chOff x="0" y="0"/>
            <a:chExt cx="4209529" cy="5035106"/>
          </a:xfrm>
        </p:grpSpPr>
        <p:sp>
          <p:nvSpPr>
            <p:cNvPr id="118" name="Freeform 118" descr="preencoded.png"/>
            <p:cNvSpPr/>
            <p:nvPr/>
          </p:nvSpPr>
          <p:spPr>
            <a:xfrm>
              <a:off x="0" y="0"/>
              <a:ext cx="4209542" cy="5035042"/>
            </a:xfrm>
            <a:custGeom>
              <a:avLst/>
              <a:gdLst/>
              <a:ahLst/>
              <a:cxnLst/>
              <a:rect l="l" t="t" r="r" b="b"/>
              <a:pathLst>
                <a:path w="4209542" h="5035042">
                  <a:moveTo>
                    <a:pt x="0" y="0"/>
                  </a:moveTo>
                  <a:lnTo>
                    <a:pt x="4209542" y="0"/>
                  </a:lnTo>
                  <a:lnTo>
                    <a:pt x="4209542" y="5035042"/>
                  </a:lnTo>
                  <a:lnTo>
                    <a:pt x="0" y="5035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r="-45851" b="-1"/>
              </a:stretch>
            </a:blipFill>
          </p:spPr>
        </p:sp>
      </p:grpSp>
      <p:grpSp>
        <p:nvGrpSpPr>
          <p:cNvPr id="119" name="Group 119"/>
          <p:cNvGrpSpPr/>
          <p:nvPr/>
        </p:nvGrpSpPr>
        <p:grpSpPr>
          <a:xfrm>
            <a:off x="7139202" y="1025043"/>
            <a:ext cx="1571197" cy="32238"/>
            <a:chOff x="0" y="0"/>
            <a:chExt cx="4189857" cy="85966"/>
          </a:xfrm>
        </p:grpSpPr>
        <p:sp>
          <p:nvSpPr>
            <p:cNvPr id="120" name="Freeform 120" descr="preencoded.png"/>
            <p:cNvSpPr/>
            <p:nvPr/>
          </p:nvSpPr>
          <p:spPr>
            <a:xfrm>
              <a:off x="0" y="0"/>
              <a:ext cx="4189857" cy="85979"/>
            </a:xfrm>
            <a:custGeom>
              <a:avLst/>
              <a:gdLst/>
              <a:ahLst/>
              <a:cxnLst/>
              <a:rect l="l" t="t" r="r" b="b"/>
              <a:pathLst>
                <a:path w="4189857" h="85979">
                  <a:moveTo>
                    <a:pt x="0" y="0"/>
                  </a:moveTo>
                  <a:lnTo>
                    <a:pt x="4189857" y="0"/>
                  </a:lnTo>
                  <a:lnTo>
                    <a:pt x="4189857" y="85979"/>
                  </a:lnTo>
                  <a:lnTo>
                    <a:pt x="0" y="85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r="-45669" b="14"/>
              </a:stretch>
            </a:blipFill>
          </p:spPr>
        </p:sp>
      </p:grpSp>
      <p:grpSp>
        <p:nvGrpSpPr>
          <p:cNvPr id="121" name="Group 121"/>
          <p:cNvGrpSpPr/>
          <p:nvPr/>
        </p:nvGrpSpPr>
        <p:grpSpPr>
          <a:xfrm>
            <a:off x="7233028" y="1508579"/>
            <a:ext cx="1383535" cy="7735"/>
            <a:chOff x="0" y="0"/>
            <a:chExt cx="3689426" cy="20625"/>
          </a:xfrm>
        </p:grpSpPr>
        <p:sp>
          <p:nvSpPr>
            <p:cNvPr id="122" name="Freeform 122" descr="preencoded.png"/>
            <p:cNvSpPr/>
            <p:nvPr/>
          </p:nvSpPr>
          <p:spPr>
            <a:xfrm>
              <a:off x="0" y="0"/>
              <a:ext cx="3689477" cy="20574"/>
            </a:xfrm>
            <a:custGeom>
              <a:avLst/>
              <a:gdLst/>
              <a:ahLst/>
              <a:cxnLst/>
              <a:rect l="l" t="t" r="r" b="b"/>
              <a:pathLst>
                <a:path w="3689477" h="20574">
                  <a:moveTo>
                    <a:pt x="0" y="0"/>
                  </a:moveTo>
                  <a:lnTo>
                    <a:pt x="3689477" y="0"/>
                  </a:lnTo>
                  <a:lnTo>
                    <a:pt x="3689477" y="20574"/>
                  </a:lnTo>
                  <a:lnTo>
                    <a:pt x="0" y="20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r="-5126" b="-246"/>
              </a:stretch>
            </a:blipFill>
          </p:spPr>
        </p:sp>
      </p:grpSp>
      <p:grpSp>
        <p:nvGrpSpPr>
          <p:cNvPr id="123" name="Group 123"/>
          <p:cNvGrpSpPr/>
          <p:nvPr/>
        </p:nvGrpSpPr>
        <p:grpSpPr>
          <a:xfrm>
            <a:off x="7233028" y="1186220"/>
            <a:ext cx="154901" cy="257890"/>
            <a:chOff x="0" y="0"/>
            <a:chExt cx="413068" cy="687705"/>
          </a:xfrm>
        </p:grpSpPr>
        <p:sp>
          <p:nvSpPr>
            <p:cNvPr id="124" name="Freeform 124" descr="preencoded.png"/>
            <p:cNvSpPr/>
            <p:nvPr/>
          </p:nvSpPr>
          <p:spPr>
            <a:xfrm>
              <a:off x="0" y="0"/>
              <a:ext cx="413004" cy="687705"/>
            </a:xfrm>
            <a:custGeom>
              <a:avLst/>
              <a:gdLst/>
              <a:ahLst/>
              <a:cxnLst/>
              <a:rect l="l" t="t" r="r" b="b"/>
              <a:pathLst>
                <a:path w="413004" h="687705">
                  <a:moveTo>
                    <a:pt x="0" y="0"/>
                  </a:moveTo>
                  <a:lnTo>
                    <a:pt x="413004" y="0"/>
                  </a:lnTo>
                  <a:lnTo>
                    <a:pt x="413004" y="687705"/>
                  </a:lnTo>
                  <a:lnTo>
                    <a:pt x="0" y="687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r="-45698"/>
              </a:stretch>
            </a:blipFill>
          </p:spPr>
        </p:sp>
      </p:grpSp>
      <p:grpSp>
        <p:nvGrpSpPr>
          <p:cNvPr id="125" name="Group 125"/>
          <p:cNvGrpSpPr/>
          <p:nvPr/>
        </p:nvGrpSpPr>
        <p:grpSpPr>
          <a:xfrm>
            <a:off x="7233028" y="1613026"/>
            <a:ext cx="1383535" cy="1152754"/>
            <a:chOff x="0" y="0"/>
            <a:chExt cx="3689426" cy="3074010"/>
          </a:xfrm>
        </p:grpSpPr>
        <p:sp>
          <p:nvSpPr>
            <p:cNvPr id="126" name="Freeform 126" descr="preencoded.png"/>
            <p:cNvSpPr/>
            <p:nvPr/>
          </p:nvSpPr>
          <p:spPr>
            <a:xfrm>
              <a:off x="0" y="0"/>
              <a:ext cx="3689477" cy="3074035"/>
            </a:xfrm>
            <a:custGeom>
              <a:avLst/>
              <a:gdLst/>
              <a:ahLst/>
              <a:cxnLst/>
              <a:rect l="l" t="t" r="r" b="b"/>
              <a:pathLst>
                <a:path w="3689477" h="3074035">
                  <a:moveTo>
                    <a:pt x="0" y="0"/>
                  </a:moveTo>
                  <a:lnTo>
                    <a:pt x="3689477" y="0"/>
                  </a:lnTo>
                  <a:lnTo>
                    <a:pt x="3689477" y="3074035"/>
                  </a:lnTo>
                  <a:lnTo>
                    <a:pt x="0" y="3074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46001"/>
              </a:stretch>
            </a:blipFill>
          </p:spPr>
        </p:sp>
      </p:grpSp>
      <p:grpSp>
        <p:nvGrpSpPr>
          <p:cNvPr id="127" name="Group 127"/>
          <p:cNvGrpSpPr/>
          <p:nvPr/>
        </p:nvGrpSpPr>
        <p:grpSpPr>
          <a:xfrm>
            <a:off x="7273843" y="1256981"/>
            <a:ext cx="66389" cy="109762"/>
            <a:chOff x="0" y="0"/>
            <a:chExt cx="177038" cy="292697"/>
          </a:xfrm>
        </p:grpSpPr>
        <p:sp>
          <p:nvSpPr>
            <p:cNvPr id="128" name="Freeform 128" descr="preencoded.png"/>
            <p:cNvSpPr/>
            <p:nvPr/>
          </p:nvSpPr>
          <p:spPr>
            <a:xfrm>
              <a:off x="0" y="0"/>
              <a:ext cx="177038" cy="292735"/>
            </a:xfrm>
            <a:custGeom>
              <a:avLst/>
              <a:gdLst/>
              <a:ahLst/>
              <a:cxnLst/>
              <a:rect l="l" t="t" r="r" b="b"/>
              <a:pathLst>
                <a:path w="177038" h="292735">
                  <a:moveTo>
                    <a:pt x="0" y="0"/>
                  </a:moveTo>
                  <a:lnTo>
                    <a:pt x="177038" y="0"/>
                  </a:lnTo>
                  <a:lnTo>
                    <a:pt x="177038" y="292735"/>
                  </a:lnTo>
                  <a:lnTo>
                    <a:pt x="0" y="292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r="-48802" b="13"/>
              </a:stretch>
            </a:blipFill>
          </p:spPr>
        </p:sp>
      </p:grpSp>
      <p:sp>
        <p:nvSpPr>
          <p:cNvPr id="129" name="TextBox 129"/>
          <p:cNvSpPr txBox="1"/>
          <p:nvPr/>
        </p:nvSpPr>
        <p:spPr>
          <a:xfrm>
            <a:off x="706265" y="1177424"/>
            <a:ext cx="92995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모상혁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2343750" y="1180667"/>
            <a:ext cx="92995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이채준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4026637" y="1170942"/>
            <a:ext cx="92995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정의조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761406" y="1167703"/>
            <a:ext cx="92995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최지호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7405378" y="1151492"/>
            <a:ext cx="929959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40"/>
              </a:lnSpc>
            </a:pPr>
            <a:r>
              <a:rPr lang="en-US" sz="1200" b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 Bold"/>
              </a:rPr>
              <a:t>홍상훈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771111" y="3951804"/>
            <a:ext cx="7793893" cy="181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sz="9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재학습 선순환 구조 구축. 운영 중 발생한 오탐·미탐 사례를 모델에 다시 반영하는 파이프라인을 마련해 설비 ·제품 조건 변화에 따른 분포·임계값 변동에 대응해야 한다.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535043" y="1622741"/>
            <a:ext cx="1337896" cy="89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3040" lvl="1" indent="-96520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 양이 부족할 경우 어떤 식으로 데이터를 분석하는지 알게되어서 좋았음.</a:t>
            </a:r>
          </a:p>
          <a:p>
            <a:pPr marL="193040" lvl="1" indent="-96520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streamlit을 제대로 써본 경험이 처음이어서 생각보다 많은 것을 할 수 있다는 것을 알게 되었음.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5585041" y="1621636"/>
            <a:ext cx="137722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0975" lvl="1" indent="-90488">
              <a:lnSpc>
                <a:spcPts val="900"/>
              </a:lnSpc>
              <a:buFont typeface="Arial"/>
              <a:buChar char="•"/>
            </a:pPr>
            <a:r>
              <a:rPr lang="en-US" sz="75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데이터의 기초 통계 등을 먼저 찍어보고 데이터를 보고 난 후부터, 어떤 흐름으로 분석을 이어가야 하는지 모르는 경향이 있었는데, 중간 점검 이후 새로 시작하면서 분석의 흐름에 대해 배우게 되었음.</a:t>
            </a:r>
          </a:p>
          <a:p>
            <a:pPr marL="180975" lvl="1" indent="-90488">
              <a:lnSpc>
                <a:spcPts val="900"/>
              </a:lnSpc>
              <a:buFont typeface="Arial"/>
              <a:buChar char="•"/>
            </a:pPr>
            <a:r>
              <a:rPr lang="en-US" sz="750">
                <a:solidFill>
                  <a:srgbClr val="1D1C1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분석은 많이 해봤지만, 실무에 적용시키는 방법과 배포하는 과정을 알게되었음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799957" y="4602676"/>
            <a:ext cx="7765047" cy="27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데이터·변수 확장. 피막 두께 등 품질 직결 변수를 추가 수집하고 불량 표본을 확보해, 새로운 불량 표본을 확보해, 새로운 불량 유형까지 포괄하는 모델로 일반화 성능을 검증해 나가야한다.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3835018" y="1603501"/>
            <a:ext cx="1347716" cy="101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1" lvl="1" indent="-86361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아직 머신러닝에 대한 이해도와 활용 능력이 많이 부족하다고 느꼈습니다. 팀원들 덕분에 좋은 결과를 얻을 수 있었음.</a:t>
            </a:r>
          </a:p>
          <a:p>
            <a:pPr>
              <a:lnSpc>
                <a:spcPts val="960"/>
              </a:lnSpc>
            </a:pPr>
            <a:endParaRPr lang="en-US" sz="80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mo"/>
            </a:endParaRPr>
          </a:p>
          <a:p>
            <a:pPr marL="172721" lvl="1" indent="-86361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Tableau와 streamlit 등 새로운 tool을 사용해볼 수 있어 좋은 경험이였음.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7266337" y="1638729"/>
            <a:ext cx="1363313" cy="101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0" lvl="1" indent="-86360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불균형 데이터에서는 지표 선정이 분석 전체를 좌우한다는 점을 체감했고, 유의하지 않은 결과도 솔직히 보고하는 태도의 중요성을 배웠다. 사후 검사 중심의 품질관리를 공정 중 단계별 조기경보 체계로 전환해 구현한 것이 가장 큰 성과였음.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123711" y="1667775"/>
            <a:ext cx="1532144" cy="114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2720" lvl="1" indent="-86360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데이터를 바라볼때 한가지 시각에 사로잡혀 분석하는 경향이 있는 거 같다고 느꼈고 아직 머신러닝에 대한 이해도가 떨어진다고 생각됨. 팀원들의 의견과 도움으로 프로젝트를 잘 마무리 함.</a:t>
            </a:r>
          </a:p>
          <a:p>
            <a:pPr marL="172720" lvl="1" indent="-86360">
              <a:lnSpc>
                <a:spcPts val="960"/>
              </a:lnSpc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mo"/>
              </a:rPr>
              <a:t>새로운 streamlit, tableau를 실전 경험할 수 있는 계기가 되어 좋은 경험이 되었음.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3982</Words>
  <Application>Microsoft Office PowerPoint</Application>
  <PresentationFormat>화면 슬라이드 쇼(16:9)</PresentationFormat>
  <Paragraphs>872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4" baseType="lpstr">
      <vt:lpstr>A2Z Medium</vt:lpstr>
      <vt:lpstr>KIMM_Bold Bold</vt:lpstr>
      <vt:lpstr>Noto Sans KR</vt:lpstr>
      <vt:lpstr>Pretendard</vt:lpstr>
      <vt:lpstr>Arial</vt:lpstr>
      <vt:lpstr>Arimo</vt:lpstr>
      <vt:lpstr>Arimo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상혁 모</cp:lastModifiedBy>
  <cp:revision>48</cp:revision>
  <dcterms:created xsi:type="dcterms:W3CDTF">2026-03-19T01:04:20Z</dcterms:created>
  <dcterms:modified xsi:type="dcterms:W3CDTF">2026-06-12T01:51:55Z</dcterms:modified>
</cp:coreProperties>
</file>